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3" r:id="rId2"/>
    <p:sldMasterId id="2147483660" r:id="rId3"/>
  </p:sldMasterIdLst>
  <p:notesMasterIdLst>
    <p:notesMasterId r:id="rId35"/>
  </p:notesMasterIdLst>
  <p:sldIdLst>
    <p:sldId id="257" r:id="rId4"/>
    <p:sldId id="262" r:id="rId5"/>
    <p:sldId id="265" r:id="rId6"/>
    <p:sldId id="267" r:id="rId7"/>
    <p:sldId id="263" r:id="rId8"/>
    <p:sldId id="268" r:id="rId9"/>
    <p:sldId id="270" r:id="rId10"/>
    <p:sldId id="271" r:id="rId11"/>
    <p:sldId id="272" r:id="rId12"/>
    <p:sldId id="273" r:id="rId13"/>
    <p:sldId id="289" r:id="rId14"/>
    <p:sldId id="282" r:id="rId15"/>
    <p:sldId id="283" r:id="rId16"/>
    <p:sldId id="284" r:id="rId17"/>
    <p:sldId id="269" r:id="rId18"/>
    <p:sldId id="274" r:id="rId19"/>
    <p:sldId id="275" r:id="rId20"/>
    <p:sldId id="276" r:id="rId21"/>
    <p:sldId id="278" r:id="rId22"/>
    <p:sldId id="277" r:id="rId23"/>
    <p:sldId id="280" r:id="rId24"/>
    <p:sldId id="279" r:id="rId25"/>
    <p:sldId id="281" r:id="rId26"/>
    <p:sldId id="266" r:id="rId27"/>
    <p:sldId id="286" r:id="rId28"/>
    <p:sldId id="285" r:id="rId29"/>
    <p:sldId id="287" r:id="rId30"/>
    <p:sldId id="288" r:id="rId31"/>
    <p:sldId id="290" r:id="rId32"/>
    <p:sldId id="291" r:id="rId33"/>
    <p:sldId id="264"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Make特性" id="{1EAD6AC1-02F8-4C40-8312-0E9C551D2325}">
          <p14:sldIdLst>
            <p14:sldId id="257"/>
            <p14:sldId id="262"/>
            <p14:sldId id="265"/>
          </p14:sldIdLst>
        </p14:section>
        <p14:section name="CMake基础用法示例" id="{CD86319E-4605-A349-AE92-322E5BA6B9C0}">
          <p14:sldIdLst>
            <p14:sldId id="267"/>
            <p14:sldId id="263"/>
            <p14:sldId id="268"/>
            <p14:sldId id="270"/>
            <p14:sldId id="271"/>
            <p14:sldId id="272"/>
            <p14:sldId id="273"/>
            <p14:sldId id="289"/>
          </p14:sldIdLst>
        </p14:section>
        <p14:section name="CMake语言常用命令" id="{97E1B8CA-81B6-4040-84B6-85E4DB49B0B6}">
          <p14:sldIdLst>
            <p14:sldId id="282"/>
            <p14:sldId id="283"/>
            <p14:sldId id="284"/>
            <p14:sldId id="269"/>
            <p14:sldId id="274"/>
            <p14:sldId id="275"/>
            <p14:sldId id="276"/>
            <p14:sldId id="278"/>
            <p14:sldId id="277"/>
            <p14:sldId id="280"/>
            <p14:sldId id="279"/>
            <p14:sldId id="281"/>
            <p14:sldId id="266"/>
          </p14:sldIdLst>
        </p14:section>
        <p14:section name="CMake在paddle中的运用" id="{89CFF540-5231-C348-BE1F-5D9E1BB0C47B}">
          <p14:sldIdLst>
            <p14:sldId id="286"/>
            <p14:sldId id="285"/>
            <p14:sldId id="287"/>
            <p14:sldId id="288"/>
          </p14:sldIdLst>
        </p14:section>
        <p14:section name="用户常见问题" id="{33E60FE4-520E-C841-AFAD-06E8C9EB9D57}">
          <p14:sldIdLst>
            <p14:sldId id="290"/>
            <p14:sldId id="291"/>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AC0"/>
    <a:srgbClr val="FFFFFF"/>
    <a:srgbClr val="E7E6E6"/>
    <a:srgbClr val="FF001A"/>
    <a:srgbClr val="DD0002"/>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7"/>
    <p:restoredTop sz="88304"/>
  </p:normalViewPr>
  <p:slideViewPr>
    <p:cSldViewPr snapToGrid="0" snapToObjects="1">
      <p:cViewPr varScale="1">
        <p:scale>
          <a:sx n="84" d="100"/>
          <a:sy n="84" d="100"/>
        </p:scale>
        <p:origin x="11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C76FC-BAE6-9B4F-BBDB-BC04F57FE40C}" type="datetimeFigureOut">
              <a:t>2020/2/25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E75354-EA8A-9E41-B2B4-00AA3329EF24}" type="slidenum">
              <a:t>‹#›</a:t>
            </a:fld>
            <a:endParaRPr kumimoji="1" lang="zh-CN" altLang="en-US"/>
          </a:p>
        </p:txBody>
      </p:sp>
    </p:spTree>
    <p:extLst>
      <p:ext uri="{BB962C8B-B14F-4D97-AF65-F5344CB8AC3E}">
        <p14:creationId xmlns:p14="http://schemas.microsoft.com/office/powerpoint/2010/main" val="1218408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a:t>
            </a:fld>
            <a:endParaRPr kumimoji="1" lang="zh-CN" altLang="en-US"/>
          </a:p>
        </p:txBody>
      </p:sp>
    </p:spTree>
    <p:extLst>
      <p:ext uri="{BB962C8B-B14F-4D97-AF65-F5344CB8AC3E}">
        <p14:creationId xmlns:p14="http://schemas.microsoft.com/office/powerpoint/2010/main" val="4114603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前言：</a:t>
            </a:r>
            <a:r>
              <a:rPr kumimoji="1" lang="en-US" altLang="zh-CN" dirty="0" err="1"/>
              <a:t>CMake</a:t>
            </a:r>
            <a:r>
              <a:rPr kumimoji="1" lang="zh-CN" altLang="en-US" dirty="0"/>
              <a:t>语言的思想可以说是面向</a:t>
            </a:r>
            <a:r>
              <a:rPr kumimoji="1" lang="en-US" altLang="zh-CN" dirty="0"/>
              <a:t>Target</a:t>
            </a:r>
            <a:r>
              <a:rPr kumimoji="1" lang="zh-CN" altLang="en-US" dirty="0"/>
              <a:t>和</a:t>
            </a:r>
            <a:r>
              <a:rPr kumimoji="1" lang="en-US" altLang="zh-CN" dirty="0"/>
              <a:t>Property</a:t>
            </a:r>
            <a:r>
              <a:rPr kumimoji="1" lang="zh-CN" altLang="en-US" dirty="0"/>
              <a:t>编程，</a:t>
            </a:r>
            <a:r>
              <a:rPr kumimoji="1" lang="en-US" altLang="zh-CN" dirty="0"/>
              <a:t>Target</a:t>
            </a:r>
            <a:r>
              <a:rPr kumimoji="1" lang="zh-CN" altLang="en-US" dirty="0"/>
              <a:t>可以是要编译的可执行文件，也可以是要编译的库，</a:t>
            </a:r>
            <a:r>
              <a:rPr kumimoji="1" lang="en-US" altLang="zh-CN" dirty="0"/>
              <a:t>Property</a:t>
            </a:r>
            <a:r>
              <a:rPr kumimoji="1" lang="zh-CN" altLang="en-US" dirty="0"/>
              <a:t>就是属性，</a:t>
            </a:r>
            <a:r>
              <a:rPr kumimoji="1" lang="en-US" altLang="zh-CN" dirty="0"/>
              <a:t>target</a:t>
            </a:r>
            <a:r>
              <a:rPr kumimoji="1" lang="zh-CN" altLang="en-US" dirty="0"/>
              <a:t>也有属性，例如构建</a:t>
            </a:r>
            <a:r>
              <a:rPr kumimoji="1" lang="en-US" altLang="zh-CN" dirty="0"/>
              <a:t>target</a:t>
            </a:r>
            <a:r>
              <a:rPr kumimoji="1" lang="zh-CN" altLang="en-US" dirty="0"/>
              <a:t>的源文件，依赖的库，编译器选项等</a:t>
            </a:r>
          </a:p>
        </p:txBody>
      </p:sp>
      <p:sp>
        <p:nvSpPr>
          <p:cNvPr id="4" name="灯片编号占位符 3"/>
          <p:cNvSpPr>
            <a:spLocks noGrp="1"/>
          </p:cNvSpPr>
          <p:nvPr>
            <p:ph type="sldNum" sz="quarter" idx="5"/>
          </p:nvPr>
        </p:nvSpPr>
        <p:spPr/>
        <p:txBody>
          <a:bodyPr/>
          <a:lstStyle/>
          <a:p>
            <a:fld id="{AAE75354-EA8A-9E41-B2B4-00AA3329EF24}" type="slidenum">
              <a:rPr lang="en-US" altLang="zh-CN" smtClean="0"/>
              <a:t>3</a:t>
            </a:fld>
            <a:endParaRPr kumimoji="1" lang="zh-CN" altLang="en-US"/>
          </a:p>
        </p:txBody>
      </p:sp>
    </p:spTree>
    <p:extLst>
      <p:ext uri="{BB962C8B-B14F-4D97-AF65-F5344CB8AC3E}">
        <p14:creationId xmlns:p14="http://schemas.microsoft.com/office/powerpoint/2010/main" val="438152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我们先通过几个小例子对</a:t>
            </a:r>
            <a:r>
              <a:rPr kumimoji="1" lang="en-US" altLang="zh-CN" dirty="0" err="1"/>
              <a:t>cmake</a:t>
            </a:r>
            <a:r>
              <a:rPr kumimoji="1" lang="zh-CN" altLang="en-US" dirty="0"/>
              <a:t>有一个</a:t>
            </a:r>
            <a:r>
              <a:rPr kumimoji="1" lang="zh-CN" altLang="en-US"/>
              <a:t>初步的了解</a:t>
            </a:r>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4</a:t>
            </a:fld>
            <a:endParaRPr kumimoji="1" lang="zh-CN" altLang="en-US"/>
          </a:p>
        </p:txBody>
      </p:sp>
    </p:spTree>
    <p:extLst>
      <p:ext uri="{BB962C8B-B14F-4D97-AF65-F5344CB8AC3E}">
        <p14:creationId xmlns:p14="http://schemas.microsoft.com/office/powerpoint/2010/main" val="2808292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这里要编译的可执行文件就是一个</a:t>
            </a:r>
            <a:r>
              <a:rPr kumimoji="1" lang="en-US" altLang="zh-CN" dirty="0"/>
              <a:t>Target</a:t>
            </a:r>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5</a:t>
            </a:fld>
            <a:endParaRPr kumimoji="1" lang="zh-CN" altLang="en-US"/>
          </a:p>
        </p:txBody>
      </p:sp>
    </p:spTree>
    <p:extLst>
      <p:ext uri="{BB962C8B-B14F-4D97-AF65-F5344CB8AC3E}">
        <p14:creationId xmlns:p14="http://schemas.microsoft.com/office/powerpoint/2010/main" val="1952594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6</a:t>
            </a:fld>
            <a:endParaRPr kumimoji="1" lang="zh-CN" altLang="en-US"/>
          </a:p>
        </p:txBody>
      </p:sp>
    </p:spTree>
    <p:extLst>
      <p:ext uri="{BB962C8B-B14F-4D97-AF65-F5344CB8AC3E}">
        <p14:creationId xmlns:p14="http://schemas.microsoft.com/office/powerpoint/2010/main" val="4170464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7</a:t>
            </a:fld>
            <a:endParaRPr kumimoji="1" lang="zh-CN" altLang="en-US"/>
          </a:p>
        </p:txBody>
      </p:sp>
    </p:spTree>
    <p:extLst>
      <p:ext uri="{BB962C8B-B14F-4D97-AF65-F5344CB8AC3E}">
        <p14:creationId xmlns:p14="http://schemas.microsoft.com/office/powerpoint/2010/main" val="2115043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8</a:t>
            </a:fld>
            <a:endParaRPr kumimoji="1" lang="zh-CN" altLang="en-US"/>
          </a:p>
        </p:txBody>
      </p:sp>
    </p:spTree>
    <p:extLst>
      <p:ext uri="{BB962C8B-B14F-4D97-AF65-F5344CB8AC3E}">
        <p14:creationId xmlns:p14="http://schemas.microsoft.com/office/powerpoint/2010/main" val="322270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9</a:t>
            </a:fld>
            <a:endParaRPr kumimoji="1" lang="zh-CN" altLang="en-US"/>
          </a:p>
        </p:txBody>
      </p:sp>
    </p:spTree>
    <p:extLst>
      <p:ext uri="{BB962C8B-B14F-4D97-AF65-F5344CB8AC3E}">
        <p14:creationId xmlns:p14="http://schemas.microsoft.com/office/powerpoint/2010/main" val="811750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10</a:t>
            </a:fld>
            <a:endParaRPr kumimoji="1" lang="zh-CN" altLang="en-US"/>
          </a:p>
        </p:txBody>
      </p:sp>
    </p:spTree>
    <p:extLst>
      <p:ext uri="{BB962C8B-B14F-4D97-AF65-F5344CB8AC3E}">
        <p14:creationId xmlns:p14="http://schemas.microsoft.com/office/powerpoint/2010/main" val="2328881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11</a:t>
            </a:fld>
            <a:endParaRPr kumimoji="1" lang="zh-CN" altLang="en-US"/>
          </a:p>
        </p:txBody>
      </p:sp>
    </p:spTree>
    <p:extLst>
      <p:ext uri="{BB962C8B-B14F-4D97-AF65-F5344CB8AC3E}">
        <p14:creationId xmlns:p14="http://schemas.microsoft.com/office/powerpoint/2010/main" val="1286900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Internal</a:t>
            </a:r>
            <a:r>
              <a:rPr kumimoji="1" lang="zh-CN" altLang="en-US" dirty="0"/>
              <a:t>是指内部变量，不在</a:t>
            </a:r>
            <a:r>
              <a:rPr kumimoji="1" lang="en-US" altLang="zh-CN" dirty="0" err="1"/>
              <a:t>cmake-gui</a:t>
            </a:r>
            <a:r>
              <a:rPr kumimoji="1" lang="zh-CN" altLang="en-US" dirty="0"/>
              <a:t>中显示</a:t>
            </a:r>
            <a:r>
              <a:rPr kumimoji="1" lang="en-US" altLang="zh-CN" dirty="0"/>
              <a:t>,</a:t>
            </a:r>
            <a:r>
              <a:rPr kumimoji="1" lang="zh-CN" altLang="en-US" dirty="0"/>
              <a:t> </a:t>
            </a:r>
            <a:r>
              <a:rPr kumimoji="1" lang="en-US" altLang="zh-CN" dirty="0"/>
              <a:t>force</a:t>
            </a:r>
            <a:r>
              <a:rPr kumimoji="1" lang="zh-CN" altLang="en-US" dirty="0"/>
              <a:t>会强制覆盖已有的</a:t>
            </a:r>
            <a:r>
              <a:rPr kumimoji="1" lang="en-US" altLang="zh-CN" dirty="0"/>
              <a:t>cache</a:t>
            </a:r>
            <a:r>
              <a:rPr kumimoji="1" lang="zh-CN" altLang="en-US" dirty="0"/>
              <a:t>变量（默认不覆盖）</a:t>
            </a:r>
            <a:endParaRPr kumimoji="1" lang="en-US" altLang="zh-CN" dirty="0"/>
          </a:p>
          <a:p>
            <a:r>
              <a:rPr lang="zh-CN" altLang="en-US" sz="1200" b="0" i="0" kern="1200" dirty="0">
                <a:solidFill>
                  <a:schemeClr val="tx1"/>
                </a:solidFill>
                <a:effectLst/>
                <a:latin typeface="+mn-lt"/>
                <a:ea typeface="+mn-ea"/>
                <a:cs typeface="+mn-cs"/>
              </a:rPr>
              <a:t>引号对于</a:t>
            </a:r>
            <a:r>
              <a:rPr lang="en" altLang="zh-CN" sz="1200" b="0" i="0" kern="1200" dirty="0" err="1">
                <a:solidFill>
                  <a:schemeClr val="tx1"/>
                </a:solidFill>
                <a:effectLst/>
                <a:latin typeface="+mn-lt"/>
                <a:ea typeface="+mn-ea"/>
                <a:cs typeface="+mn-cs"/>
              </a:rPr>
              <a:t>CMake</a:t>
            </a:r>
            <a:r>
              <a:rPr lang="zh-CN" altLang="en-US" sz="1200" b="0" i="0" kern="1200" dirty="0">
                <a:solidFill>
                  <a:schemeClr val="tx1"/>
                </a:solidFill>
                <a:effectLst/>
                <a:latin typeface="+mn-lt"/>
                <a:ea typeface="+mn-ea"/>
                <a:cs typeface="+mn-cs"/>
              </a:rPr>
              <a:t>中变量的定义，其功能主要是当有空格的时候，区别变量时一个数组还是纯粹的字符串</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在使用的时候，对于普通字符串，加不加引号没什么区别，而对于数组，加引号会将数组以分号间隔输出，而不加引号则是直接拼接数组</a:t>
            </a:r>
            <a:endParaRPr kumimoji="1" lang="en-US" altLang="zh-CN"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12</a:t>
            </a:fld>
            <a:endParaRPr kumimoji="1" lang="zh-CN" altLang="en-US"/>
          </a:p>
        </p:txBody>
      </p:sp>
    </p:spTree>
    <p:extLst>
      <p:ext uri="{BB962C8B-B14F-4D97-AF65-F5344CB8AC3E}">
        <p14:creationId xmlns:p14="http://schemas.microsoft.com/office/powerpoint/2010/main" val="2110102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13</a:t>
            </a:fld>
            <a:endParaRPr kumimoji="1" lang="zh-CN" altLang="en-US"/>
          </a:p>
        </p:txBody>
      </p:sp>
    </p:spTree>
    <p:extLst>
      <p:ext uri="{BB962C8B-B14F-4D97-AF65-F5344CB8AC3E}">
        <p14:creationId xmlns:p14="http://schemas.microsoft.com/office/powerpoint/2010/main" val="62197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Package</a:t>
            </a:r>
            <a:r>
              <a:rPr kumimoji="1" lang="zh-CN" altLang="en-US" dirty="0"/>
              <a:t>有配置模式和模块模式，查找的文件不一样，配置模式会查找形如</a:t>
            </a:r>
            <a:r>
              <a:rPr lang="en" altLang="zh-CN" sz="1200" b="0" i="0" u="none" strike="noStrike" kern="1200" dirty="0" err="1">
                <a:solidFill>
                  <a:schemeClr val="tx1"/>
                </a:solidFill>
                <a:effectLst/>
                <a:latin typeface="+mn-lt"/>
                <a:ea typeface="+mn-ea"/>
                <a:cs typeface="+mn-cs"/>
              </a:rPr>
              <a:t>OpenCVConfig.cmake</a:t>
            </a:r>
            <a:r>
              <a:rPr lang="zh-CN" altLang="en" sz="1200" b="0" i="0" u="none" strike="noStrike" kern="1200" dirty="0">
                <a:solidFill>
                  <a:schemeClr val="tx1"/>
                </a:solidFill>
                <a:effectLst/>
                <a:latin typeface="+mn-lt"/>
                <a:ea typeface="+mn-ea"/>
                <a:cs typeface="+mn-cs"/>
              </a:rPr>
              <a:t>或</a:t>
            </a:r>
            <a:r>
              <a:rPr lang="en" altLang="zh-CN" sz="1200" b="0" i="0" u="none" strike="noStrike" kern="1200" dirty="0" err="1">
                <a:solidFill>
                  <a:schemeClr val="tx1"/>
                </a:solidFill>
                <a:effectLst/>
                <a:latin typeface="+mn-lt"/>
                <a:ea typeface="+mn-ea"/>
                <a:cs typeface="+mn-cs"/>
              </a:rPr>
              <a:t>opencv-config.cmake</a:t>
            </a:r>
            <a:r>
              <a:rPr lang="zh-CN" altLang="en" sz="1200" b="0" i="0" u="none" strike="noStrike" kern="1200" dirty="0">
                <a:solidFill>
                  <a:schemeClr val="tx1"/>
                </a:solidFill>
                <a:effectLst/>
                <a:latin typeface="+mn-lt"/>
                <a:ea typeface="+mn-ea"/>
                <a:cs typeface="+mn-cs"/>
              </a:rPr>
              <a:t>的</a:t>
            </a:r>
            <a:r>
              <a:rPr lang="zh-CN" altLang="en-US" sz="1200" b="0" i="0" u="none" strike="noStrike" kern="1200" dirty="0">
                <a:solidFill>
                  <a:schemeClr val="tx1"/>
                </a:solidFill>
                <a:effectLst/>
                <a:latin typeface="+mn-lt"/>
                <a:ea typeface="+mn-ea"/>
                <a:cs typeface="+mn-cs"/>
              </a:rPr>
              <a:t>文件，而模块模式会找形如</a:t>
            </a:r>
            <a:r>
              <a:rPr lang="en" altLang="zh-CN" sz="1200" b="0" i="0" u="none" strike="noStrike" kern="1200" dirty="0">
                <a:solidFill>
                  <a:schemeClr val="tx1"/>
                </a:solidFill>
                <a:effectLst/>
                <a:latin typeface="+mn-lt"/>
                <a:ea typeface="+mn-ea"/>
                <a:cs typeface="+mn-cs"/>
              </a:rPr>
              <a:t>Find&lt;name&gt;.</a:t>
            </a:r>
            <a:r>
              <a:rPr lang="en" altLang="zh-CN" sz="1200" b="0" i="0" u="none" strike="noStrike" kern="1200" dirty="0" err="1">
                <a:solidFill>
                  <a:schemeClr val="tx1"/>
                </a:solidFill>
                <a:effectLst/>
                <a:latin typeface="+mn-lt"/>
                <a:ea typeface="+mn-ea"/>
                <a:cs typeface="+mn-cs"/>
              </a:rPr>
              <a:t>cmake</a:t>
            </a:r>
            <a:r>
              <a:rPr lang="zh-CN" altLang="en" sz="1200" b="0" i="0" u="none" strike="noStrike" kern="1200" dirty="0">
                <a:solidFill>
                  <a:schemeClr val="tx1"/>
                </a:solidFill>
                <a:effectLst/>
                <a:latin typeface="+mn-lt"/>
                <a:ea typeface="+mn-ea"/>
                <a:cs typeface="+mn-cs"/>
              </a:rPr>
              <a:t>的</a:t>
            </a:r>
            <a:r>
              <a:rPr lang="zh-CN" altLang="en-US" sz="1200" b="0" i="0" u="none" strike="noStrike" kern="1200" dirty="0">
                <a:solidFill>
                  <a:schemeClr val="tx1"/>
                </a:solidFill>
                <a:effectLst/>
                <a:latin typeface="+mn-lt"/>
                <a:ea typeface="+mn-ea"/>
                <a:cs typeface="+mn-cs"/>
              </a:rPr>
              <a:t>文件，命令行输入</a:t>
            </a:r>
            <a:r>
              <a:rPr lang="en" altLang="zh-CN" sz="1200" b="0" i="0" u="none" strike="noStrike" kern="1200" dirty="0" err="1">
                <a:solidFill>
                  <a:schemeClr val="tx1"/>
                </a:solidFill>
                <a:effectLst/>
                <a:latin typeface="+mn-lt"/>
                <a:ea typeface="+mn-ea"/>
                <a:cs typeface="+mn-cs"/>
              </a:rPr>
              <a:t>cmake</a:t>
            </a:r>
            <a:r>
              <a:rPr lang="en" altLang="zh-CN" sz="1200" b="0" i="0" u="none" strike="noStrike" kern="1200" dirty="0">
                <a:solidFill>
                  <a:schemeClr val="tx1"/>
                </a:solidFill>
                <a:effectLst/>
                <a:latin typeface="+mn-lt"/>
                <a:ea typeface="+mn-ea"/>
                <a:cs typeface="+mn-cs"/>
              </a:rPr>
              <a:t> --help-module-list</a:t>
            </a:r>
            <a:r>
              <a:rPr lang="zh-CN" altLang="en" sz="1200" b="0" i="0" u="none" strike="noStrike" kern="1200" dirty="0">
                <a:solidFill>
                  <a:schemeClr val="tx1"/>
                </a:solidFill>
                <a:effectLst/>
                <a:latin typeface="+mn-lt"/>
                <a:ea typeface="+mn-ea"/>
                <a:cs typeface="+mn-cs"/>
              </a:rPr>
              <a:t>可以</a:t>
            </a:r>
            <a:r>
              <a:rPr lang="zh-CN" altLang="en-US" sz="1200" b="0" i="0" u="none" strike="noStrike" kern="1200" dirty="0">
                <a:solidFill>
                  <a:schemeClr val="tx1"/>
                </a:solidFill>
                <a:effectLst/>
                <a:latin typeface="+mn-lt"/>
                <a:ea typeface="+mn-ea"/>
                <a:cs typeface="+mn-cs"/>
              </a:rPr>
              <a:t>查看可用的模块列表。</a:t>
            </a:r>
            <a:endParaRPr kumimoji="1" lang="en-US" altLang="zh-CN"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14</a:t>
            </a:fld>
            <a:endParaRPr kumimoji="1" lang="zh-CN" altLang="en-US"/>
          </a:p>
        </p:txBody>
      </p:sp>
    </p:spTree>
    <p:extLst>
      <p:ext uri="{BB962C8B-B14F-4D97-AF65-F5344CB8AC3E}">
        <p14:creationId xmlns:p14="http://schemas.microsoft.com/office/powerpoint/2010/main" val="3347571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Glob</a:t>
            </a:r>
            <a:r>
              <a:rPr kumimoji="1" lang="zh-CN" altLang="en-US" dirty="0"/>
              <a:t>要慎重使用</a:t>
            </a:r>
          </a:p>
        </p:txBody>
      </p:sp>
      <p:sp>
        <p:nvSpPr>
          <p:cNvPr id="4" name="灯片编号占位符 3"/>
          <p:cNvSpPr>
            <a:spLocks noGrp="1"/>
          </p:cNvSpPr>
          <p:nvPr>
            <p:ph type="sldNum" sz="quarter" idx="5"/>
          </p:nvPr>
        </p:nvSpPr>
        <p:spPr/>
        <p:txBody>
          <a:bodyPr/>
          <a:lstStyle/>
          <a:p>
            <a:fld id="{AAE75354-EA8A-9E41-B2B4-00AA3329EF24}" type="slidenum">
              <a:rPr lang="en-US" altLang="zh-CN" smtClean="0"/>
              <a:t>15</a:t>
            </a:fld>
            <a:endParaRPr kumimoji="1" lang="zh-CN" altLang="en-US"/>
          </a:p>
        </p:txBody>
      </p:sp>
    </p:spTree>
    <p:extLst>
      <p:ext uri="{BB962C8B-B14F-4D97-AF65-F5344CB8AC3E}">
        <p14:creationId xmlns:p14="http://schemas.microsoft.com/office/powerpoint/2010/main" val="3803699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该命令与</a:t>
            </a:r>
            <a:r>
              <a:rPr kumimoji="1" lang="en-US" altLang="zh-CN" dirty="0" err="1"/>
              <a:t>add_custom_command</a:t>
            </a:r>
            <a:r>
              <a:rPr kumimoji="1" lang="zh-CN" altLang="en-US" dirty="0"/>
              <a:t>有着很强的关联</a:t>
            </a:r>
          </a:p>
        </p:txBody>
      </p:sp>
      <p:sp>
        <p:nvSpPr>
          <p:cNvPr id="4" name="灯片编号占位符 3"/>
          <p:cNvSpPr>
            <a:spLocks noGrp="1"/>
          </p:cNvSpPr>
          <p:nvPr>
            <p:ph type="sldNum" sz="quarter" idx="5"/>
          </p:nvPr>
        </p:nvSpPr>
        <p:spPr/>
        <p:txBody>
          <a:bodyPr/>
          <a:lstStyle/>
          <a:p>
            <a:fld id="{AAE75354-EA8A-9E41-B2B4-00AA3329EF24}" type="slidenum">
              <a:rPr lang="en-US" altLang="zh-CN" smtClean="0"/>
              <a:t>19</a:t>
            </a:fld>
            <a:endParaRPr kumimoji="1" lang="zh-CN" altLang="en-US"/>
          </a:p>
        </p:txBody>
      </p:sp>
    </p:spTree>
    <p:extLst>
      <p:ext uri="{BB962C8B-B14F-4D97-AF65-F5344CB8AC3E}">
        <p14:creationId xmlns:p14="http://schemas.microsoft.com/office/powerpoint/2010/main" val="3357657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这是前两个命令在</a:t>
            </a:r>
            <a:r>
              <a:rPr kumimoji="1" lang="en-US" altLang="zh-CN" dirty="0"/>
              <a:t>paddle</a:t>
            </a:r>
            <a:r>
              <a:rPr kumimoji="1" lang="zh-CN" altLang="en-US" dirty="0"/>
              <a:t>中的一个例子，为了讲解原理再确认一下</a:t>
            </a:r>
            <a:r>
              <a:rPr kumimoji="1" lang="en-US" altLang="zh-CN" dirty="0" err="1"/>
              <a:t>py_proto_compile</a:t>
            </a:r>
            <a:r>
              <a:rPr kumimoji="1" lang="zh-CN" altLang="en-US" dirty="0"/>
              <a:t>是个什么函数</a:t>
            </a:r>
          </a:p>
        </p:txBody>
      </p:sp>
      <p:sp>
        <p:nvSpPr>
          <p:cNvPr id="4" name="灯片编号占位符 3"/>
          <p:cNvSpPr>
            <a:spLocks noGrp="1"/>
          </p:cNvSpPr>
          <p:nvPr>
            <p:ph type="sldNum" sz="quarter" idx="5"/>
          </p:nvPr>
        </p:nvSpPr>
        <p:spPr/>
        <p:txBody>
          <a:bodyPr/>
          <a:lstStyle/>
          <a:p>
            <a:fld id="{AAE75354-EA8A-9E41-B2B4-00AA3329EF24}" type="slidenum">
              <a:rPr lang="en-US" altLang="zh-CN" smtClean="0"/>
              <a:t>22</a:t>
            </a:fld>
            <a:endParaRPr kumimoji="1" lang="zh-CN" altLang="en-US"/>
          </a:p>
        </p:txBody>
      </p:sp>
    </p:spTree>
    <p:extLst>
      <p:ext uri="{BB962C8B-B14F-4D97-AF65-F5344CB8AC3E}">
        <p14:creationId xmlns:p14="http://schemas.microsoft.com/office/powerpoint/2010/main" val="880444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相当于在源代码里写了一句</a:t>
            </a:r>
            <a:r>
              <a:rPr kumimoji="1" lang="en-US" altLang="zh-CN" dirty="0"/>
              <a:t>#define</a:t>
            </a:r>
            <a:r>
              <a:rPr kumimoji="1" lang="zh-CN" altLang="en-US" dirty="0"/>
              <a:t> </a:t>
            </a:r>
            <a:r>
              <a:rPr kumimoji="1" lang="en-US" altLang="zh-CN" dirty="0"/>
              <a:t>XXX</a:t>
            </a:r>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23</a:t>
            </a:fld>
            <a:endParaRPr kumimoji="1" lang="zh-CN" altLang="en-US"/>
          </a:p>
        </p:txBody>
      </p:sp>
    </p:spTree>
    <p:extLst>
      <p:ext uri="{BB962C8B-B14F-4D97-AF65-F5344CB8AC3E}">
        <p14:creationId xmlns:p14="http://schemas.microsoft.com/office/powerpoint/2010/main" val="1307279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自己定义</a:t>
            </a:r>
            <a:r>
              <a:rPr kumimoji="1" lang="en-US" altLang="zh-CN" dirty="0"/>
              <a:t>function</a:t>
            </a:r>
            <a:r>
              <a:rPr kumimoji="1" lang="zh-CN" altLang="en-US" dirty="0"/>
              <a:t>时接受参数需要用到</a:t>
            </a:r>
            <a:r>
              <a:rPr lang="en" altLang="zh-CN" sz="1200" b="0" i="0" u="none" strike="noStrike" kern="1200" dirty="0" err="1">
                <a:solidFill>
                  <a:schemeClr val="tx1"/>
                </a:solidFill>
                <a:effectLst/>
                <a:latin typeface="+mn-lt"/>
                <a:ea typeface="+mn-ea"/>
                <a:cs typeface="+mn-cs"/>
              </a:rPr>
              <a:t>cmake_parse_arguments</a:t>
            </a:r>
            <a:r>
              <a:rPr lang="zh-CN" altLang="en-US" sz="1200" b="0" i="0" u="none" strike="noStrike" kern="1200" dirty="0">
                <a:solidFill>
                  <a:schemeClr val="tx1"/>
                </a:solidFill>
                <a:effectLst/>
                <a:latin typeface="+mn-lt"/>
                <a:ea typeface="+mn-ea"/>
                <a:cs typeface="+mn-cs"/>
              </a:rPr>
              <a:t>，将单个参数的变量，多个参数变量分割开，避免</a:t>
            </a:r>
            <a:r>
              <a:rPr lang="en-US" altLang="zh-CN" sz="1200" b="0" i="0" u="none" strike="noStrike" kern="1200" dirty="0">
                <a:solidFill>
                  <a:schemeClr val="tx1"/>
                </a:solidFill>
                <a:effectLst/>
                <a:latin typeface="+mn-lt"/>
                <a:ea typeface="+mn-ea"/>
                <a:cs typeface="+mn-cs"/>
              </a:rPr>
              <a:t>function</a:t>
            </a:r>
            <a:r>
              <a:rPr lang="zh-CN" altLang="en-US" sz="1200" b="0" i="0" u="none" strike="noStrike" kern="1200" dirty="0">
                <a:solidFill>
                  <a:schemeClr val="tx1"/>
                </a:solidFill>
                <a:effectLst/>
                <a:latin typeface="+mn-lt"/>
                <a:ea typeface="+mn-ea"/>
                <a:cs typeface="+mn-cs"/>
              </a:rPr>
              <a:t>不能识别一个变量存储多个传入参数</a:t>
            </a:r>
            <a:endParaRPr lang="en" altLang="zh-CN" sz="1200" b="0" i="0" u="none" strike="noStrike" kern="1200" dirty="0">
              <a:solidFill>
                <a:schemeClr val="tx1"/>
              </a:solidFill>
              <a:effectLst/>
              <a:latin typeface="+mn-lt"/>
              <a:ea typeface="+mn-ea"/>
              <a:cs typeface="+mn-cs"/>
            </a:endParaRPr>
          </a:p>
          <a:p>
            <a:r>
              <a:rPr kumimoji="1" lang="en" altLang="zh-CN" dirty="0"/>
              <a:t>https://</a:t>
            </a:r>
            <a:r>
              <a:rPr kumimoji="1" lang="en" altLang="zh-CN" dirty="0" err="1"/>
              <a:t>cmake.org</a:t>
            </a:r>
            <a:r>
              <a:rPr kumimoji="1" lang="en" altLang="zh-CN" dirty="0"/>
              <a:t>/</a:t>
            </a:r>
            <a:r>
              <a:rPr kumimoji="1" lang="en" altLang="zh-CN" dirty="0" err="1"/>
              <a:t>cmake</a:t>
            </a:r>
            <a:r>
              <a:rPr kumimoji="1" lang="en" altLang="zh-CN" dirty="0"/>
              <a:t>/help/latest/command/</a:t>
            </a:r>
            <a:r>
              <a:rPr kumimoji="1" lang="en" altLang="zh-CN" dirty="0" err="1"/>
              <a:t>cmake_parse_arguments.html</a:t>
            </a:r>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25</a:t>
            </a:fld>
            <a:endParaRPr kumimoji="1" lang="zh-CN" altLang="en-US"/>
          </a:p>
        </p:txBody>
      </p:sp>
    </p:spTree>
    <p:extLst>
      <p:ext uri="{BB962C8B-B14F-4D97-AF65-F5344CB8AC3E}">
        <p14:creationId xmlns:p14="http://schemas.microsoft.com/office/powerpoint/2010/main" val="2945904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26</a:t>
            </a:fld>
            <a:endParaRPr kumimoji="1" lang="zh-CN" altLang="en-US"/>
          </a:p>
        </p:txBody>
      </p:sp>
    </p:spTree>
    <p:extLst>
      <p:ext uri="{BB962C8B-B14F-4D97-AF65-F5344CB8AC3E}">
        <p14:creationId xmlns:p14="http://schemas.microsoft.com/office/powerpoint/2010/main" val="292396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27</a:t>
            </a:fld>
            <a:endParaRPr kumimoji="1" lang="zh-CN" altLang="en-US"/>
          </a:p>
        </p:txBody>
      </p:sp>
    </p:spTree>
    <p:extLst>
      <p:ext uri="{BB962C8B-B14F-4D97-AF65-F5344CB8AC3E}">
        <p14:creationId xmlns:p14="http://schemas.microsoft.com/office/powerpoint/2010/main" val="392204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28</a:t>
            </a:fld>
            <a:endParaRPr kumimoji="1" lang="zh-CN" altLang="en-US"/>
          </a:p>
        </p:txBody>
      </p:sp>
    </p:spTree>
    <p:extLst>
      <p:ext uri="{BB962C8B-B14F-4D97-AF65-F5344CB8AC3E}">
        <p14:creationId xmlns:p14="http://schemas.microsoft.com/office/powerpoint/2010/main" val="3204875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29</a:t>
            </a:fld>
            <a:endParaRPr kumimoji="1" lang="zh-CN" altLang="en-US"/>
          </a:p>
        </p:txBody>
      </p:sp>
    </p:spTree>
    <p:extLst>
      <p:ext uri="{BB962C8B-B14F-4D97-AF65-F5344CB8AC3E}">
        <p14:creationId xmlns:p14="http://schemas.microsoft.com/office/powerpoint/2010/main" val="1328495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AE75354-EA8A-9E41-B2B4-00AA3329EF24}" type="slidenum">
              <a:rPr lang="en-US" altLang="zh-CN" smtClean="0"/>
              <a:t>30</a:t>
            </a:fld>
            <a:endParaRPr kumimoji="1" lang="zh-CN" altLang="en-US"/>
          </a:p>
        </p:txBody>
      </p:sp>
    </p:spTree>
    <p:extLst>
      <p:ext uri="{BB962C8B-B14F-4D97-AF65-F5344CB8AC3E}">
        <p14:creationId xmlns:p14="http://schemas.microsoft.com/office/powerpoint/2010/main" val="3438271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ADD15-F44A-D741-A658-BD7BBBEDE84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720B729-90B1-C949-9821-78466826F0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425F581-773F-814F-BDE3-B63215B37510}"/>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C7CA684C-B327-B249-B21C-20E49D5DDD7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3A872B0-B6C3-8F4E-810D-268E47AE76D6}"/>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1459762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F4020-51BC-A34A-86CD-D6F5E325E1C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F1ED2F7-0989-2143-ADB8-EC56586F76E6}"/>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2B00E843-BBC3-BF4B-B9A2-557B1A1C2B4F}"/>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DB6FB723-ED79-114A-8DD2-88884653EF2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EA1B4D4-902F-3546-AA1E-EFF6A1542525}"/>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373944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90E0AA-80AF-8B45-8434-9AFD963B4E4C}"/>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8A364E49-4C87-0648-B206-D052E45A3035}"/>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4" name="页脚占位符 3">
            <a:extLst>
              <a:ext uri="{FF2B5EF4-FFF2-40B4-BE49-F238E27FC236}">
                <a16:creationId xmlns:a16="http://schemas.microsoft.com/office/drawing/2014/main" id="{20EF366B-4827-F549-8303-99AAE02306DC}"/>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3F69D18-10F2-8B42-AB99-735394EDB0D5}"/>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4094222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01D2B-47F4-B542-BA30-8876D6E022A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5185B72-F390-454B-8BB9-561B4234A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B8ACE64C-01A3-7941-9AD0-854581DDF2A9}"/>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C48DFCEA-BB68-924C-84DC-1BBAF98D89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021D01-EE0C-0542-AE4F-07EB6B505AA9}"/>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3709335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665FF-231B-BD4E-AC2F-7875E5934CE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3BAE202-B6FC-BC4F-B3FC-B212D63C1FE5}"/>
              </a:ext>
            </a:extLst>
          </p:cNvPr>
          <p:cNvSpPr>
            <a:spLocks noGrp="1"/>
          </p:cNvSpPr>
          <p:nvPr>
            <p:ph sz="half" idx="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81CC9E3A-3FA0-4542-9E4B-8741FD0FB36A}"/>
              </a:ext>
            </a:extLst>
          </p:cNvPr>
          <p:cNvSpPr>
            <a:spLocks noGrp="1"/>
          </p:cNvSpPr>
          <p:nvPr>
            <p:ph sz="half" idx="2"/>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2C02B51F-8D45-B64C-B70B-4E6A2929827A}"/>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6" name="页脚占位符 5">
            <a:extLst>
              <a:ext uri="{FF2B5EF4-FFF2-40B4-BE49-F238E27FC236}">
                <a16:creationId xmlns:a16="http://schemas.microsoft.com/office/drawing/2014/main" id="{DAB2DB64-6BB3-CC48-939D-015DF1FD8C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B9A9F0-9559-F94F-B707-BF9722EBE218}"/>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2708078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146E3-F2C1-B64B-8378-56A0C03523A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FE76814-CA7F-1142-B93C-488A254D4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81B708A4-7A68-B24D-BB8D-E0394C45BA6E}"/>
              </a:ext>
            </a:extLst>
          </p:cNvPr>
          <p:cNvSpPr>
            <a:spLocks noGrp="1"/>
          </p:cNvSpPr>
          <p:nvPr>
            <p:ph sz="half" idx="2"/>
          </p:nvPr>
        </p:nvSpPr>
        <p:spPr>
          <a:xfrm>
            <a:off x="839788" y="2505075"/>
            <a:ext cx="5157787" cy="3684588"/>
          </a:xfrm>
        </p:spPr>
        <p:txBody>
          <a:bodyPr/>
          <a:lstStyle/>
          <a:p>
            <a:r>
              <a:rPr kumimoji="1" lang="zh-CN" altLang="en-US"/>
              <a:t>编辑母版文本样式
第二级
第三级
第四级
第五级</a:t>
            </a:r>
          </a:p>
        </p:txBody>
      </p:sp>
      <p:sp>
        <p:nvSpPr>
          <p:cNvPr id="5" name="文本占位符 4">
            <a:extLst>
              <a:ext uri="{FF2B5EF4-FFF2-40B4-BE49-F238E27FC236}">
                <a16:creationId xmlns:a16="http://schemas.microsoft.com/office/drawing/2014/main" id="{95AE706D-C6B7-6149-AEFE-2D3429EB9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a:extLst>
              <a:ext uri="{FF2B5EF4-FFF2-40B4-BE49-F238E27FC236}">
                <a16:creationId xmlns:a16="http://schemas.microsoft.com/office/drawing/2014/main" id="{A8BA581D-F636-374C-9074-CD980CB5D4D5}"/>
              </a:ext>
            </a:extLst>
          </p:cNvPr>
          <p:cNvSpPr>
            <a:spLocks noGrp="1"/>
          </p:cNvSpPr>
          <p:nvPr>
            <p:ph sz="quarter" idx="4"/>
          </p:nvPr>
        </p:nvSpPr>
        <p:spPr>
          <a:xfrm>
            <a:off x="6172200" y="2505075"/>
            <a:ext cx="5183188" cy="3684588"/>
          </a:xfrm>
        </p:spPr>
        <p:txBody>
          <a:bodyPr/>
          <a:lstStyle/>
          <a:p>
            <a:r>
              <a:rPr kumimoji="1" lang="zh-CN" altLang="en-US"/>
              <a:t>编辑母版文本样式
第二级
第三级
第四级
第五级</a:t>
            </a:r>
          </a:p>
        </p:txBody>
      </p:sp>
      <p:sp>
        <p:nvSpPr>
          <p:cNvPr id="7" name="日期占位符 6">
            <a:extLst>
              <a:ext uri="{FF2B5EF4-FFF2-40B4-BE49-F238E27FC236}">
                <a16:creationId xmlns:a16="http://schemas.microsoft.com/office/drawing/2014/main" id="{D2DE39ED-7124-1245-BDC5-73E2DC228E72}"/>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8" name="页脚占位符 7">
            <a:extLst>
              <a:ext uri="{FF2B5EF4-FFF2-40B4-BE49-F238E27FC236}">
                <a16:creationId xmlns:a16="http://schemas.microsoft.com/office/drawing/2014/main" id="{B3C54E9C-30A8-6A44-B27C-CBF324E89C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056FE45-EE49-014E-9728-79424FFD3FBE}"/>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155578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70196-BE65-F44F-ACD6-819989B8D0A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6797C22-ABB7-504F-A72D-047986647B1C}"/>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4" name="页脚占位符 3">
            <a:extLst>
              <a:ext uri="{FF2B5EF4-FFF2-40B4-BE49-F238E27FC236}">
                <a16:creationId xmlns:a16="http://schemas.microsoft.com/office/drawing/2014/main" id="{A7ED5791-B0F3-E64F-BB7B-80AA5F65CBC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FC0296A-3FCB-8A4F-AF04-E9021F3C1AA8}"/>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1512108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A76472D-2777-E141-A6BB-731A15C49A34}"/>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3" name="页脚占位符 2">
            <a:extLst>
              <a:ext uri="{FF2B5EF4-FFF2-40B4-BE49-F238E27FC236}">
                <a16:creationId xmlns:a16="http://schemas.microsoft.com/office/drawing/2014/main" id="{9E447BC3-79F0-FD44-B1B5-486876FED90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CDEA046-3A4D-1149-B4F1-AB723B2FDE13}"/>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2967052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3107E-44F9-AC4C-9C2B-DE7268EB024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CA5CC2B-D407-4D44-B757-5B6551D9A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a:extLst>
              <a:ext uri="{FF2B5EF4-FFF2-40B4-BE49-F238E27FC236}">
                <a16:creationId xmlns:a16="http://schemas.microsoft.com/office/drawing/2014/main" id="{C7BAAB4C-B89C-7141-BE8F-4C8443F84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3E611BB6-378E-DF49-BEBB-5CC8CE22BDB4}"/>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6" name="页脚占位符 5">
            <a:extLst>
              <a:ext uri="{FF2B5EF4-FFF2-40B4-BE49-F238E27FC236}">
                <a16:creationId xmlns:a16="http://schemas.microsoft.com/office/drawing/2014/main" id="{5A58D981-679C-114C-95B1-196D617C54F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0B99BEA-3834-CA44-8C6A-157C8D222263}"/>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2388211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71072E-D75F-E842-8648-52AA1A440F6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ADE1F74-1498-4649-9EFC-5840B53B7E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2FBE71-B686-E544-99FD-5A2C5035B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125B264A-A020-5945-810A-B6AECFCED811}"/>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6" name="页脚占位符 5">
            <a:extLst>
              <a:ext uri="{FF2B5EF4-FFF2-40B4-BE49-F238E27FC236}">
                <a16:creationId xmlns:a16="http://schemas.microsoft.com/office/drawing/2014/main" id="{7F87F4F2-9E70-F34D-9CEE-75234AAC8EE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4799EAC-B2AE-294D-B077-22138FF58DE0}"/>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1344865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5491BD-7B14-5C47-ABFB-18669992D50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15E1786-1C06-514D-8668-FD589F74D6BE}"/>
              </a:ext>
            </a:extLst>
          </p:cNvPr>
          <p:cNvSpPr>
            <a:spLocks noGrp="1"/>
          </p:cNvSpPr>
          <p:nvPr>
            <p:ph type="body" orient="vert" idx="1"/>
          </p:nvPr>
        </p:nvSpPr>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FAE40085-BB64-D04F-BB5A-B7074903D553}"/>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B5A61AA5-67F1-F346-98A4-FB329616F49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8A8C75-C0B1-2B4B-BD9E-3A3FA62B90EE}"/>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3781598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F45B9AF-5C07-4F42-A763-0F4196124E72}"/>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124E3D4-66E8-5045-86E5-A029EAE21CE0}"/>
              </a:ext>
            </a:extLst>
          </p:cNvPr>
          <p:cNvSpPr>
            <a:spLocks noGrp="1"/>
          </p:cNvSpPr>
          <p:nvPr>
            <p:ph type="body" orient="vert" idx="1"/>
          </p:nvPr>
        </p:nvSpPr>
        <p:spPr>
          <a:xfrm>
            <a:off x="838200" y="365125"/>
            <a:ext cx="7734300" cy="5811838"/>
          </a:xfrm>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D0F68FC-3B54-224B-94D1-215CCB64C30A}"/>
              </a:ext>
            </a:extLst>
          </p:cNvPr>
          <p:cNvSpPr>
            <a:spLocks noGrp="1"/>
          </p:cNvSpPr>
          <p:nvPr>
            <p:ph type="dt" sz="half" idx="10"/>
          </p:nvPr>
        </p:nvSpPr>
        <p:spPr/>
        <p:txBody>
          <a:body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1BBF3DF8-4060-6B43-8F00-8BFF48AEA6E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C1E9FFA-A64F-054F-97F9-960E0414CBB6}"/>
              </a:ext>
            </a:extLst>
          </p:cNvPr>
          <p:cNvSpPr>
            <a:spLocks noGrp="1"/>
          </p:cNvSpPr>
          <p:nvPr>
            <p:ph type="sldNum" sz="quarter" idx="12"/>
          </p:nvPr>
        </p:nvSpPr>
        <p:spPr/>
        <p:txBody>
          <a:bodyPr/>
          <a:lstStyle/>
          <a:p>
            <a:fld id="{274C13FF-1FB7-CC4D-99C8-2F334A247C3A}" type="slidenum">
              <a:t>‹#›</a:t>
            </a:fld>
            <a:endParaRPr kumimoji="1" lang="zh-CN" altLang="en-US"/>
          </a:p>
        </p:txBody>
      </p:sp>
    </p:spTree>
    <p:extLst>
      <p:ext uri="{BB962C8B-B14F-4D97-AF65-F5344CB8AC3E}">
        <p14:creationId xmlns:p14="http://schemas.microsoft.com/office/powerpoint/2010/main" val="1668929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79F439-3DEF-C64D-BCB0-233267B2B13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F225F07-90A8-8347-9C4C-5AE3AB693F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0BFC41D-351B-C14D-8CF5-3DBD3ED3B6D3}"/>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9908ABEA-C281-8A48-BDA7-9265580384A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C4AF778-23F1-FC41-ABE6-15C4C6B7B8D1}"/>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3750895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98B18-83BB-6E4B-826D-69367C5A8A9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C1B82A2-C585-0C41-8A84-30B4C0A01DB1}"/>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024878F0-633B-F14A-857B-ADD334DF7734}"/>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1F2EEA92-6319-BE4E-9C07-2AE5BF474B0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EAE1D6C-AEDD-F34D-97D2-1CAF3C0965A3}"/>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4090199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FF730-1CF7-3648-8570-23830D42F80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202E503-ADCD-E446-A121-20216B79B6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4980402C-0F6D-D846-8B97-E08AF2E2D531}"/>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B4E02150-9B34-ED4D-9144-0F450F0DA7F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38D0F33-B089-DC4A-9866-B4061FB1B55A}"/>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3395987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A9FB5-5559-2A4B-8AEA-16F39A5EBEA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CC23CD8-E239-A646-BCCD-66B3D583A3A6}"/>
              </a:ext>
            </a:extLst>
          </p:cNvPr>
          <p:cNvSpPr>
            <a:spLocks noGrp="1"/>
          </p:cNvSpPr>
          <p:nvPr>
            <p:ph sz="half" idx="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B3EB1A3A-9E45-3541-85AC-8BE9C7744FC3}"/>
              </a:ext>
            </a:extLst>
          </p:cNvPr>
          <p:cNvSpPr>
            <a:spLocks noGrp="1"/>
          </p:cNvSpPr>
          <p:nvPr>
            <p:ph sz="half" idx="2"/>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247A0E86-8728-AB48-B6DB-4C0464A6BBE0}"/>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6" name="页脚占位符 5">
            <a:extLst>
              <a:ext uri="{FF2B5EF4-FFF2-40B4-BE49-F238E27FC236}">
                <a16:creationId xmlns:a16="http://schemas.microsoft.com/office/drawing/2014/main" id="{837D903A-1CF3-C049-BCA2-7632EC76BAA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7B510A1-7724-464A-8B9B-EA145401CD37}"/>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21312807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E698A-7A7F-0544-8AFD-7C6F16D256D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DEED01E-D4AA-F040-8E48-C1FDE0B4F8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3FB80EBE-13AC-A744-B1EE-F42C9DE40BFF}"/>
              </a:ext>
            </a:extLst>
          </p:cNvPr>
          <p:cNvSpPr>
            <a:spLocks noGrp="1"/>
          </p:cNvSpPr>
          <p:nvPr>
            <p:ph sz="half" idx="2"/>
          </p:nvPr>
        </p:nvSpPr>
        <p:spPr>
          <a:xfrm>
            <a:off x="839788" y="2505075"/>
            <a:ext cx="5157787" cy="3684588"/>
          </a:xfrm>
        </p:spPr>
        <p:txBody>
          <a:bodyPr/>
          <a:lstStyle/>
          <a:p>
            <a:r>
              <a:rPr kumimoji="1" lang="zh-CN" altLang="en-US"/>
              <a:t>编辑母版文本样式
第二级
第三级
第四级
第五级</a:t>
            </a:r>
          </a:p>
        </p:txBody>
      </p:sp>
      <p:sp>
        <p:nvSpPr>
          <p:cNvPr id="5" name="文本占位符 4">
            <a:extLst>
              <a:ext uri="{FF2B5EF4-FFF2-40B4-BE49-F238E27FC236}">
                <a16:creationId xmlns:a16="http://schemas.microsoft.com/office/drawing/2014/main" id="{F8523648-F3AB-D14A-8907-676183962B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a:extLst>
              <a:ext uri="{FF2B5EF4-FFF2-40B4-BE49-F238E27FC236}">
                <a16:creationId xmlns:a16="http://schemas.microsoft.com/office/drawing/2014/main" id="{F78447D5-06DF-D047-BF7A-F49496785E85}"/>
              </a:ext>
            </a:extLst>
          </p:cNvPr>
          <p:cNvSpPr>
            <a:spLocks noGrp="1"/>
          </p:cNvSpPr>
          <p:nvPr>
            <p:ph sz="quarter" idx="4"/>
          </p:nvPr>
        </p:nvSpPr>
        <p:spPr>
          <a:xfrm>
            <a:off x="6172200" y="2505075"/>
            <a:ext cx="5183188" cy="3684588"/>
          </a:xfrm>
        </p:spPr>
        <p:txBody>
          <a:bodyPr/>
          <a:lstStyle/>
          <a:p>
            <a:r>
              <a:rPr kumimoji="1" lang="zh-CN" altLang="en-US"/>
              <a:t>编辑母版文本样式
第二级
第三级
第四级
第五级</a:t>
            </a:r>
          </a:p>
        </p:txBody>
      </p:sp>
      <p:sp>
        <p:nvSpPr>
          <p:cNvPr id="7" name="日期占位符 6">
            <a:extLst>
              <a:ext uri="{FF2B5EF4-FFF2-40B4-BE49-F238E27FC236}">
                <a16:creationId xmlns:a16="http://schemas.microsoft.com/office/drawing/2014/main" id="{BC713C48-BFE7-0248-B80B-0514F36BCBEF}"/>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8" name="页脚占位符 7">
            <a:extLst>
              <a:ext uri="{FF2B5EF4-FFF2-40B4-BE49-F238E27FC236}">
                <a16:creationId xmlns:a16="http://schemas.microsoft.com/office/drawing/2014/main" id="{F993469D-2B21-5640-BA77-C1FD41FE9AC8}"/>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CC080D5-3A37-B647-8B25-F52B61FD1A29}"/>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4104455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A15C8-67FA-4E45-AB6A-DDCC930A52C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DC8D331-0C78-614C-9A22-AF9E893F9B0D}"/>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4" name="页脚占位符 3">
            <a:extLst>
              <a:ext uri="{FF2B5EF4-FFF2-40B4-BE49-F238E27FC236}">
                <a16:creationId xmlns:a16="http://schemas.microsoft.com/office/drawing/2014/main" id="{1EAAE273-143D-3F4A-A00D-9FD6FFE1EFF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CA878F5-4AD8-F943-BDED-3076AB183B55}"/>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2706300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C88E8C9-87BC-AD41-876A-761F7D719925}"/>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3" name="页脚占位符 2">
            <a:extLst>
              <a:ext uri="{FF2B5EF4-FFF2-40B4-BE49-F238E27FC236}">
                <a16:creationId xmlns:a16="http://schemas.microsoft.com/office/drawing/2014/main" id="{157B28CA-7635-2D41-98C6-AC2F1357C984}"/>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2117A63-2738-424D-9D68-0B27B441EDB2}"/>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3751442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46030-7BBE-524E-B5EA-653114D7A1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F57BDF2-A1D6-1E4B-BD9F-FCEF63213F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a:extLst>
              <a:ext uri="{FF2B5EF4-FFF2-40B4-BE49-F238E27FC236}">
                <a16:creationId xmlns:a16="http://schemas.microsoft.com/office/drawing/2014/main" id="{A1D9A1B3-2899-4B4D-986F-2E8763DB7F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71A30318-6708-5B4C-8C7C-682B41A7CDF3}"/>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6" name="页脚占位符 5">
            <a:extLst>
              <a:ext uri="{FF2B5EF4-FFF2-40B4-BE49-F238E27FC236}">
                <a16:creationId xmlns:a16="http://schemas.microsoft.com/office/drawing/2014/main" id="{EBD860D0-99D8-614D-BBF8-F4587E7A133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D87243E-6C4C-A246-8206-30CFF48E93D0}"/>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2073663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51D146-C826-6C46-B8DB-C6F1CAB91C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335F2BC-350D-994B-908E-B0613AFC1E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30A2A14-665F-0048-9EDD-872895C98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C6CEC489-5084-0A45-A226-80E6E42DB0ED}"/>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6" name="页脚占位符 5">
            <a:extLst>
              <a:ext uri="{FF2B5EF4-FFF2-40B4-BE49-F238E27FC236}">
                <a16:creationId xmlns:a16="http://schemas.microsoft.com/office/drawing/2014/main" id="{EB77D2F9-431A-FE4C-89B8-EB43B43AEAB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CED2EA3-BE51-324C-AC3F-5606E9F912AD}"/>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1400218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C0DBCD-DE21-624C-8EA9-4AC48CD1CCE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E636430-B3B8-4748-A804-F9E5A697E44A}"/>
              </a:ext>
            </a:extLst>
          </p:cNvPr>
          <p:cNvSpPr>
            <a:spLocks noGrp="1"/>
          </p:cNvSpPr>
          <p:nvPr>
            <p:ph type="body" orient="vert" idx="1"/>
          </p:nvPr>
        </p:nvSpPr>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D41BC0AC-78AA-AE4C-BD49-598432E13624}"/>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DD9E587B-5F7E-D04D-8F0E-DF557FBFCD4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C872B25-0B33-7441-B0F1-F729F6598A74}"/>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35351367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F334AB3-67D1-A246-AF67-63649484A3B8}"/>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09B6DF8-22C4-5745-ABB4-13B1BC9EC616}"/>
              </a:ext>
            </a:extLst>
          </p:cNvPr>
          <p:cNvSpPr>
            <a:spLocks noGrp="1"/>
          </p:cNvSpPr>
          <p:nvPr>
            <p:ph type="body" orient="vert" idx="1"/>
          </p:nvPr>
        </p:nvSpPr>
        <p:spPr>
          <a:xfrm>
            <a:off x="838200" y="365125"/>
            <a:ext cx="7734300" cy="5811838"/>
          </a:xfrm>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AD20DF0-A0B3-FF48-AC91-1934A5D7EC8B}"/>
              </a:ext>
            </a:extLst>
          </p:cNvPr>
          <p:cNvSpPr>
            <a:spLocks noGrp="1"/>
          </p:cNvSpPr>
          <p:nvPr>
            <p:ph type="dt" sz="half" idx="10"/>
          </p:nvPr>
        </p:nvSpPr>
        <p:spPr/>
        <p:txBody>
          <a:body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E24D9F1A-097A-B346-8FB8-C940F827F07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7FA5F77-41D0-F34D-8E65-FA357235BF63}"/>
              </a:ext>
            </a:extLst>
          </p:cNvPr>
          <p:cNvSpPr>
            <a:spLocks noGrp="1"/>
          </p:cNvSpPr>
          <p:nvPr>
            <p:ph type="sldNum" sz="quarter" idx="12"/>
          </p:nvPr>
        </p:nvSpPr>
        <p:spPr/>
        <p:txBody>
          <a:bodyPr/>
          <a:lstStyle/>
          <a:p>
            <a:fld id="{35415BB2-3333-8C4F-89CA-40A3C5463B83}" type="slidenum">
              <a:t>‹#›</a:t>
            </a:fld>
            <a:endParaRPr kumimoji="1" lang="zh-CN" altLang="en-US"/>
          </a:p>
        </p:txBody>
      </p:sp>
    </p:spTree>
    <p:extLst>
      <p:ext uri="{BB962C8B-B14F-4D97-AF65-F5344CB8AC3E}">
        <p14:creationId xmlns:p14="http://schemas.microsoft.com/office/powerpoint/2010/main" val="8880089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E47E59-9FA0-884C-BD1B-92DEFE07C01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3A7D56B-187D-1A44-84F0-1453A92376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176F699A-37B8-DF4B-ADD8-855F88F7ACD4}"/>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556938D7-08F0-7849-BDB9-399867FFF33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F95BB4F-F5FA-204D-8838-02E535120B74}"/>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14314754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78DB8-25AB-B843-993E-DE75A2F1E35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0B74A-BAA8-D94E-9147-D7188DC6B615}"/>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B065FBC9-FBBD-BC49-9CBB-49E46E9D23C0}"/>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C5572169-3700-D54F-8818-B0FE8BE6BA1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9E443D7-8898-404B-BEC3-93B2095C0FE3}"/>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27871338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DE99E-664A-8F4C-9C44-1933CBA75C6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7751AEA-BD6A-3940-8245-42FC15F446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4476C033-A004-8143-8247-7D62BBC8EE36}"/>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54AAE5BD-30A6-624E-8C22-02E2988C96C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2F1DF32-BABA-AB49-ACCB-6F0C41C979A5}"/>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1153407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E462F-6CC7-AF4E-8FFD-F411C756423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00F66F5-087D-704F-8204-A11B3D0546FD}"/>
              </a:ext>
            </a:extLst>
          </p:cNvPr>
          <p:cNvSpPr>
            <a:spLocks noGrp="1"/>
          </p:cNvSpPr>
          <p:nvPr>
            <p:ph sz="half" idx="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DC2AD075-49A5-7A4E-A811-38B19E16C8AF}"/>
              </a:ext>
            </a:extLst>
          </p:cNvPr>
          <p:cNvSpPr>
            <a:spLocks noGrp="1"/>
          </p:cNvSpPr>
          <p:nvPr>
            <p:ph sz="half" idx="2"/>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B4D64452-CC1F-D342-8C06-51C080807E21}"/>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6" name="页脚占位符 5">
            <a:extLst>
              <a:ext uri="{FF2B5EF4-FFF2-40B4-BE49-F238E27FC236}">
                <a16:creationId xmlns:a16="http://schemas.microsoft.com/office/drawing/2014/main" id="{568CBD4C-07BA-1445-A1BA-1830FF3285D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927E90C-96EA-0B4E-B9B9-406051D5B4D3}"/>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24644845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EFBF0-CF58-5A47-A57D-252012E37B65}"/>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3C22175-DCE7-9449-B4ED-72812F555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10D71623-2A96-9446-935D-3ACCF3A4FB62}"/>
              </a:ext>
            </a:extLst>
          </p:cNvPr>
          <p:cNvSpPr>
            <a:spLocks noGrp="1"/>
          </p:cNvSpPr>
          <p:nvPr>
            <p:ph sz="half" idx="2"/>
          </p:nvPr>
        </p:nvSpPr>
        <p:spPr>
          <a:xfrm>
            <a:off x="839788" y="2505075"/>
            <a:ext cx="5157787" cy="3684588"/>
          </a:xfrm>
        </p:spPr>
        <p:txBody>
          <a:bodyPr/>
          <a:lstStyle/>
          <a:p>
            <a:r>
              <a:rPr kumimoji="1" lang="zh-CN" altLang="en-US"/>
              <a:t>编辑母版文本样式
第二级
第三级
第四级
第五级</a:t>
            </a:r>
          </a:p>
        </p:txBody>
      </p:sp>
      <p:sp>
        <p:nvSpPr>
          <p:cNvPr id="5" name="文本占位符 4">
            <a:extLst>
              <a:ext uri="{FF2B5EF4-FFF2-40B4-BE49-F238E27FC236}">
                <a16:creationId xmlns:a16="http://schemas.microsoft.com/office/drawing/2014/main" id="{032E48D6-EA68-AC42-B92D-7025E242B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a:extLst>
              <a:ext uri="{FF2B5EF4-FFF2-40B4-BE49-F238E27FC236}">
                <a16:creationId xmlns:a16="http://schemas.microsoft.com/office/drawing/2014/main" id="{4934E423-8EE7-1341-AF2B-D177382CE8CF}"/>
              </a:ext>
            </a:extLst>
          </p:cNvPr>
          <p:cNvSpPr>
            <a:spLocks noGrp="1"/>
          </p:cNvSpPr>
          <p:nvPr>
            <p:ph sz="quarter" idx="4"/>
          </p:nvPr>
        </p:nvSpPr>
        <p:spPr>
          <a:xfrm>
            <a:off x="6172200" y="2505075"/>
            <a:ext cx="5183188" cy="3684588"/>
          </a:xfrm>
        </p:spPr>
        <p:txBody>
          <a:bodyPr/>
          <a:lstStyle/>
          <a:p>
            <a:r>
              <a:rPr kumimoji="1" lang="zh-CN" altLang="en-US"/>
              <a:t>编辑母版文本样式
第二级
第三级
第四级
第五级</a:t>
            </a:r>
          </a:p>
        </p:txBody>
      </p:sp>
      <p:sp>
        <p:nvSpPr>
          <p:cNvPr id="7" name="日期占位符 6">
            <a:extLst>
              <a:ext uri="{FF2B5EF4-FFF2-40B4-BE49-F238E27FC236}">
                <a16:creationId xmlns:a16="http://schemas.microsoft.com/office/drawing/2014/main" id="{5C90A765-6C22-484C-866C-8492D7B8766E}"/>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8" name="页脚占位符 7">
            <a:extLst>
              <a:ext uri="{FF2B5EF4-FFF2-40B4-BE49-F238E27FC236}">
                <a16:creationId xmlns:a16="http://schemas.microsoft.com/office/drawing/2014/main" id="{13D686B0-2EE7-A347-A454-9B77136399C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2509A8E-8121-634E-82A3-081B17952E42}"/>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39937435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216396-AF0F-3043-9741-871DFBA4FAC3}"/>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3605B9E-D68F-114C-8C9C-532A4E3D84F3}"/>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4" name="页脚占位符 3">
            <a:extLst>
              <a:ext uri="{FF2B5EF4-FFF2-40B4-BE49-F238E27FC236}">
                <a16:creationId xmlns:a16="http://schemas.microsoft.com/office/drawing/2014/main" id="{357139EE-3398-CE4B-8111-2E295F41902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90509C6-0E1F-E748-B548-A357C8883A94}"/>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16449352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95CBD11-6044-9A4E-B21F-6DBFD11E37B4}"/>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3" name="页脚占位符 2">
            <a:extLst>
              <a:ext uri="{FF2B5EF4-FFF2-40B4-BE49-F238E27FC236}">
                <a16:creationId xmlns:a16="http://schemas.microsoft.com/office/drawing/2014/main" id="{88890B7C-FADF-8641-80FF-5F65492DD15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72D8CD04-4E4B-FD4D-A304-47E11312F30B}"/>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19058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1FD13-4E2A-884F-958E-E310E294886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782C597-6F2B-FB4A-86A9-1C58E46F27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a:extLst>
              <a:ext uri="{FF2B5EF4-FFF2-40B4-BE49-F238E27FC236}">
                <a16:creationId xmlns:a16="http://schemas.microsoft.com/office/drawing/2014/main" id="{C9605C21-E0FD-4F40-84D1-5D5ADF6A2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3B8765AC-F091-C14A-8B63-3E72C9FB5467}"/>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6" name="页脚占位符 5">
            <a:extLst>
              <a:ext uri="{FF2B5EF4-FFF2-40B4-BE49-F238E27FC236}">
                <a16:creationId xmlns:a16="http://schemas.microsoft.com/office/drawing/2014/main" id="{E0C1979A-4E97-9A45-B178-2D4E72F32C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6333962-91EF-A742-A91F-017E705B71C6}"/>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21894108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76F160-B813-FC4C-9793-44857D21CB3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8544F49-7BCC-9E45-A831-1D424D5F0A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D8F1380-CD04-A44D-88CA-CB3990AB3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3D6C6C47-7486-F243-A775-89EA1D0E38A3}"/>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6" name="页脚占位符 5">
            <a:extLst>
              <a:ext uri="{FF2B5EF4-FFF2-40B4-BE49-F238E27FC236}">
                <a16:creationId xmlns:a16="http://schemas.microsoft.com/office/drawing/2014/main" id="{FC41F280-EC52-D145-BF31-5677EF241FC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77A54EE-F7E3-EE45-A1C6-8EDAD93A9AF0}"/>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8850942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E70958-6073-4A43-AA1F-E37091C5EF6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6B991FA-9599-304B-8825-0CA625CB1076}"/>
              </a:ext>
            </a:extLst>
          </p:cNvPr>
          <p:cNvSpPr>
            <a:spLocks noGrp="1"/>
          </p:cNvSpPr>
          <p:nvPr>
            <p:ph type="body" orient="vert" idx="1"/>
          </p:nvPr>
        </p:nvSpPr>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FBCC93FF-D34D-604A-86FF-68DD03096E3C}"/>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535F7960-F4F7-1A43-A9B3-025A2810E88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30FAF13-9DB9-C74D-89F8-7E1FB089FB3F}"/>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7872379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A6D7B62-CDC2-2A42-9DD6-F26242AA87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9FC558F-3409-AC4A-8526-FF237F60CAEC}"/>
              </a:ext>
            </a:extLst>
          </p:cNvPr>
          <p:cNvSpPr>
            <a:spLocks noGrp="1"/>
          </p:cNvSpPr>
          <p:nvPr>
            <p:ph type="body" orient="vert" idx="1"/>
          </p:nvPr>
        </p:nvSpPr>
        <p:spPr>
          <a:xfrm>
            <a:off x="838200" y="365125"/>
            <a:ext cx="7734300" cy="5811838"/>
          </a:xfrm>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0ADE153A-42EF-7346-A170-0184DFC1A11C}"/>
              </a:ext>
            </a:extLst>
          </p:cNvPr>
          <p:cNvSpPr>
            <a:spLocks noGrp="1"/>
          </p:cNvSpPr>
          <p:nvPr>
            <p:ph type="dt" sz="half" idx="10"/>
          </p:nvPr>
        </p:nvSpPr>
        <p:spPr/>
        <p:txBody>
          <a:body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883DBB6D-4DE8-BA49-8A9E-23B46F7E565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6E86180-52FA-5048-8CD3-E7480BC73082}"/>
              </a:ext>
            </a:extLst>
          </p:cNvPr>
          <p:cNvSpPr>
            <a:spLocks noGrp="1"/>
          </p:cNvSpPr>
          <p:nvPr>
            <p:ph type="sldNum" sz="quarter" idx="12"/>
          </p:nvPr>
        </p:nvSpPr>
        <p:spPr/>
        <p:txBody>
          <a:bodyPr/>
          <a:lstStyle/>
          <a:p>
            <a:fld id="{F8E34619-11E4-7E41-BD01-CAD3EACE4BE0}" type="slidenum">
              <a:t>‹#›</a:t>
            </a:fld>
            <a:endParaRPr kumimoji="1" lang="zh-CN" altLang="en-US"/>
          </a:p>
        </p:txBody>
      </p:sp>
    </p:spTree>
    <p:extLst>
      <p:ext uri="{BB962C8B-B14F-4D97-AF65-F5344CB8AC3E}">
        <p14:creationId xmlns:p14="http://schemas.microsoft.com/office/powerpoint/2010/main" val="176218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95D8AA8-B029-8349-B11B-059A0D1232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9883D76-54DA-994E-81A7-688DC0547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912AA94-1AD3-474A-8822-FD08CA5AD1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1B913-DBE0-404D-96C5-8C8BD9065DCE}" type="datetimeFigureOut">
              <a:t>2020/2/25</a:t>
            </a:fld>
            <a:endParaRPr kumimoji="1" lang="zh-CN" altLang="en-US"/>
          </a:p>
        </p:txBody>
      </p:sp>
      <p:sp>
        <p:nvSpPr>
          <p:cNvPr id="5" name="页脚占位符 4">
            <a:extLst>
              <a:ext uri="{FF2B5EF4-FFF2-40B4-BE49-F238E27FC236}">
                <a16:creationId xmlns:a16="http://schemas.microsoft.com/office/drawing/2014/main" id="{9E61C0DD-C792-714D-823A-39B4704F2F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7AB9E54-BCB6-634C-A84B-521B5C31B8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C13FF-1FB7-CC4D-99C8-2F334A247C3A}" type="slidenum">
              <a:t>‹#›</a:t>
            </a:fld>
            <a:endParaRPr kumimoji="1" lang="zh-CN" altLang="en-US"/>
          </a:p>
        </p:txBody>
      </p:sp>
    </p:spTree>
    <p:extLst>
      <p:ext uri="{BB962C8B-B14F-4D97-AF65-F5344CB8AC3E}">
        <p14:creationId xmlns:p14="http://schemas.microsoft.com/office/powerpoint/2010/main" val="1240639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CF2943E-C557-9A44-A542-0AC2784D9C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6C9B2AA-6DF5-CA41-A0B3-97C42F6AE6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63509D1-F183-2E4A-9F29-FDE531957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CB142-3BBD-E84F-BCE6-D3898B218691}" type="datetimeFigureOut">
              <a:t>2020/2/25</a:t>
            </a:fld>
            <a:endParaRPr kumimoji="1" lang="zh-CN" altLang="en-US"/>
          </a:p>
        </p:txBody>
      </p:sp>
      <p:sp>
        <p:nvSpPr>
          <p:cNvPr id="5" name="页脚占位符 4">
            <a:extLst>
              <a:ext uri="{FF2B5EF4-FFF2-40B4-BE49-F238E27FC236}">
                <a16:creationId xmlns:a16="http://schemas.microsoft.com/office/drawing/2014/main" id="{78416994-9BBC-EE40-B7A3-948167443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C2DB0B2-1390-7041-B984-A8BDEDA677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415BB2-3333-8C4F-89CA-40A3C5463B83}" type="slidenum">
              <a:t>‹#›</a:t>
            </a:fld>
            <a:endParaRPr kumimoji="1" lang="zh-CN" altLang="en-US"/>
          </a:p>
        </p:txBody>
      </p:sp>
    </p:spTree>
    <p:extLst>
      <p:ext uri="{BB962C8B-B14F-4D97-AF65-F5344CB8AC3E}">
        <p14:creationId xmlns:p14="http://schemas.microsoft.com/office/powerpoint/2010/main" val="330369465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C324CB5-2675-954E-813A-4308A16C90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E14CA6E-5864-A649-9A4B-2804987B7A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864EB2DE-22DE-114D-8AAD-310DAB65F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4B10D-C17C-194C-A949-658B3118847E}" type="datetimeFigureOut">
              <a:t>2020/2/25</a:t>
            </a:fld>
            <a:endParaRPr kumimoji="1" lang="zh-CN" altLang="en-US"/>
          </a:p>
        </p:txBody>
      </p:sp>
      <p:sp>
        <p:nvSpPr>
          <p:cNvPr id="5" name="页脚占位符 4">
            <a:extLst>
              <a:ext uri="{FF2B5EF4-FFF2-40B4-BE49-F238E27FC236}">
                <a16:creationId xmlns:a16="http://schemas.microsoft.com/office/drawing/2014/main" id="{2376DD40-0487-1045-8E64-B41775006D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A93EC37C-182A-E742-9CC3-754F25A8EB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E34619-11E4-7E41-BD01-CAD3EACE4BE0}" type="slidenum">
              <a:t>‹#›</a:t>
            </a:fld>
            <a:endParaRPr kumimoji="1" lang="zh-CN" altLang="en-US"/>
          </a:p>
        </p:txBody>
      </p:sp>
    </p:spTree>
    <p:extLst>
      <p:ext uri="{BB962C8B-B14F-4D97-AF65-F5344CB8AC3E}">
        <p14:creationId xmlns:p14="http://schemas.microsoft.com/office/powerpoint/2010/main" val="32683816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uoych/CMake_exampl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hyperlink" Target="https://cmake.org/cmake/help/v3.16/command/find_package.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hyperlink" Target="https://cmake.org/cmake/help/v3.16/command/file.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cmake.org/cmake/help/latest/command/string.html#regex-replac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make.org/cmake/help/v3.16/manual/cmake-variables.7.html" TargetMode="External"/><Relationship Id="rId2" Type="http://schemas.openxmlformats.org/officeDocument/2006/relationships/hyperlink" Target="https://cmake.org/cmake/help/v3.16/manual/cmake-commands.7.html" TargetMode="External"/><Relationship Id="rId1" Type="http://schemas.openxmlformats.org/officeDocument/2006/relationships/slideLayout" Target="../slideLayouts/slideLayout2.xml"/><Relationship Id="rId5" Type="http://schemas.openxmlformats.org/officeDocument/2006/relationships/hyperlink" Target="https://cmake.org/cmake/help/v3.16/manual/cmake-properties.7.html" TargetMode="External"/><Relationship Id="rId4" Type="http://schemas.openxmlformats.org/officeDocument/2006/relationships/hyperlink" Target="https://cmake.org/cmake/help/v3.16/index.ht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hyperlink" Target="https://www.paddlepaddle.org.cn/documentation/docs/zh/faq/install_cn.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52BC27B-3555-A448-B1AD-E7853298B616}"/>
              </a:ext>
            </a:extLst>
          </p:cNvPr>
          <p:cNvSpPr txBox="1"/>
          <p:nvPr/>
        </p:nvSpPr>
        <p:spPr>
          <a:xfrm>
            <a:off x="0" y="2415396"/>
            <a:ext cx="12192000" cy="769441"/>
          </a:xfrm>
          <a:prstGeom prst="rect">
            <a:avLst/>
          </a:prstGeom>
          <a:noFill/>
        </p:spPr>
        <p:txBody>
          <a:bodyPr wrap="square" rtlCol="0">
            <a:spAutoFit/>
          </a:bodyPr>
          <a:lstStyle/>
          <a:p>
            <a:pPr algn="ctr"/>
            <a:r>
              <a:rPr kumimoji="1" lang="en-US" altLang="zh-CN" sz="4400" dirty="0" err="1"/>
              <a:t>CMake</a:t>
            </a:r>
            <a:r>
              <a:rPr kumimoji="1" lang="zh-CN" altLang="en-US" sz="4400" dirty="0"/>
              <a:t>介绍</a:t>
            </a:r>
            <a:endParaRPr kumimoji="1" lang="zh-CN" altLang="en-US" sz="3600" dirty="0"/>
          </a:p>
        </p:txBody>
      </p:sp>
      <p:sp>
        <p:nvSpPr>
          <p:cNvPr id="9" name="文本框 8">
            <a:extLst>
              <a:ext uri="{FF2B5EF4-FFF2-40B4-BE49-F238E27FC236}">
                <a16:creationId xmlns:a16="http://schemas.microsoft.com/office/drawing/2014/main" id="{78EDCA98-69A5-7E48-BDC4-688A948EFCFA}"/>
              </a:ext>
            </a:extLst>
          </p:cNvPr>
          <p:cNvSpPr txBox="1"/>
          <p:nvPr/>
        </p:nvSpPr>
        <p:spPr>
          <a:xfrm>
            <a:off x="0" y="4310331"/>
            <a:ext cx="12192000" cy="400110"/>
          </a:xfrm>
          <a:prstGeom prst="rect">
            <a:avLst/>
          </a:prstGeom>
          <a:noFill/>
        </p:spPr>
        <p:txBody>
          <a:bodyPr wrap="square" rtlCol="0">
            <a:spAutoFit/>
          </a:bodyPr>
          <a:lstStyle/>
          <a:p>
            <a:pPr algn="ctr"/>
            <a:r>
              <a:rPr kumimoji="1" lang="zh-CN" altLang="en-US" sz="2000" dirty="0"/>
              <a:t>索宇澄</a:t>
            </a:r>
          </a:p>
        </p:txBody>
      </p:sp>
      <p:sp>
        <p:nvSpPr>
          <p:cNvPr id="10" name="文本框 9">
            <a:extLst>
              <a:ext uri="{FF2B5EF4-FFF2-40B4-BE49-F238E27FC236}">
                <a16:creationId xmlns:a16="http://schemas.microsoft.com/office/drawing/2014/main" id="{8B6F5F0A-0183-C948-B112-E4E9A787EB0D}"/>
              </a:ext>
            </a:extLst>
          </p:cNvPr>
          <p:cNvSpPr txBox="1"/>
          <p:nvPr/>
        </p:nvSpPr>
        <p:spPr>
          <a:xfrm>
            <a:off x="5756" y="4710859"/>
            <a:ext cx="12192000" cy="400110"/>
          </a:xfrm>
          <a:prstGeom prst="rect">
            <a:avLst/>
          </a:prstGeom>
          <a:noFill/>
        </p:spPr>
        <p:txBody>
          <a:bodyPr wrap="square" rtlCol="0">
            <a:spAutoFit/>
          </a:bodyPr>
          <a:lstStyle/>
          <a:p>
            <a:pPr algn="ctr"/>
            <a:fld id="{0EAF363A-C0A5-2248-B781-2F543249D477}" type="datetime1">
              <a:rPr kumimoji="1" lang="en-US" altLang="zh-CN" sz="2000"/>
              <a:t>2/25/20</a:t>
            </a:fld>
            <a:endParaRPr kumimoji="1" lang="zh-CN" altLang="en-US" sz="2000" dirty="0"/>
          </a:p>
        </p:txBody>
      </p:sp>
    </p:spTree>
    <p:extLst>
      <p:ext uri="{BB962C8B-B14F-4D97-AF65-F5344CB8AC3E}">
        <p14:creationId xmlns:p14="http://schemas.microsoft.com/office/powerpoint/2010/main" val="4176725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3EE6807-5824-A041-A259-449100A7708F}"/>
              </a:ext>
            </a:extLst>
          </p:cNvPr>
          <p:cNvSpPr/>
          <p:nvPr/>
        </p:nvSpPr>
        <p:spPr>
          <a:xfrm>
            <a:off x="2172182" y="661426"/>
            <a:ext cx="1005403" cy="584775"/>
          </a:xfrm>
          <a:prstGeom prst="rect">
            <a:avLst/>
          </a:prstGeom>
          <a:noFill/>
        </p:spPr>
        <p:txBody>
          <a:bodyPr wrap="none" lIns="91440" tIns="45720" rIns="91440" bIns="45720">
            <a:spAutoFit/>
          </a:bodyPr>
          <a:lstStyle/>
          <a:p>
            <a:pPr algn="ctr"/>
            <a:r>
              <a:rPr lang="zh-CN" altLang="en-US" sz="3200" dirty="0">
                <a:ln w="0"/>
                <a:effectLst>
                  <a:outerShdw blurRad="38100" dist="25400" dir="5400000" algn="ctr" rotWithShape="0">
                    <a:srgbClr val="6E747A">
                      <a:alpha val="43000"/>
                    </a:srgbClr>
                  </a:outerShdw>
                </a:effectLst>
              </a:rPr>
              <a:t>目录</a:t>
            </a:r>
            <a:endParaRPr lang="en" altLang="zh-CN" sz="3200" dirty="0">
              <a:ln w="0"/>
              <a:effectLst>
                <a:outerShdw blurRad="38100" dist="25400" dir="5400000" algn="ctr" rotWithShape="0">
                  <a:srgbClr val="6E747A">
                    <a:alpha val="43000"/>
                  </a:srgbClr>
                </a:outerShdw>
              </a:effectLst>
            </a:endParaRPr>
          </a:p>
        </p:txBody>
      </p:sp>
      <p:sp>
        <p:nvSpPr>
          <p:cNvPr id="2" name="文本框 1">
            <a:extLst>
              <a:ext uri="{FF2B5EF4-FFF2-40B4-BE49-F238E27FC236}">
                <a16:creationId xmlns:a16="http://schemas.microsoft.com/office/drawing/2014/main" id="{408BC6B4-FDA7-E742-A9AB-C054844C2D01}"/>
              </a:ext>
            </a:extLst>
          </p:cNvPr>
          <p:cNvSpPr txBox="1"/>
          <p:nvPr/>
        </p:nvSpPr>
        <p:spPr>
          <a:xfrm>
            <a:off x="3177585" y="1797275"/>
            <a:ext cx="7381722" cy="4401205"/>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2800" dirty="0" err="1"/>
              <a:t>CMake</a:t>
            </a:r>
            <a:r>
              <a:rPr kumimoji="1" lang="zh-CN" altLang="en-US" sz="2800" dirty="0"/>
              <a:t>特性</a:t>
            </a:r>
            <a:endParaRPr kumimoji="1" lang="en-US" altLang="zh-CN" sz="2800" dirty="0"/>
          </a:p>
          <a:p>
            <a:pPr marL="285750" indent="-285750">
              <a:buFont typeface="Arial" panose="020B0604020202020204" pitchFamily="34" charset="0"/>
              <a:buChar char="•"/>
            </a:pPr>
            <a:endParaRPr kumimoji="1" lang="en-US" altLang="zh-CN" sz="2800" dirty="0"/>
          </a:p>
          <a:p>
            <a:pPr marL="285750" indent="-285750">
              <a:buFont typeface="Arial" panose="020B0604020202020204" pitchFamily="34" charset="0"/>
              <a:buChar char="•"/>
            </a:pPr>
            <a:r>
              <a:rPr kumimoji="1" lang="en-US" altLang="zh-CN" sz="2800" dirty="0" err="1"/>
              <a:t>CMake</a:t>
            </a:r>
            <a:r>
              <a:rPr kumimoji="1" lang="zh-CN" altLang="en-US" sz="2800" dirty="0"/>
              <a:t>基础用法示例</a:t>
            </a:r>
            <a:endParaRPr kumimoji="1" lang="en-US" altLang="zh-CN" sz="2800" dirty="0"/>
          </a:p>
          <a:p>
            <a:pPr marL="285750" indent="-285750">
              <a:buFont typeface="Arial" panose="020B0604020202020204" pitchFamily="34" charset="0"/>
              <a:buChar char="•"/>
            </a:pPr>
            <a:endParaRPr kumimoji="1" lang="en-US" altLang="zh-CN" sz="2800" dirty="0"/>
          </a:p>
          <a:p>
            <a:pPr marL="285750" indent="-285750">
              <a:buFont typeface="Arial" panose="020B0604020202020204" pitchFamily="34" charset="0"/>
              <a:buChar char="•"/>
            </a:pPr>
            <a:r>
              <a:rPr kumimoji="1" lang="en-US" altLang="zh-CN" sz="2800" dirty="0" err="1"/>
              <a:t>CMake</a:t>
            </a:r>
            <a:r>
              <a:rPr kumimoji="1" lang="zh-CN" altLang="en-US" sz="2800" dirty="0"/>
              <a:t>语言常用命令</a:t>
            </a:r>
            <a:endParaRPr kumimoji="1" lang="en-US" altLang="zh-CN" sz="2800" dirty="0"/>
          </a:p>
          <a:p>
            <a:pPr marL="285750" indent="-285750">
              <a:buFont typeface="Arial" panose="020B0604020202020204" pitchFamily="34" charset="0"/>
              <a:buChar char="•"/>
            </a:pPr>
            <a:endParaRPr kumimoji="1" lang="en-US" altLang="zh-CN" sz="2800" dirty="0"/>
          </a:p>
          <a:p>
            <a:pPr marL="285750" indent="-285750">
              <a:buFont typeface="Arial" panose="020B0604020202020204" pitchFamily="34" charset="0"/>
              <a:buChar char="•"/>
            </a:pPr>
            <a:r>
              <a:rPr kumimoji="1" lang="en-US" altLang="zh-CN" sz="2800" dirty="0" err="1"/>
              <a:t>CMake</a:t>
            </a:r>
            <a:r>
              <a:rPr kumimoji="1" lang="zh-CN" altLang="en-US" sz="2800" dirty="0"/>
              <a:t>在</a:t>
            </a:r>
            <a:r>
              <a:rPr kumimoji="1" lang="en-US" altLang="zh-CN" sz="2800" dirty="0"/>
              <a:t>Paddle</a:t>
            </a:r>
            <a:r>
              <a:rPr kumimoji="1" lang="zh-CN" altLang="en-US" sz="2800" dirty="0"/>
              <a:t>中的运用</a:t>
            </a:r>
            <a:endParaRPr kumimoji="1" lang="en-US" altLang="zh-CN" sz="2800" dirty="0"/>
          </a:p>
          <a:p>
            <a:pPr marL="285750" indent="-285750">
              <a:buFont typeface="Arial" panose="020B0604020202020204" pitchFamily="34" charset="0"/>
              <a:buChar char="•"/>
            </a:pPr>
            <a:endParaRPr kumimoji="1" lang="en-US" altLang="zh-CN" sz="2800" dirty="0"/>
          </a:p>
          <a:p>
            <a:pPr marL="285750" indent="-285750">
              <a:buFont typeface="Arial" panose="020B0604020202020204" pitchFamily="34" charset="0"/>
              <a:buChar char="•"/>
            </a:pPr>
            <a:r>
              <a:rPr kumimoji="1" lang="zh-CN" altLang="en-US" sz="2800" dirty="0"/>
              <a:t>用户常见问题</a:t>
            </a:r>
            <a:endParaRPr kumimoji="1" lang="en-US" altLang="zh-CN" sz="2800" dirty="0"/>
          </a:p>
          <a:p>
            <a:pPr marL="285750" indent="-285750">
              <a:buFont typeface="Arial" panose="020B0604020202020204" pitchFamily="34" charset="0"/>
              <a:buChar char="•"/>
            </a:pPr>
            <a:endParaRPr kumimoji="1" lang="en-US" altLang="zh-CN" sz="2800" dirty="0"/>
          </a:p>
        </p:txBody>
      </p:sp>
    </p:spTree>
    <p:extLst>
      <p:ext uri="{BB962C8B-B14F-4D97-AF65-F5344CB8AC3E}">
        <p14:creationId xmlns:p14="http://schemas.microsoft.com/office/powerpoint/2010/main" val="3436857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特性</a:t>
            </a:r>
          </a:p>
        </p:txBody>
      </p:sp>
      <p:sp>
        <p:nvSpPr>
          <p:cNvPr id="4" name="文本框 3">
            <a:extLst>
              <a:ext uri="{FF2B5EF4-FFF2-40B4-BE49-F238E27FC236}">
                <a16:creationId xmlns:a16="http://schemas.microsoft.com/office/drawing/2014/main" id="{9B59BBDC-9026-564E-ABCB-3BBF05BE7137}"/>
              </a:ext>
            </a:extLst>
          </p:cNvPr>
          <p:cNvSpPr txBox="1"/>
          <p:nvPr/>
        </p:nvSpPr>
        <p:spPr>
          <a:xfrm>
            <a:off x="1718442" y="1553426"/>
            <a:ext cx="9002110" cy="4093428"/>
          </a:xfrm>
          <a:prstGeom prst="rect">
            <a:avLst/>
          </a:prstGeom>
          <a:noFill/>
        </p:spPr>
        <p:txBody>
          <a:bodyPr wrap="square" rtlCol="0">
            <a:spAutoFit/>
          </a:bodyPr>
          <a:lstStyle/>
          <a:p>
            <a:r>
              <a:rPr kumimoji="1" lang="en-US" altLang="zh-CN" sz="2000" dirty="0" err="1"/>
              <a:t>CMake</a:t>
            </a:r>
            <a:r>
              <a:rPr kumimoji="1" lang="zh-CN" altLang="en-US" sz="2000" dirty="0"/>
              <a:t>是一个跨平台的安装（编译）工具，可以用简单的语句来描述所有平台的安装</a:t>
            </a:r>
            <a:r>
              <a:rPr kumimoji="1" lang="en-US" altLang="zh-CN" sz="2000" dirty="0"/>
              <a:t>(</a:t>
            </a:r>
            <a:r>
              <a:rPr kumimoji="1" lang="zh-CN" altLang="en-US" sz="2000" dirty="0"/>
              <a:t>编译过程</a:t>
            </a:r>
            <a:r>
              <a:rPr kumimoji="1" lang="en-US" altLang="zh-CN" sz="2000" dirty="0"/>
              <a:t>)</a:t>
            </a:r>
            <a:r>
              <a:rPr kumimoji="1" lang="zh-CN" altLang="en-US" sz="2000" dirty="0"/>
              <a:t>。他能够输出各种各样的</a:t>
            </a:r>
            <a:r>
              <a:rPr kumimoji="1" lang="en-US" altLang="zh-CN" sz="2000" dirty="0" err="1"/>
              <a:t>makefile</a:t>
            </a:r>
            <a:r>
              <a:rPr kumimoji="1" lang="zh-CN" altLang="en-US" sz="2000" dirty="0"/>
              <a:t>或者</a:t>
            </a:r>
            <a:r>
              <a:rPr kumimoji="1" lang="en-US" altLang="zh-CN" sz="2000" dirty="0"/>
              <a:t>project</a:t>
            </a:r>
            <a:r>
              <a:rPr kumimoji="1" lang="zh-CN" altLang="en-US" sz="2000" dirty="0"/>
              <a:t>文件，能测试编译器所支持的</a:t>
            </a:r>
            <a:r>
              <a:rPr kumimoji="1" lang="en-US" altLang="zh-CN" sz="2000" dirty="0"/>
              <a:t>C++</a:t>
            </a:r>
            <a:r>
              <a:rPr kumimoji="1" lang="zh-CN" altLang="en-US" sz="2000" dirty="0"/>
              <a:t>特性。</a:t>
            </a:r>
            <a:r>
              <a:rPr kumimoji="1" lang="en-US" altLang="zh-CN" sz="2000" dirty="0" err="1"/>
              <a:t>CMake</a:t>
            </a:r>
            <a:r>
              <a:rPr kumimoji="1" lang="zh-CN" altLang="en-US" sz="2000" dirty="0"/>
              <a:t>具有以下优点：</a:t>
            </a:r>
            <a:endParaRPr kumimoji="1" lang="en-US" altLang="zh-CN" sz="2000" dirty="0"/>
          </a:p>
          <a:p>
            <a:endParaRPr kumimoji="1" lang="en-US" altLang="zh-CN" sz="2000" dirty="0"/>
          </a:p>
          <a:p>
            <a:pPr marL="1200150" lvl="2" indent="-285750">
              <a:buFont typeface="Wingdings" pitchFamily="2" charset="2"/>
              <a:buChar char="l"/>
            </a:pPr>
            <a:r>
              <a:rPr kumimoji="1" lang="zh-CN" altLang="en-US" sz="2000" dirty="0"/>
              <a:t>支持多种语言</a:t>
            </a:r>
            <a:endParaRPr kumimoji="1" lang="en-US" altLang="zh-CN" sz="2000" dirty="0"/>
          </a:p>
          <a:p>
            <a:pPr marL="285750" indent="-285750">
              <a:buFont typeface="Wingdings" pitchFamily="2" charset="2"/>
              <a:buChar char="l"/>
            </a:pPr>
            <a:endParaRPr kumimoji="1" lang="en-US" altLang="zh-CN" sz="2000" dirty="0"/>
          </a:p>
          <a:p>
            <a:pPr marL="1200150" lvl="2" indent="-285750">
              <a:buFont typeface="Wingdings" pitchFamily="2" charset="2"/>
              <a:buChar char="l"/>
            </a:pPr>
            <a:r>
              <a:rPr kumimoji="1" lang="zh-CN" altLang="en-US" sz="2000" dirty="0"/>
              <a:t>跨平台兼容</a:t>
            </a:r>
            <a:endParaRPr kumimoji="1" lang="en-US" altLang="zh-CN" sz="2000" dirty="0"/>
          </a:p>
          <a:p>
            <a:pPr marL="285750" indent="-285750">
              <a:buFont typeface="Wingdings" pitchFamily="2" charset="2"/>
              <a:buChar char="l"/>
            </a:pPr>
            <a:endParaRPr kumimoji="1" lang="en-US" altLang="zh-CN" sz="2000" dirty="0"/>
          </a:p>
          <a:p>
            <a:pPr marL="1200150" lvl="2" indent="-285750">
              <a:buFont typeface="Wingdings" pitchFamily="2" charset="2"/>
              <a:buChar char="l"/>
            </a:pPr>
            <a:r>
              <a:rPr kumimoji="1" lang="en-US" altLang="zh-CN" sz="2000" dirty="0" err="1"/>
              <a:t>CMake</a:t>
            </a:r>
            <a:r>
              <a:rPr kumimoji="1" lang="zh-CN" altLang="en-US" sz="2000" dirty="0"/>
              <a:t>语言的语法简洁</a:t>
            </a:r>
            <a:endParaRPr kumimoji="1" lang="en-US" altLang="zh-CN" sz="2000" dirty="0"/>
          </a:p>
          <a:p>
            <a:pPr marL="285750" indent="-285750">
              <a:buFont typeface="Wingdings" pitchFamily="2" charset="2"/>
              <a:buChar char="l"/>
            </a:pPr>
            <a:endParaRPr kumimoji="1" lang="en-US" altLang="zh-CN" sz="2000" dirty="0"/>
          </a:p>
          <a:p>
            <a:pPr marL="1200150" lvl="2" indent="-285750">
              <a:buFont typeface="Wingdings" pitchFamily="2" charset="2"/>
              <a:buChar char="l"/>
            </a:pPr>
            <a:r>
              <a:rPr kumimoji="1" lang="zh-CN" altLang="en-US" sz="2000" dirty="0"/>
              <a:t>命令行工具简单易用</a:t>
            </a:r>
            <a:endParaRPr kumimoji="1" lang="en-US" altLang="zh-CN" sz="2000" dirty="0"/>
          </a:p>
          <a:p>
            <a:pPr marL="285750" indent="-285750">
              <a:buFont typeface="Wingdings" pitchFamily="2" charset="2"/>
              <a:buChar char="l"/>
            </a:pPr>
            <a:endParaRPr kumimoji="1" lang="en-US" altLang="zh-CN" sz="2000" dirty="0"/>
          </a:p>
          <a:p>
            <a:pPr marL="285750" indent="-285750">
              <a:buFont typeface="Wingdings" pitchFamily="2" charset="2"/>
              <a:buChar char="l"/>
            </a:pPr>
            <a:endParaRPr kumimoji="1" lang="zh-CN" altLang="en-US" sz="2000" dirty="0"/>
          </a:p>
        </p:txBody>
      </p:sp>
    </p:spTree>
    <p:extLst>
      <p:ext uri="{BB962C8B-B14F-4D97-AF65-F5344CB8AC3E}">
        <p14:creationId xmlns:p14="http://schemas.microsoft.com/office/powerpoint/2010/main" val="2039339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基础用法示例一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endParaRPr kumimoji="1" lang="zh-CN" altLang="en-US" sz="2400" dirty="0"/>
          </a:p>
        </p:txBody>
      </p:sp>
      <p:sp>
        <p:nvSpPr>
          <p:cNvPr id="7" name="文本框 6">
            <a:extLst>
              <a:ext uri="{FF2B5EF4-FFF2-40B4-BE49-F238E27FC236}">
                <a16:creationId xmlns:a16="http://schemas.microsoft.com/office/drawing/2014/main" id="{D0231F1E-B8A9-6347-A41C-4AB76654F3D5}"/>
              </a:ext>
            </a:extLst>
          </p:cNvPr>
          <p:cNvSpPr txBox="1"/>
          <p:nvPr/>
        </p:nvSpPr>
        <p:spPr>
          <a:xfrm>
            <a:off x="668092" y="1922975"/>
            <a:ext cx="3515711" cy="369332"/>
          </a:xfrm>
          <a:prstGeom prst="rect">
            <a:avLst/>
          </a:prstGeom>
          <a:noFill/>
        </p:spPr>
        <p:txBody>
          <a:bodyPr wrap="square" rtlCol="0">
            <a:spAutoFit/>
          </a:bodyPr>
          <a:lstStyle/>
          <a:p>
            <a:r>
              <a:rPr kumimoji="1" lang="zh-CN" altLang="en-US" dirty="0"/>
              <a:t>项目目录结构树</a:t>
            </a:r>
          </a:p>
        </p:txBody>
      </p:sp>
      <p:sp>
        <p:nvSpPr>
          <p:cNvPr id="8" name="文本框 7">
            <a:extLst>
              <a:ext uri="{FF2B5EF4-FFF2-40B4-BE49-F238E27FC236}">
                <a16:creationId xmlns:a16="http://schemas.microsoft.com/office/drawing/2014/main" id="{EFB79BBE-E174-2A4B-8E47-0B26F73DFE08}"/>
              </a:ext>
            </a:extLst>
          </p:cNvPr>
          <p:cNvSpPr txBox="1"/>
          <p:nvPr/>
        </p:nvSpPr>
        <p:spPr>
          <a:xfrm>
            <a:off x="668091" y="2292307"/>
            <a:ext cx="3515711" cy="1477328"/>
          </a:xfrm>
          <a:prstGeom prst="rect">
            <a:avLst/>
          </a:prstGeom>
          <a:noFill/>
        </p:spPr>
        <p:txBody>
          <a:bodyPr wrap="square" rtlCol="0">
            <a:spAutoFit/>
          </a:bodyPr>
          <a:lstStyle/>
          <a:p>
            <a:endParaRPr kumimoji="1" lang="en" altLang="zh-CN" dirty="0"/>
          </a:p>
          <a:p>
            <a:r>
              <a:rPr kumimoji="1" lang="en" altLang="zh-CN" dirty="0"/>
              <a:t>├─ </a:t>
            </a:r>
            <a:r>
              <a:rPr kumimoji="1" lang="en-US" altLang="zh-CN" dirty="0" err="1"/>
              <a:t>hello_world</a:t>
            </a:r>
            <a:endParaRPr kumimoji="1" lang="en" altLang="zh-CN" dirty="0"/>
          </a:p>
          <a:p>
            <a:r>
              <a:rPr kumimoji="1" lang="en" altLang="zh-CN" dirty="0"/>
              <a:t>│   ├─</a:t>
            </a:r>
            <a:r>
              <a:rPr kumimoji="1" lang="zh-CN" altLang="en-US" dirty="0"/>
              <a:t> </a:t>
            </a:r>
            <a:r>
              <a:rPr kumimoji="1" lang="en" altLang="zh-CN" dirty="0" err="1"/>
              <a:t>CMakeLists.txt</a:t>
            </a:r>
            <a:endParaRPr kumimoji="1" lang="en" altLang="zh-CN" dirty="0"/>
          </a:p>
          <a:p>
            <a:r>
              <a:rPr kumimoji="1" lang="en" altLang="zh-CN" dirty="0"/>
              <a:t>│   ├─</a:t>
            </a:r>
            <a:r>
              <a:rPr kumimoji="1" lang="zh-CN" altLang="en-US" dirty="0"/>
              <a:t> </a:t>
            </a:r>
            <a:r>
              <a:rPr kumimoji="1" lang="en-US" altLang="zh-CN" dirty="0" err="1"/>
              <a:t>hello_world</a:t>
            </a:r>
            <a:r>
              <a:rPr kumimoji="1" lang="en" altLang="zh-CN" dirty="0"/>
              <a:t>.</a:t>
            </a:r>
            <a:r>
              <a:rPr kumimoji="1" lang="en" altLang="zh-CN" dirty="0" err="1"/>
              <a:t>cpp</a:t>
            </a:r>
            <a:endParaRPr kumimoji="1" lang="en" altLang="zh-CN" dirty="0"/>
          </a:p>
          <a:p>
            <a:r>
              <a:rPr kumimoji="1" lang="en" altLang="zh-CN" dirty="0"/>
              <a:t>│   └─ </a:t>
            </a:r>
            <a:r>
              <a:rPr kumimoji="1" lang="en" altLang="zh-CN" dirty="0" err="1"/>
              <a:t>hello_world.h.in</a:t>
            </a:r>
            <a:endParaRPr kumimoji="1" lang="en" altLang="zh-CN" dirty="0"/>
          </a:p>
        </p:txBody>
      </p:sp>
      <p:pic>
        <p:nvPicPr>
          <p:cNvPr id="10" name="图片 9">
            <a:extLst>
              <a:ext uri="{FF2B5EF4-FFF2-40B4-BE49-F238E27FC236}">
                <a16:creationId xmlns:a16="http://schemas.microsoft.com/office/drawing/2014/main" id="{0E2D8966-2936-6C4E-A237-BC23512DD7FD}"/>
              </a:ext>
            </a:extLst>
          </p:cNvPr>
          <p:cNvPicPr>
            <a:picLocks noChangeAspect="1"/>
          </p:cNvPicPr>
          <p:nvPr/>
        </p:nvPicPr>
        <p:blipFill>
          <a:blip r:embed="rId3"/>
          <a:stretch>
            <a:fillRect/>
          </a:stretch>
        </p:blipFill>
        <p:spPr>
          <a:xfrm>
            <a:off x="5124669" y="2400347"/>
            <a:ext cx="6451600" cy="2844800"/>
          </a:xfrm>
          <a:prstGeom prst="rect">
            <a:avLst/>
          </a:prstGeom>
        </p:spPr>
      </p:pic>
      <p:sp>
        <p:nvSpPr>
          <p:cNvPr id="12" name="文本框 11">
            <a:extLst>
              <a:ext uri="{FF2B5EF4-FFF2-40B4-BE49-F238E27FC236}">
                <a16:creationId xmlns:a16="http://schemas.microsoft.com/office/drawing/2014/main" id="{6AE59609-D473-8749-8CAF-9F6F42955752}"/>
              </a:ext>
            </a:extLst>
          </p:cNvPr>
          <p:cNvSpPr txBox="1"/>
          <p:nvPr/>
        </p:nvSpPr>
        <p:spPr>
          <a:xfrm>
            <a:off x="5124669" y="1912354"/>
            <a:ext cx="4776951" cy="369332"/>
          </a:xfrm>
          <a:prstGeom prst="rect">
            <a:avLst/>
          </a:prstGeom>
          <a:noFill/>
        </p:spPr>
        <p:txBody>
          <a:bodyPr wrap="square" rtlCol="0">
            <a:spAutoFit/>
          </a:bodyPr>
          <a:lstStyle/>
          <a:p>
            <a:r>
              <a:rPr kumimoji="1" lang="en-US" altLang="zh-CN" dirty="0" err="1"/>
              <a:t>hello_world.cpp</a:t>
            </a:r>
            <a:r>
              <a:rPr kumimoji="1" lang="zh-CN" altLang="en-US" dirty="0"/>
              <a:t> 代码</a:t>
            </a:r>
          </a:p>
        </p:txBody>
      </p:sp>
    </p:spTree>
    <p:extLst>
      <p:ext uri="{BB962C8B-B14F-4D97-AF65-F5344CB8AC3E}">
        <p14:creationId xmlns:p14="http://schemas.microsoft.com/office/powerpoint/2010/main" val="415854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基础用法示例一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endParaRPr kumimoji="1" lang="zh-CN" altLang="en-US" sz="2400" dirty="0"/>
          </a:p>
        </p:txBody>
      </p:sp>
      <p:sp>
        <p:nvSpPr>
          <p:cNvPr id="14" name="文本框 13">
            <a:extLst>
              <a:ext uri="{FF2B5EF4-FFF2-40B4-BE49-F238E27FC236}">
                <a16:creationId xmlns:a16="http://schemas.microsoft.com/office/drawing/2014/main" id="{DD10A3B1-2110-6C46-A611-63D96C9EE143}"/>
              </a:ext>
            </a:extLst>
          </p:cNvPr>
          <p:cNvSpPr txBox="1"/>
          <p:nvPr/>
        </p:nvSpPr>
        <p:spPr>
          <a:xfrm>
            <a:off x="489824" y="1071212"/>
            <a:ext cx="5689572" cy="369332"/>
          </a:xfrm>
          <a:prstGeom prst="rect">
            <a:avLst/>
          </a:prstGeom>
          <a:noFill/>
        </p:spPr>
        <p:txBody>
          <a:bodyPr wrap="square" rtlCol="0">
            <a:spAutoFit/>
          </a:bodyPr>
          <a:lstStyle/>
          <a:p>
            <a:r>
              <a:rPr kumimoji="1" lang="en-US" altLang="zh-CN" dirty="0" err="1"/>
              <a:t>CMakeLists.txt</a:t>
            </a:r>
            <a:r>
              <a:rPr kumimoji="1" lang="zh-CN" altLang="en-US" dirty="0"/>
              <a:t>代码</a:t>
            </a:r>
          </a:p>
        </p:txBody>
      </p:sp>
      <p:pic>
        <p:nvPicPr>
          <p:cNvPr id="15" name="图片 14">
            <a:extLst>
              <a:ext uri="{FF2B5EF4-FFF2-40B4-BE49-F238E27FC236}">
                <a16:creationId xmlns:a16="http://schemas.microsoft.com/office/drawing/2014/main" id="{E2559F63-FF18-784F-91DD-78F8F5AEF845}"/>
              </a:ext>
            </a:extLst>
          </p:cNvPr>
          <p:cNvPicPr>
            <a:picLocks noChangeAspect="1"/>
          </p:cNvPicPr>
          <p:nvPr/>
        </p:nvPicPr>
        <p:blipFill>
          <a:blip r:embed="rId3"/>
          <a:stretch>
            <a:fillRect/>
          </a:stretch>
        </p:blipFill>
        <p:spPr>
          <a:xfrm>
            <a:off x="494666" y="1597777"/>
            <a:ext cx="5664200" cy="4686300"/>
          </a:xfrm>
          <a:prstGeom prst="rect">
            <a:avLst/>
          </a:prstGeom>
        </p:spPr>
      </p:pic>
      <p:pic>
        <p:nvPicPr>
          <p:cNvPr id="17" name="图片 16">
            <a:extLst>
              <a:ext uri="{FF2B5EF4-FFF2-40B4-BE49-F238E27FC236}">
                <a16:creationId xmlns:a16="http://schemas.microsoft.com/office/drawing/2014/main" id="{1F6A980C-DD43-6E4B-B82E-E3E26C24AB7A}"/>
              </a:ext>
            </a:extLst>
          </p:cNvPr>
          <p:cNvPicPr>
            <a:picLocks noChangeAspect="1"/>
          </p:cNvPicPr>
          <p:nvPr/>
        </p:nvPicPr>
        <p:blipFill>
          <a:blip r:embed="rId4"/>
          <a:stretch>
            <a:fillRect/>
          </a:stretch>
        </p:blipFill>
        <p:spPr>
          <a:xfrm>
            <a:off x="6512470" y="2349309"/>
            <a:ext cx="5600700" cy="711200"/>
          </a:xfrm>
          <a:prstGeom prst="rect">
            <a:avLst/>
          </a:prstGeom>
        </p:spPr>
      </p:pic>
      <p:sp>
        <p:nvSpPr>
          <p:cNvPr id="18" name="文本框 17">
            <a:extLst>
              <a:ext uri="{FF2B5EF4-FFF2-40B4-BE49-F238E27FC236}">
                <a16:creationId xmlns:a16="http://schemas.microsoft.com/office/drawing/2014/main" id="{7BBB173F-E484-D941-8E2D-A64A05D7AE6D}"/>
              </a:ext>
            </a:extLst>
          </p:cNvPr>
          <p:cNvSpPr txBox="1"/>
          <p:nvPr/>
        </p:nvSpPr>
        <p:spPr>
          <a:xfrm>
            <a:off x="6652420" y="1753332"/>
            <a:ext cx="5689572" cy="369332"/>
          </a:xfrm>
          <a:prstGeom prst="rect">
            <a:avLst/>
          </a:prstGeom>
          <a:noFill/>
        </p:spPr>
        <p:txBody>
          <a:bodyPr wrap="square" rtlCol="0">
            <a:spAutoFit/>
          </a:bodyPr>
          <a:lstStyle/>
          <a:p>
            <a:r>
              <a:rPr kumimoji="1" lang="en-US" altLang="zh-CN" dirty="0" err="1"/>
              <a:t>hello_world.h.in</a:t>
            </a:r>
            <a:r>
              <a:rPr kumimoji="1" lang="zh-CN" altLang="en-US" dirty="0"/>
              <a:t>代码</a:t>
            </a:r>
          </a:p>
        </p:txBody>
      </p:sp>
      <p:sp>
        <p:nvSpPr>
          <p:cNvPr id="19" name="文本框 18">
            <a:extLst>
              <a:ext uri="{FF2B5EF4-FFF2-40B4-BE49-F238E27FC236}">
                <a16:creationId xmlns:a16="http://schemas.microsoft.com/office/drawing/2014/main" id="{8792C327-E38E-4F4A-942F-C16D7A7C218F}"/>
              </a:ext>
            </a:extLst>
          </p:cNvPr>
          <p:cNvSpPr txBox="1"/>
          <p:nvPr/>
        </p:nvSpPr>
        <p:spPr>
          <a:xfrm>
            <a:off x="6652420" y="5196840"/>
            <a:ext cx="5115650" cy="369332"/>
          </a:xfrm>
          <a:prstGeom prst="rect">
            <a:avLst/>
          </a:prstGeom>
          <a:noFill/>
        </p:spPr>
        <p:txBody>
          <a:bodyPr wrap="square" rtlCol="0">
            <a:spAutoFit/>
          </a:bodyPr>
          <a:lstStyle/>
          <a:p>
            <a:r>
              <a:rPr kumimoji="1" lang="zh-CN" altLang="en-US" dirty="0"/>
              <a:t>注：</a:t>
            </a:r>
            <a:r>
              <a:rPr kumimoji="1" lang="en-US" altLang="zh-CN" dirty="0" err="1"/>
              <a:t>Cmake</a:t>
            </a:r>
            <a:r>
              <a:rPr kumimoji="1" lang="zh-CN" altLang="en-US" dirty="0"/>
              <a:t>语言是大小写不敏感的</a:t>
            </a:r>
          </a:p>
        </p:txBody>
      </p:sp>
    </p:spTree>
    <p:extLst>
      <p:ext uri="{BB962C8B-B14F-4D97-AF65-F5344CB8AC3E}">
        <p14:creationId xmlns:p14="http://schemas.microsoft.com/office/powerpoint/2010/main" val="318813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35817"/>
            <a:ext cx="10515600" cy="788519"/>
          </a:xfrm>
        </p:spPr>
        <p:txBody>
          <a:bodyPr>
            <a:normAutofit/>
          </a:bodyPr>
          <a:lstStyle/>
          <a:p>
            <a:r>
              <a:rPr kumimoji="1" lang="en" altLang="zh-CN" sz="2400" dirty="0" err="1"/>
              <a:t>CMake</a:t>
            </a:r>
            <a:r>
              <a:rPr kumimoji="1" lang="zh-CN" altLang="en-US" sz="2400" dirty="0"/>
              <a:t>基础用法示例一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endParaRPr kumimoji="1" lang="zh-CN" altLang="en-US" sz="2400" dirty="0"/>
          </a:p>
        </p:txBody>
      </p:sp>
      <p:pic>
        <p:nvPicPr>
          <p:cNvPr id="7" name="图片 6">
            <a:extLst>
              <a:ext uri="{FF2B5EF4-FFF2-40B4-BE49-F238E27FC236}">
                <a16:creationId xmlns:a16="http://schemas.microsoft.com/office/drawing/2014/main" id="{6CDD4C34-24B5-364C-B4B8-77C248500E95}"/>
              </a:ext>
            </a:extLst>
          </p:cNvPr>
          <p:cNvPicPr>
            <a:picLocks noChangeAspect="1"/>
          </p:cNvPicPr>
          <p:nvPr/>
        </p:nvPicPr>
        <p:blipFill>
          <a:blip r:embed="rId3"/>
          <a:stretch>
            <a:fillRect/>
          </a:stretch>
        </p:blipFill>
        <p:spPr>
          <a:xfrm>
            <a:off x="110362" y="1150464"/>
            <a:ext cx="11988800" cy="5372100"/>
          </a:xfrm>
          <a:prstGeom prst="rect">
            <a:avLst/>
          </a:prstGeom>
        </p:spPr>
      </p:pic>
    </p:spTree>
    <p:extLst>
      <p:ext uri="{BB962C8B-B14F-4D97-AF65-F5344CB8AC3E}">
        <p14:creationId xmlns:p14="http://schemas.microsoft.com/office/powerpoint/2010/main" val="1848825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35817"/>
            <a:ext cx="10515600" cy="788519"/>
          </a:xfrm>
        </p:spPr>
        <p:txBody>
          <a:bodyPr>
            <a:normAutofit/>
          </a:bodyPr>
          <a:lstStyle/>
          <a:p>
            <a:r>
              <a:rPr kumimoji="1" lang="en" altLang="zh-CN" sz="2400" dirty="0" err="1"/>
              <a:t>CMake</a:t>
            </a:r>
            <a:r>
              <a:rPr kumimoji="1" lang="zh-CN" altLang="en-US" sz="2400" dirty="0"/>
              <a:t>基础用法示例二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r>
              <a:rPr kumimoji="1" lang="zh-CN" altLang="en-US" sz="2400" dirty="0"/>
              <a:t>库</a:t>
            </a:r>
          </a:p>
        </p:txBody>
      </p:sp>
      <p:sp>
        <p:nvSpPr>
          <p:cNvPr id="4" name="文本框 3">
            <a:extLst>
              <a:ext uri="{FF2B5EF4-FFF2-40B4-BE49-F238E27FC236}">
                <a16:creationId xmlns:a16="http://schemas.microsoft.com/office/drawing/2014/main" id="{7E437060-AA94-3D48-B1E7-6DDC7628F29F}"/>
              </a:ext>
            </a:extLst>
          </p:cNvPr>
          <p:cNvSpPr txBox="1"/>
          <p:nvPr/>
        </p:nvSpPr>
        <p:spPr>
          <a:xfrm>
            <a:off x="762688" y="1922975"/>
            <a:ext cx="3515711" cy="369332"/>
          </a:xfrm>
          <a:prstGeom prst="rect">
            <a:avLst/>
          </a:prstGeom>
          <a:noFill/>
        </p:spPr>
        <p:txBody>
          <a:bodyPr wrap="square" rtlCol="0">
            <a:spAutoFit/>
          </a:bodyPr>
          <a:lstStyle/>
          <a:p>
            <a:r>
              <a:rPr kumimoji="1" lang="zh-CN" altLang="en-US" dirty="0"/>
              <a:t>项目目录结构树</a:t>
            </a:r>
          </a:p>
        </p:txBody>
      </p:sp>
      <p:sp>
        <p:nvSpPr>
          <p:cNvPr id="5" name="文本框 4">
            <a:extLst>
              <a:ext uri="{FF2B5EF4-FFF2-40B4-BE49-F238E27FC236}">
                <a16:creationId xmlns:a16="http://schemas.microsoft.com/office/drawing/2014/main" id="{6881F1B0-39A1-DD44-9765-0DBD2DED3206}"/>
              </a:ext>
            </a:extLst>
          </p:cNvPr>
          <p:cNvSpPr txBox="1"/>
          <p:nvPr/>
        </p:nvSpPr>
        <p:spPr>
          <a:xfrm>
            <a:off x="668091" y="2150413"/>
            <a:ext cx="4392640" cy="2585323"/>
          </a:xfrm>
          <a:prstGeom prst="rect">
            <a:avLst/>
          </a:prstGeom>
          <a:noFill/>
        </p:spPr>
        <p:txBody>
          <a:bodyPr wrap="square" rtlCol="0">
            <a:spAutoFit/>
          </a:bodyPr>
          <a:lstStyle/>
          <a:p>
            <a:endParaRPr kumimoji="1" lang="en" altLang="zh-CN" dirty="0"/>
          </a:p>
          <a:p>
            <a:r>
              <a:rPr kumimoji="1" lang="en" altLang="zh-CN" dirty="0"/>
              <a:t>├─ </a:t>
            </a:r>
            <a:r>
              <a:rPr kumimoji="1" lang="en-US" altLang="zh-CN" dirty="0"/>
              <a:t>cmake_example_2</a:t>
            </a:r>
            <a:endParaRPr kumimoji="1" lang="en" altLang="zh-CN" dirty="0"/>
          </a:p>
          <a:p>
            <a:r>
              <a:rPr kumimoji="1" lang="en" altLang="zh-CN" dirty="0"/>
              <a:t>│   ├─</a:t>
            </a:r>
            <a:r>
              <a:rPr kumimoji="1" lang="zh-CN" altLang="en-US" dirty="0"/>
              <a:t> </a:t>
            </a:r>
            <a:r>
              <a:rPr kumimoji="1" lang="en" altLang="zh-CN" dirty="0" err="1"/>
              <a:t>CMakeLists.txt</a:t>
            </a:r>
            <a:endParaRPr kumimoji="1" lang="en" altLang="zh-CN" dirty="0"/>
          </a:p>
          <a:p>
            <a:r>
              <a:rPr kumimoji="1" lang="en" altLang="zh-CN" dirty="0"/>
              <a:t>│   ├─</a:t>
            </a:r>
            <a:r>
              <a:rPr kumimoji="1" lang="zh-CN" altLang="en-US" dirty="0"/>
              <a:t> </a:t>
            </a:r>
            <a:r>
              <a:rPr kumimoji="1" lang="en-US" altLang="zh-CN" dirty="0"/>
              <a:t>main</a:t>
            </a:r>
            <a:r>
              <a:rPr kumimoji="1" lang="en" altLang="zh-CN" dirty="0"/>
              <a:t>.</a:t>
            </a:r>
            <a:r>
              <a:rPr kumimoji="1" lang="en" altLang="zh-CN" dirty="0" err="1"/>
              <a:t>cpp</a:t>
            </a:r>
            <a:endParaRPr kumimoji="1" lang="en" altLang="zh-CN" dirty="0"/>
          </a:p>
          <a:p>
            <a:r>
              <a:rPr kumimoji="1" lang="en" altLang="zh-CN" dirty="0"/>
              <a:t>│   ├─</a:t>
            </a:r>
            <a:r>
              <a:rPr kumimoji="1" lang="zh-CN" altLang="en-US" dirty="0"/>
              <a:t> </a:t>
            </a:r>
            <a:r>
              <a:rPr kumimoji="1" lang="en" altLang="zh-CN" dirty="0" err="1"/>
              <a:t>hello_world</a:t>
            </a:r>
            <a:r>
              <a:rPr kumimoji="1" lang="en-US" altLang="zh-CN" dirty="0"/>
              <a:t>_</a:t>
            </a:r>
            <a:r>
              <a:rPr kumimoji="1" lang="en-US" altLang="zh-CN" dirty="0" err="1"/>
              <a:t>conf</a:t>
            </a:r>
            <a:r>
              <a:rPr kumimoji="1" lang="en" altLang="zh-CN" dirty="0"/>
              <a:t>.</a:t>
            </a:r>
            <a:r>
              <a:rPr kumimoji="1" lang="en" altLang="zh-CN" dirty="0" err="1"/>
              <a:t>h.in</a:t>
            </a:r>
            <a:endParaRPr kumimoji="1" lang="en" altLang="zh-CN" dirty="0"/>
          </a:p>
          <a:p>
            <a:r>
              <a:rPr kumimoji="1" lang="en" altLang="zh-CN" dirty="0"/>
              <a:t>│   └─ </a:t>
            </a:r>
            <a:r>
              <a:rPr kumimoji="1" lang="en" altLang="zh-CN" dirty="0" err="1"/>
              <a:t>hello_world</a:t>
            </a:r>
            <a:endParaRPr kumimoji="1" lang="en-US" altLang="zh-CN" dirty="0"/>
          </a:p>
          <a:p>
            <a:r>
              <a:rPr kumimoji="1" lang="en" altLang="zh-CN" dirty="0"/>
              <a:t>│          ├─</a:t>
            </a:r>
            <a:r>
              <a:rPr kumimoji="1" lang="zh-CN" altLang="en-US" dirty="0"/>
              <a:t> </a:t>
            </a:r>
            <a:r>
              <a:rPr kumimoji="1" lang="en" altLang="zh-CN" dirty="0" err="1"/>
              <a:t>CMakeLists.txt</a:t>
            </a:r>
            <a:endParaRPr kumimoji="1" lang="en" altLang="zh-CN" dirty="0"/>
          </a:p>
          <a:p>
            <a:r>
              <a:rPr kumimoji="1" lang="en" altLang="zh-CN" dirty="0"/>
              <a:t>│          ├─</a:t>
            </a:r>
            <a:r>
              <a:rPr kumimoji="1" lang="zh-CN" altLang="en-US" dirty="0"/>
              <a:t> </a:t>
            </a:r>
            <a:r>
              <a:rPr kumimoji="1" lang="en" altLang="zh-CN" dirty="0" err="1"/>
              <a:t>hello_world.h</a:t>
            </a:r>
            <a:endParaRPr kumimoji="1" lang="en" altLang="zh-CN" dirty="0"/>
          </a:p>
          <a:p>
            <a:r>
              <a:rPr kumimoji="1" lang="en" altLang="zh-CN" dirty="0"/>
              <a:t>│          └─ </a:t>
            </a:r>
            <a:r>
              <a:rPr kumimoji="1" lang="en" altLang="zh-CN" dirty="0" err="1"/>
              <a:t>hello_world.cpp</a:t>
            </a:r>
            <a:endParaRPr kumimoji="1" lang="en-US" altLang="zh-CN" dirty="0"/>
          </a:p>
        </p:txBody>
      </p:sp>
      <p:sp>
        <p:nvSpPr>
          <p:cNvPr id="3" name="文本框 2">
            <a:extLst>
              <a:ext uri="{FF2B5EF4-FFF2-40B4-BE49-F238E27FC236}">
                <a16:creationId xmlns:a16="http://schemas.microsoft.com/office/drawing/2014/main" id="{59E115EE-43A5-0F41-B536-4CEF46098EC9}"/>
              </a:ext>
            </a:extLst>
          </p:cNvPr>
          <p:cNvSpPr txBox="1"/>
          <p:nvPr/>
        </p:nvSpPr>
        <p:spPr>
          <a:xfrm>
            <a:off x="5423342" y="1686649"/>
            <a:ext cx="3074276" cy="369332"/>
          </a:xfrm>
          <a:prstGeom prst="rect">
            <a:avLst/>
          </a:prstGeom>
          <a:noFill/>
        </p:spPr>
        <p:txBody>
          <a:bodyPr wrap="square" rtlCol="0">
            <a:spAutoFit/>
          </a:bodyPr>
          <a:lstStyle/>
          <a:p>
            <a:r>
              <a:rPr kumimoji="1" lang="en-US" altLang="zh-CN" dirty="0" err="1"/>
              <a:t>hello_world</a:t>
            </a:r>
            <a:r>
              <a:rPr kumimoji="1" lang="en-US" altLang="zh-CN" dirty="0"/>
              <a:t>/</a:t>
            </a:r>
            <a:r>
              <a:rPr kumimoji="1" lang="en" altLang="zh-CN" dirty="0" err="1"/>
              <a:t>CMakeLists.txt</a:t>
            </a:r>
            <a:endParaRPr kumimoji="1" lang="en" altLang="zh-CN" dirty="0"/>
          </a:p>
        </p:txBody>
      </p:sp>
      <p:sp>
        <p:nvSpPr>
          <p:cNvPr id="9" name="文本框 8">
            <a:extLst>
              <a:ext uri="{FF2B5EF4-FFF2-40B4-BE49-F238E27FC236}">
                <a16:creationId xmlns:a16="http://schemas.microsoft.com/office/drawing/2014/main" id="{A6241CE2-DB08-FE44-9059-E71C89FD2FDC}"/>
              </a:ext>
            </a:extLst>
          </p:cNvPr>
          <p:cNvSpPr txBox="1"/>
          <p:nvPr/>
        </p:nvSpPr>
        <p:spPr>
          <a:xfrm>
            <a:off x="5423342" y="3023815"/>
            <a:ext cx="3074276" cy="369332"/>
          </a:xfrm>
          <a:prstGeom prst="rect">
            <a:avLst/>
          </a:prstGeom>
          <a:noFill/>
        </p:spPr>
        <p:txBody>
          <a:bodyPr wrap="square" rtlCol="0">
            <a:spAutoFit/>
          </a:bodyPr>
          <a:lstStyle/>
          <a:p>
            <a:r>
              <a:rPr kumimoji="1" lang="en-US" altLang="zh-CN" dirty="0" err="1"/>
              <a:t>hello_world</a:t>
            </a:r>
            <a:r>
              <a:rPr kumimoji="1" lang="en-US" altLang="zh-CN" dirty="0"/>
              <a:t>/</a:t>
            </a:r>
            <a:r>
              <a:rPr kumimoji="1" lang="en-US" altLang="zh-CN" dirty="0" err="1"/>
              <a:t>hello_world.h</a:t>
            </a:r>
            <a:endParaRPr kumimoji="1" lang="en" altLang="zh-CN" dirty="0"/>
          </a:p>
        </p:txBody>
      </p:sp>
      <p:pic>
        <p:nvPicPr>
          <p:cNvPr id="11" name="图片 10">
            <a:extLst>
              <a:ext uri="{FF2B5EF4-FFF2-40B4-BE49-F238E27FC236}">
                <a16:creationId xmlns:a16="http://schemas.microsoft.com/office/drawing/2014/main" id="{FE255FD5-7D51-B24F-A656-34ACBEA93379}"/>
              </a:ext>
            </a:extLst>
          </p:cNvPr>
          <p:cNvPicPr>
            <a:picLocks noChangeAspect="1"/>
          </p:cNvPicPr>
          <p:nvPr/>
        </p:nvPicPr>
        <p:blipFill>
          <a:blip r:embed="rId3"/>
          <a:stretch>
            <a:fillRect/>
          </a:stretch>
        </p:blipFill>
        <p:spPr>
          <a:xfrm>
            <a:off x="5423342" y="3474870"/>
            <a:ext cx="3309178" cy="630320"/>
          </a:xfrm>
          <a:prstGeom prst="rect">
            <a:avLst/>
          </a:prstGeom>
        </p:spPr>
      </p:pic>
      <p:sp>
        <p:nvSpPr>
          <p:cNvPr id="12" name="文本框 11">
            <a:extLst>
              <a:ext uri="{FF2B5EF4-FFF2-40B4-BE49-F238E27FC236}">
                <a16:creationId xmlns:a16="http://schemas.microsoft.com/office/drawing/2014/main" id="{C891577D-5288-BD42-A800-D4A56608078A}"/>
              </a:ext>
            </a:extLst>
          </p:cNvPr>
          <p:cNvSpPr txBox="1"/>
          <p:nvPr/>
        </p:nvSpPr>
        <p:spPr>
          <a:xfrm>
            <a:off x="5423342" y="4403552"/>
            <a:ext cx="3074276" cy="369332"/>
          </a:xfrm>
          <a:prstGeom prst="rect">
            <a:avLst/>
          </a:prstGeom>
          <a:noFill/>
        </p:spPr>
        <p:txBody>
          <a:bodyPr wrap="square" rtlCol="0">
            <a:spAutoFit/>
          </a:bodyPr>
          <a:lstStyle/>
          <a:p>
            <a:r>
              <a:rPr kumimoji="1" lang="en-US" altLang="zh-CN" dirty="0" err="1"/>
              <a:t>hello_world</a:t>
            </a:r>
            <a:r>
              <a:rPr kumimoji="1" lang="en-US" altLang="zh-CN" dirty="0"/>
              <a:t>/</a:t>
            </a:r>
            <a:r>
              <a:rPr kumimoji="1" lang="en-US" altLang="zh-CN" dirty="0" err="1"/>
              <a:t>hello_world.cpp</a:t>
            </a:r>
            <a:endParaRPr kumimoji="1" lang="en" altLang="zh-CN" dirty="0"/>
          </a:p>
        </p:txBody>
      </p:sp>
      <p:pic>
        <p:nvPicPr>
          <p:cNvPr id="13" name="图片 12">
            <a:extLst>
              <a:ext uri="{FF2B5EF4-FFF2-40B4-BE49-F238E27FC236}">
                <a16:creationId xmlns:a16="http://schemas.microsoft.com/office/drawing/2014/main" id="{59CB62ED-5E65-A54B-907F-349C616C8275}"/>
              </a:ext>
            </a:extLst>
          </p:cNvPr>
          <p:cNvPicPr>
            <a:picLocks noChangeAspect="1"/>
          </p:cNvPicPr>
          <p:nvPr/>
        </p:nvPicPr>
        <p:blipFill>
          <a:blip r:embed="rId4"/>
          <a:stretch>
            <a:fillRect/>
          </a:stretch>
        </p:blipFill>
        <p:spPr>
          <a:xfrm>
            <a:off x="5423341" y="4772884"/>
            <a:ext cx="6734245" cy="728756"/>
          </a:xfrm>
          <a:prstGeom prst="rect">
            <a:avLst/>
          </a:prstGeom>
        </p:spPr>
      </p:pic>
      <p:pic>
        <p:nvPicPr>
          <p:cNvPr id="14" name="图片 13">
            <a:extLst>
              <a:ext uri="{FF2B5EF4-FFF2-40B4-BE49-F238E27FC236}">
                <a16:creationId xmlns:a16="http://schemas.microsoft.com/office/drawing/2014/main" id="{83ACD9B7-B8BA-E048-A533-1A8DB02160F9}"/>
              </a:ext>
            </a:extLst>
          </p:cNvPr>
          <p:cNvPicPr>
            <a:picLocks noChangeAspect="1"/>
          </p:cNvPicPr>
          <p:nvPr/>
        </p:nvPicPr>
        <p:blipFill>
          <a:blip r:embed="rId5"/>
          <a:stretch>
            <a:fillRect/>
          </a:stretch>
        </p:blipFill>
        <p:spPr>
          <a:xfrm>
            <a:off x="5423341" y="2150412"/>
            <a:ext cx="5389507" cy="791679"/>
          </a:xfrm>
          <a:prstGeom prst="rect">
            <a:avLst/>
          </a:prstGeom>
        </p:spPr>
      </p:pic>
    </p:spTree>
    <p:extLst>
      <p:ext uri="{BB962C8B-B14F-4D97-AF65-F5344CB8AC3E}">
        <p14:creationId xmlns:p14="http://schemas.microsoft.com/office/powerpoint/2010/main" val="3407061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35817"/>
            <a:ext cx="10515600" cy="788519"/>
          </a:xfrm>
        </p:spPr>
        <p:txBody>
          <a:bodyPr>
            <a:normAutofit/>
          </a:bodyPr>
          <a:lstStyle/>
          <a:p>
            <a:r>
              <a:rPr kumimoji="1" lang="en" altLang="zh-CN" sz="2400" dirty="0" err="1"/>
              <a:t>CMake</a:t>
            </a:r>
            <a:r>
              <a:rPr kumimoji="1" lang="zh-CN" altLang="en-US" sz="2400" dirty="0"/>
              <a:t>基础用法示例二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r>
              <a:rPr kumimoji="1" lang="zh-CN" altLang="en-US" sz="2400" dirty="0"/>
              <a:t>库</a:t>
            </a:r>
          </a:p>
        </p:txBody>
      </p:sp>
      <p:pic>
        <p:nvPicPr>
          <p:cNvPr id="6" name="图片 5">
            <a:extLst>
              <a:ext uri="{FF2B5EF4-FFF2-40B4-BE49-F238E27FC236}">
                <a16:creationId xmlns:a16="http://schemas.microsoft.com/office/drawing/2014/main" id="{B6636B2D-F1E9-414E-9081-F81FF318346D}"/>
              </a:ext>
            </a:extLst>
          </p:cNvPr>
          <p:cNvPicPr>
            <a:picLocks noChangeAspect="1"/>
          </p:cNvPicPr>
          <p:nvPr/>
        </p:nvPicPr>
        <p:blipFill>
          <a:blip r:embed="rId3"/>
          <a:stretch>
            <a:fillRect/>
          </a:stretch>
        </p:blipFill>
        <p:spPr>
          <a:xfrm>
            <a:off x="424252" y="1388110"/>
            <a:ext cx="5892800" cy="5270500"/>
          </a:xfrm>
          <a:prstGeom prst="rect">
            <a:avLst/>
          </a:prstGeom>
        </p:spPr>
      </p:pic>
      <p:sp>
        <p:nvSpPr>
          <p:cNvPr id="7" name="文本框 6">
            <a:extLst>
              <a:ext uri="{FF2B5EF4-FFF2-40B4-BE49-F238E27FC236}">
                <a16:creationId xmlns:a16="http://schemas.microsoft.com/office/drawing/2014/main" id="{5F543421-DC47-F04B-B3C5-3569818C52D6}"/>
              </a:ext>
            </a:extLst>
          </p:cNvPr>
          <p:cNvSpPr txBox="1"/>
          <p:nvPr/>
        </p:nvSpPr>
        <p:spPr>
          <a:xfrm>
            <a:off x="457200" y="1024336"/>
            <a:ext cx="5636332" cy="369332"/>
          </a:xfrm>
          <a:prstGeom prst="rect">
            <a:avLst/>
          </a:prstGeom>
          <a:noFill/>
        </p:spPr>
        <p:txBody>
          <a:bodyPr wrap="square" rtlCol="0">
            <a:spAutoFit/>
          </a:bodyPr>
          <a:lstStyle/>
          <a:p>
            <a:r>
              <a:rPr kumimoji="1" lang="zh-CN" altLang="en-US" dirty="0"/>
              <a:t>根目录下的</a:t>
            </a:r>
            <a:r>
              <a:rPr kumimoji="1" lang="en-US" altLang="zh-CN" dirty="0" err="1"/>
              <a:t>CMakeLists.txt</a:t>
            </a:r>
            <a:r>
              <a:rPr kumimoji="1" lang="zh-CN" altLang="en-US" dirty="0"/>
              <a:t>添加的内容</a:t>
            </a:r>
          </a:p>
        </p:txBody>
      </p:sp>
      <p:pic>
        <p:nvPicPr>
          <p:cNvPr id="10" name="图片 9">
            <a:extLst>
              <a:ext uri="{FF2B5EF4-FFF2-40B4-BE49-F238E27FC236}">
                <a16:creationId xmlns:a16="http://schemas.microsoft.com/office/drawing/2014/main" id="{45670C02-9D88-DD48-A8DF-609895CFAE30}"/>
              </a:ext>
            </a:extLst>
          </p:cNvPr>
          <p:cNvPicPr>
            <a:picLocks noChangeAspect="1"/>
          </p:cNvPicPr>
          <p:nvPr/>
        </p:nvPicPr>
        <p:blipFill>
          <a:blip r:embed="rId4"/>
          <a:stretch>
            <a:fillRect/>
          </a:stretch>
        </p:blipFill>
        <p:spPr>
          <a:xfrm>
            <a:off x="6743700" y="1388110"/>
            <a:ext cx="4648200" cy="4343400"/>
          </a:xfrm>
          <a:prstGeom prst="rect">
            <a:avLst/>
          </a:prstGeom>
        </p:spPr>
      </p:pic>
      <p:sp>
        <p:nvSpPr>
          <p:cNvPr id="14" name="文本框 13">
            <a:extLst>
              <a:ext uri="{FF2B5EF4-FFF2-40B4-BE49-F238E27FC236}">
                <a16:creationId xmlns:a16="http://schemas.microsoft.com/office/drawing/2014/main" id="{4AD0E731-BF03-0540-9C83-1791B82EEA9A}"/>
              </a:ext>
            </a:extLst>
          </p:cNvPr>
          <p:cNvSpPr txBox="1"/>
          <p:nvPr/>
        </p:nvSpPr>
        <p:spPr>
          <a:xfrm>
            <a:off x="6781800" y="1024336"/>
            <a:ext cx="4556760" cy="369332"/>
          </a:xfrm>
          <a:prstGeom prst="rect">
            <a:avLst/>
          </a:prstGeom>
          <a:noFill/>
        </p:spPr>
        <p:txBody>
          <a:bodyPr wrap="square" rtlCol="0">
            <a:spAutoFit/>
          </a:bodyPr>
          <a:lstStyle/>
          <a:p>
            <a:r>
              <a:rPr kumimoji="1" lang="en-US" altLang="zh-CN" dirty="0" err="1"/>
              <a:t>main.cc</a:t>
            </a:r>
            <a:endParaRPr kumimoji="1" lang="zh-CN" altLang="en-US" dirty="0"/>
          </a:p>
        </p:txBody>
      </p:sp>
      <p:pic>
        <p:nvPicPr>
          <p:cNvPr id="15" name="图片 14">
            <a:extLst>
              <a:ext uri="{FF2B5EF4-FFF2-40B4-BE49-F238E27FC236}">
                <a16:creationId xmlns:a16="http://schemas.microsoft.com/office/drawing/2014/main" id="{29419E88-DEF7-0F49-8C64-5960DE8C2630}"/>
              </a:ext>
            </a:extLst>
          </p:cNvPr>
          <p:cNvPicPr>
            <a:picLocks noChangeAspect="1"/>
          </p:cNvPicPr>
          <p:nvPr/>
        </p:nvPicPr>
        <p:blipFill>
          <a:blip r:embed="rId5"/>
          <a:stretch>
            <a:fillRect/>
          </a:stretch>
        </p:blipFill>
        <p:spPr>
          <a:xfrm>
            <a:off x="6781800" y="6273800"/>
            <a:ext cx="3213164" cy="384810"/>
          </a:xfrm>
          <a:prstGeom prst="rect">
            <a:avLst/>
          </a:prstGeom>
        </p:spPr>
      </p:pic>
      <p:sp>
        <p:nvSpPr>
          <p:cNvPr id="16" name="文本框 15">
            <a:extLst>
              <a:ext uri="{FF2B5EF4-FFF2-40B4-BE49-F238E27FC236}">
                <a16:creationId xmlns:a16="http://schemas.microsoft.com/office/drawing/2014/main" id="{E6EEA2F1-C69F-A54A-AC8D-EE5591B55B29}"/>
              </a:ext>
            </a:extLst>
          </p:cNvPr>
          <p:cNvSpPr txBox="1"/>
          <p:nvPr/>
        </p:nvSpPr>
        <p:spPr>
          <a:xfrm>
            <a:off x="6781800" y="5928360"/>
            <a:ext cx="3444240" cy="369332"/>
          </a:xfrm>
          <a:prstGeom prst="rect">
            <a:avLst/>
          </a:prstGeom>
          <a:noFill/>
        </p:spPr>
        <p:txBody>
          <a:bodyPr wrap="square" rtlCol="0">
            <a:spAutoFit/>
          </a:bodyPr>
          <a:lstStyle/>
          <a:p>
            <a:r>
              <a:rPr kumimoji="1" lang="en" altLang="zh-CN" dirty="0" err="1"/>
              <a:t>hello_world_conf.h.in</a:t>
            </a:r>
            <a:endParaRPr kumimoji="1" lang="zh-CN" altLang="en-US" dirty="0"/>
          </a:p>
        </p:txBody>
      </p:sp>
    </p:spTree>
    <p:extLst>
      <p:ext uri="{BB962C8B-B14F-4D97-AF65-F5344CB8AC3E}">
        <p14:creationId xmlns:p14="http://schemas.microsoft.com/office/powerpoint/2010/main" val="3525851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35817"/>
            <a:ext cx="10515600" cy="788519"/>
          </a:xfrm>
        </p:spPr>
        <p:txBody>
          <a:bodyPr>
            <a:normAutofit/>
          </a:bodyPr>
          <a:lstStyle/>
          <a:p>
            <a:r>
              <a:rPr kumimoji="1" lang="en" altLang="zh-CN" sz="2400" dirty="0" err="1"/>
              <a:t>CMake</a:t>
            </a:r>
            <a:r>
              <a:rPr kumimoji="1" lang="zh-CN" altLang="en-US" sz="2400" dirty="0"/>
              <a:t>基础用法示例二 </a:t>
            </a:r>
            <a:r>
              <a:rPr kumimoji="1" lang="en-US" altLang="zh-CN" sz="2400" dirty="0"/>
              <a:t>——</a:t>
            </a:r>
            <a:r>
              <a:rPr kumimoji="1" lang="zh-CN" altLang="en-US" sz="2400" dirty="0"/>
              <a:t> 编译</a:t>
            </a:r>
            <a:r>
              <a:rPr kumimoji="1" lang="en-US" altLang="zh-CN" sz="2400" dirty="0"/>
              <a:t>hello</a:t>
            </a:r>
            <a:r>
              <a:rPr kumimoji="1" lang="zh-CN" altLang="en-US" sz="2400" dirty="0"/>
              <a:t> </a:t>
            </a:r>
            <a:r>
              <a:rPr kumimoji="1" lang="en-US" altLang="zh-CN" sz="2400" dirty="0"/>
              <a:t>world</a:t>
            </a:r>
            <a:r>
              <a:rPr kumimoji="1" lang="zh-CN" altLang="en-US" sz="2400" dirty="0"/>
              <a:t>库</a:t>
            </a:r>
          </a:p>
        </p:txBody>
      </p:sp>
      <p:sp>
        <p:nvSpPr>
          <p:cNvPr id="5" name="文本框 4">
            <a:extLst>
              <a:ext uri="{FF2B5EF4-FFF2-40B4-BE49-F238E27FC236}">
                <a16:creationId xmlns:a16="http://schemas.microsoft.com/office/drawing/2014/main" id="{611CFC66-B8C9-4043-AB60-A2BD3712057E}"/>
              </a:ext>
            </a:extLst>
          </p:cNvPr>
          <p:cNvSpPr txBox="1"/>
          <p:nvPr/>
        </p:nvSpPr>
        <p:spPr>
          <a:xfrm>
            <a:off x="1042732" y="1542892"/>
            <a:ext cx="8674028" cy="646331"/>
          </a:xfrm>
          <a:prstGeom prst="rect">
            <a:avLst/>
          </a:prstGeom>
          <a:noFill/>
        </p:spPr>
        <p:txBody>
          <a:bodyPr wrap="square" rtlCol="0">
            <a:spAutoFit/>
          </a:bodyPr>
          <a:lstStyle/>
          <a:p>
            <a:r>
              <a:rPr kumimoji="1" lang="zh-CN" altLang="en-US" dirty="0"/>
              <a:t>仿照示例一中的编译步骤进行编译，</a:t>
            </a:r>
            <a:endParaRPr kumimoji="1" lang="en-US" altLang="zh-CN" dirty="0"/>
          </a:p>
          <a:p>
            <a:r>
              <a:rPr kumimoji="1" lang="zh-CN" altLang="en-US" dirty="0"/>
              <a:t>完成编译后可以在指定路径中找到编译出来的库文件</a:t>
            </a:r>
          </a:p>
        </p:txBody>
      </p:sp>
      <p:pic>
        <p:nvPicPr>
          <p:cNvPr id="11" name="图片 10">
            <a:extLst>
              <a:ext uri="{FF2B5EF4-FFF2-40B4-BE49-F238E27FC236}">
                <a16:creationId xmlns:a16="http://schemas.microsoft.com/office/drawing/2014/main" id="{D9BDFA82-DB9A-214F-9917-0F589F1FFE47}"/>
              </a:ext>
            </a:extLst>
          </p:cNvPr>
          <p:cNvPicPr>
            <a:picLocks noChangeAspect="1"/>
          </p:cNvPicPr>
          <p:nvPr/>
        </p:nvPicPr>
        <p:blipFill>
          <a:blip r:embed="rId3"/>
          <a:stretch>
            <a:fillRect/>
          </a:stretch>
        </p:blipFill>
        <p:spPr>
          <a:xfrm>
            <a:off x="1042732" y="2446020"/>
            <a:ext cx="8524185" cy="2476500"/>
          </a:xfrm>
          <a:prstGeom prst="rect">
            <a:avLst/>
          </a:prstGeom>
        </p:spPr>
      </p:pic>
    </p:spTree>
    <p:extLst>
      <p:ext uri="{BB962C8B-B14F-4D97-AF65-F5344CB8AC3E}">
        <p14:creationId xmlns:p14="http://schemas.microsoft.com/office/powerpoint/2010/main" val="2336483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00452" y="235817"/>
            <a:ext cx="10515600" cy="788519"/>
          </a:xfrm>
        </p:spPr>
        <p:txBody>
          <a:bodyPr>
            <a:normAutofit/>
          </a:bodyPr>
          <a:lstStyle/>
          <a:p>
            <a:r>
              <a:rPr kumimoji="1" lang="en" altLang="zh-CN" sz="2400" dirty="0" err="1"/>
              <a:t>CMake</a:t>
            </a:r>
            <a:r>
              <a:rPr kumimoji="1" lang="zh-CN" altLang="en-US" sz="2400" dirty="0"/>
              <a:t>基础用法示例三 </a:t>
            </a:r>
            <a:r>
              <a:rPr kumimoji="1" lang="en-US" altLang="zh-CN" sz="2400" dirty="0"/>
              <a:t>——</a:t>
            </a:r>
            <a:r>
              <a:rPr kumimoji="1" lang="zh-CN" altLang="en-US" sz="2400" dirty="0"/>
              <a:t> 指定安装规则与测试</a:t>
            </a:r>
          </a:p>
        </p:txBody>
      </p:sp>
      <p:sp>
        <p:nvSpPr>
          <p:cNvPr id="6" name="文本框 5">
            <a:extLst>
              <a:ext uri="{FF2B5EF4-FFF2-40B4-BE49-F238E27FC236}">
                <a16:creationId xmlns:a16="http://schemas.microsoft.com/office/drawing/2014/main" id="{AE37B70B-5D54-B546-BB7C-947144DEA53F}"/>
              </a:ext>
            </a:extLst>
          </p:cNvPr>
          <p:cNvSpPr txBox="1"/>
          <p:nvPr/>
        </p:nvSpPr>
        <p:spPr>
          <a:xfrm>
            <a:off x="457200" y="1024336"/>
            <a:ext cx="5636332" cy="369332"/>
          </a:xfrm>
          <a:prstGeom prst="rect">
            <a:avLst/>
          </a:prstGeom>
          <a:noFill/>
        </p:spPr>
        <p:txBody>
          <a:bodyPr wrap="square" rtlCol="0">
            <a:spAutoFit/>
          </a:bodyPr>
          <a:lstStyle/>
          <a:p>
            <a:r>
              <a:rPr kumimoji="1" lang="zh-CN" altLang="en-US" dirty="0"/>
              <a:t>根目录下的</a:t>
            </a:r>
            <a:r>
              <a:rPr kumimoji="1" lang="en-US" altLang="zh-CN" dirty="0" err="1"/>
              <a:t>CMakeLists.txt</a:t>
            </a:r>
            <a:r>
              <a:rPr kumimoji="1" lang="zh-CN" altLang="en-US" dirty="0"/>
              <a:t>添加的内容</a:t>
            </a:r>
          </a:p>
        </p:txBody>
      </p:sp>
      <p:pic>
        <p:nvPicPr>
          <p:cNvPr id="3" name="图片 2">
            <a:extLst>
              <a:ext uri="{FF2B5EF4-FFF2-40B4-BE49-F238E27FC236}">
                <a16:creationId xmlns:a16="http://schemas.microsoft.com/office/drawing/2014/main" id="{8E468AD7-B942-9344-B3AB-51AFCAC5814B}"/>
              </a:ext>
            </a:extLst>
          </p:cNvPr>
          <p:cNvPicPr>
            <a:picLocks noChangeAspect="1"/>
          </p:cNvPicPr>
          <p:nvPr/>
        </p:nvPicPr>
        <p:blipFill>
          <a:blip r:embed="rId3"/>
          <a:stretch>
            <a:fillRect/>
          </a:stretch>
        </p:blipFill>
        <p:spPr>
          <a:xfrm>
            <a:off x="513152" y="1485108"/>
            <a:ext cx="5245100" cy="4889500"/>
          </a:xfrm>
          <a:prstGeom prst="rect">
            <a:avLst/>
          </a:prstGeom>
        </p:spPr>
      </p:pic>
      <p:pic>
        <p:nvPicPr>
          <p:cNvPr id="7" name="图片 6">
            <a:extLst>
              <a:ext uri="{FF2B5EF4-FFF2-40B4-BE49-F238E27FC236}">
                <a16:creationId xmlns:a16="http://schemas.microsoft.com/office/drawing/2014/main" id="{9618F116-8B6F-6341-8859-E9112DD00B82}"/>
              </a:ext>
            </a:extLst>
          </p:cNvPr>
          <p:cNvPicPr>
            <a:picLocks noChangeAspect="1"/>
          </p:cNvPicPr>
          <p:nvPr/>
        </p:nvPicPr>
        <p:blipFill rotWithShape="1">
          <a:blip r:embed="rId4"/>
          <a:srcRect l="-275" t="64959"/>
          <a:stretch/>
        </p:blipFill>
        <p:spPr>
          <a:xfrm>
            <a:off x="6385560" y="2465012"/>
            <a:ext cx="4630492" cy="818416"/>
          </a:xfrm>
          <a:prstGeom prst="rect">
            <a:avLst/>
          </a:prstGeom>
        </p:spPr>
      </p:pic>
      <p:sp>
        <p:nvSpPr>
          <p:cNvPr id="10" name="文本框 9">
            <a:extLst>
              <a:ext uri="{FF2B5EF4-FFF2-40B4-BE49-F238E27FC236}">
                <a16:creationId xmlns:a16="http://schemas.microsoft.com/office/drawing/2014/main" id="{58E4D3D5-322B-844F-9B5F-77B05C26E752}"/>
              </a:ext>
            </a:extLst>
          </p:cNvPr>
          <p:cNvSpPr txBox="1"/>
          <p:nvPr/>
        </p:nvSpPr>
        <p:spPr>
          <a:xfrm>
            <a:off x="6385560" y="1712260"/>
            <a:ext cx="5636332" cy="369332"/>
          </a:xfrm>
          <a:prstGeom prst="rect">
            <a:avLst/>
          </a:prstGeom>
          <a:noFill/>
        </p:spPr>
        <p:txBody>
          <a:bodyPr wrap="square" rtlCol="0">
            <a:spAutoFit/>
          </a:bodyPr>
          <a:lstStyle/>
          <a:p>
            <a:r>
              <a:rPr kumimoji="1" lang="en-US" altLang="zh-CN" dirty="0" err="1"/>
              <a:t>hello_world</a:t>
            </a:r>
            <a:r>
              <a:rPr kumimoji="1" lang="en-US" altLang="zh-CN" dirty="0"/>
              <a:t>/</a:t>
            </a:r>
            <a:r>
              <a:rPr kumimoji="1" lang="en-US" altLang="zh-CN" dirty="0" err="1"/>
              <a:t>CMakeLists.txt</a:t>
            </a:r>
            <a:r>
              <a:rPr kumimoji="1" lang="zh-CN" altLang="en-US" dirty="0"/>
              <a:t>添加的内容</a:t>
            </a:r>
          </a:p>
        </p:txBody>
      </p:sp>
      <p:sp>
        <p:nvSpPr>
          <p:cNvPr id="9" name="文本框 8">
            <a:extLst>
              <a:ext uri="{FF2B5EF4-FFF2-40B4-BE49-F238E27FC236}">
                <a16:creationId xmlns:a16="http://schemas.microsoft.com/office/drawing/2014/main" id="{948A13AE-9438-4E44-A96E-F75FD7DAEE64}"/>
              </a:ext>
            </a:extLst>
          </p:cNvPr>
          <p:cNvSpPr txBox="1"/>
          <p:nvPr/>
        </p:nvSpPr>
        <p:spPr>
          <a:xfrm>
            <a:off x="6398260" y="4419600"/>
            <a:ext cx="4986020" cy="1200329"/>
          </a:xfrm>
          <a:prstGeom prst="rect">
            <a:avLst/>
          </a:prstGeom>
          <a:noFill/>
        </p:spPr>
        <p:txBody>
          <a:bodyPr wrap="square" rtlCol="0">
            <a:spAutoFit/>
          </a:bodyPr>
          <a:lstStyle/>
          <a:p>
            <a:r>
              <a:rPr kumimoji="1" lang="zh-CN" altLang="en-US" dirty="0"/>
              <a:t>编译完成后输入</a:t>
            </a:r>
            <a:r>
              <a:rPr kumimoji="1" lang="en-US" altLang="zh-CN" dirty="0"/>
              <a:t>make</a:t>
            </a:r>
            <a:r>
              <a:rPr kumimoji="1" lang="zh-CN" altLang="en-US" dirty="0"/>
              <a:t> </a:t>
            </a:r>
            <a:r>
              <a:rPr kumimoji="1" lang="en-US" altLang="zh-CN" dirty="0"/>
              <a:t>&amp;&amp;</a:t>
            </a:r>
            <a:r>
              <a:rPr kumimoji="1" lang="zh-CN" altLang="en-US" dirty="0"/>
              <a:t> </a:t>
            </a:r>
            <a:r>
              <a:rPr kumimoji="1" lang="en-US" altLang="zh-CN" dirty="0"/>
              <a:t>make</a:t>
            </a:r>
            <a:r>
              <a:rPr kumimoji="1" lang="zh-CN" altLang="en-US" dirty="0"/>
              <a:t> </a:t>
            </a:r>
            <a:r>
              <a:rPr kumimoji="1" lang="en-US" altLang="zh-CN" dirty="0"/>
              <a:t>install</a:t>
            </a:r>
            <a:r>
              <a:rPr kumimoji="1" lang="zh-CN" altLang="en-US" dirty="0"/>
              <a:t>即可将编译好的库、头文件、可执行文件安装至指定路径</a:t>
            </a:r>
            <a:endParaRPr kumimoji="1" lang="en-US" altLang="zh-CN" dirty="0"/>
          </a:p>
          <a:p>
            <a:endParaRPr kumimoji="1" lang="en-US" altLang="zh-CN" dirty="0"/>
          </a:p>
          <a:p>
            <a:r>
              <a:rPr kumimoji="1" lang="zh-CN" altLang="en-US" dirty="0"/>
              <a:t>再输入</a:t>
            </a:r>
            <a:r>
              <a:rPr kumimoji="1" lang="en-US" altLang="zh-CN" dirty="0" err="1"/>
              <a:t>ctest</a:t>
            </a:r>
            <a:r>
              <a:rPr kumimoji="1" lang="zh-CN" altLang="en-US" dirty="0"/>
              <a:t>可以查看添加的测试是否通过</a:t>
            </a:r>
          </a:p>
        </p:txBody>
      </p:sp>
    </p:spTree>
    <p:extLst>
      <p:ext uri="{BB962C8B-B14F-4D97-AF65-F5344CB8AC3E}">
        <p14:creationId xmlns:p14="http://schemas.microsoft.com/office/powerpoint/2010/main" val="240201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00452" y="235817"/>
            <a:ext cx="10515600" cy="788519"/>
          </a:xfrm>
        </p:spPr>
        <p:txBody>
          <a:bodyPr>
            <a:normAutofit/>
          </a:bodyPr>
          <a:lstStyle/>
          <a:p>
            <a:r>
              <a:rPr kumimoji="1" lang="en" altLang="zh-CN" sz="2400" dirty="0" err="1"/>
              <a:t>CMake</a:t>
            </a:r>
            <a:r>
              <a:rPr kumimoji="1" lang="zh-CN" altLang="en-US" sz="2400" dirty="0"/>
              <a:t>基础用法示例</a:t>
            </a:r>
          </a:p>
        </p:txBody>
      </p:sp>
      <p:sp>
        <p:nvSpPr>
          <p:cNvPr id="6" name="文本框 5">
            <a:extLst>
              <a:ext uri="{FF2B5EF4-FFF2-40B4-BE49-F238E27FC236}">
                <a16:creationId xmlns:a16="http://schemas.microsoft.com/office/drawing/2014/main" id="{AE37B70B-5D54-B546-BB7C-947144DEA53F}"/>
              </a:ext>
            </a:extLst>
          </p:cNvPr>
          <p:cNvSpPr txBox="1"/>
          <p:nvPr/>
        </p:nvSpPr>
        <p:spPr>
          <a:xfrm>
            <a:off x="3139440" y="2853136"/>
            <a:ext cx="5636332" cy="923330"/>
          </a:xfrm>
          <a:prstGeom prst="rect">
            <a:avLst/>
          </a:prstGeom>
          <a:noFill/>
        </p:spPr>
        <p:txBody>
          <a:bodyPr wrap="square" rtlCol="0">
            <a:spAutoFit/>
          </a:bodyPr>
          <a:lstStyle/>
          <a:p>
            <a:r>
              <a:rPr kumimoji="1" lang="zh-CN" altLang="en-US" dirty="0"/>
              <a:t>上述示例的代码可以在这个仓库里找到：</a:t>
            </a:r>
            <a:endParaRPr kumimoji="1" lang="en-US" altLang="zh-CN" dirty="0"/>
          </a:p>
          <a:p>
            <a:r>
              <a:rPr kumimoji="1" lang="en-US" altLang="zh-CN" dirty="0">
                <a:hlinkClick r:id="rId3"/>
              </a:rPr>
              <a:t>https://</a:t>
            </a:r>
            <a:r>
              <a:rPr kumimoji="1" lang="en-US" altLang="zh-CN" dirty="0" err="1">
                <a:hlinkClick r:id="rId3"/>
              </a:rPr>
              <a:t>github.com</a:t>
            </a:r>
            <a:r>
              <a:rPr kumimoji="1" lang="en-US" altLang="zh-CN" dirty="0">
                <a:hlinkClick r:id="rId3"/>
              </a:rPr>
              <a:t>/</a:t>
            </a:r>
            <a:r>
              <a:rPr kumimoji="1" lang="en-US" altLang="zh-CN" dirty="0" err="1">
                <a:hlinkClick r:id="rId3"/>
              </a:rPr>
              <a:t>suoych</a:t>
            </a:r>
            <a:r>
              <a:rPr kumimoji="1" lang="en-US" altLang="zh-CN" dirty="0">
                <a:hlinkClick r:id="rId3"/>
              </a:rPr>
              <a:t>/</a:t>
            </a:r>
            <a:r>
              <a:rPr kumimoji="1" lang="en-US" altLang="zh-CN" dirty="0" err="1">
                <a:hlinkClick r:id="rId3"/>
              </a:rPr>
              <a:t>CMake_examples</a:t>
            </a:r>
            <a:endParaRPr kumimoji="1" lang="en-US" altLang="zh-CN" dirty="0"/>
          </a:p>
          <a:p>
            <a:endParaRPr kumimoji="1" lang="zh-CN" altLang="en-US" dirty="0"/>
          </a:p>
        </p:txBody>
      </p:sp>
    </p:spTree>
    <p:extLst>
      <p:ext uri="{BB962C8B-B14F-4D97-AF65-F5344CB8AC3E}">
        <p14:creationId xmlns:p14="http://schemas.microsoft.com/office/powerpoint/2010/main" val="134783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SET</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264920"/>
            <a:ext cx="10241280" cy="4801314"/>
          </a:xfrm>
          <a:prstGeom prst="rect">
            <a:avLst/>
          </a:prstGeom>
          <a:noFill/>
        </p:spPr>
        <p:txBody>
          <a:bodyPr wrap="square" rtlCol="0">
            <a:spAutoFit/>
          </a:bodyPr>
          <a:lstStyle/>
          <a:p>
            <a:r>
              <a:rPr kumimoji="1" lang="en-US" altLang="zh-CN" dirty="0"/>
              <a:t>SET</a:t>
            </a:r>
            <a:r>
              <a:rPr kumimoji="1" lang="zh-CN" altLang="en-US" dirty="0"/>
              <a:t>命令可以设置一个变量的值，用法如下：</a:t>
            </a:r>
            <a:endParaRPr kumimoji="1" lang="en-US" altLang="zh-CN" dirty="0"/>
          </a:p>
          <a:p>
            <a:pPr marL="285750" indent="-285750">
              <a:buFont typeface="Arial" panose="020B0604020202020204" pitchFamily="34" charset="0"/>
              <a:buChar char="•"/>
            </a:pPr>
            <a:r>
              <a:rPr lang="en" altLang="zh-CN" b="1" dirty="0"/>
              <a:t>set(&lt;variable&gt; &lt;value&gt;... [</a:t>
            </a:r>
            <a:r>
              <a:rPr lang="en" altLang="zh-CN" b="1" dirty="0">
                <a:solidFill>
                  <a:srgbClr val="FF0000"/>
                </a:solidFill>
              </a:rPr>
              <a:t>PARENT_SCOPE</a:t>
            </a:r>
            <a:r>
              <a:rPr lang="en" altLang="zh-CN" b="1" dirty="0"/>
              <a:t>])</a:t>
            </a:r>
          </a:p>
          <a:p>
            <a:r>
              <a:rPr lang="zh-CN" altLang="en-US" dirty="0"/>
              <a:t>     设置类型为</a:t>
            </a:r>
            <a:r>
              <a:rPr lang="en-US" altLang="zh-CN" dirty="0"/>
              <a:t>Normal</a:t>
            </a:r>
            <a:r>
              <a:rPr lang="zh-CN" altLang="en-US" dirty="0"/>
              <a:t>的变量的值，</a:t>
            </a:r>
            <a:r>
              <a:rPr lang="en-US" altLang="zh-CN" dirty="0"/>
              <a:t>PARENT_SCOPE</a:t>
            </a:r>
            <a:r>
              <a:rPr lang="zh-CN" altLang="en-US" dirty="0"/>
              <a:t>指修改父作用域的变量，</a:t>
            </a:r>
            <a:r>
              <a:rPr lang="en-US" altLang="zh-CN" dirty="0"/>
              <a:t>Normal</a:t>
            </a:r>
            <a:r>
              <a:rPr lang="zh-CN" altLang="en-US" dirty="0"/>
              <a:t>变量的作用域是当前</a:t>
            </a:r>
            <a:r>
              <a:rPr lang="en-US" altLang="zh-CN" dirty="0" err="1"/>
              <a:t>CMake</a:t>
            </a:r>
            <a:r>
              <a:rPr lang="zh-CN" altLang="en-US" dirty="0"/>
              <a:t>文件和其中</a:t>
            </a:r>
            <a:r>
              <a:rPr lang="en-US" altLang="zh-CN" dirty="0"/>
              <a:t>include</a:t>
            </a:r>
            <a:r>
              <a:rPr lang="zh-CN" altLang="en-US" dirty="0"/>
              <a:t>（）</a:t>
            </a:r>
            <a:r>
              <a:rPr lang="en-US" altLang="zh-CN" dirty="0"/>
              <a:t>,</a:t>
            </a:r>
            <a:r>
              <a:rPr lang="zh-CN" altLang="en-US" dirty="0"/>
              <a:t> </a:t>
            </a:r>
            <a:r>
              <a:rPr lang="en-US" altLang="zh-CN" dirty="0"/>
              <a:t>macro(),</a:t>
            </a:r>
            <a:r>
              <a:rPr lang="zh-CN" altLang="en-US" dirty="0"/>
              <a:t> </a:t>
            </a:r>
            <a:r>
              <a:rPr lang="en-US" altLang="zh-CN" dirty="0"/>
              <a:t>function(),</a:t>
            </a:r>
            <a:r>
              <a:rPr lang="zh-CN" altLang="en-US" dirty="0"/>
              <a:t> </a:t>
            </a:r>
            <a:r>
              <a:rPr lang="en-US" altLang="zh-CN" dirty="0" err="1"/>
              <a:t>add_subdirectory</a:t>
            </a:r>
            <a:r>
              <a:rPr lang="en-US" altLang="zh-CN" dirty="0"/>
              <a:t>()</a:t>
            </a:r>
            <a:r>
              <a:rPr lang="zh-CN" altLang="en-US" dirty="0"/>
              <a:t>添加的部分。特殊的一点</a:t>
            </a:r>
            <a:r>
              <a:rPr lang="en-US" altLang="zh-CN" dirty="0" err="1"/>
              <a:t>add_subdirectory</a:t>
            </a:r>
            <a:r>
              <a:rPr lang="en-US" altLang="zh-CN" dirty="0"/>
              <a:t>()</a:t>
            </a:r>
            <a:r>
              <a:rPr lang="zh-CN" altLang="en-US" dirty="0"/>
              <a:t>添加的子目录和</a:t>
            </a:r>
            <a:r>
              <a:rPr lang="en-US" altLang="zh-CN" dirty="0"/>
              <a:t>function()</a:t>
            </a:r>
            <a:r>
              <a:rPr lang="zh-CN" altLang="en-US" dirty="0"/>
              <a:t>函数体内会自己创建一个作用域，拷贝父目录的所有</a:t>
            </a:r>
            <a:r>
              <a:rPr lang="en-US" altLang="zh-CN" dirty="0"/>
              <a:t>Normal</a:t>
            </a:r>
            <a:r>
              <a:rPr lang="zh-CN" altLang="en-US" dirty="0"/>
              <a:t>变量，如果在这两种情况下想修改父作用域中的变量且不加</a:t>
            </a:r>
            <a:r>
              <a:rPr lang="en-US" altLang="zh-CN" dirty="0"/>
              <a:t>PARENT_SCOPE</a:t>
            </a:r>
            <a:r>
              <a:rPr lang="zh-CN" altLang="en-US" dirty="0"/>
              <a:t>的话那么这次修改只在当前作用域有效。</a:t>
            </a:r>
            <a:endParaRPr lang="en" altLang="zh-CN" dirty="0"/>
          </a:p>
          <a:p>
            <a:pPr marL="285750" indent="-285750">
              <a:buFont typeface="Arial" panose="020B0604020202020204" pitchFamily="34" charset="0"/>
              <a:buChar char="•"/>
            </a:pPr>
            <a:r>
              <a:rPr lang="en" altLang="zh-CN" b="1" dirty="0"/>
              <a:t>set(&lt;variable&gt; &lt;value&gt;... </a:t>
            </a:r>
            <a:r>
              <a:rPr lang="en" altLang="zh-CN" b="1" dirty="0">
                <a:solidFill>
                  <a:srgbClr val="FF0000"/>
                </a:solidFill>
              </a:rPr>
              <a:t>CACHE</a:t>
            </a:r>
            <a:r>
              <a:rPr lang="en" altLang="zh-CN" b="1" dirty="0"/>
              <a:t> &lt;type&gt; &lt;docstring&gt; [</a:t>
            </a:r>
            <a:r>
              <a:rPr lang="en" altLang="zh-CN" b="1" dirty="0">
                <a:solidFill>
                  <a:srgbClr val="FF0000"/>
                </a:solidFill>
              </a:rPr>
              <a:t>FORCE</a:t>
            </a:r>
            <a:r>
              <a:rPr lang="en" altLang="zh-CN" b="1" dirty="0"/>
              <a:t>])</a:t>
            </a:r>
          </a:p>
          <a:p>
            <a:r>
              <a:rPr lang="zh-CN" altLang="en-US" dirty="0"/>
              <a:t>     设置类型为</a:t>
            </a:r>
            <a:r>
              <a:rPr lang="en-US" altLang="zh-CN" dirty="0"/>
              <a:t>CACHE</a:t>
            </a:r>
            <a:r>
              <a:rPr lang="zh-CN" altLang="en-US" dirty="0"/>
              <a:t>的变量的值，</a:t>
            </a:r>
            <a:r>
              <a:rPr lang="en-US" altLang="zh-CN" dirty="0"/>
              <a:t>CACHE</a:t>
            </a:r>
            <a:r>
              <a:rPr lang="zh-CN" altLang="en-US" dirty="0"/>
              <a:t>类型可以理解为全局变量，整个工程都可以用。</a:t>
            </a:r>
            <a:r>
              <a:rPr lang="zh-CN" altLang="en" dirty="0"/>
              <a:t>需要注意的</a:t>
            </a:r>
            <a:r>
              <a:rPr lang="zh-CN" altLang="en-US" dirty="0"/>
              <a:t>是：</a:t>
            </a:r>
            <a:r>
              <a:rPr lang="en" altLang="zh-CN" dirty="0" err="1"/>
              <a:t>CMake</a:t>
            </a:r>
            <a:r>
              <a:rPr lang="en" altLang="zh-CN" dirty="0"/>
              <a:t> </a:t>
            </a:r>
            <a:r>
              <a:rPr lang="zh-CN" altLang="en-US" dirty="0"/>
              <a:t>规定，有一个与 </a:t>
            </a:r>
            <a:r>
              <a:rPr lang="en" altLang="zh-CN" dirty="0"/>
              <a:t>CACHE </a:t>
            </a:r>
            <a:r>
              <a:rPr lang="zh-CN" altLang="en-US" dirty="0"/>
              <a:t>变量同名的 </a:t>
            </a:r>
            <a:r>
              <a:rPr lang="en" altLang="zh-CN" dirty="0"/>
              <a:t>NORMAL</a:t>
            </a:r>
            <a:r>
              <a:rPr lang="zh-CN" altLang="en-US" dirty="0"/>
              <a:t>变量出现时，后面使用这个变量的值都是以 </a:t>
            </a:r>
            <a:r>
              <a:rPr lang="en" altLang="zh-CN" dirty="0"/>
              <a:t>NORMAL</a:t>
            </a:r>
            <a:r>
              <a:rPr lang="zh-CN" altLang="en-US" dirty="0"/>
              <a:t>为准，如果没有同名的 </a:t>
            </a:r>
            <a:r>
              <a:rPr lang="en" altLang="zh-CN" dirty="0"/>
              <a:t>NORMAL </a:t>
            </a:r>
            <a:r>
              <a:rPr lang="zh-CN" altLang="en-US" dirty="0"/>
              <a:t>变量，</a:t>
            </a:r>
            <a:r>
              <a:rPr lang="en" altLang="zh-CN" dirty="0" err="1"/>
              <a:t>CMake</a:t>
            </a:r>
            <a:r>
              <a:rPr lang="en" altLang="zh-CN" dirty="0"/>
              <a:t> </a:t>
            </a:r>
            <a:r>
              <a:rPr lang="zh-CN" altLang="en-US" dirty="0"/>
              <a:t>才会自动使用 </a:t>
            </a:r>
            <a:r>
              <a:rPr lang="en" altLang="zh-CN" dirty="0"/>
              <a:t>CACHE </a:t>
            </a:r>
            <a:r>
              <a:rPr lang="zh-CN" altLang="en-US" dirty="0"/>
              <a:t>变量。</a:t>
            </a:r>
            <a:r>
              <a:rPr lang="zh-CN" altLang="en" dirty="0"/>
              <a:t>此外</a:t>
            </a:r>
            <a:r>
              <a:rPr lang="en-US" altLang="zh-CN" dirty="0"/>
              <a:t>FORCE</a:t>
            </a:r>
            <a:r>
              <a:rPr lang="zh-CN" altLang="en-US" dirty="0"/>
              <a:t>选项会强制覆盖已有的</a:t>
            </a:r>
            <a:r>
              <a:rPr lang="en" altLang="zh-CN" dirty="0"/>
              <a:t>cache</a:t>
            </a:r>
            <a:r>
              <a:rPr lang="zh-CN" altLang="en-US" dirty="0"/>
              <a:t>变量（不加</a:t>
            </a:r>
            <a:r>
              <a:rPr lang="en-US" altLang="zh-CN" dirty="0"/>
              <a:t>FORCE</a:t>
            </a:r>
            <a:r>
              <a:rPr lang="zh-CN" altLang="en-US" dirty="0"/>
              <a:t>不覆盖）</a:t>
            </a:r>
            <a:endParaRPr lang="en-US" altLang="zh-CN" dirty="0"/>
          </a:p>
          <a:p>
            <a:r>
              <a:rPr lang="zh-CN" altLang="en-US" dirty="0"/>
              <a:t>     </a:t>
            </a:r>
            <a:r>
              <a:rPr lang="en-US" altLang="zh-CN" dirty="0"/>
              <a:t>type</a:t>
            </a:r>
            <a:r>
              <a:rPr lang="zh-CN" altLang="en-US" dirty="0"/>
              <a:t>必须是</a:t>
            </a:r>
            <a:r>
              <a:rPr lang="en" altLang="zh-CN" dirty="0"/>
              <a:t>BOOL</a:t>
            </a:r>
            <a:r>
              <a:rPr lang="en-US" altLang="zh-CN" dirty="0"/>
              <a:t>,</a:t>
            </a:r>
            <a:r>
              <a:rPr lang="zh-CN" altLang="en-US" dirty="0"/>
              <a:t> </a:t>
            </a:r>
            <a:r>
              <a:rPr lang="en" altLang="zh-CN" dirty="0"/>
              <a:t>FILEPATH</a:t>
            </a:r>
            <a:r>
              <a:rPr lang="en-US" altLang="zh-CN" dirty="0"/>
              <a:t>,</a:t>
            </a:r>
            <a:r>
              <a:rPr lang="zh-CN" altLang="en-US" dirty="0"/>
              <a:t> </a:t>
            </a:r>
            <a:r>
              <a:rPr lang="en" altLang="zh-CN" dirty="0"/>
              <a:t>PATH</a:t>
            </a:r>
            <a:r>
              <a:rPr lang="en-US" altLang="zh-CN" dirty="0"/>
              <a:t>,</a:t>
            </a:r>
            <a:r>
              <a:rPr lang="zh-CN" altLang="en-US" dirty="0"/>
              <a:t> </a:t>
            </a:r>
            <a:r>
              <a:rPr lang="en" altLang="zh-CN" dirty="0"/>
              <a:t>STRING</a:t>
            </a:r>
            <a:r>
              <a:rPr lang="en-US" altLang="zh-CN" dirty="0"/>
              <a:t>,</a:t>
            </a:r>
            <a:r>
              <a:rPr lang="zh-CN" altLang="en-US" dirty="0"/>
              <a:t> </a:t>
            </a:r>
            <a:r>
              <a:rPr lang="en" altLang="zh-CN" dirty="0"/>
              <a:t>INTERNAL</a:t>
            </a:r>
            <a:r>
              <a:rPr lang="zh-CN" altLang="en" dirty="0"/>
              <a:t>中的</a:t>
            </a:r>
            <a:r>
              <a:rPr lang="zh-CN" altLang="en-US" dirty="0"/>
              <a:t>一种</a:t>
            </a:r>
            <a:endParaRPr lang="en" altLang="zh-CN" dirty="0"/>
          </a:p>
          <a:p>
            <a:pPr marL="285750" indent="-285750">
              <a:buFont typeface="Arial" panose="020B0604020202020204" pitchFamily="34" charset="0"/>
              <a:buChar char="•"/>
            </a:pPr>
            <a:r>
              <a:rPr lang="en" altLang="zh-CN" b="1" dirty="0"/>
              <a:t>set(</a:t>
            </a:r>
            <a:r>
              <a:rPr lang="en" altLang="zh-CN" b="1" dirty="0">
                <a:solidFill>
                  <a:srgbClr val="FF0000"/>
                </a:solidFill>
              </a:rPr>
              <a:t>ENV</a:t>
            </a:r>
            <a:r>
              <a:rPr lang="en" altLang="zh-CN" b="1" dirty="0"/>
              <a:t>{&lt;variable&gt;} [&lt;value&gt;])</a:t>
            </a:r>
          </a:p>
          <a:p>
            <a:r>
              <a:rPr lang="zh-CN" altLang="en-US" dirty="0"/>
              <a:t>     设置一个</a:t>
            </a:r>
            <a:r>
              <a:rPr lang="en-US" altLang="zh-CN" dirty="0" err="1"/>
              <a:t>CMake</a:t>
            </a:r>
            <a:r>
              <a:rPr lang="zh-CN" altLang="en-US" dirty="0"/>
              <a:t>环境变量的值，这样以后</a:t>
            </a:r>
            <a:r>
              <a:rPr lang="en" altLang="zh-CN" dirty="0"/>
              <a:t>$ENV{&lt;variable&gt;}</a:t>
            </a:r>
            <a:r>
              <a:rPr lang="zh-CN" altLang="en" dirty="0"/>
              <a:t>就</a:t>
            </a:r>
            <a:r>
              <a:rPr lang="zh-CN" altLang="en-US" dirty="0"/>
              <a:t>会返回新的值</a:t>
            </a:r>
            <a:endParaRPr lang="en" altLang="zh-CN" dirty="0"/>
          </a:p>
          <a:p>
            <a:r>
              <a:rPr lang="zh-CN" altLang="en-US" b="1" dirty="0"/>
              <a:t>     </a:t>
            </a:r>
            <a:endParaRPr lang="en" altLang="zh-CN" b="1" dirty="0"/>
          </a:p>
          <a:p>
            <a:endParaRPr kumimoji="1" lang="zh-CN" altLang="en-US" dirty="0"/>
          </a:p>
        </p:txBody>
      </p:sp>
      <p:pic>
        <p:nvPicPr>
          <p:cNvPr id="6" name="图片 5">
            <a:extLst>
              <a:ext uri="{FF2B5EF4-FFF2-40B4-BE49-F238E27FC236}">
                <a16:creationId xmlns:a16="http://schemas.microsoft.com/office/drawing/2014/main" id="{798D6720-7FF0-E541-B9C7-0FA30842E7C8}"/>
              </a:ext>
            </a:extLst>
          </p:cNvPr>
          <p:cNvPicPr>
            <a:picLocks noChangeAspect="1"/>
          </p:cNvPicPr>
          <p:nvPr/>
        </p:nvPicPr>
        <p:blipFill>
          <a:blip r:embed="rId3"/>
          <a:stretch>
            <a:fillRect/>
          </a:stretch>
        </p:blipFill>
        <p:spPr>
          <a:xfrm>
            <a:off x="1167295" y="5551990"/>
            <a:ext cx="7366000" cy="812800"/>
          </a:xfrm>
          <a:prstGeom prst="rect">
            <a:avLst/>
          </a:prstGeom>
        </p:spPr>
      </p:pic>
    </p:spTree>
    <p:extLst>
      <p:ext uri="{BB962C8B-B14F-4D97-AF65-F5344CB8AC3E}">
        <p14:creationId xmlns:p14="http://schemas.microsoft.com/office/powerpoint/2010/main" val="3441080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SET_PROPERTY</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092643"/>
            <a:ext cx="10241280" cy="5355312"/>
          </a:xfrm>
          <a:prstGeom prst="rect">
            <a:avLst/>
          </a:prstGeom>
          <a:noFill/>
        </p:spPr>
        <p:txBody>
          <a:bodyPr wrap="square" rtlCol="0">
            <a:spAutoFit/>
          </a:bodyPr>
          <a:lstStyle/>
          <a:p>
            <a:r>
              <a:rPr kumimoji="1" lang="en-US" altLang="zh-CN" dirty="0"/>
              <a:t>SET_PROPERTY</a:t>
            </a:r>
            <a:r>
              <a:rPr kumimoji="1" lang="zh-CN" altLang="en-US" dirty="0"/>
              <a:t>命令可以设置一个属性的值，用法如下：</a:t>
            </a:r>
            <a:endParaRPr kumimoji="1" lang="en-US" altLang="zh-CN" dirty="0"/>
          </a:p>
          <a:p>
            <a:pPr marL="285750" indent="-285750">
              <a:buFont typeface="Arial" panose="020B0604020202020204" pitchFamily="34" charset="0"/>
              <a:buChar char="•"/>
            </a:pPr>
            <a:r>
              <a:rPr lang="en" altLang="zh-CN" b="1" dirty="0" err="1"/>
              <a:t>set_property</a:t>
            </a:r>
            <a:r>
              <a:rPr lang="en" altLang="zh-CN" b="1" dirty="0"/>
              <a:t>(&lt;</a:t>
            </a:r>
            <a:r>
              <a:rPr lang="en" altLang="zh-CN" b="1" dirty="0">
                <a:solidFill>
                  <a:srgbClr val="FF0000"/>
                </a:solidFill>
              </a:rPr>
              <a:t>GLOBAL</a:t>
            </a:r>
            <a:r>
              <a:rPr lang="en" altLang="zh-CN" b="1" dirty="0"/>
              <a:t> | </a:t>
            </a:r>
            <a:r>
              <a:rPr lang="en" altLang="zh-CN" b="1" dirty="0">
                <a:solidFill>
                  <a:srgbClr val="FF0000"/>
                </a:solidFill>
              </a:rPr>
              <a:t>DIRECTORY</a:t>
            </a:r>
            <a:r>
              <a:rPr lang="en" altLang="zh-CN" b="1" dirty="0"/>
              <a:t> [&lt;</a:t>
            </a:r>
            <a:r>
              <a:rPr lang="en" altLang="zh-CN" b="1" dirty="0" err="1"/>
              <a:t>dir</a:t>
            </a:r>
            <a:r>
              <a:rPr lang="en" altLang="zh-CN" b="1" dirty="0"/>
              <a:t>&gt;]</a:t>
            </a:r>
            <a:r>
              <a:rPr lang="zh-CN" altLang="en-US" b="1" dirty="0"/>
              <a:t> </a:t>
            </a:r>
            <a:r>
              <a:rPr lang="en" altLang="zh-CN" b="1" dirty="0"/>
              <a:t>|</a:t>
            </a:r>
            <a:r>
              <a:rPr lang="zh-CN" altLang="en-US" b="1" dirty="0"/>
              <a:t> </a:t>
            </a:r>
            <a:r>
              <a:rPr lang="en" altLang="zh-CN" b="1" dirty="0">
                <a:solidFill>
                  <a:srgbClr val="FF0000"/>
                </a:solidFill>
              </a:rPr>
              <a:t>TARGET</a:t>
            </a:r>
            <a:r>
              <a:rPr lang="en" altLang="zh-CN" b="1" dirty="0"/>
              <a:t>    [&lt;target1&gt; ...]   |</a:t>
            </a:r>
            <a:r>
              <a:rPr lang="zh-CN" altLang="en-US" b="1" dirty="0"/>
              <a:t> </a:t>
            </a:r>
            <a:r>
              <a:rPr lang="en" altLang="zh-CN" b="1" dirty="0">
                <a:solidFill>
                  <a:srgbClr val="FF0000"/>
                </a:solidFill>
              </a:rPr>
              <a:t>SOURCE</a:t>
            </a:r>
            <a:r>
              <a:rPr lang="en" altLang="zh-CN" b="1" dirty="0"/>
              <a:t>    [&lt;src1&gt; ...] |</a:t>
            </a:r>
            <a:r>
              <a:rPr lang="zh-CN" altLang="en-US" b="1" dirty="0"/>
              <a:t> </a:t>
            </a:r>
            <a:r>
              <a:rPr lang="en" altLang="zh-CN" b="1" dirty="0">
                <a:solidFill>
                  <a:srgbClr val="FF0000"/>
                </a:solidFill>
              </a:rPr>
              <a:t>INSTALL</a:t>
            </a:r>
            <a:r>
              <a:rPr lang="en" altLang="zh-CN" b="1" dirty="0"/>
              <a:t>   [&lt;file1&gt; ...] |</a:t>
            </a:r>
            <a:r>
              <a:rPr lang="zh-CN" altLang="en-US" b="1" dirty="0"/>
              <a:t> </a:t>
            </a:r>
            <a:r>
              <a:rPr lang="en" altLang="zh-CN" b="1" dirty="0">
                <a:solidFill>
                  <a:srgbClr val="FF0000"/>
                </a:solidFill>
              </a:rPr>
              <a:t>TEST</a:t>
            </a:r>
            <a:r>
              <a:rPr lang="en" altLang="zh-CN" b="1" dirty="0"/>
              <a:t>   [&lt;test1&gt; ...] |</a:t>
            </a:r>
            <a:r>
              <a:rPr lang="zh-CN" altLang="en-US" b="1" dirty="0"/>
              <a:t> </a:t>
            </a:r>
            <a:r>
              <a:rPr lang="en" altLang="zh-CN" b="1" dirty="0">
                <a:solidFill>
                  <a:srgbClr val="FF0000"/>
                </a:solidFill>
              </a:rPr>
              <a:t>CACHE</a:t>
            </a:r>
            <a:r>
              <a:rPr lang="en" altLang="zh-CN" b="1" dirty="0"/>
              <a:t>   [&lt;entry1&gt; ...] &gt;</a:t>
            </a:r>
          </a:p>
          <a:p>
            <a:r>
              <a:rPr lang="en" altLang="zh-CN" b="1" dirty="0"/>
              <a:t>     [</a:t>
            </a:r>
            <a:r>
              <a:rPr lang="en" altLang="zh-CN" b="1" dirty="0">
                <a:solidFill>
                  <a:srgbClr val="FF0000"/>
                </a:solidFill>
              </a:rPr>
              <a:t>APPEND</a:t>
            </a:r>
            <a:r>
              <a:rPr lang="en" altLang="zh-CN" b="1" dirty="0"/>
              <a:t>] [</a:t>
            </a:r>
            <a:r>
              <a:rPr lang="en" altLang="zh-CN" b="1" dirty="0">
                <a:solidFill>
                  <a:srgbClr val="FF0000"/>
                </a:solidFill>
              </a:rPr>
              <a:t>APPEND_STRING</a:t>
            </a:r>
            <a:r>
              <a:rPr lang="en" altLang="zh-CN" b="1" dirty="0"/>
              <a:t>]</a:t>
            </a:r>
            <a:r>
              <a:rPr lang="zh-CN" altLang="en-US" b="1" dirty="0"/>
              <a:t> </a:t>
            </a:r>
            <a:r>
              <a:rPr lang="en" altLang="zh-CN" b="1" dirty="0">
                <a:solidFill>
                  <a:srgbClr val="FF0000"/>
                </a:solidFill>
              </a:rPr>
              <a:t>PROPERTY</a:t>
            </a:r>
            <a:r>
              <a:rPr lang="en" altLang="zh-CN" b="1" dirty="0"/>
              <a:t> &lt;name&gt; [value1 ...])</a:t>
            </a:r>
            <a:r>
              <a:rPr lang="zh-CN" altLang="en-US" dirty="0"/>
              <a:t>     </a:t>
            </a:r>
            <a:endParaRPr lang="en-US" altLang="zh-CN" dirty="0"/>
          </a:p>
          <a:p>
            <a:r>
              <a:rPr lang="zh-CN" altLang="en-US" dirty="0"/>
              <a:t>设置某个域的属性</a:t>
            </a:r>
            <a:endParaRPr lang="en" altLang="zh-CN" dirty="0"/>
          </a:p>
          <a:p>
            <a:r>
              <a:rPr lang="zh-CN" altLang="en-US" dirty="0"/>
              <a:t>常用的域：</a:t>
            </a:r>
            <a:endParaRPr lang="en-US" altLang="zh-CN" dirty="0"/>
          </a:p>
          <a:p>
            <a:pPr marL="285750" indent="-285750">
              <a:buFont typeface="Arial" panose="020B0604020202020204" pitchFamily="34" charset="0"/>
              <a:buChar char="•"/>
            </a:pPr>
            <a:r>
              <a:rPr lang="en-US" altLang="zh-CN" dirty="0"/>
              <a:t>GLOBAL</a:t>
            </a:r>
            <a:r>
              <a:rPr lang="zh-CN" altLang="en-US" dirty="0"/>
              <a:t>：唯一的全局域，不能命名</a:t>
            </a:r>
            <a:endParaRPr lang="en-US" altLang="zh-CN" dirty="0"/>
          </a:p>
          <a:p>
            <a:pPr marL="285750" indent="-285750">
              <a:buFont typeface="Arial" panose="020B0604020202020204" pitchFamily="34" charset="0"/>
              <a:buChar char="•"/>
            </a:pPr>
            <a:r>
              <a:rPr lang="en-US" altLang="zh-CN" dirty="0"/>
              <a:t>TARGET</a:t>
            </a:r>
            <a:r>
              <a:rPr lang="zh-CN" altLang="en-US" dirty="0"/>
              <a:t>：一个指定的</a:t>
            </a:r>
            <a:r>
              <a:rPr lang="en-US" altLang="zh-CN" dirty="0"/>
              <a:t>target</a:t>
            </a:r>
          </a:p>
          <a:p>
            <a:pPr marL="285750" indent="-285750">
              <a:buFont typeface="Arial" panose="020B0604020202020204" pitchFamily="34" charset="0"/>
              <a:buChar char="•"/>
            </a:pPr>
            <a:r>
              <a:rPr lang="en-US" altLang="zh-CN" dirty="0"/>
              <a:t>TEST</a:t>
            </a:r>
            <a:r>
              <a:rPr lang="zh-CN" altLang="en-US" dirty="0"/>
              <a:t>：一个指定的测试</a:t>
            </a:r>
            <a:endParaRPr lang="en-US" altLang="zh-CN" dirty="0"/>
          </a:p>
          <a:p>
            <a:endParaRPr lang="en-US" altLang="zh-CN" dirty="0"/>
          </a:p>
          <a:p>
            <a:endParaRPr lang="en-US" altLang="zh-CN" dirty="0"/>
          </a:p>
          <a:p>
            <a:r>
              <a:rPr lang="zh-CN" altLang="en" dirty="0"/>
              <a:t>与</a:t>
            </a:r>
            <a:r>
              <a:rPr lang="zh-CN" altLang="en-US" dirty="0"/>
              <a:t>这个指令对应的还有一个</a:t>
            </a:r>
            <a:r>
              <a:rPr lang="en-US" altLang="zh-CN" dirty="0"/>
              <a:t>GET_PROPERTY</a:t>
            </a:r>
            <a:r>
              <a:rPr lang="zh-CN" altLang="en-US" dirty="0"/>
              <a:t>指令，用法如下：</a:t>
            </a:r>
            <a:endParaRPr lang="en-US" altLang="zh-CN" dirty="0"/>
          </a:p>
          <a:p>
            <a:pPr marL="285750" indent="-285750">
              <a:buFont typeface="Arial" panose="020B0604020202020204" pitchFamily="34" charset="0"/>
              <a:buChar char="•"/>
            </a:pPr>
            <a:r>
              <a:rPr lang="en" altLang="zh-CN" b="1" dirty="0" err="1"/>
              <a:t>get_property</a:t>
            </a:r>
            <a:r>
              <a:rPr lang="en" altLang="zh-CN" b="1" dirty="0"/>
              <a:t>(&lt;variable&gt; &lt;</a:t>
            </a:r>
            <a:r>
              <a:rPr lang="en" altLang="zh-CN" b="1" dirty="0">
                <a:solidFill>
                  <a:srgbClr val="FF0000"/>
                </a:solidFill>
              </a:rPr>
              <a:t>GLOBAL</a:t>
            </a:r>
            <a:r>
              <a:rPr lang="en" altLang="zh-CN" b="1" dirty="0"/>
              <a:t> | </a:t>
            </a:r>
            <a:r>
              <a:rPr lang="en" altLang="zh-CN" b="1" dirty="0">
                <a:solidFill>
                  <a:srgbClr val="FF0000"/>
                </a:solidFill>
              </a:rPr>
              <a:t>DIRECTORY</a:t>
            </a:r>
            <a:r>
              <a:rPr lang="en" altLang="zh-CN" b="1" dirty="0"/>
              <a:t> [&lt;</a:t>
            </a:r>
            <a:r>
              <a:rPr lang="en" altLang="zh-CN" b="1" dirty="0" err="1"/>
              <a:t>dir</a:t>
            </a:r>
            <a:r>
              <a:rPr lang="en" altLang="zh-CN" b="1" dirty="0"/>
              <a:t>&gt;] | </a:t>
            </a:r>
            <a:r>
              <a:rPr lang="en" altLang="zh-CN" b="1" dirty="0">
                <a:solidFill>
                  <a:srgbClr val="FF0000"/>
                </a:solidFill>
              </a:rPr>
              <a:t>TARGET</a:t>
            </a:r>
            <a:r>
              <a:rPr lang="en" altLang="zh-CN" b="1" dirty="0"/>
              <a:t> &lt;target&gt; | </a:t>
            </a:r>
            <a:r>
              <a:rPr lang="en" altLang="zh-CN" b="1" dirty="0">
                <a:solidFill>
                  <a:srgbClr val="FF0000"/>
                </a:solidFill>
              </a:rPr>
              <a:t>SOURCE </a:t>
            </a:r>
            <a:r>
              <a:rPr lang="en" altLang="zh-CN" b="1" dirty="0"/>
              <a:t>&lt;source&gt; | </a:t>
            </a:r>
            <a:r>
              <a:rPr lang="en" altLang="zh-CN" b="1" dirty="0">
                <a:solidFill>
                  <a:srgbClr val="FF0000"/>
                </a:solidFill>
              </a:rPr>
              <a:t>INSTALL</a:t>
            </a:r>
            <a:r>
              <a:rPr lang="en" altLang="zh-CN" b="1" dirty="0"/>
              <a:t> &lt;file&gt; | </a:t>
            </a:r>
            <a:r>
              <a:rPr lang="en" altLang="zh-CN" b="1" dirty="0">
                <a:solidFill>
                  <a:srgbClr val="FF0000"/>
                </a:solidFill>
              </a:rPr>
              <a:t>TEST</a:t>
            </a:r>
            <a:r>
              <a:rPr lang="en" altLang="zh-CN" b="1" dirty="0"/>
              <a:t> &lt;test&gt; | </a:t>
            </a:r>
            <a:r>
              <a:rPr lang="en" altLang="zh-CN" b="1" dirty="0">
                <a:solidFill>
                  <a:srgbClr val="FF0000"/>
                </a:solidFill>
              </a:rPr>
              <a:t>CACHE</a:t>
            </a:r>
            <a:r>
              <a:rPr lang="en" altLang="zh-CN" b="1" dirty="0"/>
              <a:t> &lt;entry&gt; | </a:t>
            </a:r>
            <a:r>
              <a:rPr lang="en" altLang="zh-CN" b="1" dirty="0">
                <a:solidFill>
                  <a:srgbClr val="FF0000"/>
                </a:solidFill>
              </a:rPr>
              <a:t>VARIABLE</a:t>
            </a:r>
            <a:r>
              <a:rPr lang="en" altLang="zh-CN" b="1" dirty="0"/>
              <a:t> &gt; </a:t>
            </a:r>
            <a:r>
              <a:rPr lang="en" altLang="zh-CN" b="1" dirty="0">
                <a:solidFill>
                  <a:srgbClr val="FF0000"/>
                </a:solidFill>
              </a:rPr>
              <a:t>PROPERTY</a:t>
            </a:r>
            <a:r>
              <a:rPr lang="en" altLang="zh-CN" b="1" dirty="0"/>
              <a:t> &lt;name&gt; [</a:t>
            </a:r>
            <a:r>
              <a:rPr lang="en" altLang="zh-CN" b="1" dirty="0">
                <a:solidFill>
                  <a:srgbClr val="FF0000"/>
                </a:solidFill>
              </a:rPr>
              <a:t>SET</a:t>
            </a:r>
            <a:r>
              <a:rPr lang="en" altLang="zh-CN" b="1" dirty="0"/>
              <a:t> | </a:t>
            </a:r>
            <a:r>
              <a:rPr lang="en" altLang="zh-CN" b="1" dirty="0">
                <a:solidFill>
                  <a:srgbClr val="FF0000"/>
                </a:solidFill>
              </a:rPr>
              <a:t>DEFINED</a:t>
            </a:r>
            <a:r>
              <a:rPr lang="en" altLang="zh-CN" b="1" dirty="0"/>
              <a:t> | </a:t>
            </a:r>
            <a:r>
              <a:rPr lang="en" altLang="zh-CN" b="1" dirty="0">
                <a:solidFill>
                  <a:srgbClr val="FF0000"/>
                </a:solidFill>
              </a:rPr>
              <a:t>BRIEF_DOCS </a:t>
            </a:r>
            <a:r>
              <a:rPr lang="en" altLang="zh-CN" b="1" dirty="0"/>
              <a:t>| </a:t>
            </a:r>
            <a:r>
              <a:rPr lang="en" altLang="zh-CN" b="1" dirty="0">
                <a:solidFill>
                  <a:srgbClr val="FF0000"/>
                </a:solidFill>
              </a:rPr>
              <a:t>FULL_DOCS</a:t>
            </a:r>
            <a:r>
              <a:rPr lang="en" altLang="zh-CN" b="1" dirty="0"/>
              <a:t>])</a:t>
            </a:r>
          </a:p>
          <a:p>
            <a:r>
              <a:rPr lang="zh-CN" altLang="en" dirty="0"/>
              <a:t>其中</a:t>
            </a:r>
            <a:r>
              <a:rPr lang="en-US" altLang="zh-CN" dirty="0"/>
              <a:t>SET</a:t>
            </a:r>
            <a:r>
              <a:rPr lang="zh-CN" altLang="en-US" dirty="0"/>
              <a:t>设定后会返回一个表明属性有没有被设定的布尔值，</a:t>
            </a:r>
            <a:r>
              <a:rPr lang="en-US" altLang="zh-CN" dirty="0"/>
              <a:t>DEFINED</a:t>
            </a:r>
            <a:r>
              <a:rPr lang="zh-CN" altLang="en-US" dirty="0"/>
              <a:t>返回一个表明属性有没有被定义的布尔值，后边的两个</a:t>
            </a:r>
            <a:r>
              <a:rPr lang="en-US" altLang="zh-CN" dirty="0"/>
              <a:t>DOCS</a:t>
            </a:r>
            <a:r>
              <a:rPr lang="zh-CN" altLang="en-US" dirty="0"/>
              <a:t>会返回文档</a:t>
            </a:r>
            <a:endParaRPr lang="en-US" altLang="zh-CN" dirty="0"/>
          </a:p>
          <a:p>
            <a:endParaRPr lang="en" altLang="zh-CN" dirty="0"/>
          </a:p>
          <a:p>
            <a:endParaRPr kumimoji="1" lang="zh-CN" altLang="en-US" dirty="0"/>
          </a:p>
        </p:txBody>
      </p:sp>
      <p:pic>
        <p:nvPicPr>
          <p:cNvPr id="3" name="图片 2">
            <a:extLst>
              <a:ext uri="{FF2B5EF4-FFF2-40B4-BE49-F238E27FC236}">
                <a16:creationId xmlns:a16="http://schemas.microsoft.com/office/drawing/2014/main" id="{E94B45C3-29E2-1A4F-AAAB-EAF698AF103D}"/>
              </a:ext>
            </a:extLst>
          </p:cNvPr>
          <p:cNvPicPr>
            <a:picLocks noChangeAspect="1"/>
          </p:cNvPicPr>
          <p:nvPr/>
        </p:nvPicPr>
        <p:blipFill>
          <a:blip r:embed="rId3"/>
          <a:stretch>
            <a:fillRect/>
          </a:stretch>
        </p:blipFill>
        <p:spPr>
          <a:xfrm>
            <a:off x="919921" y="5833716"/>
            <a:ext cx="9834234" cy="394805"/>
          </a:xfrm>
          <a:prstGeom prst="rect">
            <a:avLst/>
          </a:prstGeom>
        </p:spPr>
      </p:pic>
      <p:pic>
        <p:nvPicPr>
          <p:cNvPr id="5" name="图片 4">
            <a:extLst>
              <a:ext uri="{FF2B5EF4-FFF2-40B4-BE49-F238E27FC236}">
                <a16:creationId xmlns:a16="http://schemas.microsoft.com/office/drawing/2014/main" id="{F506A1C1-D49D-CE4C-A489-19DADD111E82}"/>
              </a:ext>
            </a:extLst>
          </p:cNvPr>
          <p:cNvPicPr>
            <a:picLocks noChangeAspect="1"/>
          </p:cNvPicPr>
          <p:nvPr/>
        </p:nvPicPr>
        <p:blipFill>
          <a:blip r:embed="rId4"/>
          <a:stretch>
            <a:fillRect/>
          </a:stretch>
        </p:blipFill>
        <p:spPr>
          <a:xfrm>
            <a:off x="822960" y="3651029"/>
            <a:ext cx="9647368" cy="364379"/>
          </a:xfrm>
          <a:prstGeom prst="rect">
            <a:avLst/>
          </a:prstGeom>
        </p:spPr>
      </p:pic>
    </p:spTree>
    <p:extLst>
      <p:ext uri="{BB962C8B-B14F-4D97-AF65-F5344CB8AC3E}">
        <p14:creationId xmlns:p14="http://schemas.microsoft.com/office/powerpoint/2010/main" val="2947966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FIND_PACKAGE</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942412" y="960813"/>
            <a:ext cx="10241280" cy="5632311"/>
          </a:xfrm>
          <a:prstGeom prst="rect">
            <a:avLst/>
          </a:prstGeom>
          <a:noFill/>
        </p:spPr>
        <p:txBody>
          <a:bodyPr wrap="square" rtlCol="0">
            <a:spAutoFit/>
          </a:bodyPr>
          <a:lstStyle/>
          <a:p>
            <a:r>
              <a:rPr kumimoji="1" lang="en-US" altLang="zh-CN" dirty="0"/>
              <a:t>FIND_PACKAGE</a:t>
            </a:r>
            <a:r>
              <a:rPr kumimoji="1" lang="zh-CN" altLang="en-US" dirty="0"/>
              <a:t>命令可以寻找一个外部项目并加载一些设置，</a:t>
            </a:r>
            <a:r>
              <a:rPr kumimoji="1" lang="en-US" altLang="zh-CN" dirty="0"/>
              <a:t>PACKAGE</a:t>
            </a:r>
            <a:r>
              <a:rPr kumimoji="1" lang="zh-CN" altLang="en-US" dirty="0"/>
              <a:t>可以理解为一个依赖库，包括一些头文件、动态库、静态库等等，详细用法参考：</a:t>
            </a:r>
            <a:r>
              <a:rPr kumimoji="1" lang="en" altLang="zh-CN" dirty="0">
                <a:hlinkClick r:id="rId3"/>
              </a:rPr>
              <a:t>https://</a:t>
            </a:r>
            <a:r>
              <a:rPr kumimoji="1" lang="en" altLang="zh-CN" dirty="0" err="1">
                <a:hlinkClick r:id="rId3"/>
              </a:rPr>
              <a:t>cmake.org</a:t>
            </a:r>
            <a:r>
              <a:rPr kumimoji="1" lang="en" altLang="zh-CN" dirty="0">
                <a:hlinkClick r:id="rId3"/>
              </a:rPr>
              <a:t>/</a:t>
            </a:r>
            <a:r>
              <a:rPr kumimoji="1" lang="en" altLang="zh-CN" dirty="0" err="1">
                <a:hlinkClick r:id="rId3"/>
              </a:rPr>
              <a:t>cmake</a:t>
            </a:r>
            <a:r>
              <a:rPr kumimoji="1" lang="en" altLang="zh-CN" dirty="0">
                <a:hlinkClick r:id="rId3"/>
              </a:rPr>
              <a:t>/help/v3.16/command/</a:t>
            </a:r>
            <a:r>
              <a:rPr kumimoji="1" lang="en" altLang="zh-CN" dirty="0" err="1">
                <a:hlinkClick r:id="rId3"/>
              </a:rPr>
              <a:t>find_package.html</a:t>
            </a:r>
            <a:endParaRPr kumimoji="1" lang="en-US" altLang="zh-CN" dirty="0"/>
          </a:p>
          <a:p>
            <a:r>
              <a:rPr kumimoji="1" lang="zh-CN" altLang="en-US" dirty="0"/>
              <a:t>基础用法如下：</a:t>
            </a:r>
            <a:endParaRPr kumimoji="1" lang="en-US" altLang="zh-CN" dirty="0"/>
          </a:p>
          <a:p>
            <a:pPr marL="285750" indent="-285750">
              <a:buFont typeface="Arial" panose="020B0604020202020204" pitchFamily="34" charset="0"/>
              <a:buChar char="•"/>
            </a:pPr>
            <a:r>
              <a:rPr lang="en" altLang="zh-CN" b="1" dirty="0" err="1"/>
              <a:t>find_package</a:t>
            </a:r>
            <a:r>
              <a:rPr lang="en" altLang="zh-CN" b="1" dirty="0"/>
              <a:t>(&lt;</a:t>
            </a:r>
            <a:r>
              <a:rPr lang="en" altLang="zh-CN" b="1" dirty="0" err="1"/>
              <a:t>PackageName</a:t>
            </a:r>
            <a:r>
              <a:rPr lang="en" altLang="zh-CN" b="1" dirty="0"/>
              <a:t>&gt; [version] [</a:t>
            </a:r>
            <a:r>
              <a:rPr lang="en" altLang="zh-CN" b="1" dirty="0">
                <a:solidFill>
                  <a:srgbClr val="FF0000"/>
                </a:solidFill>
              </a:rPr>
              <a:t>EXACT</a:t>
            </a:r>
            <a:r>
              <a:rPr lang="en" altLang="zh-CN" b="1" dirty="0"/>
              <a:t>] [</a:t>
            </a:r>
            <a:r>
              <a:rPr lang="en" altLang="zh-CN" b="1" dirty="0">
                <a:solidFill>
                  <a:srgbClr val="FF0000"/>
                </a:solidFill>
              </a:rPr>
              <a:t>QUIET</a:t>
            </a:r>
            <a:r>
              <a:rPr lang="en" altLang="zh-CN" b="1" dirty="0"/>
              <a:t>] [</a:t>
            </a:r>
            <a:r>
              <a:rPr lang="en" altLang="zh-CN" b="1" dirty="0">
                <a:solidFill>
                  <a:srgbClr val="FF0000"/>
                </a:solidFill>
              </a:rPr>
              <a:t>MODULE</a:t>
            </a:r>
            <a:r>
              <a:rPr lang="en" altLang="zh-CN" b="1" dirty="0"/>
              <a:t>] [</a:t>
            </a:r>
            <a:r>
              <a:rPr lang="en" altLang="zh-CN" b="1" dirty="0">
                <a:solidFill>
                  <a:srgbClr val="FF0000"/>
                </a:solidFill>
              </a:rPr>
              <a:t>REQUIRED</a:t>
            </a:r>
            <a:r>
              <a:rPr lang="en" altLang="zh-CN" b="1" dirty="0"/>
              <a:t>] [[</a:t>
            </a:r>
            <a:r>
              <a:rPr lang="en" altLang="zh-CN" b="1" dirty="0">
                <a:solidFill>
                  <a:srgbClr val="FF0000"/>
                </a:solidFill>
              </a:rPr>
              <a:t>COMPONENTS</a:t>
            </a:r>
            <a:r>
              <a:rPr lang="en" altLang="zh-CN" b="1" dirty="0"/>
              <a:t>] [components...]]</a:t>
            </a:r>
            <a:r>
              <a:rPr lang="zh-CN" altLang="en-US" b="1" dirty="0"/>
              <a:t> </a:t>
            </a:r>
            <a:r>
              <a:rPr lang="en" altLang="zh-CN" b="1" dirty="0"/>
              <a:t>[</a:t>
            </a:r>
            <a:r>
              <a:rPr lang="en" altLang="zh-CN" b="1" dirty="0">
                <a:solidFill>
                  <a:srgbClr val="FF0000"/>
                </a:solidFill>
              </a:rPr>
              <a:t>OPTIONAL_COMPONENTS </a:t>
            </a:r>
            <a:r>
              <a:rPr lang="en" altLang="zh-CN" b="1" dirty="0"/>
              <a:t>components...] [</a:t>
            </a:r>
            <a:r>
              <a:rPr lang="en" altLang="zh-CN" b="1" dirty="0">
                <a:solidFill>
                  <a:srgbClr val="FF0000"/>
                </a:solidFill>
              </a:rPr>
              <a:t>NO_POLICY_SCOPE</a:t>
            </a:r>
            <a:r>
              <a:rPr lang="en" altLang="zh-CN" b="1" dirty="0"/>
              <a:t>])</a:t>
            </a:r>
            <a:r>
              <a:rPr lang="zh-CN" altLang="en-US" dirty="0"/>
              <a:t> </a:t>
            </a:r>
            <a:endParaRPr lang="en-US" altLang="zh-CN" dirty="0"/>
          </a:p>
          <a:p>
            <a:r>
              <a:rPr lang="zh-CN" altLang="en-US" dirty="0"/>
              <a:t>常用的可选属性：</a:t>
            </a:r>
            <a:endParaRPr lang="en-US" altLang="zh-CN" dirty="0"/>
          </a:p>
          <a:p>
            <a:pPr marL="285750" indent="-285750">
              <a:buFont typeface="Arial" panose="020B0604020202020204" pitchFamily="34" charset="0"/>
              <a:buChar char="•"/>
            </a:pPr>
            <a:r>
              <a:rPr lang="en-US" altLang="zh-CN" dirty="0"/>
              <a:t>QUIET</a:t>
            </a:r>
            <a:r>
              <a:rPr lang="zh-CN" altLang="en-US" dirty="0"/>
              <a:t>：会屏蔽掉所有打印的消息</a:t>
            </a:r>
            <a:endParaRPr lang="en-US" altLang="zh-CN" dirty="0"/>
          </a:p>
          <a:p>
            <a:pPr marL="285750" indent="-285750">
              <a:buFont typeface="Arial" panose="020B0604020202020204" pitchFamily="34" charset="0"/>
              <a:buChar char="•"/>
            </a:pPr>
            <a:r>
              <a:rPr lang="en-US" altLang="zh-CN" dirty="0"/>
              <a:t>REQUIRED</a:t>
            </a:r>
            <a:r>
              <a:rPr lang="zh-CN" altLang="en-US" dirty="0"/>
              <a:t>：如果没找到对应的</a:t>
            </a:r>
            <a:r>
              <a:rPr lang="en-US" altLang="zh-CN" dirty="0"/>
              <a:t>package</a:t>
            </a:r>
            <a:r>
              <a:rPr lang="zh-CN" altLang="en-US" dirty="0"/>
              <a:t>会停止运行并抛出错误</a:t>
            </a:r>
            <a:endParaRPr lang="en-US" altLang="zh-CN" dirty="0"/>
          </a:p>
          <a:p>
            <a:r>
              <a:rPr lang="zh-CN" altLang="en-US" dirty="0"/>
              <a:t>如果寻找到了指定的库，加载进来的属性主要有：</a:t>
            </a:r>
            <a:endParaRPr lang="en-US" altLang="zh-CN" dirty="0"/>
          </a:p>
          <a:p>
            <a:r>
              <a:rPr lang="en" altLang="zh-CN" dirty="0"/>
              <a:t>&lt;NAME&gt;_FOUND </a:t>
            </a:r>
          </a:p>
          <a:p>
            <a:r>
              <a:rPr lang="en" altLang="zh-CN" dirty="0"/>
              <a:t>&lt;NAME&gt;_INCLUDE_DIRS </a:t>
            </a:r>
          </a:p>
          <a:p>
            <a:r>
              <a:rPr lang="en" altLang="zh-CN" dirty="0"/>
              <a:t>&lt;NAME&gt;_INCLUDES </a:t>
            </a:r>
          </a:p>
          <a:p>
            <a:r>
              <a:rPr lang="en" altLang="zh-CN" dirty="0"/>
              <a:t>&lt;NAME&gt;_LIBRARIES</a:t>
            </a:r>
          </a:p>
          <a:p>
            <a:r>
              <a:rPr lang="en" altLang="zh-CN" dirty="0"/>
              <a:t>&lt;NAME&gt;_LIBS </a:t>
            </a:r>
          </a:p>
          <a:p>
            <a:r>
              <a:rPr lang="en" altLang="zh-CN" dirty="0"/>
              <a:t>&lt;NAME&gt;_DEFINITIONS</a:t>
            </a:r>
            <a:endParaRPr lang="en-US" altLang="zh-CN" dirty="0"/>
          </a:p>
          <a:p>
            <a:r>
              <a:rPr lang="zh-CN" altLang="en-US" dirty="0"/>
              <a:t>此外还有很多类似的命令：</a:t>
            </a:r>
            <a:r>
              <a:rPr lang="en" altLang="zh-CN" dirty="0"/>
              <a:t> </a:t>
            </a:r>
            <a:r>
              <a:rPr lang="en" altLang="zh-CN" dirty="0" err="1"/>
              <a:t>find_file</a:t>
            </a:r>
            <a:r>
              <a:rPr lang="en-US" altLang="zh-CN" dirty="0"/>
              <a:t>(),</a:t>
            </a:r>
            <a:r>
              <a:rPr lang="zh-CN" altLang="en-US" dirty="0"/>
              <a:t> </a:t>
            </a:r>
            <a:r>
              <a:rPr lang="en" altLang="zh-CN" dirty="0" err="1"/>
              <a:t>find_library</a:t>
            </a:r>
            <a:r>
              <a:rPr lang="en-US" altLang="zh-CN" dirty="0"/>
              <a:t>(),</a:t>
            </a:r>
            <a:r>
              <a:rPr lang="zh-CN" altLang="en-US" dirty="0"/>
              <a:t> </a:t>
            </a:r>
            <a:r>
              <a:rPr lang="en" altLang="zh-CN" dirty="0" err="1"/>
              <a:t>find_path</a:t>
            </a:r>
            <a:r>
              <a:rPr lang="en-US" altLang="zh-CN" dirty="0"/>
              <a:t>(),</a:t>
            </a:r>
            <a:r>
              <a:rPr lang="zh-CN" altLang="en-US" dirty="0"/>
              <a:t> </a:t>
            </a:r>
            <a:r>
              <a:rPr lang="en" altLang="zh-CN" dirty="0" err="1"/>
              <a:t>find_program</a:t>
            </a:r>
            <a:r>
              <a:rPr lang="en-US" altLang="zh-CN" dirty="0"/>
              <a:t>()</a:t>
            </a:r>
          </a:p>
          <a:p>
            <a:endParaRPr lang="en-US" altLang="zh-CN" dirty="0"/>
          </a:p>
          <a:p>
            <a:endParaRPr lang="en-US" altLang="zh-CN" dirty="0"/>
          </a:p>
        </p:txBody>
      </p:sp>
      <p:pic>
        <p:nvPicPr>
          <p:cNvPr id="5" name="图片 4">
            <a:extLst>
              <a:ext uri="{FF2B5EF4-FFF2-40B4-BE49-F238E27FC236}">
                <a16:creationId xmlns:a16="http://schemas.microsoft.com/office/drawing/2014/main" id="{B064BF0F-29A2-7244-8785-3EA6B57808D8}"/>
              </a:ext>
            </a:extLst>
          </p:cNvPr>
          <p:cNvPicPr>
            <a:picLocks noChangeAspect="1"/>
          </p:cNvPicPr>
          <p:nvPr/>
        </p:nvPicPr>
        <p:blipFill>
          <a:blip r:embed="rId4"/>
          <a:stretch>
            <a:fillRect/>
          </a:stretch>
        </p:blipFill>
        <p:spPr>
          <a:xfrm>
            <a:off x="6233768" y="4028661"/>
            <a:ext cx="4813300" cy="1371600"/>
          </a:xfrm>
          <a:prstGeom prst="rect">
            <a:avLst/>
          </a:prstGeom>
        </p:spPr>
      </p:pic>
    </p:spTree>
    <p:extLst>
      <p:ext uri="{BB962C8B-B14F-4D97-AF65-F5344CB8AC3E}">
        <p14:creationId xmlns:p14="http://schemas.microsoft.com/office/powerpoint/2010/main" val="1497565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FILE</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264920"/>
            <a:ext cx="10241280" cy="646331"/>
          </a:xfrm>
          <a:prstGeom prst="rect">
            <a:avLst/>
          </a:prstGeom>
          <a:noFill/>
        </p:spPr>
        <p:txBody>
          <a:bodyPr wrap="square" rtlCol="0">
            <a:spAutoFit/>
          </a:bodyPr>
          <a:lstStyle/>
          <a:p>
            <a:r>
              <a:rPr kumimoji="1" lang="en-US" altLang="zh-CN" dirty="0"/>
              <a:t>FILE</a:t>
            </a:r>
            <a:r>
              <a:rPr kumimoji="1" lang="zh-CN" altLang="en-US" dirty="0"/>
              <a:t>命令是</a:t>
            </a:r>
            <a:r>
              <a:rPr kumimoji="1" lang="en-US" altLang="zh-CN" dirty="0" err="1"/>
              <a:t>CMake</a:t>
            </a:r>
            <a:r>
              <a:rPr kumimoji="1" lang="zh-CN" altLang="en-US" dirty="0"/>
              <a:t>操作文件的指令，可以进行读、写、查、删、路径转换、上传下载等一系列操作。详细用法可以查看官方文档：</a:t>
            </a:r>
            <a:r>
              <a:rPr kumimoji="1" lang="en" altLang="zh-CN" dirty="0">
                <a:hlinkClick r:id="rId3"/>
              </a:rPr>
              <a:t>https://cmake.org/cmake/help/v3.16/command/</a:t>
            </a:r>
            <a:r>
              <a:rPr kumimoji="1" lang="en" altLang="zh-CN" dirty="0" err="1">
                <a:hlinkClick r:id="rId3"/>
              </a:rPr>
              <a:t>file.html</a:t>
            </a:r>
            <a:endParaRPr kumimoji="1" lang="zh-CN" altLang="en-US" dirty="0"/>
          </a:p>
        </p:txBody>
      </p:sp>
      <p:sp>
        <p:nvSpPr>
          <p:cNvPr id="5" name="文本框 4">
            <a:extLst>
              <a:ext uri="{FF2B5EF4-FFF2-40B4-BE49-F238E27FC236}">
                <a16:creationId xmlns:a16="http://schemas.microsoft.com/office/drawing/2014/main" id="{72CD8091-53A2-C84C-ABBA-675F8D45F595}"/>
              </a:ext>
            </a:extLst>
          </p:cNvPr>
          <p:cNvSpPr txBox="1"/>
          <p:nvPr/>
        </p:nvSpPr>
        <p:spPr>
          <a:xfrm>
            <a:off x="944880" y="2118360"/>
            <a:ext cx="10238812" cy="4801314"/>
          </a:xfrm>
          <a:prstGeom prst="rect">
            <a:avLst/>
          </a:prstGeom>
          <a:noFill/>
        </p:spPr>
        <p:txBody>
          <a:bodyPr wrap="square" rtlCol="0">
            <a:spAutoFit/>
          </a:bodyPr>
          <a:lstStyle/>
          <a:p>
            <a:r>
              <a:rPr kumimoji="1" lang="en-US" altLang="zh-CN" dirty="0"/>
              <a:t>FILE</a:t>
            </a:r>
            <a:r>
              <a:rPr kumimoji="1" lang="zh-CN" altLang="en-US" dirty="0"/>
              <a:t>命令应用示例：</a:t>
            </a:r>
            <a:endParaRPr kumimoji="1" lang="en-US" altLang="zh-CN" dirty="0"/>
          </a:p>
          <a:p>
            <a:pPr marL="285750" indent="-285750">
              <a:buFont typeface="Arial" panose="020B0604020202020204" pitchFamily="34" charset="0"/>
              <a:buChar char="•"/>
            </a:pPr>
            <a:r>
              <a:rPr kumimoji="1" lang="en-US" altLang="zh-CN" b="1" dirty="0"/>
              <a:t>file(</a:t>
            </a:r>
            <a:r>
              <a:rPr kumimoji="1" lang="en-US" altLang="zh-CN" b="1" dirty="0">
                <a:solidFill>
                  <a:srgbClr val="FF0000"/>
                </a:solidFill>
              </a:rPr>
              <a:t>WRITE</a:t>
            </a:r>
            <a:r>
              <a:rPr kumimoji="1" lang="en-US" altLang="zh-CN" b="1" dirty="0"/>
              <a:t> filename "message </a:t>
            </a:r>
            <a:r>
              <a:rPr kumimoji="1" lang="en-US" altLang="zh-CN" b="1" dirty="0" err="1"/>
              <a:t>towrite</a:t>
            </a:r>
            <a:r>
              <a:rPr kumimoji="1" lang="en-US" altLang="zh-CN" b="1" dirty="0"/>
              <a:t>"... )</a:t>
            </a:r>
          </a:p>
          <a:p>
            <a:r>
              <a:rPr kumimoji="1" lang="zh-CN" altLang="en-US" dirty="0"/>
              <a:t>     将消息覆盖写入文件中。如果想追加写，可以用</a:t>
            </a:r>
            <a:r>
              <a:rPr kumimoji="1" lang="en-US" altLang="zh-CN" dirty="0"/>
              <a:t>APPEND</a:t>
            </a:r>
            <a:r>
              <a:rPr kumimoji="1" lang="zh-CN" altLang="en-US" dirty="0"/>
              <a:t>替换</a:t>
            </a:r>
            <a:r>
              <a:rPr kumimoji="1" lang="en-US" altLang="zh-CN" dirty="0"/>
              <a:t>WRITE</a:t>
            </a:r>
            <a:r>
              <a:rPr kumimoji="1" lang="zh-CN" altLang="en-US" dirty="0"/>
              <a:t>。</a:t>
            </a:r>
            <a:endParaRPr kumimoji="1" lang="en-US" altLang="zh-CN" dirty="0"/>
          </a:p>
          <a:p>
            <a:pPr marL="285750" indent="-285750">
              <a:buFont typeface="Arial" panose="020B0604020202020204" pitchFamily="34" charset="0"/>
              <a:buChar char="•"/>
            </a:pPr>
            <a:r>
              <a:rPr kumimoji="1" lang="en-US" altLang="zh-CN" b="1" dirty="0"/>
              <a:t>file(</a:t>
            </a:r>
            <a:r>
              <a:rPr kumimoji="1" lang="en-US" altLang="zh-CN" b="1" dirty="0">
                <a:solidFill>
                  <a:srgbClr val="FF0000"/>
                </a:solidFill>
              </a:rPr>
              <a:t>READ</a:t>
            </a:r>
            <a:r>
              <a:rPr kumimoji="1" lang="en-US" altLang="zh-CN" b="1" dirty="0"/>
              <a:t> filename variable [</a:t>
            </a:r>
            <a:r>
              <a:rPr kumimoji="1" lang="en-US" altLang="zh-CN" b="1" dirty="0">
                <a:solidFill>
                  <a:srgbClr val="FF0000"/>
                </a:solidFill>
              </a:rPr>
              <a:t>LIMIT</a:t>
            </a:r>
            <a:r>
              <a:rPr kumimoji="1" lang="en-US" altLang="zh-CN" b="1" dirty="0"/>
              <a:t> </a:t>
            </a:r>
            <a:r>
              <a:rPr kumimoji="1" lang="en-US" altLang="zh-CN" b="1" dirty="0" err="1"/>
              <a:t>numBytes</a:t>
            </a:r>
            <a:r>
              <a:rPr kumimoji="1" lang="en-US" altLang="zh-CN" b="1" dirty="0"/>
              <a:t>] [</a:t>
            </a:r>
            <a:r>
              <a:rPr kumimoji="1" lang="en-US" altLang="zh-CN" b="1" dirty="0">
                <a:solidFill>
                  <a:srgbClr val="FF0000"/>
                </a:solidFill>
              </a:rPr>
              <a:t>OFFSET</a:t>
            </a:r>
            <a:r>
              <a:rPr kumimoji="1" lang="zh-CN" altLang="en-US" b="1" dirty="0"/>
              <a:t> </a:t>
            </a:r>
            <a:r>
              <a:rPr kumimoji="1" lang="en-US" altLang="zh-CN" b="1" dirty="0"/>
              <a:t>offset] [</a:t>
            </a:r>
            <a:r>
              <a:rPr kumimoji="1" lang="en-US" altLang="zh-CN" b="1" dirty="0">
                <a:solidFill>
                  <a:srgbClr val="FF0000"/>
                </a:solidFill>
              </a:rPr>
              <a:t>HEX</a:t>
            </a:r>
            <a:r>
              <a:rPr kumimoji="1" lang="en-US" altLang="zh-CN" b="1" dirty="0"/>
              <a:t>])</a:t>
            </a:r>
          </a:p>
          <a:p>
            <a:r>
              <a:rPr kumimoji="1" lang="zh-CN" altLang="en-US" dirty="0"/>
              <a:t>    </a:t>
            </a:r>
            <a:r>
              <a:rPr lang="zh-CN" altLang="en-US" dirty="0"/>
              <a:t>读取文件的内容并将其存入到变量中。它会在给定的偏移量</a:t>
            </a:r>
            <a:r>
              <a:rPr lang="en-US" altLang="zh-CN" dirty="0"/>
              <a:t>offset</a:t>
            </a:r>
            <a:r>
              <a:rPr lang="zh-CN" altLang="en-US" dirty="0"/>
              <a:t>处开始读取最多</a:t>
            </a:r>
            <a:r>
              <a:rPr lang="en" altLang="zh-CN" dirty="0" err="1"/>
              <a:t>numBytes</a:t>
            </a:r>
            <a:r>
              <a:rPr lang="zh-CN" altLang="en-US" dirty="0"/>
              <a:t>个字节。如果指定了</a:t>
            </a:r>
            <a:r>
              <a:rPr lang="en" altLang="zh-CN" dirty="0"/>
              <a:t>HEX</a:t>
            </a:r>
            <a:r>
              <a:rPr lang="zh-CN" altLang="en-US" dirty="0"/>
              <a:t>参数，二进制数据将会被转换成十六进制表示形式并存储到变量中。将</a:t>
            </a:r>
            <a:r>
              <a:rPr lang="en-US" altLang="zh-CN" dirty="0"/>
              <a:t>READ</a:t>
            </a:r>
            <a:r>
              <a:rPr lang="zh-CN" altLang="en-US" dirty="0"/>
              <a:t>替换成</a:t>
            </a:r>
            <a:r>
              <a:rPr lang="en-US" altLang="zh-CN" dirty="0"/>
              <a:t>STRINGS</a:t>
            </a:r>
            <a:r>
              <a:rPr lang="zh-CN" altLang="en-US" dirty="0"/>
              <a:t>，则会存储一个列表，列表中每一项是文件中的一行</a:t>
            </a:r>
            <a:endParaRPr kumimoji="1" lang="en-US" altLang="zh-CN" dirty="0"/>
          </a:p>
          <a:p>
            <a:pPr marL="285750" indent="-285750">
              <a:buFont typeface="Arial" panose="020B0604020202020204" pitchFamily="34" charset="0"/>
              <a:buChar char="•"/>
            </a:pPr>
            <a:r>
              <a:rPr kumimoji="1" lang="en-US" altLang="zh-CN" b="1" dirty="0"/>
              <a:t>file(</a:t>
            </a:r>
            <a:r>
              <a:rPr kumimoji="1" lang="en-US" altLang="zh-CN" b="1" dirty="0">
                <a:solidFill>
                  <a:srgbClr val="FF0000"/>
                </a:solidFill>
              </a:rPr>
              <a:t>GLOB</a:t>
            </a:r>
            <a:r>
              <a:rPr kumimoji="1" lang="en-US" altLang="zh-CN" b="1" dirty="0"/>
              <a:t> variable [</a:t>
            </a:r>
            <a:r>
              <a:rPr kumimoji="1" lang="en-US" altLang="zh-CN" b="1" dirty="0">
                <a:solidFill>
                  <a:srgbClr val="FF0000"/>
                </a:solidFill>
              </a:rPr>
              <a:t>RELATIVE</a:t>
            </a:r>
            <a:r>
              <a:rPr kumimoji="1" lang="en-US" altLang="zh-CN" b="1" dirty="0"/>
              <a:t> path] [</a:t>
            </a:r>
            <a:r>
              <a:rPr kumimoji="1" lang="en-US" altLang="zh-CN" b="1" dirty="0" err="1"/>
              <a:t>globbingexpressions</a:t>
            </a:r>
            <a:r>
              <a:rPr kumimoji="1" lang="en-US" altLang="zh-CN" b="1" dirty="0"/>
              <a:t>]...)</a:t>
            </a:r>
          </a:p>
          <a:p>
            <a:r>
              <a:rPr kumimoji="1" lang="zh-CN" altLang="en-US" b="1" dirty="0"/>
              <a:t>     </a:t>
            </a:r>
            <a:r>
              <a:rPr kumimoji="1" lang="en" altLang="zh-CN" dirty="0"/>
              <a:t>GLOB </a:t>
            </a:r>
            <a:r>
              <a:rPr kumimoji="1" lang="zh-CN" altLang="en-US" dirty="0"/>
              <a:t>会产生一个由所有匹配</a:t>
            </a:r>
            <a:r>
              <a:rPr kumimoji="1" lang="en" altLang="zh-CN" dirty="0" err="1"/>
              <a:t>globbing</a:t>
            </a:r>
            <a:r>
              <a:rPr kumimoji="1" lang="zh-CN" altLang="en-US" dirty="0"/>
              <a:t>表达式的文件组成的列表，并将其保存到变量中。</a:t>
            </a:r>
            <a:r>
              <a:rPr kumimoji="1" lang="en" altLang="zh-CN" dirty="0" err="1"/>
              <a:t>Globbing</a:t>
            </a:r>
            <a:r>
              <a:rPr kumimoji="1" lang="en" altLang="zh-CN" dirty="0"/>
              <a:t> </a:t>
            </a:r>
            <a:r>
              <a:rPr kumimoji="1" lang="zh-CN" altLang="en-US" dirty="0"/>
              <a:t>表达式与正则表达式类似，但更简单。如果指定了</a:t>
            </a:r>
            <a:r>
              <a:rPr kumimoji="1" lang="en" altLang="zh-CN" dirty="0"/>
              <a:t>RELATIVE </a:t>
            </a:r>
            <a:r>
              <a:rPr kumimoji="1" lang="zh-CN" altLang="en-US" dirty="0"/>
              <a:t>标记，返回的结果将是与指定的路径相对的路径构成的列表。将</a:t>
            </a:r>
            <a:r>
              <a:rPr kumimoji="1" lang="en-US" altLang="zh-CN" dirty="0"/>
              <a:t>GLOB</a:t>
            </a:r>
            <a:r>
              <a:rPr kumimoji="1" lang="zh-CN" altLang="en-US" dirty="0"/>
              <a:t>替换成</a:t>
            </a:r>
            <a:r>
              <a:rPr kumimoji="1" lang="en" altLang="zh-CN" dirty="0">
                <a:solidFill>
                  <a:srgbClr val="FF0000"/>
                </a:solidFill>
              </a:rPr>
              <a:t>GLOB_RECURSE</a:t>
            </a:r>
            <a:r>
              <a:rPr kumimoji="1" lang="zh-CN" altLang="en" dirty="0"/>
              <a:t>则</a:t>
            </a:r>
            <a:r>
              <a:rPr kumimoji="1" lang="zh-CN" altLang="en-US" dirty="0"/>
              <a:t>会</a:t>
            </a:r>
            <a:r>
              <a:rPr lang="zh-CN" altLang="en-US" dirty="0"/>
              <a:t>会遍历匹配目录的所有文件以及子目录下面的文件。</a:t>
            </a:r>
            <a:endParaRPr kumimoji="1" lang="en-US" altLang="zh-CN" dirty="0"/>
          </a:p>
          <a:p>
            <a:r>
              <a:rPr kumimoji="1" lang="zh-CN" altLang="en-US" dirty="0"/>
              <a:t>     </a:t>
            </a:r>
            <a:r>
              <a:rPr kumimoji="1" lang="en" altLang="zh-CN" dirty="0" err="1"/>
              <a:t>globbing</a:t>
            </a:r>
            <a:r>
              <a:rPr kumimoji="1" lang="en" altLang="zh-CN" dirty="0"/>
              <a:t> </a:t>
            </a:r>
            <a:r>
              <a:rPr kumimoji="1" lang="zh-CN" altLang="en-US" dirty="0"/>
              <a:t>表达式的示例如下：</a:t>
            </a:r>
          </a:p>
          <a:p>
            <a:pPr marL="742950" lvl="1" indent="-285750">
              <a:buFont typeface="Arial" panose="020B0604020202020204" pitchFamily="34" charset="0"/>
              <a:buChar char="•"/>
            </a:pPr>
            <a:r>
              <a:rPr kumimoji="1" lang="zh-CN" altLang="en-US" dirty="0"/>
              <a:t>   *</a:t>
            </a:r>
            <a:r>
              <a:rPr kumimoji="1" lang="en-US" altLang="zh-CN" dirty="0"/>
              <a:t>.</a:t>
            </a:r>
            <a:r>
              <a:rPr kumimoji="1" lang="en" altLang="zh-CN" dirty="0"/>
              <a:t>cxx      </a:t>
            </a:r>
            <a:r>
              <a:rPr kumimoji="1" lang="zh-CN" altLang="en" dirty="0"/>
              <a:t>后缀</a:t>
            </a:r>
            <a:r>
              <a:rPr kumimoji="1" lang="zh-CN" altLang="en-US" dirty="0"/>
              <a:t>为</a:t>
            </a:r>
            <a:r>
              <a:rPr kumimoji="1" lang="en" altLang="zh-CN" dirty="0"/>
              <a:t>cxx</a:t>
            </a:r>
            <a:r>
              <a:rPr kumimoji="1" lang="zh-CN" altLang="en" dirty="0"/>
              <a:t>的</a:t>
            </a:r>
            <a:r>
              <a:rPr kumimoji="1" lang="zh-CN" altLang="en-US" dirty="0"/>
              <a:t>文件</a:t>
            </a:r>
            <a:endParaRPr kumimoji="1" lang="en" altLang="zh-CN" dirty="0"/>
          </a:p>
          <a:p>
            <a:pPr marL="742950" lvl="1" indent="-285750">
              <a:buFont typeface="Arial" panose="020B0604020202020204" pitchFamily="34" charset="0"/>
              <a:buChar char="•"/>
            </a:pPr>
            <a:r>
              <a:rPr kumimoji="1" lang="en" altLang="zh-CN" dirty="0"/>
              <a:t>   *.</a:t>
            </a:r>
            <a:r>
              <a:rPr kumimoji="1" lang="en" altLang="zh-CN" dirty="0" err="1"/>
              <a:t>vt</a:t>
            </a:r>
            <a:r>
              <a:rPr kumimoji="1" lang="en" altLang="zh-CN" dirty="0"/>
              <a:t>?      </a:t>
            </a:r>
            <a:r>
              <a:rPr kumimoji="1" lang="zh-CN" altLang="en" dirty="0"/>
              <a:t>后缀</a:t>
            </a:r>
            <a:r>
              <a:rPr kumimoji="1" lang="zh-CN" altLang="en-US" dirty="0"/>
              <a:t>为</a:t>
            </a:r>
            <a:r>
              <a:rPr kumimoji="1" lang="en" altLang="zh-CN" dirty="0" err="1"/>
              <a:t>vta</a:t>
            </a:r>
            <a:r>
              <a:rPr kumimoji="1" lang="en" altLang="zh-CN" dirty="0"/>
              <a:t>,...,</a:t>
            </a:r>
            <a:r>
              <a:rPr kumimoji="1" lang="en" altLang="zh-CN" dirty="0" err="1"/>
              <a:t>vtz</a:t>
            </a:r>
            <a:r>
              <a:rPr kumimoji="1" lang="zh-CN" altLang="en" dirty="0"/>
              <a:t>的</a:t>
            </a:r>
            <a:r>
              <a:rPr kumimoji="1" lang="zh-CN" altLang="en-US" dirty="0"/>
              <a:t>文件</a:t>
            </a:r>
            <a:endParaRPr kumimoji="1" lang="en" altLang="zh-CN" dirty="0"/>
          </a:p>
          <a:p>
            <a:pPr marL="742950" lvl="1" indent="-285750">
              <a:buFont typeface="Arial" panose="020B0604020202020204" pitchFamily="34" charset="0"/>
              <a:buChar char="•"/>
            </a:pPr>
            <a:r>
              <a:rPr kumimoji="1" lang="en" altLang="zh-CN" dirty="0"/>
              <a:t>   f[3-5].txt </a:t>
            </a:r>
            <a:r>
              <a:rPr kumimoji="1" lang="zh-CN" altLang="en-US" dirty="0"/>
              <a:t> 名为</a:t>
            </a:r>
            <a:r>
              <a:rPr kumimoji="1" lang="en" altLang="zh-CN" dirty="0"/>
              <a:t>f3.txt,f4.txt, f5.txt</a:t>
            </a:r>
            <a:r>
              <a:rPr kumimoji="1" lang="zh-CN" altLang="en" dirty="0"/>
              <a:t>的</a:t>
            </a:r>
            <a:r>
              <a:rPr kumimoji="1" lang="zh-CN" altLang="en-US" dirty="0"/>
              <a:t>文件</a:t>
            </a:r>
            <a:endParaRPr kumimoji="1" lang="en-US" altLang="zh-CN" dirty="0"/>
          </a:p>
          <a:p>
            <a:endParaRPr kumimoji="1" lang="zh-CN" altLang="en-US" dirty="0"/>
          </a:p>
        </p:txBody>
      </p:sp>
      <p:pic>
        <p:nvPicPr>
          <p:cNvPr id="3" name="图片 2">
            <a:extLst>
              <a:ext uri="{FF2B5EF4-FFF2-40B4-BE49-F238E27FC236}">
                <a16:creationId xmlns:a16="http://schemas.microsoft.com/office/drawing/2014/main" id="{24886E4B-9EAD-2B45-827D-2CF0C6DD69C4}"/>
              </a:ext>
            </a:extLst>
          </p:cNvPr>
          <p:cNvPicPr>
            <a:picLocks noChangeAspect="1"/>
          </p:cNvPicPr>
          <p:nvPr/>
        </p:nvPicPr>
        <p:blipFill>
          <a:blip r:embed="rId4"/>
          <a:stretch>
            <a:fillRect/>
          </a:stretch>
        </p:blipFill>
        <p:spPr>
          <a:xfrm>
            <a:off x="5771320" y="5494683"/>
            <a:ext cx="6262835" cy="654326"/>
          </a:xfrm>
          <a:prstGeom prst="rect">
            <a:avLst/>
          </a:prstGeom>
        </p:spPr>
      </p:pic>
    </p:spTree>
    <p:extLst>
      <p:ext uri="{BB962C8B-B14F-4D97-AF65-F5344CB8AC3E}">
        <p14:creationId xmlns:p14="http://schemas.microsoft.com/office/powerpoint/2010/main" val="584974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MESSAGE</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264920"/>
            <a:ext cx="10241280" cy="646331"/>
          </a:xfrm>
          <a:prstGeom prst="rect">
            <a:avLst/>
          </a:prstGeom>
          <a:noFill/>
        </p:spPr>
        <p:txBody>
          <a:bodyPr wrap="square" rtlCol="0">
            <a:spAutoFit/>
          </a:bodyPr>
          <a:lstStyle/>
          <a:p>
            <a:r>
              <a:rPr kumimoji="1" lang="en-US" altLang="zh-CN" dirty="0"/>
              <a:t>MESSAGE</a:t>
            </a:r>
            <a:r>
              <a:rPr kumimoji="1" lang="zh-CN" altLang="en-US" dirty="0"/>
              <a:t>命令可以打印一条信息，用法如下：</a:t>
            </a:r>
            <a:endParaRPr kumimoji="1" lang="en-US" altLang="zh-CN" dirty="0"/>
          </a:p>
          <a:p>
            <a:pPr marL="285750" indent="-285750">
              <a:buFont typeface="Arial" panose="020B0604020202020204" pitchFamily="34" charset="0"/>
              <a:buChar char="•"/>
            </a:pPr>
            <a:r>
              <a:rPr kumimoji="1" lang="en" altLang="zh-CN" b="1" dirty="0"/>
              <a:t>message([&lt;mode&gt;] "message to display" ...)</a:t>
            </a:r>
            <a:endParaRPr kumimoji="1" lang="zh-CN" altLang="en-US" b="1" dirty="0"/>
          </a:p>
        </p:txBody>
      </p:sp>
      <p:sp>
        <p:nvSpPr>
          <p:cNvPr id="5" name="文本框 4">
            <a:extLst>
              <a:ext uri="{FF2B5EF4-FFF2-40B4-BE49-F238E27FC236}">
                <a16:creationId xmlns:a16="http://schemas.microsoft.com/office/drawing/2014/main" id="{72CD8091-53A2-C84C-ABBA-675F8D45F595}"/>
              </a:ext>
            </a:extLst>
          </p:cNvPr>
          <p:cNvSpPr txBox="1"/>
          <p:nvPr/>
        </p:nvSpPr>
        <p:spPr>
          <a:xfrm>
            <a:off x="825428" y="2470823"/>
            <a:ext cx="10238812" cy="2308324"/>
          </a:xfrm>
          <a:prstGeom prst="rect">
            <a:avLst/>
          </a:prstGeom>
          <a:noFill/>
        </p:spPr>
        <p:txBody>
          <a:bodyPr wrap="square" rtlCol="0">
            <a:spAutoFit/>
          </a:bodyPr>
          <a:lstStyle/>
          <a:p>
            <a:r>
              <a:rPr kumimoji="1" lang="zh-CN" altLang="en-US" dirty="0"/>
              <a:t>关键词</a:t>
            </a:r>
            <a:r>
              <a:rPr kumimoji="1" lang="en-US" altLang="zh-CN" dirty="0"/>
              <a:t>mode</a:t>
            </a:r>
            <a:r>
              <a:rPr kumimoji="1" lang="zh-CN" altLang="en-US" dirty="0"/>
              <a:t>可以指定打印的信息类型，常用的类型是：</a:t>
            </a:r>
            <a:endParaRPr kumimoji="1" lang="en-US" altLang="zh-CN" dirty="0"/>
          </a:p>
          <a:p>
            <a:pPr marL="742950" lvl="1" indent="-285750">
              <a:buFont typeface="Arial" panose="020B0604020202020204" pitchFamily="34" charset="0"/>
              <a:buChar char="•"/>
            </a:pPr>
            <a:r>
              <a:rPr kumimoji="1" lang="en" altLang="zh-CN" b="1" dirty="0">
                <a:solidFill>
                  <a:srgbClr val="FF0000"/>
                </a:solidFill>
              </a:rPr>
              <a:t>FATAL_ERROR</a:t>
            </a:r>
          </a:p>
          <a:p>
            <a:r>
              <a:rPr kumimoji="1" lang="en-US" altLang="zh-CN" dirty="0"/>
              <a:t>	</a:t>
            </a:r>
            <a:r>
              <a:rPr kumimoji="1" lang="zh-CN" altLang="en" dirty="0"/>
              <a:t>输出错误</a:t>
            </a:r>
            <a:r>
              <a:rPr kumimoji="1" lang="zh-CN" altLang="en-US" dirty="0"/>
              <a:t>，且终止处理与生成</a:t>
            </a:r>
            <a:endParaRPr kumimoji="1" lang="en-US" altLang="zh-CN" dirty="0"/>
          </a:p>
          <a:p>
            <a:pPr marL="742950" lvl="1" indent="-285750">
              <a:buFont typeface="Arial" panose="020B0604020202020204" pitchFamily="34" charset="0"/>
              <a:buChar char="•"/>
            </a:pPr>
            <a:r>
              <a:rPr lang="en" altLang="zh-CN" b="1" dirty="0">
                <a:solidFill>
                  <a:srgbClr val="FF0000"/>
                </a:solidFill>
              </a:rPr>
              <a:t>WARNING</a:t>
            </a:r>
          </a:p>
          <a:p>
            <a:r>
              <a:rPr kumimoji="1" lang="en-US" altLang="zh-CN" dirty="0"/>
              <a:t>	</a:t>
            </a:r>
            <a:r>
              <a:rPr kumimoji="1" lang="zh-CN" altLang="en-US" dirty="0"/>
              <a:t>输出警告</a:t>
            </a:r>
            <a:endParaRPr kumimoji="1" lang="en-US" altLang="zh-CN" dirty="0"/>
          </a:p>
          <a:p>
            <a:pPr marL="742950" lvl="1" indent="-285750">
              <a:buFont typeface="Arial" panose="020B0604020202020204" pitchFamily="34" charset="0"/>
              <a:buChar char="•"/>
            </a:pPr>
            <a:r>
              <a:rPr lang="en" altLang="zh-CN" b="1" dirty="0">
                <a:solidFill>
                  <a:srgbClr val="FF0000"/>
                </a:solidFill>
              </a:rPr>
              <a:t>STATUS</a:t>
            </a:r>
          </a:p>
          <a:p>
            <a:r>
              <a:rPr kumimoji="1" lang="en-US" altLang="zh-CN" dirty="0"/>
              <a:t>	</a:t>
            </a:r>
            <a:r>
              <a:rPr kumimoji="1" lang="zh-CN" altLang="en-US" dirty="0"/>
              <a:t>输出正常信息</a:t>
            </a:r>
            <a:endParaRPr kumimoji="1" lang="en-US" altLang="zh-CN" dirty="0"/>
          </a:p>
          <a:p>
            <a:endParaRPr kumimoji="1" lang="en-US" altLang="zh-CN" dirty="0"/>
          </a:p>
        </p:txBody>
      </p:sp>
      <p:pic>
        <p:nvPicPr>
          <p:cNvPr id="6" name="图片 5">
            <a:extLst>
              <a:ext uri="{FF2B5EF4-FFF2-40B4-BE49-F238E27FC236}">
                <a16:creationId xmlns:a16="http://schemas.microsoft.com/office/drawing/2014/main" id="{F3A62D23-92AB-5F43-A8BF-120404BEA0A6}"/>
              </a:ext>
            </a:extLst>
          </p:cNvPr>
          <p:cNvPicPr>
            <a:picLocks noChangeAspect="1"/>
          </p:cNvPicPr>
          <p:nvPr/>
        </p:nvPicPr>
        <p:blipFill>
          <a:blip r:embed="rId2"/>
          <a:stretch>
            <a:fillRect/>
          </a:stretch>
        </p:blipFill>
        <p:spPr>
          <a:xfrm>
            <a:off x="822960" y="4779147"/>
            <a:ext cx="9202197" cy="415705"/>
          </a:xfrm>
          <a:prstGeom prst="rect">
            <a:avLst/>
          </a:prstGeom>
        </p:spPr>
      </p:pic>
    </p:spTree>
    <p:extLst>
      <p:ext uri="{BB962C8B-B14F-4D97-AF65-F5344CB8AC3E}">
        <p14:creationId xmlns:p14="http://schemas.microsoft.com/office/powerpoint/2010/main" val="1668397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FOREACH</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264920"/>
            <a:ext cx="10241280" cy="3970318"/>
          </a:xfrm>
          <a:prstGeom prst="rect">
            <a:avLst/>
          </a:prstGeom>
          <a:noFill/>
        </p:spPr>
        <p:txBody>
          <a:bodyPr wrap="square" rtlCol="0">
            <a:spAutoFit/>
          </a:bodyPr>
          <a:lstStyle/>
          <a:p>
            <a:r>
              <a:rPr kumimoji="1" lang="en-US" altLang="zh-CN" dirty="0"/>
              <a:t>FOREACH</a:t>
            </a:r>
            <a:r>
              <a:rPr kumimoji="1" lang="zh-CN" altLang="en-US" dirty="0"/>
              <a:t>命令是</a:t>
            </a:r>
            <a:r>
              <a:rPr kumimoji="1" lang="en-US" altLang="zh-CN" dirty="0" err="1"/>
              <a:t>CMake</a:t>
            </a:r>
            <a:r>
              <a:rPr kumimoji="1" lang="zh-CN" altLang="en-US" dirty="0"/>
              <a:t>的循环语句。用法如下：</a:t>
            </a:r>
            <a:endParaRPr kumimoji="1" lang="en-US" altLang="zh-CN" dirty="0"/>
          </a:p>
          <a:p>
            <a:pPr marL="285750" indent="-285750">
              <a:buFont typeface="Arial" panose="020B0604020202020204" pitchFamily="34" charset="0"/>
              <a:buChar char="•"/>
            </a:pPr>
            <a:r>
              <a:rPr lang="en" altLang="zh-CN" b="1" dirty="0"/>
              <a:t>foreach(&lt;</a:t>
            </a:r>
            <a:r>
              <a:rPr lang="en" altLang="zh-CN" b="1" dirty="0" err="1"/>
              <a:t>loop_var</a:t>
            </a:r>
            <a:r>
              <a:rPr lang="en" altLang="zh-CN" b="1" dirty="0"/>
              <a:t>&gt; &lt;items&gt;) </a:t>
            </a:r>
          </a:p>
          <a:p>
            <a:r>
              <a:rPr lang="zh-CN" altLang="en-US" b="1" dirty="0"/>
              <a:t>       </a:t>
            </a:r>
            <a:r>
              <a:rPr lang="en" altLang="zh-CN" b="1" dirty="0"/>
              <a:t>&lt;commands&gt; </a:t>
            </a:r>
          </a:p>
          <a:p>
            <a:r>
              <a:rPr lang="zh-CN" altLang="en-US" b="1" dirty="0"/>
              <a:t>     </a:t>
            </a:r>
            <a:r>
              <a:rPr lang="en" altLang="zh-CN" b="1" dirty="0" err="1"/>
              <a:t>endforeach</a:t>
            </a:r>
            <a:r>
              <a:rPr lang="en" altLang="zh-CN" b="1" dirty="0"/>
              <a:t>()</a:t>
            </a:r>
          </a:p>
          <a:p>
            <a:r>
              <a:rPr kumimoji="1" lang="zh-CN" altLang="en-US" dirty="0"/>
              <a:t>其中</a:t>
            </a:r>
            <a:r>
              <a:rPr kumimoji="1" lang="en-US" altLang="zh-CN" dirty="0"/>
              <a:t>items</a:t>
            </a:r>
            <a:r>
              <a:rPr kumimoji="1" lang="zh-CN" altLang="en-US" dirty="0"/>
              <a:t>是一系列用分号或者空格分隔开的项，</a:t>
            </a:r>
            <a:r>
              <a:rPr kumimoji="1" lang="en-US" altLang="zh-CN" dirty="0"/>
              <a:t>foreach</a:t>
            </a:r>
            <a:r>
              <a:rPr kumimoji="1" lang="zh-CN" altLang="en-US" dirty="0"/>
              <a:t>语句也可以写成其他形势，例如：</a:t>
            </a:r>
            <a:endParaRPr kumimoji="1" lang="en-US" altLang="zh-CN" dirty="0"/>
          </a:p>
          <a:p>
            <a:endParaRPr kumimoji="1" lang="en-US" altLang="zh-CN" dirty="0"/>
          </a:p>
          <a:p>
            <a:pPr marL="285750" indent="-285750">
              <a:buFont typeface="Arial" panose="020B0604020202020204" pitchFamily="34" charset="0"/>
              <a:buChar char="•"/>
            </a:pPr>
            <a:r>
              <a:rPr lang="en" altLang="zh-CN" b="1" dirty="0"/>
              <a:t>foreach(&lt;</a:t>
            </a:r>
            <a:r>
              <a:rPr lang="en" altLang="zh-CN" b="1" dirty="0" err="1"/>
              <a:t>loop_var</a:t>
            </a:r>
            <a:r>
              <a:rPr lang="en" altLang="zh-CN" b="1" dirty="0"/>
              <a:t>&gt; </a:t>
            </a:r>
            <a:r>
              <a:rPr lang="en" altLang="zh-CN" b="1" dirty="0">
                <a:solidFill>
                  <a:srgbClr val="FF0000"/>
                </a:solidFill>
              </a:rPr>
              <a:t>RANGE</a:t>
            </a:r>
            <a:r>
              <a:rPr lang="en" altLang="zh-CN" b="1" dirty="0"/>
              <a:t> </a:t>
            </a:r>
            <a:r>
              <a:rPr lang="en-US" altLang="zh-CN" b="1" dirty="0"/>
              <a:t>[</a:t>
            </a:r>
            <a:r>
              <a:rPr lang="en" altLang="zh-CN" b="1" dirty="0"/>
              <a:t>&lt;start&gt;</a:t>
            </a:r>
            <a:r>
              <a:rPr lang="en-US" altLang="zh-CN" b="1" dirty="0"/>
              <a:t>]</a:t>
            </a:r>
            <a:r>
              <a:rPr lang="en" altLang="zh-CN" b="1" dirty="0"/>
              <a:t> &lt;stop&gt; [&lt;step&gt;])</a:t>
            </a:r>
          </a:p>
          <a:p>
            <a:r>
              <a:rPr kumimoji="1" lang="zh-CN" altLang="en-US" dirty="0"/>
              <a:t>这种写法会迭代从</a:t>
            </a:r>
            <a:r>
              <a:rPr kumimoji="1" lang="en-US" altLang="zh-CN" dirty="0"/>
              <a:t>start</a:t>
            </a:r>
            <a:r>
              <a:rPr kumimoji="1" lang="zh-CN" altLang="en-US" dirty="0"/>
              <a:t>到</a:t>
            </a:r>
            <a:r>
              <a:rPr kumimoji="1" lang="en-US" altLang="zh-CN" dirty="0"/>
              <a:t>stop</a:t>
            </a:r>
            <a:r>
              <a:rPr kumimoji="1" lang="zh-CN" altLang="en-US" dirty="0"/>
              <a:t>区间的所有数字，步长为</a:t>
            </a:r>
            <a:r>
              <a:rPr kumimoji="1" lang="en-US" altLang="zh-CN" dirty="0"/>
              <a:t>step</a:t>
            </a:r>
            <a:r>
              <a:rPr kumimoji="1" lang="zh-CN" altLang="en-US" dirty="0"/>
              <a:t>，其中</a:t>
            </a:r>
            <a:r>
              <a:rPr kumimoji="1" lang="en-US" altLang="zh-CN" dirty="0"/>
              <a:t>start</a:t>
            </a:r>
            <a:r>
              <a:rPr kumimoji="1" lang="zh-CN" altLang="en-US" dirty="0"/>
              <a:t>的缺省值为</a:t>
            </a:r>
            <a:r>
              <a:rPr kumimoji="1" lang="en-US" altLang="zh-CN" dirty="0"/>
              <a:t>0</a:t>
            </a:r>
            <a:r>
              <a:rPr kumimoji="1" lang="zh-CN" altLang="en-US" dirty="0"/>
              <a:t>，</a:t>
            </a:r>
            <a:r>
              <a:rPr kumimoji="1" lang="en-US" altLang="zh-CN" dirty="0"/>
              <a:t>step</a:t>
            </a:r>
            <a:r>
              <a:rPr kumimoji="1" lang="zh-CN" altLang="en-US" dirty="0"/>
              <a:t>缺省值为</a:t>
            </a:r>
            <a:r>
              <a:rPr kumimoji="1" lang="en-US" altLang="zh-CN" dirty="0"/>
              <a:t>1</a:t>
            </a:r>
            <a:r>
              <a:rPr kumimoji="1" lang="zh-CN" altLang="en-US" dirty="0"/>
              <a:t>。</a:t>
            </a:r>
            <a:endParaRPr kumimoji="1" lang="en-US" altLang="zh-CN" dirty="0"/>
          </a:p>
          <a:p>
            <a:endParaRPr kumimoji="1" lang="en-US" altLang="zh-CN" dirty="0"/>
          </a:p>
          <a:p>
            <a:pPr marL="285750" indent="-285750">
              <a:buFont typeface="Arial" panose="020B0604020202020204" pitchFamily="34" charset="0"/>
              <a:buChar char="•"/>
            </a:pPr>
            <a:r>
              <a:rPr lang="en" altLang="zh-CN" b="1" dirty="0"/>
              <a:t>foreach(</a:t>
            </a:r>
            <a:r>
              <a:rPr lang="en" altLang="zh-CN" b="1" dirty="0" err="1"/>
              <a:t>loop_var</a:t>
            </a:r>
            <a:r>
              <a:rPr lang="en" altLang="zh-CN" b="1" dirty="0"/>
              <a:t> </a:t>
            </a:r>
            <a:r>
              <a:rPr lang="en" altLang="zh-CN" b="1" dirty="0">
                <a:solidFill>
                  <a:srgbClr val="FF0000"/>
                </a:solidFill>
              </a:rPr>
              <a:t>IN</a:t>
            </a:r>
            <a:r>
              <a:rPr lang="en" altLang="zh-CN" b="1" dirty="0"/>
              <a:t> [</a:t>
            </a:r>
            <a:r>
              <a:rPr lang="en" altLang="zh-CN" b="1" dirty="0">
                <a:solidFill>
                  <a:srgbClr val="FF0000"/>
                </a:solidFill>
              </a:rPr>
              <a:t>LISTS</a:t>
            </a:r>
            <a:r>
              <a:rPr lang="en" altLang="zh-CN" b="1" dirty="0"/>
              <a:t> [&lt;lists&gt;]] [</a:t>
            </a:r>
            <a:r>
              <a:rPr lang="en" altLang="zh-CN" b="1" dirty="0">
                <a:solidFill>
                  <a:srgbClr val="FF0000"/>
                </a:solidFill>
              </a:rPr>
              <a:t>ITEMS</a:t>
            </a:r>
            <a:r>
              <a:rPr lang="en" altLang="zh-CN" b="1" dirty="0"/>
              <a:t> [&lt;items&gt;]])</a:t>
            </a:r>
          </a:p>
          <a:p>
            <a:r>
              <a:rPr lang="zh-CN" altLang="en" dirty="0"/>
              <a:t>这种</a:t>
            </a:r>
            <a:r>
              <a:rPr lang="zh-CN" altLang="en-US" dirty="0"/>
              <a:t>写法与第一种写法类似，</a:t>
            </a:r>
            <a:r>
              <a:rPr lang="en-US" altLang="zh-CN" dirty="0"/>
              <a:t>foreach</a:t>
            </a:r>
            <a:r>
              <a:rPr lang="zh-CN" altLang="en-US" dirty="0"/>
              <a:t>会遍历</a:t>
            </a:r>
            <a:r>
              <a:rPr lang="en-US" altLang="zh-CN" dirty="0"/>
              <a:t>lists</a:t>
            </a:r>
            <a:r>
              <a:rPr lang="zh-CN" altLang="en-US" dirty="0"/>
              <a:t>中的所有项，</a:t>
            </a:r>
            <a:r>
              <a:rPr lang="en-US" altLang="zh-CN" dirty="0"/>
              <a:t>lists</a:t>
            </a:r>
            <a:r>
              <a:rPr lang="zh-CN" altLang="en-US" dirty="0"/>
              <a:t>是由一系列</a:t>
            </a:r>
            <a:r>
              <a:rPr kumimoji="1" lang="zh-CN" altLang="en-US" dirty="0"/>
              <a:t>用分号或者空格分隔开的项组成的列表</a:t>
            </a:r>
            <a:r>
              <a:rPr lang="zh-CN" altLang="en-US" dirty="0"/>
              <a:t>，以及</a:t>
            </a:r>
            <a:r>
              <a:rPr lang="en-US" altLang="zh-CN" dirty="0"/>
              <a:t>items</a:t>
            </a:r>
            <a:r>
              <a:rPr lang="zh-CN" altLang="en-US" dirty="0"/>
              <a:t>中的所有项</a:t>
            </a:r>
            <a:endParaRPr lang="en" altLang="zh-CN" dirty="0"/>
          </a:p>
          <a:p>
            <a:endParaRPr kumimoji="1" lang="en-US" altLang="zh-CN" b="1" dirty="0"/>
          </a:p>
          <a:p>
            <a:endParaRPr kumimoji="1" lang="zh-CN" altLang="en-US" b="1" dirty="0"/>
          </a:p>
        </p:txBody>
      </p:sp>
      <p:pic>
        <p:nvPicPr>
          <p:cNvPr id="6" name="图片 5">
            <a:extLst>
              <a:ext uri="{FF2B5EF4-FFF2-40B4-BE49-F238E27FC236}">
                <a16:creationId xmlns:a16="http://schemas.microsoft.com/office/drawing/2014/main" id="{A82CA88E-7259-B64B-A5C1-95C28A36F2CC}"/>
              </a:ext>
            </a:extLst>
          </p:cNvPr>
          <p:cNvPicPr>
            <a:picLocks noChangeAspect="1"/>
          </p:cNvPicPr>
          <p:nvPr/>
        </p:nvPicPr>
        <p:blipFill>
          <a:blip r:embed="rId2"/>
          <a:stretch>
            <a:fillRect/>
          </a:stretch>
        </p:blipFill>
        <p:spPr>
          <a:xfrm>
            <a:off x="966303" y="5179876"/>
            <a:ext cx="5268805" cy="426699"/>
          </a:xfrm>
          <a:prstGeom prst="rect">
            <a:avLst/>
          </a:prstGeom>
        </p:spPr>
      </p:pic>
      <p:sp>
        <p:nvSpPr>
          <p:cNvPr id="8" name="文本框 7">
            <a:extLst>
              <a:ext uri="{FF2B5EF4-FFF2-40B4-BE49-F238E27FC236}">
                <a16:creationId xmlns:a16="http://schemas.microsoft.com/office/drawing/2014/main" id="{68A989D2-BC15-074C-9002-886560BA3158}"/>
              </a:ext>
            </a:extLst>
          </p:cNvPr>
          <p:cNvSpPr txBox="1"/>
          <p:nvPr/>
        </p:nvSpPr>
        <p:spPr>
          <a:xfrm>
            <a:off x="7381461" y="4960244"/>
            <a:ext cx="3445565" cy="646331"/>
          </a:xfrm>
          <a:prstGeom prst="rect">
            <a:avLst/>
          </a:prstGeom>
          <a:noFill/>
        </p:spPr>
        <p:txBody>
          <a:bodyPr wrap="square" rtlCol="0">
            <a:spAutoFit/>
          </a:bodyPr>
          <a:lstStyle/>
          <a:p>
            <a:r>
              <a:rPr kumimoji="1" lang="zh-CN" altLang="en-US" dirty="0"/>
              <a:t>注：</a:t>
            </a:r>
            <a:r>
              <a:rPr kumimoji="1" lang="en-US" altLang="zh-CN" dirty="0"/>
              <a:t>foreach</a:t>
            </a:r>
            <a:r>
              <a:rPr kumimoji="1" lang="zh-CN" altLang="en-US" dirty="0"/>
              <a:t>中可以使用</a:t>
            </a:r>
            <a:r>
              <a:rPr kumimoji="1" lang="en-US" altLang="zh-CN" dirty="0"/>
              <a:t>break()</a:t>
            </a:r>
            <a:r>
              <a:rPr kumimoji="1" lang="zh-CN" altLang="en-US" dirty="0"/>
              <a:t>和</a:t>
            </a:r>
            <a:r>
              <a:rPr kumimoji="1" lang="en-US" altLang="zh-CN" dirty="0"/>
              <a:t>continue()</a:t>
            </a:r>
            <a:r>
              <a:rPr kumimoji="1" lang="zh-CN" altLang="en-US" dirty="0"/>
              <a:t>来跳出控制流</a:t>
            </a:r>
          </a:p>
        </p:txBody>
      </p:sp>
    </p:spTree>
    <p:extLst>
      <p:ext uri="{BB962C8B-B14F-4D97-AF65-F5344CB8AC3E}">
        <p14:creationId xmlns:p14="http://schemas.microsoft.com/office/powerpoint/2010/main" val="904365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STRING</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052888"/>
            <a:ext cx="10241280" cy="5078313"/>
          </a:xfrm>
          <a:prstGeom prst="rect">
            <a:avLst/>
          </a:prstGeom>
          <a:noFill/>
        </p:spPr>
        <p:txBody>
          <a:bodyPr wrap="square" rtlCol="0">
            <a:spAutoFit/>
          </a:bodyPr>
          <a:lstStyle/>
          <a:p>
            <a:r>
              <a:rPr kumimoji="1" lang="en-US" altLang="zh-CN" dirty="0"/>
              <a:t>STRING</a:t>
            </a:r>
            <a:r>
              <a:rPr kumimoji="1" lang="zh-CN" altLang="en-US" dirty="0"/>
              <a:t>命令是</a:t>
            </a:r>
            <a:r>
              <a:rPr kumimoji="1" lang="en-US" altLang="zh-CN" dirty="0" err="1"/>
              <a:t>CMake</a:t>
            </a:r>
            <a:r>
              <a:rPr kumimoji="1" lang="zh-CN" altLang="en-US" dirty="0"/>
              <a:t>的字符串操作语句。详细用法可以参考：</a:t>
            </a:r>
            <a:r>
              <a:rPr kumimoji="1" lang="en" altLang="zh-CN" dirty="0">
                <a:hlinkClick r:id="rId2"/>
              </a:rPr>
              <a:t>https://</a:t>
            </a:r>
            <a:r>
              <a:rPr kumimoji="1" lang="en" altLang="zh-CN" dirty="0" err="1">
                <a:hlinkClick r:id="rId2"/>
              </a:rPr>
              <a:t>cmake.org</a:t>
            </a:r>
            <a:r>
              <a:rPr kumimoji="1" lang="en" altLang="zh-CN" dirty="0">
                <a:hlinkClick r:id="rId2"/>
              </a:rPr>
              <a:t>/</a:t>
            </a:r>
            <a:r>
              <a:rPr kumimoji="1" lang="en" altLang="zh-CN" dirty="0" err="1">
                <a:hlinkClick r:id="rId2"/>
              </a:rPr>
              <a:t>cmake</a:t>
            </a:r>
            <a:r>
              <a:rPr kumimoji="1" lang="en" altLang="zh-CN" dirty="0">
                <a:hlinkClick r:id="rId2"/>
              </a:rPr>
              <a:t>/help/latest/command/</a:t>
            </a:r>
            <a:r>
              <a:rPr kumimoji="1" lang="en" altLang="zh-CN" dirty="0" err="1">
                <a:hlinkClick r:id="rId2"/>
              </a:rPr>
              <a:t>string.html#regex-replace</a:t>
            </a:r>
            <a:endParaRPr kumimoji="1" lang="en-US" altLang="zh-CN" dirty="0"/>
          </a:p>
          <a:p>
            <a:r>
              <a:rPr kumimoji="1" lang="zh-CN" altLang="en-US" dirty="0"/>
              <a:t>常见用法如下：</a:t>
            </a:r>
            <a:endParaRPr kumimoji="1" lang="en-US" altLang="zh-CN" dirty="0"/>
          </a:p>
          <a:p>
            <a:endParaRPr kumimoji="1" lang="en-US" altLang="zh-CN" dirty="0"/>
          </a:p>
          <a:p>
            <a:pPr marL="285750" indent="-285750">
              <a:buFont typeface="Arial" panose="020B0604020202020204" pitchFamily="34" charset="0"/>
              <a:buChar char="•"/>
            </a:pPr>
            <a:r>
              <a:rPr lang="en" altLang="zh-CN" b="1" dirty="0"/>
              <a:t>string(</a:t>
            </a:r>
            <a:r>
              <a:rPr lang="en" altLang="zh-CN" b="1" dirty="0">
                <a:solidFill>
                  <a:srgbClr val="FF0000"/>
                </a:solidFill>
              </a:rPr>
              <a:t>FIND</a:t>
            </a:r>
            <a:r>
              <a:rPr lang="en" altLang="zh-CN" b="1" dirty="0"/>
              <a:t> &lt;string&gt; &lt;substring&gt; &lt;</a:t>
            </a:r>
            <a:r>
              <a:rPr lang="en" altLang="zh-CN" b="1" dirty="0" err="1"/>
              <a:t>output_variable</a:t>
            </a:r>
            <a:r>
              <a:rPr lang="en" altLang="zh-CN" b="1" dirty="0"/>
              <a:t>&gt; [</a:t>
            </a:r>
            <a:r>
              <a:rPr lang="en" altLang="zh-CN" b="1" dirty="0">
                <a:solidFill>
                  <a:srgbClr val="FF0000"/>
                </a:solidFill>
              </a:rPr>
              <a:t>REVERSE</a:t>
            </a:r>
            <a:r>
              <a:rPr lang="en" altLang="zh-CN" b="1" dirty="0"/>
              <a:t>])</a:t>
            </a:r>
          </a:p>
          <a:p>
            <a:r>
              <a:rPr kumimoji="1" lang="zh-CN" altLang="en-US" dirty="0"/>
              <a:t>     查找</a:t>
            </a:r>
            <a:r>
              <a:rPr kumimoji="1" lang="en-US" altLang="zh-CN" dirty="0"/>
              <a:t>substring</a:t>
            </a:r>
            <a:r>
              <a:rPr kumimoji="1" lang="zh-CN" altLang="en-US" dirty="0"/>
              <a:t>在</a:t>
            </a:r>
            <a:r>
              <a:rPr kumimoji="1" lang="en-US" altLang="zh-CN" dirty="0"/>
              <a:t>string</a:t>
            </a:r>
            <a:r>
              <a:rPr kumimoji="1" lang="zh-CN" altLang="en-US" dirty="0"/>
              <a:t>中第一次出现的位置，如果选择</a:t>
            </a:r>
            <a:r>
              <a:rPr kumimoji="1" lang="en-US" altLang="zh-CN" dirty="0"/>
              <a:t>REVERSE</a:t>
            </a:r>
            <a:r>
              <a:rPr kumimoji="1" lang="zh-CN" altLang="en-US" dirty="0"/>
              <a:t>则会返回最后一次出现的位置</a:t>
            </a:r>
            <a:endParaRPr kumimoji="1" lang="en-US" altLang="zh-CN" dirty="0"/>
          </a:p>
          <a:p>
            <a:endParaRPr kumimoji="1" lang="en-US" altLang="zh-CN" dirty="0"/>
          </a:p>
          <a:p>
            <a:pPr marL="285750" indent="-285750">
              <a:buFont typeface="Arial" panose="020B0604020202020204" pitchFamily="34" charset="0"/>
              <a:buChar char="•"/>
            </a:pPr>
            <a:r>
              <a:rPr lang="en" altLang="zh-CN" b="1" dirty="0"/>
              <a:t>string(</a:t>
            </a:r>
            <a:r>
              <a:rPr lang="en" altLang="zh-CN" b="1" dirty="0">
                <a:solidFill>
                  <a:srgbClr val="FF0000"/>
                </a:solidFill>
              </a:rPr>
              <a:t>REPLACE</a:t>
            </a:r>
            <a:r>
              <a:rPr lang="en" altLang="zh-CN" b="1" dirty="0"/>
              <a:t> &lt;</a:t>
            </a:r>
            <a:r>
              <a:rPr lang="en" altLang="zh-CN" b="1" dirty="0" err="1"/>
              <a:t>match_string</a:t>
            </a:r>
            <a:r>
              <a:rPr lang="en" altLang="zh-CN" b="1" dirty="0"/>
              <a:t>&gt;</a:t>
            </a:r>
            <a:r>
              <a:rPr lang="zh-CN" altLang="en-US" b="1" dirty="0"/>
              <a:t> </a:t>
            </a:r>
            <a:r>
              <a:rPr lang="en" altLang="zh-CN" b="1" dirty="0"/>
              <a:t>&lt;</a:t>
            </a:r>
            <a:r>
              <a:rPr lang="en" altLang="zh-CN" b="1" dirty="0" err="1"/>
              <a:t>replace_string</a:t>
            </a:r>
            <a:r>
              <a:rPr lang="en" altLang="zh-CN" b="1" dirty="0"/>
              <a:t>&gt; &lt;</a:t>
            </a:r>
            <a:r>
              <a:rPr lang="en" altLang="zh-CN" b="1" dirty="0" err="1"/>
              <a:t>output_variable</a:t>
            </a:r>
            <a:r>
              <a:rPr lang="en" altLang="zh-CN" b="1" dirty="0"/>
              <a:t>&gt;</a:t>
            </a:r>
            <a:r>
              <a:rPr lang="zh-CN" altLang="en-US" b="1" dirty="0"/>
              <a:t> </a:t>
            </a:r>
            <a:r>
              <a:rPr lang="en" altLang="zh-CN" b="1" dirty="0"/>
              <a:t>&lt;input&gt; [&lt;input&gt;...])</a:t>
            </a:r>
          </a:p>
          <a:p>
            <a:r>
              <a:rPr kumimoji="1" lang="zh-CN" altLang="en-US" b="1" dirty="0"/>
              <a:t>     </a:t>
            </a:r>
            <a:r>
              <a:rPr kumimoji="1" lang="zh-CN" altLang="en-US" dirty="0"/>
              <a:t>将</a:t>
            </a:r>
            <a:r>
              <a:rPr kumimoji="1" lang="en-US" altLang="zh-CN" dirty="0"/>
              <a:t>input</a:t>
            </a:r>
            <a:r>
              <a:rPr kumimoji="1" lang="zh-CN" altLang="en-US" dirty="0"/>
              <a:t>中所有</a:t>
            </a:r>
            <a:r>
              <a:rPr kumimoji="1" lang="en-US" altLang="zh-CN" dirty="0"/>
              <a:t>match</a:t>
            </a:r>
            <a:r>
              <a:rPr kumimoji="1" lang="zh-CN" altLang="en-US" dirty="0"/>
              <a:t> </a:t>
            </a:r>
            <a:r>
              <a:rPr kumimoji="1" lang="en-US" altLang="zh-CN" dirty="0"/>
              <a:t>string</a:t>
            </a:r>
            <a:r>
              <a:rPr kumimoji="1" lang="zh-CN" altLang="en-US" dirty="0"/>
              <a:t>替换为</a:t>
            </a:r>
            <a:r>
              <a:rPr kumimoji="1" lang="en-US" altLang="zh-CN" dirty="0"/>
              <a:t>replace</a:t>
            </a:r>
            <a:r>
              <a:rPr kumimoji="1" lang="zh-CN" altLang="en-US" dirty="0"/>
              <a:t> </a:t>
            </a:r>
            <a:r>
              <a:rPr kumimoji="1" lang="en-US" altLang="zh-CN" dirty="0"/>
              <a:t>string</a:t>
            </a:r>
            <a:r>
              <a:rPr kumimoji="1" lang="zh-CN" altLang="en-US" dirty="0"/>
              <a:t>并将结果存储至</a:t>
            </a:r>
            <a:r>
              <a:rPr kumimoji="1" lang="en-US" altLang="zh-CN" dirty="0"/>
              <a:t>output</a:t>
            </a:r>
            <a:r>
              <a:rPr kumimoji="1" lang="zh-CN" altLang="en-US" dirty="0"/>
              <a:t> </a:t>
            </a:r>
            <a:r>
              <a:rPr kumimoji="1" lang="en-US" altLang="zh-CN" dirty="0"/>
              <a:t>variable</a:t>
            </a:r>
          </a:p>
          <a:p>
            <a:endParaRPr kumimoji="1" lang="en-US" altLang="zh-CN" dirty="0"/>
          </a:p>
          <a:p>
            <a:pPr marL="285750" indent="-285750">
              <a:buFont typeface="Arial" panose="020B0604020202020204" pitchFamily="34" charset="0"/>
              <a:buChar char="•"/>
            </a:pPr>
            <a:r>
              <a:rPr lang="en" altLang="zh-CN" b="1" dirty="0"/>
              <a:t>string(</a:t>
            </a:r>
            <a:r>
              <a:rPr lang="en" altLang="zh-CN" b="1" dirty="0">
                <a:solidFill>
                  <a:srgbClr val="FF0000"/>
                </a:solidFill>
              </a:rPr>
              <a:t>REGEX MATCH </a:t>
            </a:r>
            <a:r>
              <a:rPr lang="en" altLang="zh-CN" b="1" dirty="0"/>
              <a:t>&lt;</a:t>
            </a:r>
            <a:r>
              <a:rPr lang="en" altLang="zh-CN" b="1" dirty="0" err="1"/>
              <a:t>regular_expression</a:t>
            </a:r>
            <a:r>
              <a:rPr lang="en" altLang="zh-CN" b="1" dirty="0"/>
              <a:t>&gt;</a:t>
            </a:r>
            <a:r>
              <a:rPr lang="zh-CN" altLang="en-US" b="1" dirty="0"/>
              <a:t> </a:t>
            </a:r>
            <a:r>
              <a:rPr lang="en" altLang="zh-CN" b="1" dirty="0"/>
              <a:t>&lt;</a:t>
            </a:r>
            <a:r>
              <a:rPr lang="en" altLang="zh-CN" b="1" dirty="0" err="1"/>
              <a:t>output_variable</a:t>
            </a:r>
            <a:r>
              <a:rPr lang="en" altLang="zh-CN" b="1" dirty="0"/>
              <a:t>&gt; &lt;input&gt; [&lt;input&gt;...])</a:t>
            </a:r>
          </a:p>
          <a:p>
            <a:r>
              <a:rPr kumimoji="1" lang="zh-CN" altLang="en-US" b="1" dirty="0"/>
              <a:t>     </a:t>
            </a:r>
            <a:r>
              <a:rPr kumimoji="1" lang="zh-CN" altLang="en-US" dirty="0"/>
              <a:t>将所有</a:t>
            </a:r>
            <a:r>
              <a:rPr kumimoji="1" lang="en-US" altLang="zh-CN" dirty="0"/>
              <a:t>input</a:t>
            </a:r>
            <a:r>
              <a:rPr kumimoji="1" lang="zh-CN" altLang="en-US" dirty="0"/>
              <a:t>连接起来后按照正则表达式匹配到的第一项存在</a:t>
            </a:r>
            <a:r>
              <a:rPr kumimoji="1" lang="en-US" altLang="zh-CN" dirty="0"/>
              <a:t>output</a:t>
            </a:r>
            <a:r>
              <a:rPr kumimoji="1" lang="zh-CN" altLang="en-US" dirty="0"/>
              <a:t>中，</a:t>
            </a:r>
            <a:r>
              <a:rPr kumimoji="1" lang="en-US" altLang="zh-CN" dirty="0"/>
              <a:t>MATCH</a:t>
            </a:r>
            <a:r>
              <a:rPr kumimoji="1" lang="zh-CN" altLang="en-US" dirty="0"/>
              <a:t>可以替换为</a:t>
            </a:r>
            <a:r>
              <a:rPr kumimoji="1" lang="en-US" altLang="zh-CN" dirty="0"/>
              <a:t>MATCH</a:t>
            </a:r>
            <a:r>
              <a:rPr kumimoji="1" lang="zh-CN" altLang="en-US" dirty="0"/>
              <a:t> </a:t>
            </a:r>
            <a:r>
              <a:rPr kumimoji="1" lang="en-US" altLang="zh-CN" dirty="0"/>
              <a:t>ALL</a:t>
            </a:r>
            <a:r>
              <a:rPr kumimoji="1" lang="zh-CN" altLang="en-US" dirty="0"/>
              <a:t>，这样会将所有匹配到的结果都存起来</a:t>
            </a:r>
            <a:endParaRPr kumimoji="1" lang="en-US" altLang="zh-CN" dirty="0"/>
          </a:p>
          <a:p>
            <a:endParaRPr kumimoji="1" lang="en-US" altLang="zh-CN" dirty="0"/>
          </a:p>
          <a:p>
            <a:pPr marL="285750" indent="-285750">
              <a:buFont typeface="Arial" panose="020B0604020202020204" pitchFamily="34" charset="0"/>
              <a:buChar char="•"/>
            </a:pPr>
            <a:r>
              <a:rPr kumimoji="1" lang="en" altLang="zh-CN" b="1" dirty="0"/>
              <a:t>String(</a:t>
            </a:r>
            <a:r>
              <a:rPr kumimoji="1" lang="en" altLang="zh-CN" b="1" dirty="0">
                <a:solidFill>
                  <a:srgbClr val="FF0000"/>
                </a:solidFill>
              </a:rPr>
              <a:t>REGEX REPLACE </a:t>
            </a:r>
            <a:r>
              <a:rPr kumimoji="1" lang="en" altLang="zh-CN" b="1" dirty="0"/>
              <a:t>&lt;</a:t>
            </a:r>
            <a:r>
              <a:rPr kumimoji="1" lang="en" altLang="zh-CN" b="1" dirty="0" err="1"/>
              <a:t>regular_expression</a:t>
            </a:r>
            <a:r>
              <a:rPr kumimoji="1" lang="en" altLang="zh-CN" b="1" dirty="0"/>
              <a:t>&gt;</a:t>
            </a:r>
            <a:r>
              <a:rPr kumimoji="1" lang="zh-CN" altLang="en-US" b="1" dirty="0"/>
              <a:t> </a:t>
            </a:r>
            <a:r>
              <a:rPr kumimoji="1" lang="en" altLang="zh-CN" b="1" dirty="0"/>
              <a:t>&lt;</a:t>
            </a:r>
            <a:r>
              <a:rPr kumimoji="1" lang="en" altLang="zh-CN" b="1" dirty="0" err="1"/>
              <a:t>replacement_expression</a:t>
            </a:r>
            <a:r>
              <a:rPr kumimoji="1" lang="en" altLang="zh-CN" b="1" dirty="0"/>
              <a:t>&gt; &lt;</a:t>
            </a:r>
            <a:r>
              <a:rPr kumimoji="1" lang="en" altLang="zh-CN" b="1" dirty="0" err="1"/>
              <a:t>output_variable</a:t>
            </a:r>
            <a:r>
              <a:rPr kumimoji="1" lang="en" altLang="zh-CN" b="1" dirty="0"/>
              <a:t>&gt;</a:t>
            </a:r>
            <a:r>
              <a:rPr kumimoji="1" lang="zh-CN" altLang="en-US" b="1" dirty="0"/>
              <a:t> </a:t>
            </a:r>
            <a:r>
              <a:rPr kumimoji="1" lang="en" altLang="zh-CN" b="1" dirty="0"/>
              <a:t>&lt;input&gt; [&lt;input&gt;...])</a:t>
            </a:r>
          </a:p>
          <a:p>
            <a:r>
              <a:rPr kumimoji="1" lang="zh-CN" altLang="en-US" dirty="0"/>
              <a:t>    将所有</a:t>
            </a:r>
            <a:r>
              <a:rPr kumimoji="1" lang="en-US" altLang="zh-CN" dirty="0"/>
              <a:t>input</a:t>
            </a:r>
            <a:r>
              <a:rPr kumimoji="1" lang="zh-CN" altLang="en-US" dirty="0"/>
              <a:t>连接起来后按照正则表达式匹配到的所有项按照替换的正则表达式替换后存在</a:t>
            </a:r>
            <a:r>
              <a:rPr kumimoji="1" lang="en-US" altLang="zh-CN" dirty="0"/>
              <a:t>output</a:t>
            </a:r>
            <a:r>
              <a:rPr kumimoji="1" lang="zh-CN" altLang="en-US" dirty="0"/>
              <a:t>中，</a:t>
            </a:r>
            <a:endParaRPr kumimoji="1" lang="zh-CN" altLang="en-US" b="1" dirty="0"/>
          </a:p>
        </p:txBody>
      </p:sp>
      <p:pic>
        <p:nvPicPr>
          <p:cNvPr id="3" name="图片 2">
            <a:extLst>
              <a:ext uri="{FF2B5EF4-FFF2-40B4-BE49-F238E27FC236}">
                <a16:creationId xmlns:a16="http://schemas.microsoft.com/office/drawing/2014/main" id="{0410B664-292E-BD40-A3CA-2D07DC68B5FF}"/>
              </a:ext>
            </a:extLst>
          </p:cNvPr>
          <p:cNvPicPr>
            <a:picLocks noChangeAspect="1"/>
          </p:cNvPicPr>
          <p:nvPr/>
        </p:nvPicPr>
        <p:blipFill>
          <a:blip r:embed="rId3"/>
          <a:stretch>
            <a:fillRect/>
          </a:stretch>
        </p:blipFill>
        <p:spPr>
          <a:xfrm>
            <a:off x="822960" y="6131201"/>
            <a:ext cx="10110331" cy="375616"/>
          </a:xfrm>
          <a:prstGeom prst="rect">
            <a:avLst/>
          </a:prstGeom>
        </p:spPr>
      </p:pic>
    </p:spTree>
    <p:extLst>
      <p:ext uri="{BB962C8B-B14F-4D97-AF65-F5344CB8AC3E}">
        <p14:creationId xmlns:p14="http://schemas.microsoft.com/office/powerpoint/2010/main" val="2551394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ADD_CUSTOM_TARGET</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052888"/>
            <a:ext cx="10241280" cy="3970318"/>
          </a:xfrm>
          <a:prstGeom prst="rect">
            <a:avLst/>
          </a:prstGeom>
          <a:noFill/>
        </p:spPr>
        <p:txBody>
          <a:bodyPr wrap="square" rtlCol="0">
            <a:spAutoFit/>
          </a:bodyPr>
          <a:lstStyle/>
          <a:p>
            <a:r>
              <a:rPr kumimoji="1" lang="en-US" altLang="zh-CN" dirty="0"/>
              <a:t>ADD_CUSTOM_TARGET</a:t>
            </a:r>
            <a:r>
              <a:rPr kumimoji="1" lang="zh-CN" altLang="en-US" dirty="0"/>
              <a:t>命令可以添加一个没有输出的</a:t>
            </a:r>
            <a:r>
              <a:rPr kumimoji="1" lang="en-US" altLang="zh-CN" dirty="0"/>
              <a:t>target</a:t>
            </a:r>
            <a:r>
              <a:rPr kumimoji="1" lang="zh-CN" altLang="en-US" dirty="0"/>
              <a:t>，这样这个</a:t>
            </a:r>
            <a:r>
              <a:rPr kumimoji="1" lang="en-US" altLang="zh-CN" dirty="0"/>
              <a:t>target</a:t>
            </a:r>
            <a:r>
              <a:rPr kumimoji="1" lang="zh-CN" altLang="en-US" dirty="0"/>
              <a:t>可以永远构建成功</a:t>
            </a:r>
            <a:endParaRPr kumimoji="1" lang="en-US" altLang="zh-CN" dirty="0"/>
          </a:p>
          <a:p>
            <a:r>
              <a:rPr kumimoji="1" lang="zh-CN" altLang="en-US" dirty="0"/>
              <a:t>常用用法如下：</a:t>
            </a:r>
            <a:endParaRPr kumimoji="1" lang="en-US" altLang="zh-CN" dirty="0"/>
          </a:p>
          <a:p>
            <a:endParaRPr kumimoji="1" lang="en-US" altLang="zh-CN" dirty="0"/>
          </a:p>
          <a:p>
            <a:pPr marL="285750" indent="-285750">
              <a:buFont typeface="Arial" panose="020B0604020202020204" pitchFamily="34" charset="0"/>
              <a:buChar char="•"/>
            </a:pPr>
            <a:r>
              <a:rPr lang="en" altLang="zh-CN" b="1" dirty="0" err="1"/>
              <a:t>add_custom_target</a:t>
            </a:r>
            <a:r>
              <a:rPr lang="en" altLang="zh-CN" b="1" dirty="0"/>
              <a:t>(Name [</a:t>
            </a:r>
            <a:r>
              <a:rPr lang="en" altLang="zh-CN" b="1" dirty="0">
                <a:solidFill>
                  <a:srgbClr val="FF0000"/>
                </a:solidFill>
              </a:rPr>
              <a:t>ALL</a:t>
            </a:r>
            <a:r>
              <a:rPr lang="en" altLang="zh-CN" b="1" dirty="0"/>
              <a:t>] [command1 [args1...]] [</a:t>
            </a:r>
            <a:r>
              <a:rPr lang="en" altLang="zh-CN" b="1" dirty="0">
                <a:solidFill>
                  <a:srgbClr val="FF0000"/>
                </a:solidFill>
              </a:rPr>
              <a:t>COMMAND</a:t>
            </a:r>
            <a:r>
              <a:rPr lang="en" altLang="zh-CN" b="1" dirty="0"/>
              <a:t> command2 [args2...] ...] [</a:t>
            </a:r>
            <a:r>
              <a:rPr lang="en" altLang="zh-CN" b="1" dirty="0">
                <a:solidFill>
                  <a:srgbClr val="FF0000"/>
                </a:solidFill>
              </a:rPr>
              <a:t>DEPENDS</a:t>
            </a:r>
            <a:r>
              <a:rPr lang="en" altLang="zh-CN" b="1" dirty="0"/>
              <a:t> depend depend depend ... ]</a:t>
            </a:r>
            <a:r>
              <a:rPr lang="zh-CN" altLang="en-US" b="1" dirty="0"/>
              <a:t> </a:t>
            </a:r>
            <a:r>
              <a:rPr lang="en" altLang="zh-CN" b="1" dirty="0"/>
              <a:t>[</a:t>
            </a:r>
            <a:r>
              <a:rPr lang="en" altLang="zh-CN" b="1" dirty="0">
                <a:solidFill>
                  <a:srgbClr val="FF0000"/>
                </a:solidFill>
              </a:rPr>
              <a:t>BYPRODUCTS</a:t>
            </a:r>
            <a:r>
              <a:rPr lang="en" altLang="zh-CN" b="1" dirty="0"/>
              <a:t> [files...]] </a:t>
            </a:r>
            <a:r>
              <a:rPr lang="zh-CN" altLang="en-US" b="1" dirty="0"/>
              <a:t> </a:t>
            </a:r>
            <a:r>
              <a:rPr lang="en" altLang="zh-CN" b="1" dirty="0"/>
              <a:t>[</a:t>
            </a:r>
            <a:r>
              <a:rPr lang="en" altLang="zh-CN" b="1" dirty="0">
                <a:solidFill>
                  <a:srgbClr val="FF0000"/>
                </a:solidFill>
              </a:rPr>
              <a:t>WORKING_DIRECTORY </a:t>
            </a:r>
            <a:r>
              <a:rPr lang="en" altLang="zh-CN" b="1" dirty="0" err="1"/>
              <a:t>dir</a:t>
            </a:r>
            <a:r>
              <a:rPr lang="en" altLang="zh-CN" b="1" dirty="0"/>
              <a:t>]</a:t>
            </a:r>
          </a:p>
          <a:p>
            <a:r>
              <a:rPr lang="en" altLang="zh-CN" b="1" dirty="0"/>
              <a:t>  </a:t>
            </a:r>
            <a:r>
              <a:rPr lang="zh-CN" altLang="en-US" b="1" dirty="0"/>
              <a:t>   </a:t>
            </a:r>
            <a:r>
              <a:rPr lang="en" altLang="zh-CN" b="1" dirty="0"/>
              <a:t>[</a:t>
            </a:r>
            <a:r>
              <a:rPr lang="en" altLang="zh-CN" b="1" dirty="0">
                <a:solidFill>
                  <a:srgbClr val="FF0000"/>
                </a:solidFill>
              </a:rPr>
              <a:t>COMMENT</a:t>
            </a:r>
            <a:r>
              <a:rPr lang="en" altLang="zh-CN" b="1" dirty="0"/>
              <a:t> comment]</a:t>
            </a:r>
            <a:r>
              <a:rPr lang="zh-CN" altLang="en-US" b="1" dirty="0"/>
              <a:t> </a:t>
            </a:r>
            <a:r>
              <a:rPr lang="en" altLang="zh-CN" b="1" dirty="0"/>
              <a:t>[</a:t>
            </a:r>
            <a:r>
              <a:rPr lang="en" altLang="zh-CN" b="1" dirty="0">
                <a:solidFill>
                  <a:srgbClr val="FF0000"/>
                </a:solidFill>
              </a:rPr>
              <a:t>JOB_POOL</a:t>
            </a:r>
            <a:r>
              <a:rPr lang="en" altLang="zh-CN" b="1" dirty="0"/>
              <a:t> </a:t>
            </a:r>
            <a:r>
              <a:rPr lang="en" altLang="zh-CN" b="1" dirty="0" err="1"/>
              <a:t>job_pool</a:t>
            </a:r>
            <a:r>
              <a:rPr lang="en" altLang="zh-CN" b="1" dirty="0"/>
              <a:t>][</a:t>
            </a:r>
            <a:r>
              <a:rPr lang="en" altLang="zh-CN" b="1" dirty="0">
                <a:solidFill>
                  <a:srgbClr val="FF0000"/>
                </a:solidFill>
              </a:rPr>
              <a:t>VERBATIM</a:t>
            </a:r>
            <a:r>
              <a:rPr lang="en" altLang="zh-CN" b="1" dirty="0"/>
              <a:t>] [</a:t>
            </a:r>
            <a:r>
              <a:rPr lang="en" altLang="zh-CN" b="1" dirty="0">
                <a:solidFill>
                  <a:srgbClr val="FF0000"/>
                </a:solidFill>
              </a:rPr>
              <a:t>USES_TERMINAL</a:t>
            </a:r>
            <a:r>
              <a:rPr lang="en" altLang="zh-CN" b="1" dirty="0"/>
              <a:t>]</a:t>
            </a:r>
          </a:p>
          <a:p>
            <a:r>
              <a:rPr lang="en" altLang="zh-CN" b="1" dirty="0"/>
              <a:t>                  [</a:t>
            </a:r>
            <a:r>
              <a:rPr lang="en" altLang="zh-CN" b="1" dirty="0">
                <a:solidFill>
                  <a:srgbClr val="FF0000"/>
                </a:solidFill>
              </a:rPr>
              <a:t>COMMAND_EXPAND_LISTS</a:t>
            </a:r>
            <a:r>
              <a:rPr lang="en" altLang="zh-CN" b="1" dirty="0"/>
              <a:t>]</a:t>
            </a:r>
            <a:r>
              <a:rPr lang="zh-CN" altLang="en-US" b="1" dirty="0"/>
              <a:t>  </a:t>
            </a:r>
            <a:r>
              <a:rPr lang="en" altLang="zh-CN" b="1" dirty="0"/>
              <a:t>[</a:t>
            </a:r>
            <a:r>
              <a:rPr lang="en" altLang="zh-CN" b="1" dirty="0">
                <a:solidFill>
                  <a:srgbClr val="FF0000"/>
                </a:solidFill>
              </a:rPr>
              <a:t>SOURCES</a:t>
            </a:r>
            <a:r>
              <a:rPr lang="en" altLang="zh-CN" b="1" dirty="0"/>
              <a:t> src1 [src2...]])</a:t>
            </a:r>
            <a:r>
              <a:rPr kumimoji="1" lang="zh-CN" altLang="en-US" dirty="0"/>
              <a:t>     </a:t>
            </a:r>
            <a:endParaRPr kumimoji="1" lang="en-US" altLang="zh-CN" dirty="0"/>
          </a:p>
          <a:p>
            <a:r>
              <a:rPr kumimoji="1" lang="zh-CN" altLang="en-US" dirty="0"/>
              <a:t>其中常用的可选属性：</a:t>
            </a:r>
            <a:endParaRPr kumimoji="1" lang="en-US" altLang="zh-CN" dirty="0"/>
          </a:p>
          <a:p>
            <a:pPr marL="285750" indent="-285750">
              <a:buFont typeface="Arial" panose="020B0604020202020204" pitchFamily="34" charset="0"/>
              <a:buChar char="•"/>
            </a:pPr>
            <a:r>
              <a:rPr kumimoji="1" lang="en-US" altLang="zh-CN" b="1" dirty="0"/>
              <a:t>ALL</a:t>
            </a:r>
            <a:r>
              <a:rPr kumimoji="1" lang="en-US" altLang="zh-CN" dirty="0"/>
              <a:t>:</a:t>
            </a:r>
            <a:r>
              <a:rPr kumimoji="1" lang="zh-CN" altLang="en-US" dirty="0"/>
              <a:t>表明添加到默认的构建</a:t>
            </a:r>
            <a:r>
              <a:rPr kumimoji="1" lang="en-US" altLang="zh-CN" dirty="0"/>
              <a:t>targets</a:t>
            </a:r>
            <a:r>
              <a:rPr kumimoji="1" lang="zh-CN" altLang="en-US" dirty="0"/>
              <a:t>，每次运行都会构建（通俗说就是加了</a:t>
            </a:r>
            <a:r>
              <a:rPr kumimoji="1" lang="en-US" altLang="zh-CN" dirty="0"/>
              <a:t>ALL</a:t>
            </a:r>
            <a:r>
              <a:rPr kumimoji="1" lang="zh-CN" altLang="en-US" dirty="0"/>
              <a:t>输</a:t>
            </a:r>
            <a:r>
              <a:rPr kumimoji="1" lang="en-US" altLang="zh-CN" dirty="0"/>
              <a:t>make</a:t>
            </a:r>
            <a:r>
              <a:rPr kumimoji="1" lang="zh-CN" altLang="en-US" dirty="0"/>
              <a:t>会自动构建）</a:t>
            </a:r>
            <a:endParaRPr kumimoji="1" lang="en-US" altLang="zh-CN" dirty="0"/>
          </a:p>
          <a:p>
            <a:pPr marL="285750" indent="-285750">
              <a:buFont typeface="Arial" panose="020B0604020202020204" pitchFamily="34" charset="0"/>
              <a:buChar char="•"/>
            </a:pPr>
            <a:r>
              <a:rPr kumimoji="1" lang="en-US" altLang="zh-CN" b="1" dirty="0"/>
              <a:t>COMMAND</a:t>
            </a:r>
            <a:r>
              <a:rPr kumimoji="1" lang="zh-CN" altLang="en-US" dirty="0"/>
              <a:t>：指定要在构建时执行的命令行。</a:t>
            </a:r>
            <a:endParaRPr kumimoji="1" lang="en-US" altLang="zh-CN" dirty="0"/>
          </a:p>
          <a:p>
            <a:pPr marL="285750" indent="-285750">
              <a:buFont typeface="Arial" panose="020B0604020202020204" pitchFamily="34" charset="0"/>
              <a:buChar char="•"/>
            </a:pPr>
            <a:r>
              <a:rPr kumimoji="1" lang="en-US" altLang="zh-CN" b="1" dirty="0"/>
              <a:t>DEPEND</a:t>
            </a:r>
            <a:r>
              <a:rPr kumimoji="1" lang="zh-CN" altLang="en-US" dirty="0"/>
              <a:t>：</a:t>
            </a:r>
            <a:r>
              <a:rPr lang="zh-CN" altLang="en-US" dirty="0"/>
              <a:t>指定了该命令所依赖的文件。</a:t>
            </a:r>
            <a:endParaRPr lang="en-US" altLang="zh-CN" dirty="0"/>
          </a:p>
          <a:p>
            <a:pPr marL="285750" indent="-285750">
              <a:buFont typeface="Arial" panose="020B0604020202020204" pitchFamily="34" charset="0"/>
              <a:buChar char="•"/>
            </a:pPr>
            <a:r>
              <a:rPr kumimoji="1" lang="en-US" altLang="zh-CN" b="1" dirty="0"/>
              <a:t>COMMENT</a:t>
            </a:r>
            <a:r>
              <a:rPr kumimoji="1" lang="zh-CN" altLang="en-US" dirty="0"/>
              <a:t>：在执行指令前打印的信息。</a:t>
            </a:r>
            <a:endParaRPr kumimoji="1" lang="en-US" altLang="zh-CN" dirty="0"/>
          </a:p>
          <a:p>
            <a:pPr marL="285750" indent="-285750">
              <a:buFont typeface="Arial" panose="020B0604020202020204" pitchFamily="34" charset="0"/>
              <a:buChar char="•"/>
            </a:pPr>
            <a:r>
              <a:rPr kumimoji="1" lang="en-US" altLang="zh-CN" b="1" dirty="0"/>
              <a:t>WORKING_DIRECTORY</a:t>
            </a:r>
            <a:r>
              <a:rPr kumimoji="1" lang="zh-CN" altLang="en-US" dirty="0"/>
              <a:t>：命令运行路径。</a:t>
            </a:r>
            <a:endParaRPr kumimoji="1" lang="en-US" altLang="zh-CN" dirty="0"/>
          </a:p>
          <a:p>
            <a:pPr marL="285750" indent="-285750">
              <a:buFont typeface="Arial" panose="020B0604020202020204" pitchFamily="34" charset="0"/>
              <a:buChar char="•"/>
            </a:pPr>
            <a:r>
              <a:rPr lang="en" altLang="zh-CN" b="1" dirty="0"/>
              <a:t>VERBATIM</a:t>
            </a:r>
            <a:r>
              <a:rPr lang="zh-CN" altLang="en-US" dirty="0"/>
              <a:t>：传入的参数会被适当转义以此来针对不同平台保护特殊字符。</a:t>
            </a:r>
            <a:endParaRPr kumimoji="1" lang="en-US" altLang="zh-CN" dirty="0"/>
          </a:p>
        </p:txBody>
      </p:sp>
    </p:spTree>
    <p:extLst>
      <p:ext uri="{BB962C8B-B14F-4D97-AF65-F5344CB8AC3E}">
        <p14:creationId xmlns:p14="http://schemas.microsoft.com/office/powerpoint/2010/main" val="3791818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ADD_CUSTOM_COMMAND</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22960" y="1052888"/>
            <a:ext cx="10241280" cy="4801314"/>
          </a:xfrm>
          <a:prstGeom prst="rect">
            <a:avLst/>
          </a:prstGeom>
          <a:noFill/>
        </p:spPr>
        <p:txBody>
          <a:bodyPr wrap="square" rtlCol="0">
            <a:spAutoFit/>
          </a:bodyPr>
          <a:lstStyle/>
          <a:p>
            <a:r>
              <a:rPr kumimoji="1" lang="en-US" altLang="zh-CN" dirty="0"/>
              <a:t>ADD_CUSTOM_COMMAND</a:t>
            </a:r>
            <a:r>
              <a:rPr kumimoji="1" lang="zh-CN" altLang="en-US" dirty="0"/>
              <a:t>命令可以向已经构建好的生成系统添加自定义规则，但是如果这个命令直接写出来是不会被执行的，需要有</a:t>
            </a:r>
            <a:r>
              <a:rPr kumimoji="1" lang="en-US" altLang="zh-CN" dirty="0"/>
              <a:t>target</a:t>
            </a:r>
            <a:r>
              <a:rPr kumimoji="1" lang="zh-CN" altLang="en-US" dirty="0"/>
              <a:t>对他依赖。</a:t>
            </a:r>
            <a:r>
              <a:rPr kumimoji="1" lang="en-US" altLang="zh-CN" dirty="0"/>
              <a:t>ADD_CUSTOM_COMMAND</a:t>
            </a:r>
            <a:r>
              <a:rPr kumimoji="1" lang="zh-CN" altLang="en-US" dirty="0"/>
              <a:t>有两个比较重要的类型</a:t>
            </a:r>
            <a:r>
              <a:rPr kumimoji="1" lang="en-US" altLang="zh-CN" dirty="0"/>
              <a:t>——</a:t>
            </a:r>
            <a:r>
              <a:rPr kumimoji="1" lang="zh-CN" altLang="en-US" dirty="0"/>
              <a:t>输出文件和生成</a:t>
            </a:r>
            <a:r>
              <a:rPr kumimoji="1" lang="en-US" altLang="zh-CN" dirty="0"/>
              <a:t>target</a:t>
            </a:r>
          </a:p>
          <a:p>
            <a:r>
              <a:rPr kumimoji="1" lang="zh-CN" altLang="en-US" dirty="0"/>
              <a:t>用法如下：</a:t>
            </a:r>
            <a:endParaRPr kumimoji="1" lang="en-US" altLang="zh-CN" dirty="0"/>
          </a:p>
          <a:p>
            <a:pPr marL="285750" indent="-285750">
              <a:buFont typeface="Arial" panose="020B0604020202020204" pitchFamily="34" charset="0"/>
              <a:buChar char="•"/>
            </a:pPr>
            <a:r>
              <a:rPr lang="en" altLang="zh-CN" b="1" dirty="0" err="1"/>
              <a:t>add_custom_command</a:t>
            </a:r>
            <a:r>
              <a:rPr lang="en" altLang="zh-CN" b="1" dirty="0"/>
              <a:t>(</a:t>
            </a:r>
            <a:r>
              <a:rPr lang="en" altLang="zh-CN" b="1" dirty="0">
                <a:solidFill>
                  <a:srgbClr val="FF0000"/>
                </a:solidFill>
              </a:rPr>
              <a:t>OUTPUT</a:t>
            </a:r>
            <a:r>
              <a:rPr lang="en" altLang="zh-CN" b="1" dirty="0"/>
              <a:t> output1 [output2 ...]</a:t>
            </a:r>
            <a:r>
              <a:rPr lang="zh-CN" altLang="en-US" b="1" dirty="0"/>
              <a:t> </a:t>
            </a:r>
            <a:r>
              <a:rPr lang="en" altLang="zh-CN" b="1" dirty="0">
                <a:solidFill>
                  <a:srgbClr val="FF0000"/>
                </a:solidFill>
              </a:rPr>
              <a:t>COMMAND</a:t>
            </a:r>
            <a:r>
              <a:rPr lang="en" altLang="zh-CN" b="1" dirty="0"/>
              <a:t> command1 [</a:t>
            </a:r>
            <a:r>
              <a:rPr lang="en" altLang="zh-CN" b="1" dirty="0">
                <a:solidFill>
                  <a:srgbClr val="FF0000"/>
                </a:solidFill>
              </a:rPr>
              <a:t>ARGS</a:t>
            </a:r>
            <a:r>
              <a:rPr lang="en" altLang="zh-CN" b="1" dirty="0"/>
              <a:t>] [args1...] [</a:t>
            </a:r>
            <a:r>
              <a:rPr lang="en" altLang="zh-CN" b="1" dirty="0">
                <a:solidFill>
                  <a:srgbClr val="FF0000"/>
                </a:solidFill>
              </a:rPr>
              <a:t>MAIN_DEPENDENCY </a:t>
            </a:r>
            <a:r>
              <a:rPr lang="en" altLang="zh-CN" b="1" dirty="0"/>
              <a:t>depend]</a:t>
            </a:r>
            <a:r>
              <a:rPr lang="zh-CN" altLang="en-US" b="1" dirty="0"/>
              <a:t> </a:t>
            </a:r>
            <a:r>
              <a:rPr lang="en" altLang="zh-CN" b="1" dirty="0"/>
              <a:t>[</a:t>
            </a:r>
            <a:r>
              <a:rPr lang="en" altLang="zh-CN" b="1" dirty="0">
                <a:solidFill>
                  <a:srgbClr val="FF0000"/>
                </a:solidFill>
              </a:rPr>
              <a:t>DEPENDS</a:t>
            </a:r>
            <a:r>
              <a:rPr lang="en" altLang="zh-CN" b="1" dirty="0"/>
              <a:t> [depends...]] [</a:t>
            </a:r>
            <a:r>
              <a:rPr lang="en" altLang="zh-CN" b="1" dirty="0">
                <a:solidFill>
                  <a:srgbClr val="FF0000"/>
                </a:solidFill>
              </a:rPr>
              <a:t>BYPRODUCTS</a:t>
            </a:r>
            <a:r>
              <a:rPr lang="en" altLang="zh-CN" b="1" dirty="0"/>
              <a:t> [files...]] [</a:t>
            </a:r>
            <a:r>
              <a:rPr lang="en" altLang="zh-CN" b="1" dirty="0">
                <a:solidFill>
                  <a:srgbClr val="FF0000"/>
                </a:solidFill>
              </a:rPr>
              <a:t>IMPLICIT_DEPENDS </a:t>
            </a:r>
            <a:r>
              <a:rPr lang="en" altLang="zh-CN" b="1" dirty="0"/>
              <a:t>&lt;lang1&gt; depend1</a:t>
            </a:r>
            <a:r>
              <a:rPr lang="zh-CN" altLang="en-US" b="1" dirty="0"/>
              <a:t> </a:t>
            </a:r>
            <a:r>
              <a:rPr lang="en" altLang="zh-CN" b="1" dirty="0"/>
              <a:t>[&lt;lang2&gt; depend2] ...] [</a:t>
            </a:r>
            <a:r>
              <a:rPr lang="en" altLang="zh-CN" b="1" dirty="0">
                <a:solidFill>
                  <a:srgbClr val="FF0000"/>
                </a:solidFill>
              </a:rPr>
              <a:t>WORKING_DIRECTORY </a:t>
            </a:r>
            <a:r>
              <a:rPr lang="en" altLang="zh-CN" b="1" dirty="0" err="1"/>
              <a:t>dir</a:t>
            </a:r>
            <a:r>
              <a:rPr lang="en" altLang="zh-CN" b="1" dirty="0"/>
              <a:t>]</a:t>
            </a:r>
          </a:p>
          <a:p>
            <a:r>
              <a:rPr lang="en" altLang="zh-CN" b="1" dirty="0"/>
              <a:t>    [</a:t>
            </a:r>
            <a:r>
              <a:rPr lang="en" altLang="zh-CN" b="1" dirty="0">
                <a:solidFill>
                  <a:srgbClr val="FF0000"/>
                </a:solidFill>
              </a:rPr>
              <a:t>COMMENT</a:t>
            </a:r>
            <a:r>
              <a:rPr lang="en" altLang="zh-CN" b="1" dirty="0"/>
              <a:t> comment] [</a:t>
            </a:r>
            <a:r>
              <a:rPr lang="en" altLang="zh-CN" b="1" dirty="0">
                <a:solidFill>
                  <a:srgbClr val="FF0000"/>
                </a:solidFill>
              </a:rPr>
              <a:t>DEPFILE</a:t>
            </a:r>
            <a:r>
              <a:rPr lang="en" altLang="zh-CN" b="1" dirty="0"/>
              <a:t> </a:t>
            </a:r>
            <a:r>
              <a:rPr lang="en" altLang="zh-CN" b="1" dirty="0" err="1"/>
              <a:t>depfile</a:t>
            </a:r>
            <a:r>
              <a:rPr lang="en" altLang="zh-CN" b="1" dirty="0"/>
              <a:t>]</a:t>
            </a:r>
            <a:r>
              <a:rPr lang="zh-CN" altLang="en-US" b="1" dirty="0"/>
              <a:t> </a:t>
            </a:r>
            <a:r>
              <a:rPr lang="en" altLang="zh-CN" b="1" dirty="0"/>
              <a:t>[</a:t>
            </a:r>
            <a:r>
              <a:rPr lang="en" altLang="zh-CN" b="1" dirty="0">
                <a:solidFill>
                  <a:srgbClr val="FF0000"/>
                </a:solidFill>
              </a:rPr>
              <a:t>JOB_POOL </a:t>
            </a:r>
            <a:r>
              <a:rPr lang="en" altLang="zh-CN" b="1" dirty="0" err="1"/>
              <a:t>job_pool</a:t>
            </a:r>
            <a:r>
              <a:rPr lang="en" altLang="zh-CN" b="1" dirty="0"/>
              <a:t>]</a:t>
            </a:r>
            <a:r>
              <a:rPr lang="zh-CN" altLang="en-US" b="1" dirty="0"/>
              <a:t> </a:t>
            </a:r>
            <a:r>
              <a:rPr lang="en" altLang="zh-CN" b="1" dirty="0"/>
              <a:t>[</a:t>
            </a:r>
            <a:r>
              <a:rPr lang="en" altLang="zh-CN" b="1" dirty="0">
                <a:solidFill>
                  <a:srgbClr val="FF0000"/>
                </a:solidFill>
              </a:rPr>
              <a:t>VERBATIM</a:t>
            </a:r>
            <a:r>
              <a:rPr lang="en" altLang="zh-CN" b="1" dirty="0"/>
              <a:t>] [</a:t>
            </a:r>
            <a:r>
              <a:rPr lang="en" altLang="zh-CN" b="1" dirty="0">
                <a:solidFill>
                  <a:srgbClr val="FF0000"/>
                </a:solidFill>
              </a:rPr>
              <a:t>APPEND</a:t>
            </a:r>
            <a:r>
              <a:rPr lang="en" altLang="zh-CN" b="1" dirty="0"/>
              <a:t>] </a:t>
            </a:r>
            <a:r>
              <a:rPr lang="zh-CN" altLang="en-US" b="1" dirty="0"/>
              <a:t>                    </a:t>
            </a:r>
            <a:r>
              <a:rPr lang="en" altLang="zh-CN" b="1" dirty="0"/>
              <a:t>[</a:t>
            </a:r>
            <a:r>
              <a:rPr lang="en" altLang="zh-CN" b="1" dirty="0">
                <a:solidFill>
                  <a:srgbClr val="FF0000"/>
                </a:solidFill>
              </a:rPr>
              <a:t>USES_TERMINAL</a:t>
            </a:r>
            <a:r>
              <a:rPr lang="en" altLang="zh-CN" b="1" dirty="0"/>
              <a:t>]</a:t>
            </a:r>
            <a:r>
              <a:rPr lang="zh-CN" altLang="en-US" b="1" dirty="0"/>
              <a:t> </a:t>
            </a:r>
            <a:r>
              <a:rPr lang="en" altLang="zh-CN" b="1" dirty="0"/>
              <a:t>[</a:t>
            </a:r>
            <a:r>
              <a:rPr lang="en" altLang="zh-CN" b="1" dirty="0">
                <a:solidFill>
                  <a:srgbClr val="FF0000"/>
                </a:solidFill>
              </a:rPr>
              <a:t>COMMAND_EXPAND_LISTS</a:t>
            </a:r>
            <a:r>
              <a:rPr lang="en" altLang="zh-CN" b="1" dirty="0"/>
              <a:t>])</a:t>
            </a:r>
          </a:p>
          <a:p>
            <a:r>
              <a:rPr lang="zh-CN" altLang="en-US" dirty="0"/>
              <a:t>     </a:t>
            </a:r>
            <a:r>
              <a:rPr lang="zh-CN" altLang="en" dirty="0"/>
              <a:t>常用</a:t>
            </a:r>
            <a:r>
              <a:rPr lang="zh-CN" altLang="en-US" dirty="0"/>
              <a:t>选项同上一个命令</a:t>
            </a:r>
            <a:endParaRPr lang="en" altLang="zh-CN" dirty="0"/>
          </a:p>
          <a:p>
            <a:r>
              <a:rPr kumimoji="1" lang="zh-CN" altLang="en-US" dirty="0"/>
              <a:t>     这里</a:t>
            </a:r>
            <a:r>
              <a:rPr kumimoji="1" lang="en-US" altLang="zh-CN" dirty="0"/>
              <a:t>OUTPUT</a:t>
            </a:r>
            <a:r>
              <a:rPr kumimoji="1" lang="zh-CN" altLang="en-US" dirty="0"/>
              <a:t>就是输出文件的模式，可以切换成</a:t>
            </a:r>
            <a:r>
              <a:rPr lang="en" altLang="zh-CN" b="1" dirty="0">
                <a:solidFill>
                  <a:srgbClr val="FF0000"/>
                </a:solidFill>
              </a:rPr>
              <a:t>TARGET</a:t>
            </a:r>
            <a:r>
              <a:rPr lang="zh-CN" altLang="en-US" dirty="0"/>
              <a:t>，这样就可以来在生成指定</a:t>
            </a:r>
            <a:r>
              <a:rPr lang="en-US" altLang="zh-CN" dirty="0"/>
              <a:t>Target</a:t>
            </a:r>
            <a:r>
              <a:rPr lang="zh-CN" altLang="en-US" dirty="0"/>
              <a:t>之前或之后执行一些命令，可以设置以下选项来设置命令执行的时间：</a:t>
            </a:r>
            <a:endParaRPr lang="en-US" altLang="zh-CN" dirty="0"/>
          </a:p>
          <a:p>
            <a:pPr marL="285750" indent="-285750">
              <a:buFont typeface="Arial" panose="020B0604020202020204" pitchFamily="34" charset="0"/>
              <a:buChar char="•"/>
            </a:pPr>
            <a:r>
              <a:rPr lang="en" altLang="zh-CN" b="1" dirty="0"/>
              <a:t>PRE_BUILD</a:t>
            </a:r>
            <a:r>
              <a:rPr lang="zh-CN" altLang="en-US" dirty="0"/>
              <a:t>：在</a:t>
            </a:r>
            <a:r>
              <a:rPr lang="en-US" altLang="zh-CN" dirty="0"/>
              <a:t>Visual</a:t>
            </a:r>
            <a:r>
              <a:rPr lang="zh-CN" altLang="en-US" dirty="0"/>
              <a:t> </a:t>
            </a:r>
            <a:r>
              <a:rPr lang="en-US" altLang="zh-CN" dirty="0"/>
              <a:t>Studio</a:t>
            </a:r>
            <a:r>
              <a:rPr lang="zh-CN" altLang="en-US" dirty="0"/>
              <a:t>上是最先执行（比其他任何规则都先执行），其他的生成器和</a:t>
            </a:r>
            <a:r>
              <a:rPr lang="en-US" altLang="zh-CN" dirty="0"/>
              <a:t>PRE_LINK</a:t>
            </a:r>
            <a:r>
              <a:rPr lang="zh-CN" altLang="en-US" dirty="0"/>
              <a:t>基本无区别</a:t>
            </a:r>
            <a:endParaRPr lang="en" altLang="zh-CN" dirty="0"/>
          </a:p>
          <a:p>
            <a:pPr marL="285750" indent="-285750">
              <a:buFont typeface="Arial" panose="020B0604020202020204" pitchFamily="34" charset="0"/>
              <a:buChar char="•"/>
            </a:pPr>
            <a:r>
              <a:rPr lang="en" altLang="zh-CN" b="1" dirty="0"/>
              <a:t>PRE_LINK</a:t>
            </a:r>
            <a:r>
              <a:rPr lang="zh-CN" altLang="en-US" dirty="0"/>
              <a:t>：编译后链接前</a:t>
            </a:r>
            <a:endParaRPr lang="en" altLang="zh-CN" dirty="0"/>
          </a:p>
          <a:p>
            <a:pPr marL="285750" indent="-285750">
              <a:buFont typeface="Arial" panose="020B0604020202020204" pitchFamily="34" charset="0"/>
              <a:buChar char="•"/>
            </a:pPr>
            <a:r>
              <a:rPr lang="en" altLang="zh-CN" b="1" dirty="0"/>
              <a:t>POST_BUILD</a:t>
            </a:r>
            <a:r>
              <a:rPr lang="zh-CN" altLang="en-US" dirty="0"/>
              <a:t>：构建完成后执行</a:t>
            </a:r>
            <a:endParaRPr kumimoji="1" lang="en-US" altLang="zh-CN" b="1" dirty="0"/>
          </a:p>
          <a:p>
            <a:endParaRPr kumimoji="1" lang="en-US" altLang="zh-CN" dirty="0"/>
          </a:p>
        </p:txBody>
      </p:sp>
    </p:spTree>
    <p:extLst>
      <p:ext uri="{BB962C8B-B14F-4D97-AF65-F5344CB8AC3E}">
        <p14:creationId xmlns:p14="http://schemas.microsoft.com/office/powerpoint/2010/main" val="3246835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ADD_DEPENDENCIES</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1158905"/>
            <a:ext cx="10241280" cy="1754326"/>
          </a:xfrm>
          <a:prstGeom prst="rect">
            <a:avLst/>
          </a:prstGeom>
          <a:noFill/>
        </p:spPr>
        <p:txBody>
          <a:bodyPr wrap="square" rtlCol="0">
            <a:spAutoFit/>
          </a:bodyPr>
          <a:lstStyle/>
          <a:p>
            <a:r>
              <a:rPr kumimoji="1" lang="en-US" altLang="zh-CN" dirty="0"/>
              <a:t>ADD_DEPENDCIES</a:t>
            </a:r>
            <a:r>
              <a:rPr kumimoji="1" lang="zh-CN" altLang="en-US" dirty="0"/>
              <a:t>命令可以让一个顶层的</a:t>
            </a:r>
            <a:r>
              <a:rPr kumimoji="1" lang="en-US" altLang="zh-CN" dirty="0"/>
              <a:t>targets</a:t>
            </a:r>
            <a:r>
              <a:rPr kumimoji="1" lang="zh-CN" altLang="en-US" dirty="0"/>
              <a:t>依赖另一个顶层</a:t>
            </a:r>
            <a:r>
              <a:rPr kumimoji="1" lang="en-US" altLang="zh-CN" dirty="0"/>
              <a:t>targets</a:t>
            </a:r>
            <a:r>
              <a:rPr kumimoji="1" lang="zh-CN" altLang="en-US" dirty="0"/>
              <a:t>，顶层</a:t>
            </a:r>
            <a:r>
              <a:rPr kumimoji="1" lang="en-US" altLang="zh-CN" dirty="0"/>
              <a:t>target</a:t>
            </a:r>
            <a:r>
              <a:rPr kumimoji="1" lang="zh-CN" altLang="en-US" dirty="0"/>
              <a:t>指由</a:t>
            </a:r>
            <a:r>
              <a:rPr kumimoji="1" lang="en" altLang="zh-CN" dirty="0" err="1"/>
              <a:t>add_executable</a:t>
            </a:r>
            <a:r>
              <a:rPr kumimoji="1" lang="en" altLang="zh-CN" dirty="0"/>
              <a:t>(), </a:t>
            </a:r>
            <a:r>
              <a:rPr kumimoji="1" lang="en" altLang="zh-CN" dirty="0" err="1"/>
              <a:t>add_library</a:t>
            </a:r>
            <a:r>
              <a:rPr kumimoji="1" lang="en" altLang="zh-CN" dirty="0"/>
              <a:t>()</a:t>
            </a:r>
            <a:r>
              <a:rPr kumimoji="1" lang="zh-CN" altLang="en" dirty="0"/>
              <a:t>或</a:t>
            </a:r>
            <a:r>
              <a:rPr kumimoji="1" lang="en" altLang="zh-CN" dirty="0"/>
              <a:t> </a:t>
            </a:r>
            <a:r>
              <a:rPr kumimoji="1" lang="en" altLang="zh-CN" dirty="0" err="1"/>
              <a:t>add_custom_target</a:t>
            </a:r>
            <a:r>
              <a:rPr kumimoji="1" lang="en" altLang="zh-CN" dirty="0"/>
              <a:t>()</a:t>
            </a:r>
            <a:r>
              <a:rPr kumimoji="1" lang="zh-CN" altLang="en" dirty="0"/>
              <a:t>生成</a:t>
            </a:r>
            <a:r>
              <a:rPr kumimoji="1" lang="zh-CN" altLang="en-US" dirty="0"/>
              <a:t>的</a:t>
            </a:r>
            <a:r>
              <a:rPr kumimoji="1" lang="en-US" altLang="zh-CN" dirty="0"/>
              <a:t>target</a:t>
            </a:r>
            <a:r>
              <a:rPr kumimoji="1" lang="zh-CN" altLang="en-US" dirty="0"/>
              <a:t>，这样可以确保被依赖的</a:t>
            </a:r>
            <a:r>
              <a:rPr kumimoji="1" lang="en-US" altLang="zh-CN" dirty="0"/>
              <a:t>target</a:t>
            </a:r>
            <a:r>
              <a:rPr kumimoji="1" lang="zh-CN" altLang="en-US" dirty="0"/>
              <a:t>先被构建</a:t>
            </a:r>
            <a:endParaRPr kumimoji="1" lang="en-US" altLang="zh-CN" dirty="0"/>
          </a:p>
          <a:p>
            <a:r>
              <a:rPr kumimoji="1" lang="zh-CN" altLang="en-US" dirty="0"/>
              <a:t>用法如下：</a:t>
            </a:r>
            <a:endParaRPr kumimoji="1" lang="en-US" altLang="zh-CN" dirty="0"/>
          </a:p>
          <a:p>
            <a:pPr marL="285750" indent="-285750">
              <a:buFont typeface="Arial" panose="020B0604020202020204" pitchFamily="34" charset="0"/>
              <a:buChar char="•"/>
            </a:pPr>
            <a:r>
              <a:rPr lang="en" altLang="zh-CN" b="1" dirty="0" err="1"/>
              <a:t>add_dependencies</a:t>
            </a:r>
            <a:r>
              <a:rPr lang="en" altLang="zh-CN" b="1" dirty="0"/>
              <a:t>(&lt;target&gt; [&lt;target-dependency&gt;]...)</a:t>
            </a:r>
          </a:p>
          <a:p>
            <a:endParaRPr kumimoji="1" lang="en-US" altLang="zh-CN" dirty="0"/>
          </a:p>
        </p:txBody>
      </p:sp>
    </p:spTree>
    <p:extLst>
      <p:ext uri="{BB962C8B-B14F-4D97-AF65-F5344CB8AC3E}">
        <p14:creationId xmlns:p14="http://schemas.microsoft.com/office/powerpoint/2010/main" val="2748044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ADD_CUSTOM_COMMAND</a:t>
            </a:r>
            <a:endParaRPr kumimoji="1" lang="zh-CN" altLang="en-US" sz="2400" dirty="0"/>
          </a:p>
        </p:txBody>
      </p:sp>
      <p:pic>
        <p:nvPicPr>
          <p:cNvPr id="5" name="图片 4">
            <a:extLst>
              <a:ext uri="{FF2B5EF4-FFF2-40B4-BE49-F238E27FC236}">
                <a16:creationId xmlns:a16="http://schemas.microsoft.com/office/drawing/2014/main" id="{627D75F1-795B-A045-B09A-C15D975419EC}"/>
              </a:ext>
            </a:extLst>
          </p:cNvPr>
          <p:cNvPicPr>
            <a:picLocks noChangeAspect="1"/>
          </p:cNvPicPr>
          <p:nvPr/>
        </p:nvPicPr>
        <p:blipFill>
          <a:blip r:embed="rId3"/>
          <a:stretch>
            <a:fillRect/>
          </a:stretch>
        </p:blipFill>
        <p:spPr>
          <a:xfrm>
            <a:off x="1176130" y="792645"/>
            <a:ext cx="9601200" cy="5829300"/>
          </a:xfrm>
          <a:prstGeom prst="rect">
            <a:avLst/>
          </a:prstGeom>
        </p:spPr>
      </p:pic>
    </p:spTree>
    <p:extLst>
      <p:ext uri="{BB962C8B-B14F-4D97-AF65-F5344CB8AC3E}">
        <p14:creationId xmlns:p14="http://schemas.microsoft.com/office/powerpoint/2010/main" val="154688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err="1"/>
              <a:t>CMake</a:t>
            </a:r>
            <a:r>
              <a:rPr kumimoji="1" lang="zh-CN" altLang="en-US" sz="2400" dirty="0"/>
              <a:t>语言常用命令 </a:t>
            </a:r>
            <a:r>
              <a:rPr kumimoji="1" lang="en-US" altLang="zh-CN" sz="2400" dirty="0"/>
              <a:t>--</a:t>
            </a:r>
            <a:r>
              <a:rPr kumimoji="1" lang="zh-CN" altLang="en-US" sz="2400" dirty="0"/>
              <a:t> </a:t>
            </a:r>
            <a:r>
              <a:rPr kumimoji="1" lang="en-US" altLang="zh-CN" sz="2400" dirty="0"/>
              <a:t>ADD_DEFINITIONS</a:t>
            </a:r>
            <a:endParaRPr kumimoji="1" lang="zh-CN" altLang="en-US" sz="2400" dirty="0"/>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1158905"/>
            <a:ext cx="10241280" cy="2585323"/>
          </a:xfrm>
          <a:prstGeom prst="rect">
            <a:avLst/>
          </a:prstGeom>
          <a:noFill/>
        </p:spPr>
        <p:txBody>
          <a:bodyPr wrap="square" rtlCol="0">
            <a:spAutoFit/>
          </a:bodyPr>
          <a:lstStyle/>
          <a:p>
            <a:r>
              <a:rPr kumimoji="1" lang="en-US" altLang="zh-CN" dirty="0"/>
              <a:t>ADD_DEFINITIONS</a:t>
            </a:r>
            <a:r>
              <a:rPr kumimoji="1" lang="zh-CN" altLang="en-US" dirty="0"/>
              <a:t>命令可以在当前目录及子目录源代码里添加宏的定义，</a:t>
            </a:r>
            <a:endParaRPr kumimoji="1" lang="en-US" altLang="zh-CN" dirty="0"/>
          </a:p>
          <a:p>
            <a:r>
              <a:rPr kumimoji="1" lang="zh-CN" altLang="en-US" dirty="0"/>
              <a:t>用法如下：</a:t>
            </a:r>
            <a:endParaRPr kumimoji="1" lang="en-US" altLang="zh-CN" dirty="0"/>
          </a:p>
          <a:p>
            <a:pPr marL="285750" indent="-285750">
              <a:buFont typeface="Arial" panose="020B0604020202020204" pitchFamily="34" charset="0"/>
              <a:buChar char="•"/>
            </a:pPr>
            <a:r>
              <a:rPr lang="en" altLang="zh-CN" b="1" dirty="0" err="1"/>
              <a:t>add_definitions</a:t>
            </a:r>
            <a:r>
              <a:rPr lang="en" altLang="zh-CN" b="1" dirty="0"/>
              <a:t>(</a:t>
            </a:r>
            <a:r>
              <a:rPr lang="en" altLang="zh-CN" b="1" dirty="0">
                <a:solidFill>
                  <a:srgbClr val="FF0000"/>
                </a:solidFill>
              </a:rPr>
              <a:t>-D</a:t>
            </a:r>
            <a:r>
              <a:rPr lang="en" altLang="zh-CN" b="1" dirty="0"/>
              <a:t>FOO </a:t>
            </a:r>
            <a:r>
              <a:rPr lang="en" altLang="zh-CN" b="1" dirty="0">
                <a:solidFill>
                  <a:srgbClr val="FF0000"/>
                </a:solidFill>
              </a:rPr>
              <a:t>-D</a:t>
            </a:r>
            <a:r>
              <a:rPr lang="en" altLang="zh-CN" b="1" dirty="0"/>
              <a:t>BAR ...)</a:t>
            </a:r>
            <a:r>
              <a:rPr kumimoji="1" lang="en-US" altLang="zh-CN" b="1" dirty="0"/>
              <a:t> </a:t>
            </a:r>
          </a:p>
          <a:p>
            <a:r>
              <a:rPr kumimoji="1" lang="zh-CN" altLang="en-US" dirty="0"/>
              <a:t>但是这条命令目前被一些其他的命令取代了：</a:t>
            </a:r>
            <a:endParaRPr kumimoji="1" lang="en-US" altLang="zh-CN" dirty="0"/>
          </a:p>
          <a:p>
            <a:pPr marL="285750" indent="-285750">
              <a:buFont typeface="Arial" panose="020B0604020202020204" pitchFamily="34" charset="0"/>
              <a:buChar char="•"/>
            </a:pPr>
            <a:r>
              <a:rPr lang="en" altLang="zh-CN" b="1" dirty="0" err="1"/>
              <a:t>add_compile_definitions</a:t>
            </a:r>
            <a:r>
              <a:rPr lang="en" altLang="zh-CN" b="1" dirty="0"/>
              <a:t>() </a:t>
            </a:r>
            <a:r>
              <a:rPr lang="zh-CN" altLang="en-US" dirty="0"/>
              <a:t>也可以添加宏的定义且相比于</a:t>
            </a:r>
            <a:r>
              <a:rPr lang="en-US" altLang="zh-CN" dirty="0" err="1"/>
              <a:t>add_definitions</a:t>
            </a:r>
            <a:r>
              <a:rPr lang="zh-CN" altLang="en-US" dirty="0"/>
              <a:t>不用输入</a:t>
            </a:r>
            <a:r>
              <a:rPr lang="en-US" altLang="zh-CN" dirty="0"/>
              <a:t>-D</a:t>
            </a:r>
          </a:p>
          <a:p>
            <a:r>
              <a:rPr lang="zh-CN" altLang="en-US" dirty="0"/>
              <a:t>     举例：</a:t>
            </a:r>
            <a:r>
              <a:rPr lang="en" altLang="zh-CN" dirty="0"/>
              <a:t> </a:t>
            </a:r>
            <a:r>
              <a:rPr lang="en" altLang="zh-CN" dirty="0" err="1"/>
              <a:t>add_compile_definitions</a:t>
            </a:r>
            <a:r>
              <a:rPr lang="en" altLang="zh-CN" dirty="0"/>
              <a:t>(WITH_OPENCV2)</a:t>
            </a:r>
          </a:p>
          <a:p>
            <a:pPr marL="285750" indent="-285750">
              <a:buFont typeface="Arial" panose="020B0604020202020204" pitchFamily="34" charset="0"/>
              <a:buChar char="•"/>
            </a:pPr>
            <a:r>
              <a:rPr lang="en" altLang="zh-CN" b="1" dirty="0" err="1"/>
              <a:t>include_directories</a:t>
            </a:r>
            <a:r>
              <a:rPr lang="en" altLang="zh-CN" b="1" dirty="0"/>
              <a:t>()</a:t>
            </a:r>
            <a:r>
              <a:rPr lang="zh-CN" altLang="en-US" dirty="0"/>
              <a:t>用来添加头文件的路径</a:t>
            </a:r>
            <a:r>
              <a:rPr lang="en-US" altLang="zh-CN" dirty="0"/>
              <a:t>(</a:t>
            </a:r>
            <a:r>
              <a:rPr lang="zh-CN" altLang="en-US" dirty="0"/>
              <a:t>类似的还有</a:t>
            </a:r>
            <a:r>
              <a:rPr lang="en-US" altLang="zh-CN" dirty="0" err="1"/>
              <a:t>link_directories</a:t>
            </a:r>
            <a:r>
              <a:rPr lang="en-US" altLang="zh-CN" dirty="0"/>
              <a:t>())</a:t>
            </a:r>
          </a:p>
          <a:p>
            <a:r>
              <a:rPr lang="zh-CN" altLang="en-US" dirty="0"/>
              <a:t>     举例： </a:t>
            </a:r>
            <a:r>
              <a:rPr lang="en" altLang="zh-CN" dirty="0" err="1"/>
              <a:t>include_directories</a:t>
            </a:r>
            <a:r>
              <a:rPr lang="en" altLang="zh-CN" dirty="0"/>
              <a:t>(../../../</a:t>
            </a:r>
            <a:r>
              <a:rPr lang="en" altLang="zh-CN" dirty="0" err="1"/>
              <a:t>thirdparty</a:t>
            </a:r>
            <a:r>
              <a:rPr lang="en" altLang="zh-CN" dirty="0"/>
              <a:t>/</a:t>
            </a:r>
            <a:r>
              <a:rPr lang="en" altLang="zh-CN" dirty="0" err="1"/>
              <a:t>comm</a:t>
            </a:r>
            <a:r>
              <a:rPr lang="en" altLang="zh-CN" dirty="0"/>
              <a:t>/include)</a:t>
            </a:r>
            <a:endParaRPr lang="en-US" altLang="zh-CN" dirty="0"/>
          </a:p>
          <a:p>
            <a:pPr marL="285750" indent="-285750">
              <a:buFont typeface="Arial" panose="020B0604020202020204" pitchFamily="34" charset="0"/>
              <a:buChar char="•"/>
            </a:pPr>
            <a:r>
              <a:rPr lang="en" altLang="zh-CN" b="1" dirty="0" err="1"/>
              <a:t>add_compile_options</a:t>
            </a:r>
            <a:r>
              <a:rPr lang="en" altLang="zh-CN" b="1" dirty="0"/>
              <a:t>() </a:t>
            </a:r>
            <a:r>
              <a:rPr lang="zh-CN" altLang="en" dirty="0"/>
              <a:t>添加</a:t>
            </a:r>
            <a:r>
              <a:rPr lang="zh-CN" altLang="en-US" dirty="0"/>
              <a:t>其他选项</a:t>
            </a:r>
            <a:endParaRPr lang="en" altLang="zh-CN" dirty="0"/>
          </a:p>
        </p:txBody>
      </p:sp>
      <p:pic>
        <p:nvPicPr>
          <p:cNvPr id="3" name="图片 2">
            <a:extLst>
              <a:ext uri="{FF2B5EF4-FFF2-40B4-BE49-F238E27FC236}">
                <a16:creationId xmlns:a16="http://schemas.microsoft.com/office/drawing/2014/main" id="{B0450253-77EC-A54F-91AE-8DE34FF4AA10}"/>
              </a:ext>
            </a:extLst>
          </p:cNvPr>
          <p:cNvPicPr>
            <a:picLocks noChangeAspect="1"/>
          </p:cNvPicPr>
          <p:nvPr/>
        </p:nvPicPr>
        <p:blipFill>
          <a:blip r:embed="rId3"/>
          <a:stretch>
            <a:fillRect/>
          </a:stretch>
        </p:blipFill>
        <p:spPr>
          <a:xfrm>
            <a:off x="836396" y="4097683"/>
            <a:ext cx="5775614" cy="368300"/>
          </a:xfrm>
          <a:prstGeom prst="rect">
            <a:avLst/>
          </a:prstGeom>
        </p:spPr>
      </p:pic>
    </p:spTree>
    <p:extLst>
      <p:ext uri="{BB962C8B-B14F-4D97-AF65-F5344CB8AC3E}">
        <p14:creationId xmlns:p14="http://schemas.microsoft.com/office/powerpoint/2010/main" val="3370856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668092" y="267349"/>
            <a:ext cx="10515600" cy="788519"/>
          </a:xfrm>
        </p:spPr>
        <p:txBody>
          <a:bodyPr>
            <a:normAutofit/>
          </a:bodyPr>
          <a:lstStyle/>
          <a:p>
            <a:r>
              <a:rPr kumimoji="1" lang="en" altLang="zh-CN" sz="2400" dirty="0" err="1"/>
              <a:t>Cmake</a:t>
            </a:r>
            <a:r>
              <a:rPr kumimoji="1" lang="zh-CN" altLang="en-US" sz="2400" dirty="0"/>
              <a:t>语言常用命令</a:t>
            </a:r>
          </a:p>
        </p:txBody>
      </p:sp>
      <p:sp>
        <p:nvSpPr>
          <p:cNvPr id="3" name="文本框 2">
            <a:extLst>
              <a:ext uri="{FF2B5EF4-FFF2-40B4-BE49-F238E27FC236}">
                <a16:creationId xmlns:a16="http://schemas.microsoft.com/office/drawing/2014/main" id="{F538A80C-799E-E04C-908C-B5F5B8A0D3CD}"/>
              </a:ext>
            </a:extLst>
          </p:cNvPr>
          <p:cNvSpPr txBox="1"/>
          <p:nvPr/>
        </p:nvSpPr>
        <p:spPr>
          <a:xfrm>
            <a:off x="1718441" y="2999656"/>
            <a:ext cx="7614745" cy="369332"/>
          </a:xfrm>
          <a:prstGeom prst="rect">
            <a:avLst/>
          </a:prstGeom>
          <a:noFill/>
        </p:spPr>
        <p:txBody>
          <a:bodyPr wrap="square" rtlCol="0">
            <a:spAutoFit/>
          </a:bodyPr>
          <a:lstStyle/>
          <a:p>
            <a:r>
              <a:rPr kumimoji="1" lang="en" altLang="zh-CN" dirty="0">
                <a:hlinkClick r:id="rId2"/>
              </a:rPr>
              <a:t>https://cmake.org/cmake/help/v3.16/manual/cmake-commands.7.html</a:t>
            </a:r>
            <a:endParaRPr kumimoji="1" lang="zh-CN" altLang="en-US" dirty="0"/>
          </a:p>
        </p:txBody>
      </p:sp>
      <p:sp>
        <p:nvSpPr>
          <p:cNvPr id="4" name="文本框 3">
            <a:extLst>
              <a:ext uri="{FF2B5EF4-FFF2-40B4-BE49-F238E27FC236}">
                <a16:creationId xmlns:a16="http://schemas.microsoft.com/office/drawing/2014/main" id="{BA1E8739-38D4-F048-9CBD-7FCAD765E36B}"/>
              </a:ext>
            </a:extLst>
          </p:cNvPr>
          <p:cNvSpPr txBox="1"/>
          <p:nvPr/>
        </p:nvSpPr>
        <p:spPr>
          <a:xfrm>
            <a:off x="1718441" y="2630324"/>
            <a:ext cx="5360276" cy="369332"/>
          </a:xfrm>
          <a:prstGeom prst="rect">
            <a:avLst/>
          </a:prstGeom>
          <a:noFill/>
        </p:spPr>
        <p:txBody>
          <a:bodyPr wrap="square" rtlCol="0">
            <a:spAutoFit/>
          </a:bodyPr>
          <a:lstStyle/>
          <a:p>
            <a:r>
              <a:rPr kumimoji="1" lang="en-US" altLang="zh-CN" dirty="0" err="1"/>
              <a:t>Cmake</a:t>
            </a:r>
            <a:r>
              <a:rPr kumimoji="1" lang="zh-CN" altLang="en-US" dirty="0"/>
              <a:t>语言命令官方文档：</a:t>
            </a:r>
          </a:p>
        </p:txBody>
      </p:sp>
      <p:sp>
        <p:nvSpPr>
          <p:cNvPr id="5" name="矩形 4">
            <a:extLst>
              <a:ext uri="{FF2B5EF4-FFF2-40B4-BE49-F238E27FC236}">
                <a16:creationId xmlns:a16="http://schemas.microsoft.com/office/drawing/2014/main" id="{9392B5A3-2028-A441-8C3F-3C9C8BB01F85}"/>
              </a:ext>
            </a:extLst>
          </p:cNvPr>
          <p:cNvSpPr/>
          <p:nvPr/>
        </p:nvSpPr>
        <p:spPr>
          <a:xfrm>
            <a:off x="1718441" y="3553654"/>
            <a:ext cx="3403496" cy="369332"/>
          </a:xfrm>
          <a:prstGeom prst="rect">
            <a:avLst/>
          </a:prstGeom>
        </p:spPr>
        <p:txBody>
          <a:bodyPr wrap="none">
            <a:spAutoFit/>
          </a:bodyPr>
          <a:lstStyle/>
          <a:p>
            <a:r>
              <a:rPr kumimoji="1" lang="en-US" altLang="zh-CN" dirty="0" err="1"/>
              <a:t>Cmake</a:t>
            </a:r>
            <a:r>
              <a:rPr kumimoji="1" lang="zh-CN" altLang="en-US" dirty="0"/>
              <a:t>语言内置变量官方文档：</a:t>
            </a:r>
          </a:p>
        </p:txBody>
      </p:sp>
      <p:sp>
        <p:nvSpPr>
          <p:cNvPr id="6" name="矩形 5">
            <a:extLst>
              <a:ext uri="{FF2B5EF4-FFF2-40B4-BE49-F238E27FC236}">
                <a16:creationId xmlns:a16="http://schemas.microsoft.com/office/drawing/2014/main" id="{2FACAFF5-4B06-FE44-ADBB-4066D295CDB5}"/>
              </a:ext>
            </a:extLst>
          </p:cNvPr>
          <p:cNvSpPr/>
          <p:nvPr/>
        </p:nvSpPr>
        <p:spPr>
          <a:xfrm>
            <a:off x="1718440" y="3986469"/>
            <a:ext cx="7882759" cy="369332"/>
          </a:xfrm>
          <a:prstGeom prst="rect">
            <a:avLst/>
          </a:prstGeom>
        </p:spPr>
        <p:txBody>
          <a:bodyPr wrap="square">
            <a:spAutoFit/>
          </a:bodyPr>
          <a:lstStyle/>
          <a:p>
            <a:r>
              <a:rPr lang="zh-CN" altLang="en-US" dirty="0">
                <a:hlinkClick r:id="rId3"/>
              </a:rPr>
              <a:t>https://cmake.org/cmake/help/v3.16/manual/cmake-variables.7.html</a:t>
            </a:r>
            <a:endParaRPr lang="zh-CN" altLang="en-US" dirty="0"/>
          </a:p>
        </p:txBody>
      </p:sp>
      <p:sp>
        <p:nvSpPr>
          <p:cNvPr id="7" name="文本框 6">
            <a:extLst>
              <a:ext uri="{FF2B5EF4-FFF2-40B4-BE49-F238E27FC236}">
                <a16:creationId xmlns:a16="http://schemas.microsoft.com/office/drawing/2014/main" id="{475A39C3-5C3A-9C4A-8526-77114FBB041D}"/>
              </a:ext>
            </a:extLst>
          </p:cNvPr>
          <p:cNvSpPr txBox="1"/>
          <p:nvPr/>
        </p:nvSpPr>
        <p:spPr>
          <a:xfrm>
            <a:off x="1718441" y="2136918"/>
            <a:ext cx="7614745" cy="369332"/>
          </a:xfrm>
          <a:prstGeom prst="rect">
            <a:avLst/>
          </a:prstGeom>
          <a:noFill/>
        </p:spPr>
        <p:txBody>
          <a:bodyPr wrap="square" rtlCol="0">
            <a:spAutoFit/>
          </a:bodyPr>
          <a:lstStyle/>
          <a:p>
            <a:r>
              <a:rPr kumimoji="1" lang="en" altLang="zh-CN" dirty="0">
                <a:hlinkClick r:id="rId4"/>
              </a:rPr>
              <a:t>https://</a:t>
            </a:r>
            <a:r>
              <a:rPr kumimoji="1" lang="en" altLang="zh-CN" dirty="0" err="1">
                <a:hlinkClick r:id="rId4"/>
              </a:rPr>
              <a:t>cmake.org</a:t>
            </a:r>
            <a:r>
              <a:rPr kumimoji="1" lang="en" altLang="zh-CN" dirty="0">
                <a:hlinkClick r:id="rId4"/>
              </a:rPr>
              <a:t>/</a:t>
            </a:r>
            <a:r>
              <a:rPr kumimoji="1" lang="en" altLang="zh-CN" dirty="0" err="1">
                <a:hlinkClick r:id="rId4"/>
              </a:rPr>
              <a:t>cmake</a:t>
            </a:r>
            <a:r>
              <a:rPr kumimoji="1" lang="en" altLang="zh-CN" dirty="0">
                <a:hlinkClick r:id="rId4"/>
              </a:rPr>
              <a:t>/help/v3.16/</a:t>
            </a:r>
            <a:r>
              <a:rPr kumimoji="1" lang="en" altLang="zh-CN" dirty="0" err="1">
                <a:hlinkClick r:id="rId4"/>
              </a:rPr>
              <a:t>index.html</a:t>
            </a:r>
            <a:endParaRPr kumimoji="1" lang="zh-CN" altLang="en-US" dirty="0"/>
          </a:p>
        </p:txBody>
      </p:sp>
      <p:sp>
        <p:nvSpPr>
          <p:cNvPr id="8" name="文本框 7">
            <a:extLst>
              <a:ext uri="{FF2B5EF4-FFF2-40B4-BE49-F238E27FC236}">
                <a16:creationId xmlns:a16="http://schemas.microsoft.com/office/drawing/2014/main" id="{8F1AEF76-9CE7-EC4E-9A7A-F5AEFF418C5C}"/>
              </a:ext>
            </a:extLst>
          </p:cNvPr>
          <p:cNvSpPr txBox="1"/>
          <p:nvPr/>
        </p:nvSpPr>
        <p:spPr>
          <a:xfrm>
            <a:off x="1718441" y="1767586"/>
            <a:ext cx="5360276" cy="369332"/>
          </a:xfrm>
          <a:prstGeom prst="rect">
            <a:avLst/>
          </a:prstGeom>
          <a:noFill/>
        </p:spPr>
        <p:txBody>
          <a:bodyPr wrap="square" rtlCol="0">
            <a:spAutoFit/>
          </a:bodyPr>
          <a:lstStyle/>
          <a:p>
            <a:r>
              <a:rPr kumimoji="1" lang="en-US" altLang="zh-CN" dirty="0" err="1"/>
              <a:t>Cmake</a:t>
            </a:r>
            <a:r>
              <a:rPr kumimoji="1" lang="zh-CN" altLang="en-US" dirty="0"/>
              <a:t>官方文档：</a:t>
            </a:r>
          </a:p>
        </p:txBody>
      </p:sp>
      <p:sp>
        <p:nvSpPr>
          <p:cNvPr id="11" name="矩形 10">
            <a:extLst>
              <a:ext uri="{FF2B5EF4-FFF2-40B4-BE49-F238E27FC236}">
                <a16:creationId xmlns:a16="http://schemas.microsoft.com/office/drawing/2014/main" id="{07297672-6BFE-4540-8127-CA7A0BFE135F}"/>
              </a:ext>
            </a:extLst>
          </p:cNvPr>
          <p:cNvSpPr/>
          <p:nvPr/>
        </p:nvSpPr>
        <p:spPr>
          <a:xfrm>
            <a:off x="1718440" y="4479190"/>
            <a:ext cx="3403496" cy="369332"/>
          </a:xfrm>
          <a:prstGeom prst="rect">
            <a:avLst/>
          </a:prstGeom>
        </p:spPr>
        <p:txBody>
          <a:bodyPr wrap="none">
            <a:spAutoFit/>
          </a:bodyPr>
          <a:lstStyle/>
          <a:p>
            <a:r>
              <a:rPr kumimoji="1" lang="en-US" altLang="zh-CN" dirty="0" err="1"/>
              <a:t>Cmake</a:t>
            </a:r>
            <a:r>
              <a:rPr kumimoji="1" lang="zh-CN" altLang="en-US" dirty="0"/>
              <a:t>语言内置属性官方文档：</a:t>
            </a:r>
          </a:p>
        </p:txBody>
      </p:sp>
      <p:sp>
        <p:nvSpPr>
          <p:cNvPr id="12" name="文本框 11">
            <a:extLst>
              <a:ext uri="{FF2B5EF4-FFF2-40B4-BE49-F238E27FC236}">
                <a16:creationId xmlns:a16="http://schemas.microsoft.com/office/drawing/2014/main" id="{D85865BD-5FFA-6B49-8117-5E226E4022E8}"/>
              </a:ext>
            </a:extLst>
          </p:cNvPr>
          <p:cNvSpPr txBox="1"/>
          <p:nvPr/>
        </p:nvSpPr>
        <p:spPr>
          <a:xfrm>
            <a:off x="1733681" y="4849207"/>
            <a:ext cx="8538079" cy="369332"/>
          </a:xfrm>
          <a:prstGeom prst="rect">
            <a:avLst/>
          </a:prstGeom>
          <a:noFill/>
        </p:spPr>
        <p:txBody>
          <a:bodyPr wrap="square" rtlCol="0">
            <a:spAutoFit/>
          </a:bodyPr>
          <a:lstStyle/>
          <a:p>
            <a:r>
              <a:rPr kumimoji="1" lang="en" altLang="zh-CN" dirty="0">
                <a:hlinkClick r:id="rId5"/>
              </a:rPr>
              <a:t>https://</a:t>
            </a:r>
            <a:r>
              <a:rPr kumimoji="1" lang="en" altLang="zh-CN" dirty="0" err="1">
                <a:hlinkClick r:id="rId5"/>
              </a:rPr>
              <a:t>cmake.org</a:t>
            </a:r>
            <a:r>
              <a:rPr kumimoji="1" lang="en" altLang="zh-CN" dirty="0">
                <a:hlinkClick r:id="rId5"/>
              </a:rPr>
              <a:t>/</a:t>
            </a:r>
            <a:r>
              <a:rPr kumimoji="1" lang="en" altLang="zh-CN" dirty="0" err="1">
                <a:hlinkClick r:id="rId5"/>
              </a:rPr>
              <a:t>cmake</a:t>
            </a:r>
            <a:r>
              <a:rPr kumimoji="1" lang="en" altLang="zh-CN" dirty="0">
                <a:hlinkClick r:id="rId5"/>
              </a:rPr>
              <a:t>/help/v3.16/manual/cmake-properties.7.html</a:t>
            </a:r>
            <a:endParaRPr kumimoji="1" lang="zh-CN" altLang="en-US" dirty="0"/>
          </a:p>
        </p:txBody>
      </p:sp>
    </p:spTree>
    <p:extLst>
      <p:ext uri="{BB962C8B-B14F-4D97-AF65-F5344CB8AC3E}">
        <p14:creationId xmlns:p14="http://schemas.microsoft.com/office/powerpoint/2010/main" val="1221973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a:t>C</a:t>
            </a:r>
            <a:r>
              <a:rPr kumimoji="1" lang="en-US" altLang="zh-CN" sz="2400" dirty="0"/>
              <a:t>M</a:t>
            </a:r>
            <a:r>
              <a:rPr kumimoji="1" lang="en" altLang="zh-CN" sz="2400" dirty="0" err="1"/>
              <a:t>ake</a:t>
            </a:r>
            <a:r>
              <a:rPr kumimoji="1" lang="zh-CN" altLang="en-US" sz="2400" dirty="0"/>
              <a:t>在</a:t>
            </a:r>
            <a:r>
              <a:rPr kumimoji="1" lang="en-US" altLang="zh-CN" sz="2400" dirty="0"/>
              <a:t>Paddle</a:t>
            </a:r>
            <a:r>
              <a:rPr kumimoji="1" lang="zh-CN" altLang="en-US" sz="2400" dirty="0"/>
              <a:t>中的运用 </a:t>
            </a:r>
            <a:r>
              <a:rPr kumimoji="1" lang="en-US" altLang="zh-CN" sz="2400" dirty="0"/>
              <a:t>–</a:t>
            </a:r>
            <a:r>
              <a:rPr kumimoji="1" lang="zh-CN" altLang="en-US" sz="2400" dirty="0"/>
              <a:t> </a:t>
            </a:r>
            <a:r>
              <a:rPr kumimoji="1" lang="en-US" altLang="zh-CN" sz="2400" dirty="0"/>
              <a:t>function</a:t>
            </a:r>
            <a:r>
              <a:rPr kumimoji="1" lang="zh-CN" altLang="en-US" sz="2400" dirty="0"/>
              <a:t>的高阶封装</a:t>
            </a:r>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948690"/>
            <a:ext cx="10241280" cy="5909310"/>
          </a:xfrm>
          <a:prstGeom prst="rect">
            <a:avLst/>
          </a:prstGeom>
          <a:noFill/>
        </p:spPr>
        <p:txBody>
          <a:bodyPr wrap="square" rtlCol="0">
            <a:spAutoFit/>
          </a:bodyPr>
          <a:lstStyle/>
          <a:p>
            <a:r>
              <a:rPr kumimoji="1" lang="en-US" altLang="zh-CN" dirty="0" err="1"/>
              <a:t>CMake</a:t>
            </a:r>
            <a:r>
              <a:rPr kumimoji="1" lang="zh-CN" altLang="en-US" dirty="0"/>
              <a:t>提供了一个</a:t>
            </a:r>
            <a:r>
              <a:rPr kumimoji="1" lang="en-US" altLang="zh-CN" dirty="0"/>
              <a:t>function</a:t>
            </a:r>
            <a:r>
              <a:rPr kumimoji="1" lang="zh-CN" altLang="en-US" dirty="0"/>
              <a:t>指令，允许用户自定义一个函数，用法如下：</a:t>
            </a:r>
            <a:endParaRPr kumimoji="1" lang="en-US" altLang="zh-CN" dirty="0"/>
          </a:p>
          <a:p>
            <a:pPr marL="285750" indent="-285750">
              <a:buFont typeface="Arial" panose="020B0604020202020204" pitchFamily="34" charset="0"/>
              <a:buChar char="•"/>
            </a:pPr>
            <a:r>
              <a:rPr lang="en" altLang="zh-CN" b="1" dirty="0"/>
              <a:t>function(&lt;name&gt; [&lt;arg1&gt; ...]) </a:t>
            </a:r>
          </a:p>
          <a:p>
            <a:r>
              <a:rPr lang="zh-CN" altLang="en-US" b="1" dirty="0"/>
              <a:t>     </a:t>
            </a:r>
            <a:r>
              <a:rPr lang="en" altLang="zh-CN" b="1" dirty="0"/>
              <a:t>&lt;commands&gt; </a:t>
            </a:r>
          </a:p>
          <a:p>
            <a:r>
              <a:rPr lang="zh-CN" altLang="en-US" b="1" dirty="0"/>
              <a:t>     </a:t>
            </a:r>
            <a:r>
              <a:rPr lang="en" altLang="zh-CN" b="1" dirty="0" err="1"/>
              <a:t>endfunction</a:t>
            </a:r>
            <a:r>
              <a:rPr lang="en" altLang="zh-CN" b="1" dirty="0"/>
              <a:t>()</a:t>
            </a:r>
          </a:p>
          <a:p>
            <a:r>
              <a:rPr kumimoji="1" lang="zh-CN" altLang="en" dirty="0"/>
              <a:t>注</a:t>
            </a:r>
            <a:r>
              <a:rPr kumimoji="1" lang="zh-CN" altLang="en-US" dirty="0"/>
              <a:t>：函数名大小写不敏感</a:t>
            </a:r>
            <a:endParaRPr kumimoji="1" lang="en-US" altLang="zh-CN" dirty="0"/>
          </a:p>
          <a:p>
            <a:r>
              <a:rPr kumimoji="1" lang="zh-CN" altLang="en-US" dirty="0"/>
              <a:t>在</a:t>
            </a:r>
            <a:r>
              <a:rPr kumimoji="1" lang="en-US" altLang="zh-CN" dirty="0"/>
              <a:t>Paddle</a:t>
            </a:r>
            <a:r>
              <a:rPr kumimoji="1" lang="zh-CN" altLang="en-US" dirty="0"/>
              <a:t>中，也常见各种封装好的函数，值得一提的是框架的</a:t>
            </a:r>
            <a:r>
              <a:rPr kumimoji="1" lang="en-US" altLang="zh-CN" dirty="0" err="1"/>
              <a:t>cmake</a:t>
            </a:r>
            <a:r>
              <a:rPr lang="zh-CN" altLang="en-US" dirty="0"/>
              <a:t>仿照 </a:t>
            </a:r>
            <a:r>
              <a:rPr lang="en" altLang="zh-CN" dirty="0" err="1"/>
              <a:t>Bazel</a:t>
            </a:r>
            <a:r>
              <a:rPr lang="en" altLang="zh-CN" dirty="0"/>
              <a:t> </a:t>
            </a:r>
            <a:r>
              <a:rPr lang="zh-CN" altLang="en-US" dirty="0"/>
              <a:t>进行了 </a:t>
            </a:r>
            <a:r>
              <a:rPr lang="en" altLang="zh-CN" dirty="0" err="1"/>
              <a:t>cc_binary</a:t>
            </a:r>
            <a:r>
              <a:rPr lang="en" altLang="zh-CN" dirty="0"/>
              <a:t> </a:t>
            </a:r>
            <a:r>
              <a:rPr lang="zh-CN" altLang="en-US" dirty="0"/>
              <a:t>和 </a:t>
            </a:r>
            <a:r>
              <a:rPr lang="en" altLang="zh-CN" dirty="0" err="1"/>
              <a:t>cc_library</a:t>
            </a:r>
            <a:r>
              <a:rPr lang="en" altLang="zh-CN" dirty="0"/>
              <a:t> </a:t>
            </a:r>
            <a:r>
              <a:rPr lang="zh-CN" altLang="en-US" dirty="0"/>
              <a:t>的封装分别用于 </a:t>
            </a:r>
            <a:r>
              <a:rPr lang="en" altLang="zh-CN" dirty="0"/>
              <a:t>C++ </a:t>
            </a:r>
            <a:r>
              <a:rPr lang="zh-CN" altLang="en-US" dirty="0"/>
              <a:t>可执行文件和静态库的产出，可在 </a:t>
            </a:r>
            <a:r>
              <a:rPr lang="en" altLang="zh-CN" dirty="0" err="1"/>
              <a:t>cmake</a:t>
            </a:r>
            <a:r>
              <a:rPr lang="en" altLang="zh-CN" dirty="0"/>
              <a:t>/</a:t>
            </a:r>
            <a:r>
              <a:rPr lang="en" altLang="zh-CN" dirty="0" err="1"/>
              <a:t>generic.cmake</a:t>
            </a:r>
            <a:r>
              <a:rPr lang="en" altLang="zh-CN" dirty="0"/>
              <a:t> </a:t>
            </a:r>
            <a:r>
              <a:rPr lang="zh-CN" altLang="en-US" dirty="0"/>
              <a:t>中查看具体的实现逻辑。</a:t>
            </a:r>
            <a:endParaRPr lang="en-US" altLang="zh-CN" dirty="0"/>
          </a:p>
          <a:p>
            <a:r>
              <a:rPr kumimoji="1" lang="zh-CN" altLang="en-US" dirty="0"/>
              <a:t>封装的函数有以下：</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写</a:t>
            </a:r>
            <a:r>
              <a:rPr kumimoji="1" lang="en-US" altLang="zh-CN" dirty="0" err="1"/>
              <a:t>CMake</a:t>
            </a:r>
            <a:r>
              <a:rPr kumimoji="1" lang="zh-CN" altLang="en-US" dirty="0"/>
              <a:t>代码时可以轻松调用这些函数构建动态静态库，例如：</a:t>
            </a:r>
            <a:endParaRPr kumimoji="1" lang="en-US" altLang="zh-CN" dirty="0"/>
          </a:p>
          <a:p>
            <a:r>
              <a:rPr lang="en" altLang="zh-CN" dirty="0" err="1"/>
              <a:t>cc_library</a:t>
            </a:r>
            <a:r>
              <a:rPr lang="en" altLang="zh-CN" dirty="0"/>
              <a:t>(example</a:t>
            </a:r>
            <a:r>
              <a:rPr lang="zh-CN" altLang="en-US" dirty="0"/>
              <a:t> </a:t>
            </a:r>
            <a:r>
              <a:rPr lang="en-US" altLang="zh-CN" dirty="0"/>
              <a:t>SHARED</a:t>
            </a:r>
            <a:r>
              <a:rPr lang="en" altLang="zh-CN" dirty="0"/>
              <a:t> SRCS</a:t>
            </a:r>
            <a:r>
              <a:rPr lang="zh-CN" altLang="en-US" dirty="0"/>
              <a:t> </a:t>
            </a:r>
            <a:r>
              <a:rPr lang="en" altLang="zh-CN" dirty="0"/>
              <a:t>example1.cc example2.cc)</a:t>
            </a:r>
            <a:r>
              <a:rPr lang="zh-CN" altLang="en" dirty="0"/>
              <a:t>创建一个</a:t>
            </a:r>
            <a:r>
              <a:rPr lang="zh-CN" altLang="en-US" dirty="0"/>
              <a:t>动态库</a:t>
            </a:r>
            <a:endParaRPr lang="en-US" altLang="zh-CN" dirty="0"/>
          </a:p>
          <a:p>
            <a:r>
              <a:rPr lang="en" altLang="zh-CN" dirty="0" err="1"/>
              <a:t>cc_binary</a:t>
            </a:r>
            <a:r>
              <a:rPr lang="en" altLang="zh-CN" dirty="0"/>
              <a:t>(example SRCS </a:t>
            </a:r>
            <a:r>
              <a:rPr lang="en" altLang="zh-CN" dirty="0" err="1"/>
              <a:t>main.cc</a:t>
            </a:r>
            <a:r>
              <a:rPr lang="en" altLang="zh-CN" dirty="0"/>
              <a:t> </a:t>
            </a:r>
            <a:r>
              <a:rPr lang="en" altLang="zh-CN" dirty="0" err="1"/>
              <a:t>something.cc</a:t>
            </a:r>
            <a:r>
              <a:rPr lang="en" altLang="zh-CN" dirty="0"/>
              <a:t> DEPS example1 example2)</a:t>
            </a:r>
            <a:r>
              <a:rPr lang="zh-CN" altLang="en" dirty="0"/>
              <a:t>创建</a:t>
            </a:r>
            <a:r>
              <a:rPr lang="zh-CN" altLang="en-US" dirty="0"/>
              <a:t>一个可执行二进制文件</a:t>
            </a:r>
            <a:endParaRPr lang="en-US" altLang="zh-CN" dirty="0"/>
          </a:p>
          <a:p>
            <a:r>
              <a:rPr lang="en" altLang="zh-CN" dirty="0" err="1"/>
              <a:t>cc_test</a:t>
            </a:r>
            <a:r>
              <a:rPr lang="en" altLang="zh-CN" dirty="0"/>
              <a:t>(</a:t>
            </a:r>
            <a:r>
              <a:rPr lang="en" altLang="zh-CN" dirty="0" err="1"/>
              <a:t>example_test</a:t>
            </a:r>
            <a:r>
              <a:rPr lang="en" altLang="zh-CN" dirty="0"/>
              <a:t> SRCS </a:t>
            </a:r>
            <a:r>
              <a:rPr lang="en" altLang="zh-CN" dirty="0" err="1"/>
              <a:t>example_test.cc</a:t>
            </a:r>
            <a:r>
              <a:rPr lang="en" altLang="zh-CN" dirty="0"/>
              <a:t> DEPS example)</a:t>
            </a:r>
            <a:r>
              <a:rPr lang="zh-CN" altLang="en" dirty="0"/>
              <a:t>创建</a:t>
            </a:r>
            <a:r>
              <a:rPr lang="zh-CN" altLang="en-US" dirty="0"/>
              <a:t>单元测试</a:t>
            </a:r>
            <a:endParaRPr kumimoji="1" lang="en-US" altLang="zh-CN" dirty="0"/>
          </a:p>
          <a:p>
            <a:endParaRPr kumimoji="1" lang="en-US" altLang="zh-CN" dirty="0"/>
          </a:p>
        </p:txBody>
      </p:sp>
      <p:pic>
        <p:nvPicPr>
          <p:cNvPr id="6" name="图片 5">
            <a:extLst>
              <a:ext uri="{FF2B5EF4-FFF2-40B4-BE49-F238E27FC236}">
                <a16:creationId xmlns:a16="http://schemas.microsoft.com/office/drawing/2014/main" id="{F08BE74D-34CC-BE41-A3B9-5DA0B8C6EFF3}"/>
              </a:ext>
            </a:extLst>
          </p:cNvPr>
          <p:cNvPicPr>
            <a:picLocks noChangeAspect="1"/>
          </p:cNvPicPr>
          <p:nvPr/>
        </p:nvPicPr>
        <p:blipFill>
          <a:blip r:embed="rId3"/>
          <a:stretch>
            <a:fillRect/>
          </a:stretch>
        </p:blipFill>
        <p:spPr>
          <a:xfrm>
            <a:off x="836396" y="3586922"/>
            <a:ext cx="4572000" cy="1778000"/>
          </a:xfrm>
          <a:prstGeom prst="rect">
            <a:avLst/>
          </a:prstGeom>
        </p:spPr>
      </p:pic>
    </p:spTree>
    <p:extLst>
      <p:ext uri="{BB962C8B-B14F-4D97-AF65-F5344CB8AC3E}">
        <p14:creationId xmlns:p14="http://schemas.microsoft.com/office/powerpoint/2010/main" val="1300406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a:t>C</a:t>
            </a:r>
            <a:r>
              <a:rPr kumimoji="1" lang="en-US" altLang="zh-CN" sz="2400" dirty="0"/>
              <a:t>M</a:t>
            </a:r>
            <a:r>
              <a:rPr kumimoji="1" lang="en" altLang="zh-CN" sz="2400" dirty="0" err="1"/>
              <a:t>ake</a:t>
            </a:r>
            <a:r>
              <a:rPr kumimoji="1" lang="zh-CN" altLang="en-US" sz="2400" dirty="0"/>
              <a:t>在</a:t>
            </a:r>
            <a:r>
              <a:rPr kumimoji="1" lang="en-US" altLang="zh-CN" sz="2400" dirty="0"/>
              <a:t>Paddle</a:t>
            </a:r>
            <a:r>
              <a:rPr kumimoji="1" lang="zh-CN" altLang="en-US" sz="2400" dirty="0"/>
              <a:t>中的运用 </a:t>
            </a:r>
            <a:r>
              <a:rPr kumimoji="1" lang="en-US" altLang="zh-CN" sz="2400" dirty="0"/>
              <a:t>–</a:t>
            </a:r>
            <a:r>
              <a:rPr kumimoji="1" lang="zh-CN" altLang="en-US" sz="2400" dirty="0"/>
              <a:t> 使用其他项目</a:t>
            </a:r>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1158905"/>
            <a:ext cx="10241280" cy="4524315"/>
          </a:xfrm>
          <a:prstGeom prst="rect">
            <a:avLst/>
          </a:prstGeom>
          <a:noFill/>
        </p:spPr>
        <p:txBody>
          <a:bodyPr wrap="square" rtlCol="0">
            <a:spAutoFit/>
          </a:bodyPr>
          <a:lstStyle/>
          <a:p>
            <a:r>
              <a:rPr kumimoji="1" lang="en-US" altLang="zh-CN" dirty="0" err="1"/>
              <a:t>Cmake</a:t>
            </a:r>
            <a:r>
              <a:rPr kumimoji="1" lang="zh-CN" altLang="en-US" dirty="0"/>
              <a:t>提供了</a:t>
            </a:r>
            <a:r>
              <a:rPr kumimoji="1" lang="en-US" altLang="zh-CN" dirty="0"/>
              <a:t>include()</a:t>
            </a:r>
            <a:r>
              <a:rPr kumimoji="1" lang="zh-CN" altLang="en-US" dirty="0"/>
              <a:t>指令，可以加载并执行一个文件或模块的</a:t>
            </a:r>
            <a:r>
              <a:rPr kumimoji="1" lang="en-US" altLang="zh-CN" dirty="0" err="1"/>
              <a:t>CMake</a:t>
            </a:r>
            <a:r>
              <a:rPr kumimoji="1" lang="zh-CN" altLang="en-US" dirty="0"/>
              <a:t>代码，这里的模块可以理解为后缀为</a:t>
            </a:r>
            <a:r>
              <a:rPr kumimoji="1" lang="en-US" altLang="zh-CN" dirty="0"/>
              <a:t>.</a:t>
            </a:r>
            <a:r>
              <a:rPr kumimoji="1" lang="en-US" altLang="zh-CN" dirty="0" err="1"/>
              <a:t>cmake</a:t>
            </a:r>
            <a:r>
              <a:rPr kumimoji="1" lang="zh-CN" altLang="en-US" dirty="0"/>
              <a:t>的一个文件，这个文件里包含</a:t>
            </a:r>
            <a:r>
              <a:rPr kumimoji="1" lang="en-US" altLang="zh-CN" dirty="0" err="1"/>
              <a:t>CMake</a:t>
            </a:r>
            <a:r>
              <a:rPr kumimoji="1" lang="zh-CN" altLang="en-US" dirty="0"/>
              <a:t>代码。</a:t>
            </a:r>
            <a:r>
              <a:rPr kumimoji="1" lang="en-US" altLang="zh-CN" dirty="0"/>
              <a:t>Include</a:t>
            </a:r>
            <a:r>
              <a:rPr kumimoji="1" lang="zh-CN" altLang="en-US" dirty="0"/>
              <a:t>会默认搜索</a:t>
            </a:r>
            <a:r>
              <a:rPr lang="en" altLang="zh-CN" dirty="0"/>
              <a:t>CMAKE_MODULE_PATH</a:t>
            </a:r>
            <a:r>
              <a:rPr lang="zh-CN" altLang="en" dirty="0"/>
              <a:t>下</a:t>
            </a:r>
            <a:r>
              <a:rPr lang="zh-CN" altLang="en-US" dirty="0"/>
              <a:t>的</a:t>
            </a:r>
            <a:r>
              <a:rPr lang="en-US" altLang="zh-CN" dirty="0"/>
              <a:t>.</a:t>
            </a:r>
            <a:r>
              <a:rPr lang="en-US" altLang="zh-CN" dirty="0" err="1"/>
              <a:t>cmake</a:t>
            </a:r>
            <a:r>
              <a:rPr lang="zh-CN" altLang="en-US" dirty="0"/>
              <a:t>文件。</a:t>
            </a:r>
            <a:endParaRPr lang="en-US" altLang="zh-CN" dirty="0"/>
          </a:p>
          <a:p>
            <a:endParaRPr lang="en-US" altLang="zh-CN" dirty="0"/>
          </a:p>
          <a:p>
            <a:r>
              <a:rPr kumimoji="1" lang="zh-CN" altLang="en-US" dirty="0"/>
              <a:t>下面我们以</a:t>
            </a:r>
            <a:r>
              <a:rPr kumimoji="1" lang="en-US" altLang="zh-CN" dirty="0" err="1"/>
              <a:t>dgc</a:t>
            </a:r>
            <a:r>
              <a:rPr kumimoji="1" lang="zh-CN" altLang="en-US" dirty="0"/>
              <a:t>库为例讲一下</a:t>
            </a:r>
            <a:r>
              <a:rPr kumimoji="1" lang="en-US" altLang="zh-CN" dirty="0"/>
              <a:t>paddle</a:t>
            </a:r>
            <a:r>
              <a:rPr kumimoji="1" lang="zh-CN" altLang="en-US" dirty="0"/>
              <a:t>如何下载其他项目编译后使用：</a:t>
            </a:r>
            <a:endParaRPr kumimoji="1" lang="en-US" altLang="zh-CN" dirty="0"/>
          </a:p>
          <a:p>
            <a:pPr marL="285750" indent="-285750">
              <a:buFont typeface="Arial" panose="020B0604020202020204" pitchFamily="34" charset="0"/>
              <a:buChar char="•"/>
            </a:pPr>
            <a:r>
              <a:rPr kumimoji="1" lang="en-US" altLang="zh-CN" dirty="0"/>
              <a:t>paddle</a:t>
            </a:r>
            <a:r>
              <a:rPr kumimoji="1" lang="zh-CN" altLang="en-US" dirty="0"/>
              <a:t>有一个模块叫做</a:t>
            </a:r>
            <a:r>
              <a:rPr kumimoji="1" lang="en-US" altLang="zh-CN" dirty="0" err="1"/>
              <a:t>third_party</a:t>
            </a:r>
            <a:r>
              <a:rPr kumimoji="1" lang="zh-CN" altLang="en-US" dirty="0"/>
              <a:t>，这个模块可以在所有平台上编译外部依赖</a:t>
            </a:r>
            <a:endParaRPr kumimoji="1" lang="en-US" altLang="zh-CN" dirty="0"/>
          </a:p>
          <a:p>
            <a:r>
              <a:rPr kumimoji="1" lang="zh-CN" altLang="en-US" dirty="0"/>
              <a:t>根目录的</a:t>
            </a:r>
            <a:r>
              <a:rPr kumimoji="1" lang="en-US" altLang="zh-CN" dirty="0" err="1"/>
              <a:t>CMakeLists.txt</a:t>
            </a:r>
            <a:r>
              <a:rPr kumimoji="1" lang="zh-CN" altLang="en-US" dirty="0"/>
              <a:t>设置了模块搜索路径并加载了</a:t>
            </a:r>
            <a:r>
              <a:rPr kumimoji="1" lang="en-US" altLang="zh-CN" dirty="0" err="1"/>
              <a:t>third_party</a:t>
            </a:r>
            <a:r>
              <a:rPr kumimoji="1" lang="zh-CN" altLang="en-US" dirty="0"/>
              <a:t>模块：</a:t>
            </a:r>
            <a:endParaRPr kumimoji="1" lang="en-US" altLang="zh-CN" dirty="0"/>
          </a:p>
          <a:p>
            <a:endParaRPr kumimoji="1" lang="en-US" altLang="zh-CN" dirty="0"/>
          </a:p>
          <a:p>
            <a:endParaRPr kumimoji="1" lang="en-US" altLang="zh-CN" dirty="0"/>
          </a:p>
          <a:p>
            <a:endParaRPr lang="en" altLang="zh-CN" dirty="0"/>
          </a:p>
          <a:p>
            <a:endParaRPr lang="en" altLang="zh-CN" dirty="0"/>
          </a:p>
          <a:p>
            <a:r>
              <a:rPr lang="en-US" altLang="zh-CN" dirty="0" err="1"/>
              <a:t>third_party</a:t>
            </a:r>
            <a:r>
              <a:rPr lang="zh-CN" altLang="en-US" dirty="0"/>
              <a:t>模块又加载了</a:t>
            </a:r>
            <a:r>
              <a:rPr lang="en-US" altLang="zh-CN" dirty="0" err="1"/>
              <a:t>dgc</a:t>
            </a:r>
            <a:r>
              <a:rPr lang="zh-CN" altLang="en-US" dirty="0"/>
              <a:t>模块：</a:t>
            </a:r>
            <a:endParaRPr lang="en-US" altLang="zh-CN" dirty="0"/>
          </a:p>
          <a:p>
            <a:endParaRPr lang="en-US" altLang="zh-CN" dirty="0"/>
          </a:p>
          <a:p>
            <a:endParaRPr lang="en-US" altLang="zh-CN" dirty="0"/>
          </a:p>
          <a:p>
            <a:endParaRPr lang="en-US" altLang="zh-CN" dirty="0"/>
          </a:p>
          <a:p>
            <a:endParaRPr lang="en" altLang="zh-CN" dirty="0"/>
          </a:p>
        </p:txBody>
      </p:sp>
      <p:pic>
        <p:nvPicPr>
          <p:cNvPr id="6" name="图片 5">
            <a:extLst>
              <a:ext uri="{FF2B5EF4-FFF2-40B4-BE49-F238E27FC236}">
                <a16:creationId xmlns:a16="http://schemas.microsoft.com/office/drawing/2014/main" id="{42AE1A5E-909F-3C46-A194-D72C28FC0AEA}"/>
              </a:ext>
            </a:extLst>
          </p:cNvPr>
          <p:cNvPicPr>
            <a:picLocks noChangeAspect="1"/>
          </p:cNvPicPr>
          <p:nvPr/>
        </p:nvPicPr>
        <p:blipFill>
          <a:blip r:embed="rId3"/>
          <a:stretch>
            <a:fillRect/>
          </a:stretch>
        </p:blipFill>
        <p:spPr>
          <a:xfrm>
            <a:off x="836396" y="4626220"/>
            <a:ext cx="6362700" cy="1536700"/>
          </a:xfrm>
          <a:prstGeom prst="rect">
            <a:avLst/>
          </a:prstGeom>
        </p:spPr>
      </p:pic>
      <p:pic>
        <p:nvPicPr>
          <p:cNvPr id="7" name="图片 6">
            <a:extLst>
              <a:ext uri="{FF2B5EF4-FFF2-40B4-BE49-F238E27FC236}">
                <a16:creationId xmlns:a16="http://schemas.microsoft.com/office/drawing/2014/main" id="{026F35A6-BD60-2245-BD35-E63ADCF921DB}"/>
              </a:ext>
            </a:extLst>
          </p:cNvPr>
          <p:cNvPicPr>
            <a:picLocks noChangeAspect="1"/>
          </p:cNvPicPr>
          <p:nvPr/>
        </p:nvPicPr>
        <p:blipFill>
          <a:blip r:embed="rId4"/>
          <a:stretch>
            <a:fillRect/>
          </a:stretch>
        </p:blipFill>
        <p:spPr>
          <a:xfrm>
            <a:off x="836396" y="3288315"/>
            <a:ext cx="7518400" cy="304800"/>
          </a:xfrm>
          <a:prstGeom prst="rect">
            <a:avLst/>
          </a:prstGeom>
        </p:spPr>
      </p:pic>
      <p:pic>
        <p:nvPicPr>
          <p:cNvPr id="8" name="图片 7">
            <a:extLst>
              <a:ext uri="{FF2B5EF4-FFF2-40B4-BE49-F238E27FC236}">
                <a16:creationId xmlns:a16="http://schemas.microsoft.com/office/drawing/2014/main" id="{80C9DEEF-078A-D14D-B992-785680BEC3C0}"/>
              </a:ext>
            </a:extLst>
          </p:cNvPr>
          <p:cNvPicPr>
            <a:picLocks noChangeAspect="1"/>
          </p:cNvPicPr>
          <p:nvPr/>
        </p:nvPicPr>
        <p:blipFill>
          <a:blip r:embed="rId5"/>
          <a:stretch>
            <a:fillRect/>
          </a:stretch>
        </p:blipFill>
        <p:spPr>
          <a:xfrm>
            <a:off x="836396" y="3711405"/>
            <a:ext cx="6299200" cy="317500"/>
          </a:xfrm>
          <a:prstGeom prst="rect">
            <a:avLst/>
          </a:prstGeom>
        </p:spPr>
      </p:pic>
    </p:spTree>
    <p:extLst>
      <p:ext uri="{BB962C8B-B14F-4D97-AF65-F5344CB8AC3E}">
        <p14:creationId xmlns:p14="http://schemas.microsoft.com/office/powerpoint/2010/main" val="2453543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a:t>C</a:t>
            </a:r>
            <a:r>
              <a:rPr kumimoji="1" lang="en-US" altLang="zh-CN" sz="2400" dirty="0"/>
              <a:t>M</a:t>
            </a:r>
            <a:r>
              <a:rPr kumimoji="1" lang="en" altLang="zh-CN" sz="2400" dirty="0" err="1"/>
              <a:t>ake</a:t>
            </a:r>
            <a:r>
              <a:rPr kumimoji="1" lang="zh-CN" altLang="en-US" sz="2400" dirty="0"/>
              <a:t>在</a:t>
            </a:r>
            <a:r>
              <a:rPr kumimoji="1" lang="en-US" altLang="zh-CN" sz="2400" dirty="0"/>
              <a:t>Paddle</a:t>
            </a:r>
            <a:r>
              <a:rPr kumimoji="1" lang="zh-CN" altLang="en-US" sz="2400" dirty="0"/>
              <a:t>中的运用 </a:t>
            </a:r>
            <a:r>
              <a:rPr kumimoji="1" lang="en-US" altLang="zh-CN" sz="2400" dirty="0"/>
              <a:t>–</a:t>
            </a:r>
            <a:r>
              <a:rPr kumimoji="1" lang="zh-CN" altLang="en-US" sz="2400" dirty="0"/>
              <a:t> 使用其他项目</a:t>
            </a:r>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1158905"/>
            <a:ext cx="10241280" cy="5909310"/>
          </a:xfrm>
          <a:prstGeom prst="rect">
            <a:avLst/>
          </a:prstGeom>
          <a:noFill/>
        </p:spPr>
        <p:txBody>
          <a:bodyPr wrap="square" rtlCol="0">
            <a:spAutoFit/>
          </a:bodyPr>
          <a:lstStyle/>
          <a:p>
            <a:r>
              <a:rPr kumimoji="1" lang="en-US" altLang="zh-CN" dirty="0" err="1"/>
              <a:t>dgc</a:t>
            </a:r>
            <a:r>
              <a:rPr kumimoji="1" lang="zh-CN" altLang="en-US" dirty="0"/>
              <a:t>模块加载了</a:t>
            </a:r>
            <a:r>
              <a:rPr kumimoji="1" lang="en-US" altLang="zh-CN" dirty="0" err="1"/>
              <a:t>CMake</a:t>
            </a:r>
            <a:r>
              <a:rPr kumimoji="1" lang="zh-CN" altLang="en-US" dirty="0"/>
              <a:t>自带的</a:t>
            </a:r>
            <a:r>
              <a:rPr lang="en" altLang="zh-CN" dirty="0" err="1"/>
              <a:t>ExternalProject</a:t>
            </a:r>
            <a:r>
              <a:rPr lang="zh-CN" altLang="en" dirty="0"/>
              <a:t>模块</a:t>
            </a:r>
            <a:r>
              <a:rPr lang="zh-CN" altLang="en-US" dirty="0"/>
              <a:t>，这个模块可以帮助构建外部项目，</a:t>
            </a:r>
            <a:endParaRPr lang="en-US" altLang="zh-CN" dirty="0"/>
          </a:p>
          <a:p>
            <a:r>
              <a:rPr lang="zh-CN" altLang="en-US" dirty="0"/>
              <a:t>这个模块中最常用的函数是</a:t>
            </a:r>
            <a:r>
              <a:rPr lang="en" altLang="zh-CN" dirty="0" err="1"/>
              <a:t>ExternalProject_Add</a:t>
            </a:r>
            <a:r>
              <a:rPr lang="en-US" altLang="zh-CN" dirty="0"/>
              <a:t>()</a:t>
            </a:r>
            <a:r>
              <a:rPr lang="zh-CN" altLang="en-US" dirty="0"/>
              <a:t>这个函数创建一个</a:t>
            </a:r>
            <a:r>
              <a:rPr lang="en-US" altLang="zh-CN" dirty="0"/>
              <a:t>target</a:t>
            </a:r>
            <a:r>
              <a:rPr lang="zh-CN" altLang="en-US" dirty="0"/>
              <a:t>用来下载、上传、配置、构建、安装、测试外部项目。</a:t>
            </a:r>
            <a:r>
              <a:rPr lang="en-US" altLang="zh-CN" dirty="0" err="1"/>
              <a:t>dgc.cmake</a:t>
            </a:r>
            <a:r>
              <a:rPr lang="zh-CN" altLang="en-US" dirty="0"/>
              <a:t>中使用该模块的代码如下：</a:t>
            </a:r>
            <a:endParaRPr lang="en-US" altLang="zh-CN" dirty="0"/>
          </a:p>
          <a:p>
            <a:endParaRPr lang="en-US" altLang="zh-CN" dirty="0"/>
          </a:p>
          <a:p>
            <a:endParaRPr lang="en-US" altLang="zh-CN" dirty="0"/>
          </a:p>
          <a:p>
            <a:r>
              <a:rPr lang="en-US" altLang="zh-CN" dirty="0"/>
              <a:t>……</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a:t>
            </a:r>
          </a:p>
          <a:p>
            <a:endParaRPr lang="en" altLang="zh-CN" dirty="0"/>
          </a:p>
        </p:txBody>
      </p:sp>
      <p:pic>
        <p:nvPicPr>
          <p:cNvPr id="3" name="图片 2">
            <a:extLst>
              <a:ext uri="{FF2B5EF4-FFF2-40B4-BE49-F238E27FC236}">
                <a16:creationId xmlns:a16="http://schemas.microsoft.com/office/drawing/2014/main" id="{E6AA95EA-B355-8E48-B394-7157114A19B3}"/>
              </a:ext>
            </a:extLst>
          </p:cNvPr>
          <p:cNvPicPr>
            <a:picLocks noChangeAspect="1"/>
          </p:cNvPicPr>
          <p:nvPr/>
        </p:nvPicPr>
        <p:blipFill>
          <a:blip r:embed="rId3"/>
          <a:stretch>
            <a:fillRect/>
          </a:stretch>
        </p:blipFill>
        <p:spPr>
          <a:xfrm>
            <a:off x="836396" y="2174567"/>
            <a:ext cx="2552700" cy="368300"/>
          </a:xfrm>
          <a:prstGeom prst="rect">
            <a:avLst/>
          </a:prstGeom>
        </p:spPr>
      </p:pic>
      <p:pic>
        <p:nvPicPr>
          <p:cNvPr id="7" name="图片 6">
            <a:extLst>
              <a:ext uri="{FF2B5EF4-FFF2-40B4-BE49-F238E27FC236}">
                <a16:creationId xmlns:a16="http://schemas.microsoft.com/office/drawing/2014/main" id="{78693A86-1EFC-3843-A018-4FBC11B22827}"/>
              </a:ext>
            </a:extLst>
          </p:cNvPr>
          <p:cNvPicPr>
            <a:picLocks noChangeAspect="1"/>
          </p:cNvPicPr>
          <p:nvPr/>
        </p:nvPicPr>
        <p:blipFill>
          <a:blip r:embed="rId4"/>
          <a:stretch>
            <a:fillRect/>
          </a:stretch>
        </p:blipFill>
        <p:spPr>
          <a:xfrm>
            <a:off x="836396" y="2927180"/>
            <a:ext cx="7302500" cy="3378200"/>
          </a:xfrm>
          <a:prstGeom prst="rect">
            <a:avLst/>
          </a:prstGeom>
        </p:spPr>
      </p:pic>
    </p:spTree>
    <p:extLst>
      <p:ext uri="{BB962C8B-B14F-4D97-AF65-F5344CB8AC3E}">
        <p14:creationId xmlns:p14="http://schemas.microsoft.com/office/powerpoint/2010/main" val="2499041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en" altLang="zh-CN" sz="2400" dirty="0"/>
              <a:t>C</a:t>
            </a:r>
            <a:r>
              <a:rPr kumimoji="1" lang="en-US" altLang="zh-CN" sz="2400" dirty="0"/>
              <a:t>M</a:t>
            </a:r>
            <a:r>
              <a:rPr kumimoji="1" lang="en" altLang="zh-CN" sz="2400" dirty="0" err="1"/>
              <a:t>ake</a:t>
            </a:r>
            <a:r>
              <a:rPr kumimoji="1" lang="zh-CN" altLang="en-US" sz="2400" dirty="0"/>
              <a:t>在</a:t>
            </a:r>
            <a:r>
              <a:rPr kumimoji="1" lang="en-US" altLang="zh-CN" sz="2400" dirty="0"/>
              <a:t>Paddle</a:t>
            </a:r>
            <a:r>
              <a:rPr kumimoji="1" lang="zh-CN" altLang="en-US" sz="2400" dirty="0"/>
              <a:t>中的运用 </a:t>
            </a:r>
            <a:r>
              <a:rPr kumimoji="1" lang="en-US" altLang="zh-CN" sz="2400" dirty="0"/>
              <a:t>–</a:t>
            </a:r>
            <a:r>
              <a:rPr kumimoji="1" lang="zh-CN" altLang="en-US" sz="2400" dirty="0"/>
              <a:t> 使用其他项目</a:t>
            </a:r>
          </a:p>
        </p:txBody>
      </p:sp>
      <p:sp>
        <p:nvSpPr>
          <p:cNvPr id="4" name="文本框 3">
            <a:extLst>
              <a:ext uri="{FF2B5EF4-FFF2-40B4-BE49-F238E27FC236}">
                <a16:creationId xmlns:a16="http://schemas.microsoft.com/office/drawing/2014/main" id="{0AF6C602-9CF0-BA4E-B23F-F2870B41AC4C}"/>
              </a:ext>
            </a:extLst>
          </p:cNvPr>
          <p:cNvSpPr txBox="1"/>
          <p:nvPr/>
        </p:nvSpPr>
        <p:spPr>
          <a:xfrm>
            <a:off x="836396" y="1158905"/>
            <a:ext cx="10241280" cy="2862322"/>
          </a:xfrm>
          <a:prstGeom prst="rect">
            <a:avLst/>
          </a:prstGeom>
          <a:noFill/>
        </p:spPr>
        <p:txBody>
          <a:bodyPr wrap="square" rtlCol="0">
            <a:spAutoFit/>
          </a:bodyPr>
          <a:lstStyle/>
          <a:p>
            <a:r>
              <a:rPr kumimoji="1" lang="zh-CN" altLang="en-US" dirty="0"/>
              <a:t>刚才的代码中变量是这样定义的：</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最后添加库并添加依赖即可完成引用：</a:t>
            </a:r>
            <a:endParaRPr kumimoji="1" lang="en-US" altLang="zh-CN" dirty="0"/>
          </a:p>
          <a:p>
            <a:endParaRPr kumimoji="1" lang="en-US" altLang="zh-CN" dirty="0"/>
          </a:p>
          <a:p>
            <a:endParaRPr lang="en-US" altLang="zh-CN" dirty="0"/>
          </a:p>
        </p:txBody>
      </p:sp>
      <p:pic>
        <p:nvPicPr>
          <p:cNvPr id="5" name="图片 4">
            <a:extLst>
              <a:ext uri="{FF2B5EF4-FFF2-40B4-BE49-F238E27FC236}">
                <a16:creationId xmlns:a16="http://schemas.microsoft.com/office/drawing/2014/main" id="{5B1B24FB-20D2-F142-8DC2-819A051DD856}"/>
              </a:ext>
            </a:extLst>
          </p:cNvPr>
          <p:cNvPicPr>
            <a:picLocks noChangeAspect="1"/>
          </p:cNvPicPr>
          <p:nvPr/>
        </p:nvPicPr>
        <p:blipFill>
          <a:blip r:embed="rId3"/>
          <a:stretch>
            <a:fillRect/>
          </a:stretch>
        </p:blipFill>
        <p:spPr>
          <a:xfrm>
            <a:off x="836396" y="1631274"/>
            <a:ext cx="8496300" cy="1282700"/>
          </a:xfrm>
          <a:prstGeom prst="rect">
            <a:avLst/>
          </a:prstGeom>
        </p:spPr>
      </p:pic>
      <p:pic>
        <p:nvPicPr>
          <p:cNvPr id="6" name="图片 5">
            <a:extLst>
              <a:ext uri="{FF2B5EF4-FFF2-40B4-BE49-F238E27FC236}">
                <a16:creationId xmlns:a16="http://schemas.microsoft.com/office/drawing/2014/main" id="{CB9DA0FE-D443-864C-BABB-E4ED62BCE834}"/>
              </a:ext>
            </a:extLst>
          </p:cNvPr>
          <p:cNvPicPr>
            <a:picLocks noChangeAspect="1"/>
          </p:cNvPicPr>
          <p:nvPr/>
        </p:nvPicPr>
        <p:blipFill>
          <a:blip r:embed="rId4"/>
          <a:stretch>
            <a:fillRect/>
          </a:stretch>
        </p:blipFill>
        <p:spPr>
          <a:xfrm>
            <a:off x="955664" y="3621177"/>
            <a:ext cx="6464300" cy="800100"/>
          </a:xfrm>
          <a:prstGeom prst="rect">
            <a:avLst/>
          </a:prstGeom>
        </p:spPr>
      </p:pic>
    </p:spTree>
    <p:extLst>
      <p:ext uri="{BB962C8B-B14F-4D97-AF65-F5344CB8AC3E}">
        <p14:creationId xmlns:p14="http://schemas.microsoft.com/office/powerpoint/2010/main" val="2976660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zh-CN" altLang="en" sz="2400" dirty="0"/>
              <a:t>用户</a:t>
            </a:r>
            <a:r>
              <a:rPr kumimoji="1" lang="zh-CN" altLang="en-US" sz="2400" dirty="0"/>
              <a:t>常见问题</a:t>
            </a:r>
          </a:p>
        </p:txBody>
      </p:sp>
      <p:sp>
        <p:nvSpPr>
          <p:cNvPr id="3" name="文本框 2">
            <a:extLst>
              <a:ext uri="{FF2B5EF4-FFF2-40B4-BE49-F238E27FC236}">
                <a16:creationId xmlns:a16="http://schemas.microsoft.com/office/drawing/2014/main" id="{6F05DE4D-C107-C440-90C9-4D2433F77B96}"/>
              </a:ext>
            </a:extLst>
          </p:cNvPr>
          <p:cNvSpPr txBox="1"/>
          <p:nvPr/>
        </p:nvSpPr>
        <p:spPr>
          <a:xfrm>
            <a:off x="914400" y="1055868"/>
            <a:ext cx="9692640" cy="1477328"/>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dirty="0"/>
              <a:t>Paddle</a:t>
            </a:r>
            <a:r>
              <a:rPr kumimoji="1" lang="zh-CN" altLang="en-US" dirty="0"/>
              <a:t>官网的</a:t>
            </a:r>
            <a:r>
              <a:rPr kumimoji="1" lang="en-US" altLang="zh-CN" dirty="0"/>
              <a:t>FAQ</a:t>
            </a:r>
            <a:r>
              <a:rPr kumimoji="1" lang="zh-CN" altLang="en-US" dirty="0"/>
              <a:t>中有一些</a:t>
            </a:r>
            <a:r>
              <a:rPr kumimoji="1" lang="en-US" altLang="zh-CN" dirty="0" err="1"/>
              <a:t>cmake</a:t>
            </a:r>
            <a:r>
              <a:rPr kumimoji="1" lang="zh-CN" altLang="en-US" dirty="0"/>
              <a:t>相关的问题，参考</a:t>
            </a:r>
            <a:r>
              <a:rPr kumimoji="1" lang="en" altLang="zh-CN" dirty="0">
                <a:hlinkClick r:id="rId3"/>
              </a:rPr>
              <a:t>https://www.paddlepaddle.org.cn/documentation/docs/zh/faq/install_cn.html</a:t>
            </a:r>
            <a:endParaRPr kumimoji="1" lang="en" altLang="zh-CN" dirty="0"/>
          </a:p>
          <a:p>
            <a:pPr marL="285750" indent="-285750">
              <a:buFont typeface="Arial" panose="020B0604020202020204" pitchFamily="34" charset="0"/>
              <a:buChar char="•"/>
            </a:pPr>
            <a:r>
              <a:rPr kumimoji="1" lang="zh-CN" altLang="en-US" dirty="0"/>
              <a:t>很多用户提的</a:t>
            </a:r>
            <a:r>
              <a:rPr kumimoji="1" lang="en-US" altLang="zh-CN" dirty="0"/>
              <a:t>issue</a:t>
            </a:r>
            <a:r>
              <a:rPr kumimoji="1" lang="zh-CN" altLang="en-US" dirty="0"/>
              <a:t>都是对于</a:t>
            </a:r>
            <a:r>
              <a:rPr kumimoji="1" lang="en-US" altLang="zh-CN" dirty="0" err="1"/>
              <a:t>cmake</a:t>
            </a:r>
            <a:r>
              <a:rPr kumimoji="1" lang="zh-CN" altLang="en-US" dirty="0"/>
              <a:t>编译选项不熟悉，可以参考</a:t>
            </a:r>
            <a:r>
              <a:rPr kumimoji="1" lang="en-US" altLang="zh-CN" dirty="0"/>
              <a:t>paddle</a:t>
            </a:r>
            <a:r>
              <a:rPr kumimoji="1" lang="zh-CN" altLang="en-US" dirty="0"/>
              <a:t>仓库根目录的</a:t>
            </a:r>
            <a:r>
              <a:rPr kumimoji="1" lang="en-US" altLang="zh-CN" dirty="0" err="1"/>
              <a:t>CMakeLists.txt</a:t>
            </a:r>
            <a:r>
              <a:rPr kumimoji="1" lang="zh-CN" altLang="en-US" dirty="0"/>
              <a:t>里面的</a:t>
            </a:r>
            <a:r>
              <a:rPr kumimoji="1" lang="en-US" altLang="zh-CN" dirty="0"/>
              <a:t>option</a:t>
            </a:r>
            <a:r>
              <a:rPr kumimoji="1" lang="zh-CN" altLang="en-US" dirty="0"/>
              <a:t>命令，如果一些选项没有在下面的截图中出现，可以去之前说的</a:t>
            </a:r>
            <a:r>
              <a:rPr kumimoji="1" lang="en-US" altLang="zh-CN" dirty="0" err="1"/>
              <a:t>cmake</a:t>
            </a:r>
            <a:r>
              <a:rPr kumimoji="1" lang="zh-CN" altLang="en-US" dirty="0"/>
              <a:t>文档里找，可能是</a:t>
            </a:r>
            <a:r>
              <a:rPr kumimoji="1" lang="en-US" altLang="zh-CN" dirty="0" err="1"/>
              <a:t>CMake</a:t>
            </a:r>
            <a:r>
              <a:rPr kumimoji="1" lang="zh-CN" altLang="en-US" dirty="0"/>
              <a:t>内置的变量。</a:t>
            </a:r>
          </a:p>
        </p:txBody>
      </p:sp>
      <p:pic>
        <p:nvPicPr>
          <p:cNvPr id="8" name="图片 7">
            <a:extLst>
              <a:ext uri="{FF2B5EF4-FFF2-40B4-BE49-F238E27FC236}">
                <a16:creationId xmlns:a16="http://schemas.microsoft.com/office/drawing/2014/main" id="{2AFE3334-D6D0-9C44-8367-21B67749ECD7}"/>
              </a:ext>
            </a:extLst>
          </p:cNvPr>
          <p:cNvPicPr>
            <a:picLocks noChangeAspect="1"/>
          </p:cNvPicPr>
          <p:nvPr/>
        </p:nvPicPr>
        <p:blipFill>
          <a:blip r:embed="rId4"/>
          <a:stretch>
            <a:fillRect/>
          </a:stretch>
        </p:blipFill>
        <p:spPr>
          <a:xfrm>
            <a:off x="1264920" y="2778760"/>
            <a:ext cx="8991600" cy="2794000"/>
          </a:xfrm>
          <a:prstGeom prst="rect">
            <a:avLst/>
          </a:prstGeom>
        </p:spPr>
      </p:pic>
    </p:spTree>
    <p:extLst>
      <p:ext uri="{BB962C8B-B14F-4D97-AF65-F5344CB8AC3E}">
        <p14:creationId xmlns:p14="http://schemas.microsoft.com/office/powerpoint/2010/main" val="1740235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13D0C-F985-E649-88E5-24514632E364}"/>
              </a:ext>
            </a:extLst>
          </p:cNvPr>
          <p:cNvSpPr>
            <a:spLocks noGrp="1"/>
          </p:cNvSpPr>
          <p:nvPr>
            <p:ph type="title"/>
          </p:nvPr>
        </p:nvSpPr>
        <p:spPr>
          <a:xfrm>
            <a:off x="562076" y="267349"/>
            <a:ext cx="10515600" cy="788519"/>
          </a:xfrm>
        </p:spPr>
        <p:txBody>
          <a:bodyPr>
            <a:normAutofit/>
          </a:bodyPr>
          <a:lstStyle/>
          <a:p>
            <a:r>
              <a:rPr kumimoji="1" lang="zh-CN" altLang="en" sz="2400" dirty="0"/>
              <a:t>用户</a:t>
            </a:r>
            <a:r>
              <a:rPr kumimoji="1" lang="zh-CN" altLang="en-US" sz="2400" dirty="0"/>
              <a:t>常见问题</a:t>
            </a:r>
          </a:p>
        </p:txBody>
      </p:sp>
      <p:pic>
        <p:nvPicPr>
          <p:cNvPr id="4" name="图片 3">
            <a:extLst>
              <a:ext uri="{FF2B5EF4-FFF2-40B4-BE49-F238E27FC236}">
                <a16:creationId xmlns:a16="http://schemas.microsoft.com/office/drawing/2014/main" id="{F22D4CF9-6A2C-2344-A4F9-96BD6E870615}"/>
              </a:ext>
            </a:extLst>
          </p:cNvPr>
          <p:cNvPicPr>
            <a:picLocks noChangeAspect="1"/>
          </p:cNvPicPr>
          <p:nvPr/>
        </p:nvPicPr>
        <p:blipFill>
          <a:blip r:embed="rId3"/>
          <a:stretch>
            <a:fillRect/>
          </a:stretch>
        </p:blipFill>
        <p:spPr>
          <a:xfrm>
            <a:off x="853440" y="1055868"/>
            <a:ext cx="10515600" cy="5372100"/>
          </a:xfrm>
          <a:prstGeom prst="rect">
            <a:avLst/>
          </a:prstGeom>
        </p:spPr>
      </p:pic>
    </p:spTree>
    <p:extLst>
      <p:ext uri="{BB962C8B-B14F-4D97-AF65-F5344CB8AC3E}">
        <p14:creationId xmlns:p14="http://schemas.microsoft.com/office/powerpoint/2010/main" val="2218913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4ECADE1-E92C-B940-857B-17524486C984}"/>
              </a:ext>
            </a:extLst>
          </p:cNvPr>
          <p:cNvSpPr>
            <a:spLocks noGrp="1"/>
          </p:cNvSpPr>
          <p:nvPr>
            <p:ph type="title"/>
          </p:nvPr>
        </p:nvSpPr>
        <p:spPr>
          <a:xfrm>
            <a:off x="3473671" y="2493469"/>
            <a:ext cx="5701862" cy="1325563"/>
          </a:xfrm>
        </p:spPr>
        <p:txBody>
          <a:bodyPr>
            <a:normAutofit/>
          </a:bodyPr>
          <a:lstStyle/>
          <a:p>
            <a:r>
              <a:rPr lang="zh-CN" altLang="en-US" dirty="0"/>
              <a:t>欢迎提问，感谢聆听</a:t>
            </a:r>
          </a:p>
        </p:txBody>
      </p:sp>
    </p:spTree>
    <p:extLst>
      <p:ext uri="{BB962C8B-B14F-4D97-AF65-F5344CB8AC3E}">
        <p14:creationId xmlns:p14="http://schemas.microsoft.com/office/powerpoint/2010/main" val="24289761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A2AC0"/>
        </a:solidFill>
        <a:ln w="3175">
          <a:solidFill>
            <a:srgbClr val="1A2AC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29353</TotalTime>
  <Words>3723</Words>
  <Application>Microsoft Macintosh PowerPoint</Application>
  <PresentationFormat>宽屏</PresentationFormat>
  <Paragraphs>305</Paragraphs>
  <Slides>31</Slides>
  <Notes>23</Notes>
  <HiddenSlides>0</HiddenSlides>
  <MMClips>0</MMClips>
  <ScaleCrop>false</ScaleCrop>
  <HeadingPairs>
    <vt:vector size="6" baseType="variant">
      <vt:variant>
        <vt:lpstr>已用的字体</vt:lpstr>
      </vt:variant>
      <vt:variant>
        <vt:i4>4</vt:i4>
      </vt:variant>
      <vt:variant>
        <vt:lpstr>主题</vt:lpstr>
      </vt:variant>
      <vt:variant>
        <vt:i4>3</vt:i4>
      </vt:variant>
      <vt:variant>
        <vt:lpstr>幻灯片标题</vt:lpstr>
      </vt:variant>
      <vt:variant>
        <vt:i4>31</vt:i4>
      </vt:variant>
    </vt:vector>
  </HeadingPairs>
  <TitlesOfParts>
    <vt:vector size="38" baseType="lpstr">
      <vt:lpstr>等线</vt:lpstr>
      <vt:lpstr>等线 Light</vt:lpstr>
      <vt:lpstr>Arial</vt:lpstr>
      <vt:lpstr>Wingdings</vt:lpstr>
      <vt:lpstr>Office 主题​​</vt:lpstr>
      <vt:lpstr>1_自定义设计方案</vt:lpstr>
      <vt:lpstr>自定义设计方案</vt:lpstr>
      <vt:lpstr>PowerPoint 演示文稿</vt:lpstr>
      <vt:lpstr>PowerPoint 演示文稿</vt:lpstr>
      <vt:lpstr>CMake特性</vt:lpstr>
      <vt:lpstr>CMake基础用法示例一 —— 编译hello world</vt:lpstr>
      <vt:lpstr>CMake基础用法示例一 —— 编译hello world</vt:lpstr>
      <vt:lpstr>CMake基础用法示例一 —— 编译hello world</vt:lpstr>
      <vt:lpstr>CMake基础用法示例二 —— 编译hello world库</vt:lpstr>
      <vt:lpstr>CMake基础用法示例二 —— 编译hello world库</vt:lpstr>
      <vt:lpstr>CMake基础用法示例二 —— 编译hello world库</vt:lpstr>
      <vt:lpstr>CMake基础用法示例三 —— 指定安装规则与测试</vt:lpstr>
      <vt:lpstr>CMake基础用法示例</vt:lpstr>
      <vt:lpstr>CMake语言常用命令 -- SET</vt:lpstr>
      <vt:lpstr>CMake语言常用命令 – SET_PROPERTY</vt:lpstr>
      <vt:lpstr>CMake语言常用命令 – FIND_PACKAGE</vt:lpstr>
      <vt:lpstr>CMake语言常用命令 -- FILE</vt:lpstr>
      <vt:lpstr>CMake语言常用命令 -- MESSAGE</vt:lpstr>
      <vt:lpstr>CMake语言常用命令 -- FOREACH</vt:lpstr>
      <vt:lpstr>CMake语言常用命令 -- STRING</vt:lpstr>
      <vt:lpstr>CMake语言常用命令 -- ADD_CUSTOM_TARGET</vt:lpstr>
      <vt:lpstr>CMake语言常用命令 -- ADD_CUSTOM_COMMAND</vt:lpstr>
      <vt:lpstr>CMake语言常用命令 -- ADD_DEPENDENCIES</vt:lpstr>
      <vt:lpstr>CMake语言常用命令 -- ADD_CUSTOM_COMMAND</vt:lpstr>
      <vt:lpstr>CMake语言常用命令 -- ADD_DEFINITIONS</vt:lpstr>
      <vt:lpstr>Cmake语言常用命令</vt:lpstr>
      <vt:lpstr>CMake在Paddle中的运用 – function的高阶封装</vt:lpstr>
      <vt:lpstr>CMake在Paddle中的运用 – 使用其他项目</vt:lpstr>
      <vt:lpstr>CMake在Paddle中的运用 – 使用其他项目</vt:lpstr>
      <vt:lpstr>CMake在Paddle中的运用 – 使用其他项目</vt:lpstr>
      <vt:lpstr>用户常见问题</vt:lpstr>
      <vt:lpstr>用户常见问题</vt:lpstr>
      <vt:lpstr>欢迎提问，感谢聆听</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索 YC</cp:lastModifiedBy>
  <cp:revision>279</cp:revision>
  <dcterms:created xsi:type="dcterms:W3CDTF">2019-10-16T02:05:43Z</dcterms:created>
  <dcterms:modified xsi:type="dcterms:W3CDTF">2020-02-24T17:21:54Z</dcterms:modified>
</cp:coreProperties>
</file>