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68" r:id="rId2"/>
  </p:sldMasterIdLst>
  <p:notesMasterIdLst>
    <p:notesMasterId r:id="rId8"/>
  </p:notesMasterIdLst>
  <p:sldIdLst>
    <p:sldId id="1208" r:id="rId3"/>
    <p:sldId id="1204" r:id="rId4"/>
    <p:sldId id="1205" r:id="rId5"/>
    <p:sldId id="1207" r:id="rId6"/>
    <p:sldId id="1206" r:id="rId7"/>
  </p:sldIdLst>
  <p:sldSz cx="12192000" cy="6858000"/>
  <p:notesSz cx="6735763" cy="9866313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FF131BF-7D1C-7F4E-AEAB-C3D89527AAF7}">
          <p14:sldIdLst>
            <p14:sldId id="1208"/>
            <p14:sldId id="1204"/>
            <p14:sldId id="1205"/>
            <p14:sldId id="1207"/>
            <p14:sldId id="12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33">
          <p15:clr>
            <a:srgbClr val="A4A3A4"/>
          </p15:clr>
        </p15:guide>
        <p15:guide id="2" pos="18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,Gaosi" initials="C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EEF"/>
    <a:srgbClr val="BDD7EE"/>
    <a:srgbClr val="548CC2"/>
    <a:srgbClr val="EAF0F8"/>
    <a:srgbClr val="D2DFEF"/>
    <a:srgbClr val="D5DEEF"/>
    <a:srgbClr val="D4DEEF"/>
    <a:srgbClr val="EAEFF7"/>
    <a:srgbClr val="DEEBF7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96" autoAdjust="0"/>
    <p:restoredTop sz="89911" autoAdjust="0"/>
  </p:normalViewPr>
  <p:slideViewPr>
    <p:cSldViewPr snapToGrid="0">
      <p:cViewPr varScale="1">
        <p:scale>
          <a:sx n="81" d="100"/>
          <a:sy n="81" d="100"/>
        </p:scale>
        <p:origin x="1392" y="176"/>
      </p:cViewPr>
      <p:guideLst>
        <p:guide orient="horz" pos="4133"/>
        <p:guide pos="1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8" d="100"/>
        <a:sy n="14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F9E8A-F613-440E-A389-B0FB66FD11BA}" type="datetimeFigureOut">
              <a:rPr lang="zh-CN" altLang="en-US" smtClean="0"/>
              <a:t>2022/12/9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C5312-03FA-423F-BCD5-B35C3F1EC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71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C5312-03FA-423F-BCD5-B35C3F1EC8E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416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C5312-03FA-423F-BCD5-B35C3F1EC8E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485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C5312-03FA-423F-BCD5-B35C3F1EC8E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809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C5312-03FA-423F-BCD5-B35C3F1EC8E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892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C5312-03FA-423F-BCD5-B35C3F1EC8E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860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Verdana"/>
                <a:ea typeface="微软雅黑"/>
              </a:rPr>
              <a:pPr/>
              <a:t>2022/12/9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Verdana"/>
                <a:ea typeface="微软雅黑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788255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2509982"/>
            <a:ext cx="12192000" cy="1838037"/>
          </a:xfrm>
          <a:prstGeom prst="rect">
            <a:avLst/>
          </a:prstGeom>
          <a:solidFill>
            <a:srgbClr val="1E82B4">
              <a:alpha val="92157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342857" tIns="68571" rIns="102857" bIns="68571" anchor="ctr"/>
          <a:lstStyle/>
          <a:p>
            <a:pPr defTabSz="754581">
              <a:spcBef>
                <a:spcPct val="0"/>
              </a:spcBef>
              <a:defRPr/>
            </a:pPr>
            <a:endParaRPr lang="zh-CN" altLang="en-US" sz="3810" kern="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973" y="3164675"/>
            <a:ext cx="10465132" cy="528651"/>
          </a:xfrm>
        </p:spPr>
        <p:txBody>
          <a:bodyPr/>
          <a:lstStyle>
            <a:lvl1pPr>
              <a:defRPr sz="4191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Verdana"/>
                <a:ea typeface="微软雅黑"/>
              </a:rPr>
              <a:pPr/>
              <a:t>2022/12/9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7" name="副标题 2"/>
          <p:cNvSpPr>
            <a:spLocks noGrp="1"/>
          </p:cNvSpPr>
          <p:nvPr>
            <p:ph type="subTitle" idx="1"/>
          </p:nvPr>
        </p:nvSpPr>
        <p:spPr>
          <a:xfrm>
            <a:off x="6454592" y="4734822"/>
            <a:ext cx="5378888" cy="617211"/>
          </a:xfrm>
          <a:ln>
            <a:noFill/>
          </a:ln>
        </p:spPr>
        <p:txBody>
          <a:bodyPr>
            <a:normAutofit/>
          </a:bodyPr>
          <a:lstStyle>
            <a:lvl1pPr marL="0" indent="0" algn="r">
              <a:buNone/>
              <a:defRPr sz="2186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505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0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6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21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2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32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382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43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25420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Verdana"/>
                <a:ea typeface="微软雅黑"/>
              </a:rPr>
              <a:pPr/>
              <a:t>2022/12/9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Verdana"/>
                <a:ea typeface="微软雅黑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8455" y="6283669"/>
            <a:ext cx="1451899" cy="54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5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2509982"/>
            <a:ext cx="12192000" cy="1838037"/>
          </a:xfrm>
          <a:prstGeom prst="rect">
            <a:avLst/>
          </a:prstGeom>
          <a:solidFill>
            <a:srgbClr val="1E82B4">
              <a:alpha val="92157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342857" tIns="68571" rIns="102857" bIns="68571" anchor="ctr"/>
          <a:lstStyle/>
          <a:p>
            <a:pPr defTabSz="754581">
              <a:spcBef>
                <a:spcPct val="0"/>
              </a:spcBef>
              <a:defRPr/>
            </a:pPr>
            <a:endParaRPr lang="zh-CN" altLang="en-US" sz="3810" kern="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973" y="3164675"/>
            <a:ext cx="10465132" cy="528651"/>
          </a:xfrm>
        </p:spPr>
        <p:txBody>
          <a:bodyPr/>
          <a:lstStyle>
            <a:lvl1pPr>
              <a:defRPr sz="4191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Verdana"/>
                <a:ea typeface="微软雅黑"/>
              </a:rPr>
              <a:pPr/>
              <a:t>2022/12/9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7" name="副标题 2"/>
          <p:cNvSpPr>
            <a:spLocks noGrp="1"/>
          </p:cNvSpPr>
          <p:nvPr>
            <p:ph type="subTitle" idx="1"/>
          </p:nvPr>
        </p:nvSpPr>
        <p:spPr>
          <a:xfrm>
            <a:off x="6454592" y="4734822"/>
            <a:ext cx="5378888" cy="617211"/>
          </a:xfrm>
          <a:ln>
            <a:noFill/>
          </a:ln>
        </p:spPr>
        <p:txBody>
          <a:bodyPr>
            <a:normAutofit/>
          </a:bodyPr>
          <a:lstStyle>
            <a:lvl1pPr marL="0" indent="0" algn="r">
              <a:buNone/>
              <a:defRPr sz="2186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505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0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6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21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2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32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382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43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8455" y="6283669"/>
            <a:ext cx="1451899" cy="54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9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heme" Target="../theme/theme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heme" Target="../theme/theme2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.bin"/><Relationship Id="rId5" Type="http://schemas.openxmlformats.org/officeDocument/2006/relationships/tags" Target="../tags/tag3.xml"/><Relationship Id="rId10" Type="http://schemas.openxmlformats.org/officeDocument/2006/relationships/image" Target="../media/image5.png"/><Relationship Id="rId4" Type="http://schemas.openxmlformats.org/officeDocument/2006/relationships/vmlDrawing" Target="../drawings/vmlDrawing2.v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 hidden="1">
            <a:extLst>
              <a:ext uri="{FF2B5EF4-FFF2-40B4-BE49-F238E27FC236}">
                <a16:creationId xmlns:a16="http://schemas.microsoft.com/office/drawing/2014/main" id="{1FA1AC09-9D8A-6648-9C1F-B8E719BEB5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42259933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376" name="think-cell 幻灯片" r:id="rId6" imgW="3886200" imgH="5029200" progId="TCLayout.ActiveDocument.1">
                  <p:embed/>
                </p:oleObj>
              </mc:Choice>
              <mc:Fallback>
                <p:oleObj name="think-cell 幻灯片" r:id="rId6" imgW="3886200" imgH="50292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" descr="F:\2011工作\周报\xianghailong\img\bg_top.jpg"/>
          <p:cNvPicPr>
            <a:picLocks noChangeAspect="1" noChangeArrowheads="1"/>
          </p:cNvPicPr>
          <p:nvPr userDrawn="1"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1"/>
            <a:ext cx="12192000" cy="857233"/>
          </a:xfrm>
          <a:prstGeom prst="rect">
            <a:avLst/>
          </a:prstGeom>
          <a:noFill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1856" y="24272"/>
            <a:ext cx="10465132" cy="5286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1857" y="857212"/>
            <a:ext cx="11653089" cy="526902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0312" y="6356048"/>
            <a:ext cx="2844431" cy="36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Verdana"/>
                <a:ea typeface="微软雅黑"/>
              </a:rPr>
              <a:pPr/>
              <a:t>2022/12/9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6246" y="6356048"/>
            <a:ext cx="3859508" cy="36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258" y="6356048"/>
            <a:ext cx="2844431" cy="36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Verdana"/>
                <a:ea typeface="微软雅黑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36977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870875" rtl="0" eaLnBrk="1" latinLnBrk="0" hangingPunct="1">
        <a:spcBef>
          <a:spcPct val="0"/>
        </a:spcBef>
        <a:buNone/>
        <a:defRPr sz="2571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26578" indent="-326578" algn="l" defTabSz="870875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905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07586" indent="-272148" algn="l" defTabSz="870875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714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088593" indent="-217719" algn="l" defTabSz="870875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524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524030" indent="-217719" algn="l" defTabSz="870875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333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1959468" indent="-217719" algn="l" defTabSz="870875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333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394905" indent="-217719" algn="l" defTabSz="870875" rtl="0" eaLnBrk="1" latinLnBrk="0" hangingPunct="1">
        <a:spcBef>
          <a:spcPct val="20000"/>
        </a:spcBef>
        <a:buFont typeface="Arial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830342" indent="-217719" algn="l" defTabSz="870875" rtl="0" eaLnBrk="1" latinLnBrk="0" hangingPunct="1">
        <a:spcBef>
          <a:spcPct val="20000"/>
        </a:spcBef>
        <a:buFont typeface="Arial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265780" indent="-217719" algn="l" defTabSz="870875" rtl="0" eaLnBrk="1" latinLnBrk="0" hangingPunct="1">
        <a:spcBef>
          <a:spcPct val="20000"/>
        </a:spcBef>
        <a:buFont typeface="Arial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701217" indent="-217719" algn="l" defTabSz="870875" rtl="0" eaLnBrk="1" latinLnBrk="0" hangingPunct="1">
        <a:spcBef>
          <a:spcPct val="20000"/>
        </a:spcBef>
        <a:buFont typeface="Arial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1pPr>
      <a:lvl2pPr marL="435437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2pPr>
      <a:lvl3pPr marL="870875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3pPr>
      <a:lvl4pPr marL="1306312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4pPr>
      <a:lvl5pPr marL="1741749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5pPr>
      <a:lvl6pPr marL="2177186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6pPr>
      <a:lvl7pPr marL="2612624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7pPr>
      <a:lvl8pPr marL="3048061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8pPr>
      <a:lvl9pPr marL="3483498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>
            <a:extLst>
              <a:ext uri="{FF2B5EF4-FFF2-40B4-BE49-F238E27FC236}">
                <a16:creationId xmlns:a16="http://schemas.microsoft.com/office/drawing/2014/main" id="{EFDC3230-9DF7-254B-919E-221C3B3163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9249834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400" name="think-cell 幻灯片" r:id="rId6" imgW="3886200" imgH="5029200" progId="TCLayout.ActiveDocument.1">
                  <p:embed/>
                </p:oleObj>
              </mc:Choice>
              <mc:Fallback>
                <p:oleObj name="think-cell 幻灯片" r:id="rId6" imgW="3886200" imgH="50292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" descr="F:\2011工作\周报\xianghailong\img\bg_top.jpg"/>
          <p:cNvPicPr>
            <a:picLocks noChangeAspect="1" noChangeArrowheads="1"/>
          </p:cNvPicPr>
          <p:nvPr userDrawn="1"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1"/>
            <a:ext cx="12192000" cy="857233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680368" y="6300188"/>
            <a:ext cx="1368268" cy="42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1856" y="24272"/>
            <a:ext cx="10465132" cy="5286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1857" y="857212"/>
            <a:ext cx="11653089" cy="526902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0312" y="6356048"/>
            <a:ext cx="2844431" cy="36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Verdana"/>
                <a:ea typeface="微软雅黑"/>
              </a:rPr>
              <a:pPr/>
              <a:t>2022/12/9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6246" y="6356048"/>
            <a:ext cx="3859508" cy="36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258" y="6356048"/>
            <a:ext cx="2844431" cy="36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Verdana"/>
                <a:ea typeface="微软雅黑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Verdana"/>
              <a:ea typeface="微软雅黑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668455" y="6283669"/>
            <a:ext cx="1451899" cy="54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9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defTabSz="870875" rtl="0" eaLnBrk="1" latinLnBrk="0" hangingPunct="1">
        <a:spcBef>
          <a:spcPct val="0"/>
        </a:spcBef>
        <a:buNone/>
        <a:defRPr sz="2571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26578" indent="-326578" algn="l" defTabSz="870875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905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07586" indent="-272148" algn="l" defTabSz="870875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714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088593" indent="-217719" algn="l" defTabSz="870875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524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524030" indent="-217719" algn="l" defTabSz="870875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333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1959468" indent="-217719" algn="l" defTabSz="870875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333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394905" indent="-217719" algn="l" defTabSz="870875" rtl="0" eaLnBrk="1" latinLnBrk="0" hangingPunct="1">
        <a:spcBef>
          <a:spcPct val="20000"/>
        </a:spcBef>
        <a:buFont typeface="Arial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830342" indent="-217719" algn="l" defTabSz="870875" rtl="0" eaLnBrk="1" latinLnBrk="0" hangingPunct="1">
        <a:spcBef>
          <a:spcPct val="20000"/>
        </a:spcBef>
        <a:buFont typeface="Arial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265780" indent="-217719" algn="l" defTabSz="870875" rtl="0" eaLnBrk="1" latinLnBrk="0" hangingPunct="1">
        <a:spcBef>
          <a:spcPct val="20000"/>
        </a:spcBef>
        <a:buFont typeface="Arial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701217" indent="-217719" algn="l" defTabSz="870875" rtl="0" eaLnBrk="1" latinLnBrk="0" hangingPunct="1">
        <a:spcBef>
          <a:spcPct val="20000"/>
        </a:spcBef>
        <a:buFont typeface="Arial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1pPr>
      <a:lvl2pPr marL="435437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2pPr>
      <a:lvl3pPr marL="870875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3pPr>
      <a:lvl4pPr marL="1306312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4pPr>
      <a:lvl5pPr marL="1741749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5pPr>
      <a:lvl6pPr marL="2177186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6pPr>
      <a:lvl7pPr marL="2612624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7pPr>
      <a:lvl8pPr marL="3048061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8pPr>
      <a:lvl9pPr marL="3483498" algn="l" defTabSz="870875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75BF4BA4-24AE-8C43-ABFB-E0A091E65AA3}"/>
              </a:ext>
            </a:extLst>
          </p:cNvPr>
          <p:cNvSpPr/>
          <p:nvPr/>
        </p:nvSpPr>
        <p:spPr>
          <a:xfrm>
            <a:off x="2837378" y="141769"/>
            <a:ext cx="69756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https://github.com/pytorch/torchdynamo/issues/681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A960FCD-6726-B040-A6B0-E00D77730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773" y="510980"/>
            <a:ext cx="9642981" cy="2234071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9839B067-8021-4F4B-9A4B-F2F83E91E7AE}"/>
              </a:ext>
            </a:extLst>
          </p:cNvPr>
          <p:cNvSpPr/>
          <p:nvPr/>
        </p:nvSpPr>
        <p:spPr>
          <a:xfrm>
            <a:off x="126508" y="110870"/>
            <a:ext cx="18516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Torchdynamo</a:t>
            </a:r>
            <a:endParaRPr lang="en" altLang="zh-CN" sz="2000" dirty="0">
              <a:solidFill>
                <a:schemeClr val="bg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3A57C5-5427-9145-9DF5-9563DB2AC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767" y="2745051"/>
            <a:ext cx="5568991" cy="404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78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994FCAF-BFB8-8745-B071-6D88E6D01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08" y="884420"/>
            <a:ext cx="6050430" cy="527653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7FC3DCF-0E1A-2D43-9BCB-AABF72F111C2}"/>
              </a:ext>
            </a:extLst>
          </p:cNvPr>
          <p:cNvSpPr/>
          <p:nvPr/>
        </p:nvSpPr>
        <p:spPr>
          <a:xfrm>
            <a:off x="126508" y="126380"/>
            <a:ext cx="2710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Torchbench</a:t>
            </a:r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FP32</a:t>
            </a:r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" altLang="zh-CN" sz="2000" dirty="0">
              <a:solidFill>
                <a:schemeClr val="bg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64B9FF5-F3B0-AE40-9452-2EAB08940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783" y="2614060"/>
            <a:ext cx="5557940" cy="3274934"/>
          </a:xfrm>
          <a:prstGeom prst="rect">
            <a:avLst/>
          </a:prstGeom>
        </p:spPr>
      </p:pic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E44E3D-7659-D741-9366-774706A53DF4}"/>
              </a:ext>
            </a:extLst>
          </p:cNvPr>
          <p:cNvSpPr/>
          <p:nvPr/>
        </p:nvSpPr>
        <p:spPr>
          <a:xfrm>
            <a:off x="691034" y="1699592"/>
            <a:ext cx="1147705" cy="149086"/>
          </a:xfrm>
          <a:prstGeom prst="roundRect">
            <a:avLst/>
          </a:prstGeom>
          <a:noFill/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E8A6F7F-3FA0-1F41-965B-A09FEDF26CE4}"/>
              </a:ext>
            </a:extLst>
          </p:cNvPr>
          <p:cNvSpPr/>
          <p:nvPr/>
        </p:nvSpPr>
        <p:spPr>
          <a:xfrm>
            <a:off x="416051" y="2279375"/>
            <a:ext cx="1700984" cy="135834"/>
          </a:xfrm>
          <a:prstGeom prst="roundRect">
            <a:avLst/>
          </a:prstGeom>
          <a:noFill/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4D5E9CA-FD22-D546-B166-A3CA7D957082}"/>
              </a:ext>
            </a:extLst>
          </p:cNvPr>
          <p:cNvSpPr/>
          <p:nvPr/>
        </p:nvSpPr>
        <p:spPr>
          <a:xfrm>
            <a:off x="691034" y="2663851"/>
            <a:ext cx="1147705" cy="16998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F4489DA-A521-1C4B-9792-FE32B66D2247}"/>
              </a:ext>
            </a:extLst>
          </p:cNvPr>
          <p:cNvSpPr/>
          <p:nvPr/>
        </p:nvSpPr>
        <p:spPr>
          <a:xfrm>
            <a:off x="974034" y="3383623"/>
            <a:ext cx="636105" cy="15470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55BE441C-B971-E046-8769-C571F31966B9}"/>
              </a:ext>
            </a:extLst>
          </p:cNvPr>
          <p:cNvSpPr/>
          <p:nvPr/>
        </p:nvSpPr>
        <p:spPr>
          <a:xfrm>
            <a:off x="1093833" y="3805385"/>
            <a:ext cx="397038" cy="154708"/>
          </a:xfrm>
          <a:prstGeom prst="roundRect">
            <a:avLst/>
          </a:prstGeom>
          <a:noFill/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42B8368D-84EE-A14D-A8A6-49C017273642}"/>
              </a:ext>
            </a:extLst>
          </p:cNvPr>
          <p:cNvSpPr/>
          <p:nvPr/>
        </p:nvSpPr>
        <p:spPr>
          <a:xfrm>
            <a:off x="696795" y="4056021"/>
            <a:ext cx="1141944" cy="17112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09C61359-534B-3145-A2C2-40483891D475}"/>
              </a:ext>
            </a:extLst>
          </p:cNvPr>
          <p:cNvSpPr/>
          <p:nvPr/>
        </p:nvSpPr>
        <p:spPr>
          <a:xfrm>
            <a:off x="839256" y="4494199"/>
            <a:ext cx="865569" cy="138292"/>
          </a:xfrm>
          <a:prstGeom prst="roundRect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733FB18B-383C-ED41-B3BF-2E1884817B53}"/>
              </a:ext>
            </a:extLst>
          </p:cNvPr>
          <p:cNvSpPr/>
          <p:nvPr/>
        </p:nvSpPr>
        <p:spPr>
          <a:xfrm>
            <a:off x="859134" y="4781985"/>
            <a:ext cx="770883" cy="13743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0F90291E-713D-1540-A578-7594C9E809F6}"/>
              </a:ext>
            </a:extLst>
          </p:cNvPr>
          <p:cNvSpPr/>
          <p:nvPr/>
        </p:nvSpPr>
        <p:spPr>
          <a:xfrm>
            <a:off x="729927" y="5198694"/>
            <a:ext cx="1118751" cy="157846"/>
          </a:xfrm>
          <a:prstGeom prst="roundRect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46C75F2E-AF0C-B441-AE3F-0987908265C5}"/>
              </a:ext>
            </a:extLst>
          </p:cNvPr>
          <p:cNvSpPr/>
          <p:nvPr/>
        </p:nvSpPr>
        <p:spPr>
          <a:xfrm>
            <a:off x="859134" y="5619807"/>
            <a:ext cx="770883" cy="155357"/>
          </a:xfrm>
          <a:prstGeom prst="roundRect">
            <a:avLst/>
          </a:prstGeom>
          <a:noFill/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47224369-09BF-4F47-8CA8-289ABAA7B7CD}"/>
              </a:ext>
            </a:extLst>
          </p:cNvPr>
          <p:cNvSpPr/>
          <p:nvPr/>
        </p:nvSpPr>
        <p:spPr>
          <a:xfrm>
            <a:off x="7345017" y="2623999"/>
            <a:ext cx="377687" cy="11494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388409D-077A-CC40-B199-21F015AC5F75}"/>
              </a:ext>
            </a:extLst>
          </p:cNvPr>
          <p:cNvSpPr/>
          <p:nvPr/>
        </p:nvSpPr>
        <p:spPr>
          <a:xfrm>
            <a:off x="7238999" y="3128894"/>
            <a:ext cx="583097" cy="124945"/>
          </a:xfrm>
          <a:prstGeom prst="roundRect">
            <a:avLst/>
          </a:prstGeom>
          <a:noFill/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38FA7614-DD50-C243-8BAE-11877C29C0E6}"/>
              </a:ext>
            </a:extLst>
          </p:cNvPr>
          <p:cNvSpPr/>
          <p:nvPr/>
        </p:nvSpPr>
        <p:spPr>
          <a:xfrm>
            <a:off x="7166113" y="3496968"/>
            <a:ext cx="725557" cy="38297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BC09F6D-65C1-6A4B-BFAD-8974EBE0C221}"/>
              </a:ext>
            </a:extLst>
          </p:cNvPr>
          <p:cNvSpPr txBox="1"/>
          <p:nvPr/>
        </p:nvSpPr>
        <p:spPr>
          <a:xfrm>
            <a:off x="6521545" y="1297081"/>
            <a:ext cx="4694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小规模模型加速明显，大规模模型加速较弱（红色框）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带有分支结构的加速明显（蓝色框）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涉及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GAN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、目标检测和图像分割，但是非图像分类的模型偏少（绿色框）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D383F682-3FC1-174C-911C-A5A811DF8302}"/>
              </a:ext>
            </a:extLst>
          </p:cNvPr>
          <p:cNvSpPr/>
          <p:nvPr/>
        </p:nvSpPr>
        <p:spPr>
          <a:xfrm>
            <a:off x="808350" y="2842228"/>
            <a:ext cx="964303" cy="139183"/>
          </a:xfrm>
          <a:prstGeom prst="roundRect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5BF4BA4-24AE-8C43-ABFB-E0A091E65AA3}"/>
              </a:ext>
            </a:extLst>
          </p:cNvPr>
          <p:cNvSpPr/>
          <p:nvPr/>
        </p:nvSpPr>
        <p:spPr>
          <a:xfrm>
            <a:off x="2837378" y="141769"/>
            <a:ext cx="69756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https://github.com/pytorch/torchdynamo/issues/681</a:t>
            </a:r>
          </a:p>
        </p:txBody>
      </p:sp>
    </p:spTree>
    <p:extLst>
      <p:ext uri="{BB962C8B-B14F-4D97-AF65-F5344CB8AC3E}">
        <p14:creationId xmlns:p14="http://schemas.microsoft.com/office/powerpoint/2010/main" val="2019427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7FC3DCF-0E1A-2D43-9BCB-AABF72F111C2}"/>
              </a:ext>
            </a:extLst>
          </p:cNvPr>
          <p:cNvSpPr/>
          <p:nvPr/>
        </p:nvSpPr>
        <p:spPr>
          <a:xfrm>
            <a:off x="126508" y="126380"/>
            <a:ext cx="20152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TIMM</a:t>
            </a:r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FP32</a:t>
            </a:r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" altLang="zh-CN" sz="2000" dirty="0">
              <a:solidFill>
                <a:schemeClr val="bg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5D6B62-0957-4F4B-94C4-25D3AF802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10" y="845817"/>
            <a:ext cx="5522320" cy="561435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78B9685-3404-0E4F-88C0-AA073AE72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012" y="2689595"/>
            <a:ext cx="5962692" cy="3334917"/>
          </a:xfrm>
          <a:prstGeom prst="rect">
            <a:avLst/>
          </a:prstGeom>
        </p:spPr>
      </p:pic>
      <p:sp>
        <p:nvSpPr>
          <p:cNvPr id="29" name="圆角矩形 28">
            <a:extLst>
              <a:ext uri="{FF2B5EF4-FFF2-40B4-BE49-F238E27FC236}">
                <a16:creationId xmlns:a16="http://schemas.microsoft.com/office/drawing/2014/main" id="{B32D8D88-6F5D-D04A-A9E8-7A0451776B37}"/>
              </a:ext>
            </a:extLst>
          </p:cNvPr>
          <p:cNvSpPr/>
          <p:nvPr/>
        </p:nvSpPr>
        <p:spPr>
          <a:xfrm>
            <a:off x="866899" y="1211284"/>
            <a:ext cx="843148" cy="30875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E9E95F4A-6895-9E48-9DE7-684831C32505}"/>
              </a:ext>
            </a:extLst>
          </p:cNvPr>
          <p:cNvSpPr/>
          <p:nvPr/>
        </p:nvSpPr>
        <p:spPr>
          <a:xfrm>
            <a:off x="641268" y="2600696"/>
            <a:ext cx="1294410" cy="771896"/>
          </a:xfrm>
          <a:prstGeom prst="roundRect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623C61E2-88C8-1E4F-951E-8D08D80520BF}"/>
              </a:ext>
            </a:extLst>
          </p:cNvPr>
          <p:cNvSpPr/>
          <p:nvPr/>
        </p:nvSpPr>
        <p:spPr>
          <a:xfrm>
            <a:off x="783770" y="3477490"/>
            <a:ext cx="1033153" cy="202554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66E89A27-CF34-3545-90A6-C3DB79BC2654}"/>
              </a:ext>
            </a:extLst>
          </p:cNvPr>
          <p:cNvSpPr/>
          <p:nvPr/>
        </p:nvSpPr>
        <p:spPr>
          <a:xfrm>
            <a:off x="914401" y="3898094"/>
            <a:ext cx="724394" cy="175143"/>
          </a:xfrm>
          <a:prstGeom prst="roundRect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0A336D5-B22B-D44E-8E37-06A415A1DA96}"/>
              </a:ext>
            </a:extLst>
          </p:cNvPr>
          <p:cNvSpPr txBox="1"/>
          <p:nvPr/>
        </p:nvSpPr>
        <p:spPr>
          <a:xfrm>
            <a:off x="6086253" y="1258157"/>
            <a:ext cx="4694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小规模模型加速明显，大规模模型加速较弱（红色框）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部分带有分支结构的模型加速明显（蓝色框）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视觉模型加速不明显（绿色框）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F69A7C33-00C5-5D48-A37B-2A72EA0EDCEC}"/>
              </a:ext>
            </a:extLst>
          </p:cNvPr>
          <p:cNvSpPr/>
          <p:nvPr/>
        </p:nvSpPr>
        <p:spPr>
          <a:xfrm>
            <a:off x="6306090" y="3676146"/>
            <a:ext cx="1877210" cy="245098"/>
          </a:xfrm>
          <a:prstGeom prst="roundRect">
            <a:avLst/>
          </a:prstGeom>
          <a:noFill/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1A8D5237-5470-8745-B28B-5CE027455465}"/>
              </a:ext>
            </a:extLst>
          </p:cNvPr>
          <p:cNvSpPr/>
          <p:nvPr/>
        </p:nvSpPr>
        <p:spPr>
          <a:xfrm>
            <a:off x="6306090" y="4234504"/>
            <a:ext cx="1877210" cy="245098"/>
          </a:xfrm>
          <a:prstGeom prst="roundRect">
            <a:avLst/>
          </a:prstGeom>
          <a:noFill/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D0132931-D000-644F-9736-76309D966BBE}"/>
              </a:ext>
            </a:extLst>
          </p:cNvPr>
          <p:cNvSpPr/>
          <p:nvPr/>
        </p:nvSpPr>
        <p:spPr>
          <a:xfrm>
            <a:off x="6528122" y="4639547"/>
            <a:ext cx="1354238" cy="130165"/>
          </a:xfrm>
          <a:prstGeom prst="roundRect">
            <a:avLst/>
          </a:prstGeom>
          <a:noFill/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B554966-7450-6C45-9C0E-E8980F9D59D4}"/>
              </a:ext>
            </a:extLst>
          </p:cNvPr>
          <p:cNvSpPr/>
          <p:nvPr/>
        </p:nvSpPr>
        <p:spPr>
          <a:xfrm>
            <a:off x="2329792" y="141769"/>
            <a:ext cx="69756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https://github.com/pytorch/torchdynamo/issues/681</a:t>
            </a:r>
          </a:p>
        </p:txBody>
      </p:sp>
    </p:spTree>
    <p:extLst>
      <p:ext uri="{BB962C8B-B14F-4D97-AF65-F5344CB8AC3E}">
        <p14:creationId xmlns:p14="http://schemas.microsoft.com/office/powerpoint/2010/main" val="291989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7FC3DCF-0E1A-2D43-9BCB-AABF72F111C2}"/>
              </a:ext>
            </a:extLst>
          </p:cNvPr>
          <p:cNvSpPr/>
          <p:nvPr/>
        </p:nvSpPr>
        <p:spPr>
          <a:xfrm>
            <a:off x="126508" y="126380"/>
            <a:ext cx="21739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实测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FP32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V100</a:t>
            </a:r>
            <a:endParaRPr lang="en" altLang="zh-CN" sz="2000" dirty="0">
              <a:solidFill>
                <a:schemeClr val="bg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6137469-E630-5947-89B2-FB5165D19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541004"/>
              </p:ext>
            </p:extLst>
          </p:nvPr>
        </p:nvGraphicFramePr>
        <p:xfrm>
          <a:off x="579165" y="1918740"/>
          <a:ext cx="10685296" cy="26374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5780">
                  <a:extLst>
                    <a:ext uri="{9D8B030D-6E8A-4147-A177-3AD203B41FA5}">
                      <a16:colId xmlns:a16="http://schemas.microsoft.com/office/drawing/2014/main" val="1071426735"/>
                    </a:ext>
                  </a:extLst>
                </a:gridCol>
                <a:gridCol w="637928">
                  <a:extLst>
                    <a:ext uri="{9D8B030D-6E8A-4147-A177-3AD203B41FA5}">
                      <a16:colId xmlns:a16="http://schemas.microsoft.com/office/drawing/2014/main" val="4186566185"/>
                    </a:ext>
                  </a:extLst>
                </a:gridCol>
                <a:gridCol w="558188">
                  <a:extLst>
                    <a:ext uri="{9D8B030D-6E8A-4147-A177-3AD203B41FA5}">
                      <a16:colId xmlns:a16="http://schemas.microsoft.com/office/drawing/2014/main" val="3867374017"/>
                    </a:ext>
                  </a:extLst>
                </a:gridCol>
                <a:gridCol w="508349">
                  <a:extLst>
                    <a:ext uri="{9D8B030D-6E8A-4147-A177-3AD203B41FA5}">
                      <a16:colId xmlns:a16="http://schemas.microsoft.com/office/drawing/2014/main" val="483398810"/>
                    </a:ext>
                  </a:extLst>
                </a:gridCol>
                <a:gridCol w="1129664">
                  <a:extLst>
                    <a:ext uri="{9D8B030D-6E8A-4147-A177-3AD203B41FA5}">
                      <a16:colId xmlns:a16="http://schemas.microsoft.com/office/drawing/2014/main" val="746394689"/>
                    </a:ext>
                  </a:extLst>
                </a:gridCol>
                <a:gridCol w="1186147">
                  <a:extLst>
                    <a:ext uri="{9D8B030D-6E8A-4147-A177-3AD203B41FA5}">
                      <a16:colId xmlns:a16="http://schemas.microsoft.com/office/drawing/2014/main" val="615103761"/>
                    </a:ext>
                  </a:extLst>
                </a:gridCol>
                <a:gridCol w="1129664">
                  <a:extLst>
                    <a:ext uri="{9D8B030D-6E8A-4147-A177-3AD203B41FA5}">
                      <a16:colId xmlns:a16="http://schemas.microsoft.com/office/drawing/2014/main" val="3006221443"/>
                    </a:ext>
                  </a:extLst>
                </a:gridCol>
                <a:gridCol w="907054">
                  <a:extLst>
                    <a:ext uri="{9D8B030D-6E8A-4147-A177-3AD203B41FA5}">
                      <a16:colId xmlns:a16="http://schemas.microsoft.com/office/drawing/2014/main" val="3004038470"/>
                    </a:ext>
                  </a:extLst>
                </a:gridCol>
                <a:gridCol w="1226018">
                  <a:extLst>
                    <a:ext uri="{9D8B030D-6E8A-4147-A177-3AD203B41FA5}">
                      <a16:colId xmlns:a16="http://schemas.microsoft.com/office/drawing/2014/main" val="1325924969"/>
                    </a:ext>
                  </a:extLst>
                </a:gridCol>
                <a:gridCol w="1076504">
                  <a:extLst>
                    <a:ext uri="{9D8B030D-6E8A-4147-A177-3AD203B41FA5}">
                      <a16:colId xmlns:a16="http://schemas.microsoft.com/office/drawing/2014/main" val="4292680190"/>
                    </a:ext>
                  </a:extLst>
                </a:gridCol>
              </a:tblGrid>
              <a:tr h="65012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模型名称</a:t>
                      </a:r>
                      <a:endParaRPr lang="zh-CN" altLang="en-US" sz="900" b="0" i="0" u="none" strike="noStrike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fp32/amp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batchsize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GPU</a:t>
                      </a:r>
                      <a:r>
                        <a:rPr lang="zh-CN" altLang="en-US" sz="900" u="none" strike="noStrike">
                          <a:effectLst/>
                        </a:rPr>
                        <a:t>数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br>
                        <a:rPr lang="en" sz="900" u="none" strike="noStrike">
                          <a:effectLst/>
                        </a:rPr>
                      </a:br>
                      <a:r>
                        <a:rPr lang="en" sz="900" u="none" strike="noStrike">
                          <a:effectLst/>
                        </a:rPr>
                        <a:t>torch1.13 + timm</a:t>
                      </a:r>
                      <a:r>
                        <a:rPr lang="zh-CN" altLang="en-US" sz="900" u="none" strike="noStrike">
                          <a:effectLst/>
                        </a:rPr>
                        <a:t>速度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br>
                        <a:rPr lang="en" sz="900" u="none" strike="noStrike">
                          <a:effectLst/>
                        </a:rPr>
                      </a:br>
                      <a:r>
                        <a:rPr lang="en" sz="900" u="none" strike="noStrike">
                          <a:effectLst/>
                        </a:rPr>
                        <a:t>torch2.0 + timm</a:t>
                      </a:r>
                      <a:r>
                        <a:rPr lang="zh-CN" altLang="en-US" sz="900" u="none" strike="noStrike">
                          <a:effectLst/>
                        </a:rPr>
                        <a:t>速度</a:t>
                      </a:r>
                      <a:br>
                        <a:rPr lang="zh-CN" altLang="en-US" sz="900" u="none" strike="noStrike">
                          <a:effectLst/>
                        </a:rPr>
                      </a:br>
                      <a:r>
                        <a:rPr lang="en-US" altLang="zh-CN" sz="900" u="none" strike="noStrike">
                          <a:effectLst/>
                        </a:rPr>
                        <a:t>(</a:t>
                      </a:r>
                      <a:r>
                        <a:rPr lang="zh-CN" altLang="en-US" sz="900" u="none" strike="noStrike">
                          <a:effectLst/>
                        </a:rPr>
                        <a:t>非</a:t>
                      </a:r>
                      <a:r>
                        <a:rPr lang="en" sz="900" u="none" strike="noStrike">
                          <a:effectLst/>
                        </a:rPr>
                        <a:t>compile</a:t>
                      </a:r>
                      <a:r>
                        <a:rPr lang="zh-CN" altLang="en-US" sz="900" u="none" strike="noStrike">
                          <a:effectLst/>
                        </a:rPr>
                        <a:t>模式</a:t>
                      </a:r>
                      <a:r>
                        <a:rPr lang="en-US" altLang="zh-CN" sz="900" u="none" strike="noStrike">
                          <a:effectLst/>
                        </a:rPr>
                        <a:t>)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br>
                        <a:rPr lang="en" sz="900" u="none" strike="noStrike">
                          <a:effectLst/>
                        </a:rPr>
                      </a:br>
                      <a:r>
                        <a:rPr lang="en" sz="900" u="none" strike="noStrike">
                          <a:effectLst/>
                        </a:rPr>
                        <a:t>torch2.0 + timm</a:t>
                      </a:r>
                      <a:r>
                        <a:rPr lang="zh-CN" altLang="en-US" sz="900" u="none" strike="noStrike">
                          <a:effectLst/>
                        </a:rPr>
                        <a:t>速度</a:t>
                      </a:r>
                      <a:r>
                        <a:rPr lang="en-US" altLang="zh-CN" sz="900" u="none" strike="noStrike">
                          <a:effectLst/>
                        </a:rPr>
                        <a:t>(</a:t>
                      </a:r>
                      <a:r>
                        <a:rPr lang="en" sz="900" u="none" strike="noStrike">
                          <a:effectLst/>
                        </a:rPr>
                        <a:t>compile</a:t>
                      </a:r>
                      <a:r>
                        <a:rPr lang="zh-CN" altLang="en-US" sz="900" u="none" strike="noStrike">
                          <a:effectLst/>
                        </a:rPr>
                        <a:t>模式</a:t>
                      </a:r>
                      <a:r>
                        <a:rPr lang="en-US" altLang="zh-CN" sz="900" u="none" strike="noStrike">
                          <a:effectLst/>
                        </a:rPr>
                        <a:t>)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br>
                        <a:rPr lang="en" sz="900" u="none" strike="noStrike">
                          <a:effectLst/>
                        </a:rPr>
                      </a:br>
                      <a:r>
                        <a:rPr lang="en" sz="900" u="none" strike="noStrike">
                          <a:effectLst/>
                        </a:rPr>
                        <a:t>paddle</a:t>
                      </a:r>
                      <a:r>
                        <a:rPr lang="zh-CN" altLang="en-US" sz="900" u="none" strike="noStrike">
                          <a:effectLst/>
                        </a:rPr>
                        <a:t>训练速度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torch2.0 </a:t>
                      </a:r>
                      <a:br>
                        <a:rPr lang="e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e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compile/</a:t>
                      </a:r>
                      <a:r>
                        <a:rPr lang="zh-CN" alt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非</a:t>
                      </a:r>
                      <a:r>
                        <a:rPr lang="e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compile</a:t>
                      </a:r>
                      <a:endParaRPr lang="e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solidFill>
                            <a:srgbClr val="FF0000"/>
                          </a:solidFill>
                          <a:effectLst/>
                        </a:rPr>
                        <a:t>paddle/torch2.0 compile</a:t>
                      </a:r>
                      <a:endParaRPr lang="e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5587148"/>
                  </a:ext>
                </a:extLst>
              </a:tr>
              <a:tr h="236679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ResNet50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fp32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2665.09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2676.2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2867.36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2654.08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1.071429639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0.92561799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8549568"/>
                  </a:ext>
                </a:extLst>
              </a:tr>
              <a:tr h="236679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ResNet152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fp32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1101.69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1096.05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1153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1044.37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1.051959308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0.905784909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2131118"/>
                  </a:ext>
                </a:extLst>
              </a:tr>
              <a:tr h="330611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SwinTransformer_tiny_patch4_window7_224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fp32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104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2000.9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1994.68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2092.14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1958.19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1.048859968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0.935974648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305423"/>
                  </a:ext>
                </a:extLst>
              </a:tr>
              <a:tr h="236679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HRNet_W48_C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fp32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64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683.28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678.95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699.66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712.07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1.030502983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1.017737187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95637536"/>
                  </a:ext>
                </a:extLst>
              </a:tr>
              <a:tr h="236679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MobileNetV2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fp32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64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4399.23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4587.77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4491.53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5308.17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0.979022488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1.181817777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3342759"/>
                  </a:ext>
                </a:extLst>
              </a:tr>
              <a:tr h="236679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 dirty="0">
                          <a:effectLst/>
                        </a:rPr>
                        <a:t>MobileNetV3_large_x1_0</a:t>
                      </a:r>
                      <a:endParaRPr lang="en" sz="900" b="0" i="0" u="none" strike="noStrike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fp32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256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6359.29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6422.89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6487.76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4829.24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1.010099815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0.74436169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1263831"/>
                  </a:ext>
                </a:extLst>
              </a:tr>
              <a:tr h="236679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GhostNet_x1_3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fp32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512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4722.71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4793.2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4829.24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4225.58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1.007518985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0.874998965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757565"/>
                  </a:ext>
                </a:extLst>
              </a:tr>
              <a:tr h="236679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PPLCNet_x1_0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fp32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512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4793.2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4978.98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4978.98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4339.79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0.8716223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4791896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EED08EC-2703-E545-8D80-BB67667B6FB2}"/>
              </a:ext>
            </a:extLst>
          </p:cNvPr>
          <p:cNvSpPr txBox="1"/>
          <p:nvPr/>
        </p:nvSpPr>
        <p:spPr>
          <a:xfrm>
            <a:off x="579165" y="976770"/>
            <a:ext cx="111267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V100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上，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Torch2.0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compile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模式相比于非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compile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模式，加速不明显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V100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上，基于</a:t>
            </a:r>
            <a:r>
              <a:rPr kumimoji="1"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timm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库，飞桨现状相比于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Torch2.0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compile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模式，大部分模型速度慢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10%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左右，其中 </a:t>
            </a:r>
            <a:r>
              <a:rPr lang="en" altLang="zh-CN" sz="1400" dirty="0"/>
              <a:t>MobileNetV3_large_x1_0</a:t>
            </a:r>
            <a:r>
              <a:rPr lang="zh-CN" altLang="en-US" sz="1400" dirty="0"/>
              <a:t> 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模型速度慢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25%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" altLang="zh-CN" sz="1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051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7FC3DCF-0E1A-2D43-9BCB-AABF72F111C2}"/>
              </a:ext>
            </a:extLst>
          </p:cNvPr>
          <p:cNvSpPr/>
          <p:nvPr/>
        </p:nvSpPr>
        <p:spPr>
          <a:xfrm>
            <a:off x="126508" y="126380"/>
            <a:ext cx="21675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AMP</a:t>
            </a:r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V100</a:t>
            </a:r>
            <a:endParaRPr lang="en" altLang="zh-CN" sz="2000" dirty="0">
              <a:solidFill>
                <a:schemeClr val="bg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9A14ECA-4382-8E40-9D36-518BC8A8D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860459"/>
              </p:ext>
            </p:extLst>
          </p:nvPr>
        </p:nvGraphicFramePr>
        <p:xfrm>
          <a:off x="684542" y="1902975"/>
          <a:ext cx="10713926" cy="30316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6672">
                  <a:extLst>
                    <a:ext uri="{9D8B030D-6E8A-4147-A177-3AD203B41FA5}">
                      <a16:colId xmlns:a16="http://schemas.microsoft.com/office/drawing/2014/main" val="863230353"/>
                    </a:ext>
                  </a:extLst>
                </a:gridCol>
                <a:gridCol w="762152">
                  <a:extLst>
                    <a:ext uri="{9D8B030D-6E8A-4147-A177-3AD203B41FA5}">
                      <a16:colId xmlns:a16="http://schemas.microsoft.com/office/drawing/2014/main" val="1971914472"/>
                    </a:ext>
                  </a:extLst>
                </a:gridCol>
                <a:gridCol w="581752">
                  <a:extLst>
                    <a:ext uri="{9D8B030D-6E8A-4147-A177-3AD203B41FA5}">
                      <a16:colId xmlns:a16="http://schemas.microsoft.com/office/drawing/2014/main" val="1532020600"/>
                    </a:ext>
                  </a:extLst>
                </a:gridCol>
                <a:gridCol w="529810">
                  <a:extLst>
                    <a:ext uri="{9D8B030D-6E8A-4147-A177-3AD203B41FA5}">
                      <a16:colId xmlns:a16="http://schemas.microsoft.com/office/drawing/2014/main" val="1087954054"/>
                    </a:ext>
                  </a:extLst>
                </a:gridCol>
                <a:gridCol w="1205057">
                  <a:extLst>
                    <a:ext uri="{9D8B030D-6E8A-4147-A177-3AD203B41FA5}">
                      <a16:colId xmlns:a16="http://schemas.microsoft.com/office/drawing/2014/main" val="2898836298"/>
                    </a:ext>
                  </a:extLst>
                </a:gridCol>
                <a:gridCol w="1260462">
                  <a:extLst>
                    <a:ext uri="{9D8B030D-6E8A-4147-A177-3AD203B41FA5}">
                      <a16:colId xmlns:a16="http://schemas.microsoft.com/office/drawing/2014/main" val="504169961"/>
                    </a:ext>
                  </a:extLst>
                </a:gridCol>
                <a:gridCol w="1163503">
                  <a:extLst>
                    <a:ext uri="{9D8B030D-6E8A-4147-A177-3AD203B41FA5}">
                      <a16:colId xmlns:a16="http://schemas.microsoft.com/office/drawing/2014/main" val="2458857592"/>
                    </a:ext>
                  </a:extLst>
                </a:gridCol>
                <a:gridCol w="986900">
                  <a:extLst>
                    <a:ext uri="{9D8B030D-6E8A-4147-A177-3AD203B41FA5}">
                      <a16:colId xmlns:a16="http://schemas.microsoft.com/office/drawing/2014/main" val="2900109499"/>
                    </a:ext>
                  </a:extLst>
                </a:gridCol>
                <a:gridCol w="928032">
                  <a:extLst>
                    <a:ext uri="{9D8B030D-6E8A-4147-A177-3AD203B41FA5}">
                      <a16:colId xmlns:a16="http://schemas.microsoft.com/office/drawing/2014/main" val="982315743"/>
                    </a:ext>
                  </a:extLst>
                </a:gridCol>
                <a:gridCol w="969586">
                  <a:extLst>
                    <a:ext uri="{9D8B030D-6E8A-4147-A177-3AD203B41FA5}">
                      <a16:colId xmlns:a16="http://schemas.microsoft.com/office/drawing/2014/main" val="1381603553"/>
                    </a:ext>
                  </a:extLst>
                </a:gridCol>
              </a:tblGrid>
              <a:tr h="74728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模型名称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fp32/amp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batchsize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GPU</a:t>
                      </a:r>
                      <a:r>
                        <a:rPr lang="zh-CN" altLang="en-US" sz="900" u="none" strike="noStrike">
                          <a:effectLst/>
                        </a:rPr>
                        <a:t>数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br>
                        <a:rPr lang="en" sz="900" u="none" strike="noStrike">
                          <a:effectLst/>
                        </a:rPr>
                      </a:br>
                      <a:r>
                        <a:rPr lang="en" sz="900" u="none" strike="noStrike">
                          <a:effectLst/>
                        </a:rPr>
                        <a:t>torch1.13 + timm</a:t>
                      </a:r>
                      <a:r>
                        <a:rPr lang="zh-CN" altLang="en-US" sz="900" u="none" strike="noStrike">
                          <a:effectLst/>
                        </a:rPr>
                        <a:t>速度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br>
                        <a:rPr lang="en" sz="900" u="none" strike="noStrike">
                          <a:effectLst/>
                        </a:rPr>
                      </a:br>
                      <a:r>
                        <a:rPr lang="en" sz="900" u="none" strike="noStrike">
                          <a:effectLst/>
                        </a:rPr>
                        <a:t>torch2.0 + timm</a:t>
                      </a:r>
                      <a:r>
                        <a:rPr lang="zh-CN" altLang="en-US" sz="900" u="none" strike="noStrike">
                          <a:effectLst/>
                        </a:rPr>
                        <a:t>速度</a:t>
                      </a:r>
                      <a:br>
                        <a:rPr lang="zh-CN" altLang="en-US" sz="900" u="none" strike="noStrike">
                          <a:effectLst/>
                        </a:rPr>
                      </a:br>
                      <a:r>
                        <a:rPr lang="en-US" altLang="zh-CN" sz="900" u="none" strike="noStrike">
                          <a:effectLst/>
                        </a:rPr>
                        <a:t>(</a:t>
                      </a:r>
                      <a:r>
                        <a:rPr lang="zh-CN" altLang="en-US" sz="900" u="none" strike="noStrike">
                          <a:effectLst/>
                        </a:rPr>
                        <a:t>非</a:t>
                      </a:r>
                      <a:r>
                        <a:rPr lang="en" sz="900" u="none" strike="noStrike">
                          <a:effectLst/>
                        </a:rPr>
                        <a:t>compile</a:t>
                      </a:r>
                      <a:r>
                        <a:rPr lang="zh-CN" altLang="en-US" sz="900" u="none" strike="noStrike">
                          <a:effectLst/>
                        </a:rPr>
                        <a:t>模式</a:t>
                      </a:r>
                      <a:r>
                        <a:rPr lang="en-US" altLang="zh-CN" sz="900" u="none" strike="noStrike">
                          <a:effectLst/>
                        </a:rPr>
                        <a:t>)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br>
                        <a:rPr lang="en" sz="900" u="none" strike="noStrike">
                          <a:effectLst/>
                        </a:rPr>
                      </a:br>
                      <a:r>
                        <a:rPr lang="en" sz="900" u="none" strike="noStrike">
                          <a:effectLst/>
                        </a:rPr>
                        <a:t>torch2.0 + timm</a:t>
                      </a:r>
                      <a:r>
                        <a:rPr lang="zh-CN" altLang="en-US" sz="900" u="none" strike="noStrike">
                          <a:effectLst/>
                        </a:rPr>
                        <a:t>速度</a:t>
                      </a:r>
                      <a:r>
                        <a:rPr lang="en-US" altLang="zh-CN" sz="900" u="none" strike="noStrike">
                          <a:effectLst/>
                        </a:rPr>
                        <a:t>(</a:t>
                      </a:r>
                      <a:r>
                        <a:rPr lang="en" sz="900" u="none" strike="noStrike">
                          <a:effectLst/>
                        </a:rPr>
                        <a:t>compile</a:t>
                      </a:r>
                      <a:r>
                        <a:rPr lang="zh-CN" altLang="en-US" sz="900" u="none" strike="noStrike">
                          <a:effectLst/>
                        </a:rPr>
                        <a:t>模式</a:t>
                      </a:r>
                      <a:r>
                        <a:rPr lang="en-US" altLang="zh-CN" sz="900" u="none" strike="noStrike">
                          <a:effectLst/>
                        </a:rPr>
                        <a:t>)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br>
                        <a:rPr lang="en" sz="900" u="none" strike="noStrike">
                          <a:effectLst/>
                        </a:rPr>
                      </a:br>
                      <a:r>
                        <a:rPr lang="en" sz="900" u="none" strike="noStrike">
                          <a:effectLst/>
                        </a:rPr>
                        <a:t>paddle</a:t>
                      </a:r>
                      <a:r>
                        <a:rPr lang="zh-CN" altLang="en-US" sz="900" u="none" strike="noStrike">
                          <a:effectLst/>
                        </a:rPr>
                        <a:t>训练速度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torch2.0 </a:t>
                      </a:r>
                      <a:br>
                        <a:rPr lang="e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e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compile/</a:t>
                      </a:r>
                      <a:r>
                        <a:rPr lang="zh-CN" alt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非</a:t>
                      </a:r>
                      <a:r>
                        <a:rPr lang="e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compile</a:t>
                      </a:r>
                      <a:endParaRPr lang="e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solidFill>
                            <a:srgbClr val="FF0000"/>
                          </a:solidFill>
                          <a:effectLst/>
                        </a:rPr>
                        <a:t>paddle/torch2.0 compile</a:t>
                      </a:r>
                      <a:endParaRPr lang="e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83877419"/>
                  </a:ext>
                </a:extLst>
              </a:tr>
              <a:tr h="272048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ResNet50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amp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4523.16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4620.78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4587.77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4117.23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0.992856184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0.897436009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2067951"/>
                  </a:ext>
                </a:extLst>
              </a:tr>
              <a:tr h="272048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ResNet152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amp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2133.85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2148.12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2105.86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2335.59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0.980326984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1.109090823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8741761"/>
                  </a:ext>
                </a:extLst>
              </a:tr>
              <a:tr h="380016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 dirty="0">
                          <a:effectLst/>
                        </a:rPr>
                        <a:t>SwinTransformer_tiny_patch4_window7_224</a:t>
                      </a:r>
                      <a:endParaRPr lang="en" sz="900" b="0" i="0" u="none" strike="noStrike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amp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104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3434.7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3380.46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3940.42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2665.09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1.165646096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0.676346684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8597856"/>
                  </a:ext>
                </a:extLst>
              </a:tr>
              <a:tr h="272048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HRNet_W48_C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amp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64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1182.85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1187.22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1176.35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1187.22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0.990844157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1.009240447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44606847"/>
                  </a:ext>
                </a:extLst>
              </a:tr>
              <a:tr h="272048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MobileNetV2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amp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64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4620.78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4491.53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4587.77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5264.66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1.021426997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1.14754227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3880724"/>
                  </a:ext>
                </a:extLst>
              </a:tr>
              <a:tr h="272048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MobileNetV3_large_x1_0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amp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256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6553.96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6553.96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6553.96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4793.2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0.731344103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510052"/>
                  </a:ext>
                </a:extLst>
              </a:tr>
              <a:tr h="272048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GhostNet_x1_3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amp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512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4793.2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4793.2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4865.82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4429.57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1.01515063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0.910343991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1291094"/>
                  </a:ext>
                </a:extLst>
              </a:tr>
              <a:tr h="272048"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PPLCNet_x1_0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900" u="none" strike="noStrike">
                          <a:effectLst/>
                        </a:rPr>
                        <a:t>amp</a:t>
                      </a:r>
                      <a:endParaRPr lang="e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512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单机</a:t>
                      </a:r>
                      <a:r>
                        <a:rPr lang="en-US" altLang="zh-CN" sz="900" u="none" strike="noStrike">
                          <a:effectLst/>
                        </a:rPr>
                        <a:t>8</a:t>
                      </a:r>
                      <a:r>
                        <a:rPr lang="zh-CN" altLang="en-US" sz="900" u="none" strike="noStrike">
                          <a:effectLst/>
                        </a:rPr>
                        <a:t>卡</a:t>
                      </a:r>
                      <a:endParaRPr lang="zh-CN" altLang="en-US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4978.98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4978.98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4978.98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4310.66</a:t>
                      </a:r>
                      <a:endParaRPr lang="en-US" altLang="zh-CN" sz="900" b="0" i="0" u="none" strike="noStrike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0.865771704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014650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1B44BED-2DAE-2D48-96D1-4C13488498CE}"/>
              </a:ext>
            </a:extLst>
          </p:cNvPr>
          <p:cNvSpPr txBox="1"/>
          <p:nvPr/>
        </p:nvSpPr>
        <p:spPr>
          <a:xfrm>
            <a:off x="697404" y="961005"/>
            <a:ext cx="107010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V100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上，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Torch2.0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compile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模式相比于非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compile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模式，加速不明显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V100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上，基于</a:t>
            </a:r>
            <a:r>
              <a:rPr kumimoji="1"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timm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库，飞桨现状相比于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Torch2.0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compile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模式，大部分模型速度慢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10%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左右。其中</a:t>
            </a:r>
            <a:r>
              <a:rPr lang="en" altLang="zh-CN" sz="1400" dirty="0" err="1"/>
              <a:t>SwinTransformer</a:t>
            </a:r>
            <a:r>
              <a:rPr lang="zh-CN" altLang="en-US" sz="1400" dirty="0"/>
              <a:t> 慢</a:t>
            </a:r>
            <a:r>
              <a:rPr lang="en-US" altLang="zh-CN" sz="1400" dirty="0"/>
              <a:t>33%</a:t>
            </a:r>
            <a:r>
              <a:rPr lang="zh-CN" altLang="en-US" sz="1400" dirty="0"/>
              <a:t>，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1400" dirty="0"/>
              <a:t>MobileNetV3_large_x1_0</a:t>
            </a:r>
            <a:r>
              <a:rPr lang="zh-CN" altLang="en-US" sz="1400" dirty="0"/>
              <a:t> 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模型速度慢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25%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614028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0913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4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5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8268</TotalTime>
  <Words>575</Words>
  <Application>Microsoft Macintosh PowerPoint</Application>
  <PresentationFormat>宽屏</PresentationFormat>
  <Paragraphs>203</Paragraphs>
  <Slides>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等线</vt:lpstr>
      <vt:lpstr>宋体</vt:lpstr>
      <vt:lpstr>Microsoft YaHei</vt:lpstr>
      <vt:lpstr>Microsoft YaHei</vt:lpstr>
      <vt:lpstr>Arial</vt:lpstr>
      <vt:lpstr>Calibri</vt:lpstr>
      <vt:lpstr>Verdana</vt:lpstr>
      <vt:lpstr>5_自定义设计方案</vt:lpstr>
      <vt:lpstr>6_自定义设计方案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Tao,Ruijuan</dc:creator>
  <cp:lastModifiedBy>Microsoft Office User</cp:lastModifiedBy>
  <cp:revision>3202</cp:revision>
  <cp:lastPrinted>2019-10-25T11:25:58Z</cp:lastPrinted>
  <dcterms:created xsi:type="dcterms:W3CDTF">2019-10-12T17:58:58Z</dcterms:created>
  <dcterms:modified xsi:type="dcterms:W3CDTF">2022-12-09T00:49:20Z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2052-1.5.0.2161</vt:lpwstr>
  </property>
</Properties>
</file>