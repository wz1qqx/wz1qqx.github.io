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7" r:id="rId2"/>
  </p:sldMasterIdLst>
  <p:notesMasterIdLst>
    <p:notesMasterId r:id="rId19"/>
  </p:notesMasterIdLst>
  <p:sldIdLst>
    <p:sldId id="339" r:id="rId3"/>
    <p:sldId id="380" r:id="rId4"/>
    <p:sldId id="379" r:id="rId5"/>
    <p:sldId id="383" r:id="rId6"/>
    <p:sldId id="376" r:id="rId7"/>
    <p:sldId id="382" r:id="rId8"/>
    <p:sldId id="377" r:id="rId9"/>
    <p:sldId id="378" r:id="rId10"/>
    <p:sldId id="381" r:id="rId11"/>
    <p:sldId id="384" r:id="rId12"/>
    <p:sldId id="387" r:id="rId13"/>
    <p:sldId id="390" r:id="rId14"/>
    <p:sldId id="388" r:id="rId15"/>
    <p:sldId id="389" r:id="rId16"/>
    <p:sldId id="391" r:id="rId17"/>
    <p:sldId id="38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A3E8"/>
    <a:srgbClr val="CA6B2C"/>
    <a:srgbClr val="0000FF"/>
    <a:srgbClr val="B157A4"/>
    <a:srgbClr val="FFFFFF"/>
    <a:srgbClr val="EBF1F0"/>
    <a:srgbClr val="E3E0DF"/>
    <a:srgbClr val="CAD3E4"/>
    <a:srgbClr val="3A98ED"/>
    <a:srgbClr val="009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DF1428-EC51-3D4E-8600-9FC53D7F18A0}" v="24" dt="2021-12-20T08:33:01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6" autoAdjust="0"/>
    <p:restoredTop sz="97097"/>
  </p:normalViewPr>
  <p:slideViewPr>
    <p:cSldViewPr snapToGrid="0" snapToObjects="1">
      <p:cViewPr varScale="1">
        <p:scale>
          <a:sx n="73" d="100"/>
          <a:sy n="73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 Chunwei" userId="ea74bf537ef4b013" providerId="LiveId" clId="{DDDF1428-EC51-3D4E-8600-9FC53D7F18A0}"/>
    <pc:docChg chg="undo custSel addSld modSld sldOrd">
      <pc:chgData name="Yan Chunwei" userId="ea74bf537ef4b013" providerId="LiveId" clId="{DDDF1428-EC51-3D4E-8600-9FC53D7F18A0}" dt="2021-12-20T08:34:52.932" v="1507" actId="20577"/>
      <pc:docMkLst>
        <pc:docMk/>
      </pc:docMkLst>
      <pc:sldChg chg="modSp mod">
        <pc:chgData name="Yan Chunwei" userId="ea74bf537ef4b013" providerId="LiveId" clId="{DDDF1428-EC51-3D4E-8600-9FC53D7F18A0}" dt="2021-12-20T07:48:19.415" v="609" actId="20577"/>
        <pc:sldMkLst>
          <pc:docMk/>
          <pc:sldMk cId="0" sldId="343"/>
        </pc:sldMkLst>
        <pc:spChg chg="mod">
          <ac:chgData name="Yan Chunwei" userId="ea74bf537ef4b013" providerId="LiveId" clId="{DDDF1428-EC51-3D4E-8600-9FC53D7F18A0}" dt="2021-12-20T07:48:19.415" v="609" actId="20577"/>
          <ac:spMkLst>
            <pc:docMk/>
            <pc:sldMk cId="0" sldId="343"/>
            <ac:spMk id="13" creationId="{00000000-0000-0000-0000-000000000000}"/>
          </ac:spMkLst>
        </pc:spChg>
      </pc:sldChg>
      <pc:sldChg chg="modSp mod">
        <pc:chgData name="Yan Chunwei" userId="ea74bf537ef4b013" providerId="LiveId" clId="{DDDF1428-EC51-3D4E-8600-9FC53D7F18A0}" dt="2021-12-20T07:33:53.771" v="551" actId="13926"/>
        <pc:sldMkLst>
          <pc:docMk/>
          <pc:sldMk cId="3480265557" sldId="346"/>
        </pc:sldMkLst>
        <pc:spChg chg="mod">
          <ac:chgData name="Yan Chunwei" userId="ea74bf537ef4b013" providerId="LiveId" clId="{DDDF1428-EC51-3D4E-8600-9FC53D7F18A0}" dt="2021-12-20T07:33:53.771" v="551" actId="13926"/>
          <ac:spMkLst>
            <pc:docMk/>
            <pc:sldMk cId="3480265557" sldId="346"/>
            <ac:spMk id="2" creationId="{00000000-0000-0000-0000-000000000000}"/>
          </ac:spMkLst>
        </pc:spChg>
        <pc:spChg chg="mod">
          <ac:chgData name="Yan Chunwei" userId="ea74bf537ef4b013" providerId="LiveId" clId="{DDDF1428-EC51-3D4E-8600-9FC53D7F18A0}" dt="2021-12-20T07:33:44.341" v="549" actId="13926"/>
          <ac:spMkLst>
            <pc:docMk/>
            <pc:sldMk cId="3480265557" sldId="346"/>
            <ac:spMk id="4" creationId="{00000000-0000-0000-0000-000000000000}"/>
          </ac:spMkLst>
        </pc:spChg>
        <pc:spChg chg="mod">
          <ac:chgData name="Yan Chunwei" userId="ea74bf537ef4b013" providerId="LiveId" clId="{DDDF1428-EC51-3D4E-8600-9FC53D7F18A0}" dt="2021-12-20T07:33:50.135" v="550" actId="13926"/>
          <ac:spMkLst>
            <pc:docMk/>
            <pc:sldMk cId="3480265557" sldId="346"/>
            <ac:spMk id="29" creationId="{00000000-0000-0000-0000-000000000000}"/>
          </ac:spMkLst>
        </pc:spChg>
      </pc:sldChg>
      <pc:sldChg chg="modSp mod">
        <pc:chgData name="Yan Chunwei" userId="ea74bf537ef4b013" providerId="LiveId" clId="{DDDF1428-EC51-3D4E-8600-9FC53D7F18A0}" dt="2021-12-20T07:35:01.529" v="565" actId="20577"/>
        <pc:sldMkLst>
          <pc:docMk/>
          <pc:sldMk cId="417925037" sldId="347"/>
        </pc:sldMkLst>
        <pc:spChg chg="mod">
          <ac:chgData name="Yan Chunwei" userId="ea74bf537ef4b013" providerId="LiveId" clId="{DDDF1428-EC51-3D4E-8600-9FC53D7F18A0}" dt="2021-12-20T07:35:01.529" v="565" actId="20577"/>
          <ac:spMkLst>
            <pc:docMk/>
            <pc:sldMk cId="417925037" sldId="347"/>
            <ac:spMk id="2" creationId="{00000000-0000-0000-0000-000000000000}"/>
          </ac:spMkLst>
        </pc:spChg>
        <pc:spChg chg="mod">
          <ac:chgData name="Yan Chunwei" userId="ea74bf537ef4b013" providerId="LiveId" clId="{DDDF1428-EC51-3D4E-8600-9FC53D7F18A0}" dt="2021-12-20T07:34:00.035" v="552" actId="13926"/>
          <ac:spMkLst>
            <pc:docMk/>
            <pc:sldMk cId="417925037" sldId="347"/>
            <ac:spMk id="10" creationId="{00000000-0000-0000-0000-000000000000}"/>
          </ac:spMkLst>
        </pc:spChg>
        <pc:spChg chg="mod">
          <ac:chgData name="Yan Chunwei" userId="ea74bf537ef4b013" providerId="LiveId" clId="{DDDF1428-EC51-3D4E-8600-9FC53D7F18A0}" dt="2021-12-20T07:07:30.110" v="93" actId="113"/>
          <ac:spMkLst>
            <pc:docMk/>
            <pc:sldMk cId="417925037" sldId="347"/>
            <ac:spMk id="42" creationId="{00000000-0000-0000-0000-000000000000}"/>
          </ac:spMkLst>
        </pc:spChg>
        <pc:spChg chg="mod">
          <ac:chgData name="Yan Chunwei" userId="ea74bf537ef4b013" providerId="LiveId" clId="{DDDF1428-EC51-3D4E-8600-9FC53D7F18A0}" dt="2021-12-20T07:34:04.196" v="553" actId="13926"/>
          <ac:spMkLst>
            <pc:docMk/>
            <pc:sldMk cId="417925037" sldId="347"/>
            <ac:spMk id="48" creationId="{00000000-0000-0000-0000-000000000000}"/>
          </ac:spMkLst>
        </pc:spChg>
        <pc:graphicFrameChg chg="mod modGraphic">
          <ac:chgData name="Yan Chunwei" userId="ea74bf537ef4b013" providerId="LiveId" clId="{DDDF1428-EC51-3D4E-8600-9FC53D7F18A0}" dt="2021-12-20T07:34:10.695" v="554" actId="13926"/>
          <ac:graphicFrameMkLst>
            <pc:docMk/>
            <pc:sldMk cId="417925037" sldId="347"/>
            <ac:graphicFrameMk id="64" creationId="{00000000-0000-0000-0000-000000000000}"/>
          </ac:graphicFrameMkLst>
        </pc:graphicFrameChg>
      </pc:sldChg>
      <pc:sldChg chg="modSp mod">
        <pc:chgData name="Yan Chunwei" userId="ea74bf537ef4b013" providerId="LiveId" clId="{DDDF1428-EC51-3D4E-8600-9FC53D7F18A0}" dt="2021-12-20T07:34:51.894" v="560" actId="20577"/>
        <pc:sldMkLst>
          <pc:docMk/>
          <pc:sldMk cId="525791126" sldId="348"/>
        </pc:sldMkLst>
        <pc:spChg chg="mod">
          <ac:chgData name="Yan Chunwei" userId="ea74bf537ef4b013" providerId="LiveId" clId="{DDDF1428-EC51-3D4E-8600-9FC53D7F18A0}" dt="2021-12-20T07:34:51.894" v="560" actId="20577"/>
          <ac:spMkLst>
            <pc:docMk/>
            <pc:sldMk cId="525791126" sldId="348"/>
            <ac:spMk id="2" creationId="{00000000-0000-0000-0000-000000000000}"/>
          </ac:spMkLst>
        </pc:spChg>
        <pc:graphicFrameChg chg="mod modGraphic">
          <ac:chgData name="Yan Chunwei" userId="ea74bf537ef4b013" providerId="LiveId" clId="{DDDF1428-EC51-3D4E-8600-9FC53D7F18A0}" dt="2021-12-20T07:32:39.534" v="548" actId="13926"/>
          <ac:graphicFrameMkLst>
            <pc:docMk/>
            <pc:sldMk cId="525791126" sldId="348"/>
            <ac:graphicFrameMk id="3" creationId="{00000000-0000-0000-0000-000000000000}"/>
          </ac:graphicFrameMkLst>
        </pc:graphicFrameChg>
      </pc:sldChg>
      <pc:sldChg chg="addSp delSp modSp new mod ord">
        <pc:chgData name="Yan Chunwei" userId="ea74bf537ef4b013" providerId="LiveId" clId="{DDDF1428-EC51-3D4E-8600-9FC53D7F18A0}" dt="2021-12-20T08:34:52.932" v="1507" actId="20577"/>
        <pc:sldMkLst>
          <pc:docMk/>
          <pc:sldMk cId="4058560811" sldId="349"/>
        </pc:sldMkLst>
        <pc:spChg chg="mod">
          <ac:chgData name="Yan Chunwei" userId="ea74bf537ef4b013" providerId="LiveId" clId="{DDDF1428-EC51-3D4E-8600-9FC53D7F18A0}" dt="2021-12-20T07:35:36.271" v="580" actId="20577"/>
          <ac:spMkLst>
            <pc:docMk/>
            <pc:sldMk cId="4058560811" sldId="349"/>
            <ac:spMk id="2" creationId="{04D9DC8C-5A1A-3541-A838-5D56F433782A}"/>
          </ac:spMkLst>
        </pc:spChg>
        <pc:spChg chg="mod">
          <ac:chgData name="Yan Chunwei" userId="ea74bf537ef4b013" providerId="LiveId" clId="{DDDF1428-EC51-3D4E-8600-9FC53D7F18A0}" dt="2021-12-20T08:34:52.932" v="1507" actId="20577"/>
          <ac:spMkLst>
            <pc:docMk/>
            <pc:sldMk cId="4058560811" sldId="349"/>
            <ac:spMk id="3" creationId="{C0F8C599-B162-494E-BA21-EE28EFBAE59F}"/>
          </ac:spMkLst>
        </pc:spChg>
        <pc:spChg chg="add del mod">
          <ac:chgData name="Yan Chunwei" userId="ea74bf537ef4b013" providerId="LiveId" clId="{DDDF1428-EC51-3D4E-8600-9FC53D7F18A0}" dt="2021-12-20T08:33:05.064" v="1488"/>
          <ac:spMkLst>
            <pc:docMk/>
            <pc:sldMk cId="4058560811" sldId="349"/>
            <ac:spMk id="4" creationId="{7AA71590-FE58-AA40-8C5A-D8F3F12E4E1C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B21785-5B08-5B4D-845D-DD672F05C806}" type="datetimeFigureOut">
              <a:rPr kumimoji="1" lang="zh-CN" altLang="en-US" smtClean="0"/>
              <a:t>2022/12/6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01A95-CFF5-4545-B775-DEB404C9D9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/>
            </a:lvl1pPr>
          </a:lstStyle>
          <a:p>
            <a:r>
              <a:rPr>
                <a:sym typeface="+mn-ea"/>
              </a:rPr>
              <a:t>单击此处编辑母版标题样式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1pPr>
            <a:lvl2pPr marL="457200" lvl="1" indent="0" defTabSz="914400">
              <a:buNone/>
              <a:tabLst>
                <a:tab pos="1609725" algn="l"/>
              </a:tabLst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2pPr>
            <a:lvl3pPr lvl="2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3pPr>
            <a:lvl4pPr lvl="3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4pPr>
            <a:lvl5pPr lvl="4" defTabSz="914400">
              <a:def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2022/12/6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533B7E-DC8C-1545-800B-C681EF6538C0}" type="datetimeFigureOut">
              <a:rPr kumimoji="1" lang="zh-CN" altLang="en-US" smtClean="0"/>
              <a:t>2022/12/6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 hasCustomPrompt="1"/>
          </p:nvPr>
        </p:nvSpPr>
        <p:spPr>
          <a:xfrm>
            <a:off x="406400" y="926926"/>
            <a:ext cx="11379200" cy="548403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06400" y="926926"/>
            <a:ext cx="11379200" cy="548403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06400" y="904240"/>
            <a:ext cx="11379200" cy="550672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1400"/>
            </a:lvl1pPr>
            <a:lvl2pPr>
              <a:lnSpc>
                <a:spcPct val="100000"/>
              </a:lnSpc>
              <a:defRPr sz="1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</a:lstStyle>
          <a:p>
            <a:pPr lvl="0"/>
            <a:r>
              <a:rPr kumimoji="1" lang="zh-CN" altLang="en-US" dirty="0"/>
              <a:t>编辑母版文本样式
第一级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第二级
第三级
第四级
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内容占位符 2"/>
          <p:cNvSpPr>
            <a:spLocks noGrp="1"/>
          </p:cNvSpPr>
          <p:nvPr>
            <p:ph idx="1" hasCustomPrompt="1"/>
          </p:nvPr>
        </p:nvSpPr>
        <p:spPr>
          <a:xfrm>
            <a:off x="406400" y="926926"/>
            <a:ext cx="11379200" cy="548403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06400" y="926926"/>
            <a:ext cx="11379200" cy="5484034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06400" y="904240"/>
            <a:ext cx="11379200" cy="5506720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spcBef>
                <a:spcPts val="1600"/>
              </a:spcBef>
              <a:buFont typeface="Wingdings" panose="05000000000000000000" pitchFamily="2" charset="2"/>
              <a:buChar char="Ø"/>
              <a:defRPr sz="1400"/>
            </a:lvl1pPr>
            <a:lvl2pPr>
              <a:lnSpc>
                <a:spcPct val="100000"/>
              </a:lnSpc>
              <a:defRPr sz="1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</a:lstStyle>
          <a:p>
            <a:pPr lvl="0"/>
            <a:r>
              <a:rPr kumimoji="1" lang="zh-CN" altLang="en-US" dirty="0"/>
              <a:t>编辑母版文本样式
第一级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第二级
第三级
第四级
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06400" y="181134"/>
            <a:ext cx="11379200" cy="498475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think-cell Slide" r:id="rId4" imgW="0" imgH="0" progId="TCLayout.ActiveDocument.1">
                  <p:embed/>
                </p:oleObj>
              </mc:Choice>
              <mc:Fallback>
                <p:oleObj name="think-cell Slide" r:id="rId4" imgW="0" imgH="0" progId="TCLayout.ActiveDocument.1">
                  <p:embed/>
                  <p:pic>
                    <p:nvPicPr>
                      <p:cNvPr id="10" name="对象 9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255463" y="6505798"/>
            <a:ext cx="9655019" cy="339397"/>
          </a:xfrm>
          <a:prstGeom prst="rect">
            <a:avLst/>
          </a:prstGeom>
        </p:spPr>
        <p:txBody>
          <a:bodyPr lIns="76115" tIns="38056" rIns="76115" bIns="38056" anchor="ctr"/>
          <a:lstStyle>
            <a:lvl1pPr marL="0" indent="0">
              <a:buNone/>
              <a:defRPr kumimoji="0" lang="zh-CN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lvl="0"/>
            <a:r>
              <a:rPr lang="zh-CN" altLang="en-US" dirty="0"/>
              <a:t>数据来源：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27000" y="23765"/>
            <a:ext cx="11923973" cy="824770"/>
          </a:xfrm>
          <a:prstGeom prst="rect">
            <a:avLst/>
          </a:prstGeom>
        </p:spPr>
        <p:txBody>
          <a:bodyPr lIns="91352" tIns="45677" rIns="91352" bIns="45677" anchor="ctr" anchorCtr="0"/>
          <a:lstStyle>
            <a:lvl1pPr>
              <a:defRPr 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5" name="矩形 14"/>
          <p:cNvSpPr/>
          <p:nvPr userDrawn="1"/>
        </p:nvSpPr>
        <p:spPr bwMode="gray">
          <a:xfrm flipV="1">
            <a:off x="0" y="848535"/>
            <a:ext cx="12050973" cy="133623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50000"/>
                </a:schemeClr>
              </a:gs>
              <a:gs pos="100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  <a:tileRect/>
          </a:gradFill>
          <a:ln w="9525" algn="ctr">
            <a:noFill/>
            <a:miter lim="800000"/>
          </a:ln>
        </p:spPr>
        <p:txBody>
          <a:bodyPr rot="10800000" vert="eaVert" wrap="none" lIns="80975" tIns="40489" rIns="80975" bIns="40489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054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2022/12/6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defTabSz="914400">
              <a:defRPr lang="zh-CN" altLang="en-US" sz="3200" dirty="0"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单击此处编辑母版文本样式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b="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06400" y="832486"/>
            <a:ext cx="11379200" cy="4984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06400" y="1524001"/>
            <a:ext cx="11379200" cy="4846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492875"/>
            <a:ext cx="3205480" cy="212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B9724-D0DC-8240-AC1E-3112EEDD4CF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Line 15"/>
          <p:cNvSpPr>
            <a:spLocks noChangeShapeType="1"/>
          </p:cNvSpPr>
          <p:nvPr/>
        </p:nvSpPr>
        <p:spPr bwMode="auto">
          <a:xfrm flipV="1">
            <a:off x="406401" y="709931"/>
            <a:ext cx="1140968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>
              <a:solidFill>
                <a:srgbClr val="000000"/>
              </a:solidFill>
              <a:latin typeface="Arial" panose="020B0604020202020204" pitchFamily="34" charset="0"/>
              <a:ea typeface="ヒラギノ角ゴ Pro W3" charset="0"/>
              <a:cs typeface="ヒラギノ角ゴ Pro W3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2665" y="198224"/>
            <a:ext cx="1393415" cy="3891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1800" b="1" kern="1200" dirty="0">
          <a:solidFill>
            <a:schemeClr val="accent1">
              <a:lumMod val="75000"/>
            </a:schemeClr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github.com/pytorch/pytorch/blob/777ac632fb989119a95a95737d3d31c2ad1e52fe/torch/_inductor/codegen/triton.py#L73" TargetMode="External"/><Relationship Id="rId2" Type="http://schemas.openxmlformats.org/officeDocument/2006/relationships/hyperlink" Target="https://github.com/pytorch/pytorch/blob/226e803ecb483d2488f2381afb86c1e849814714/torch/_inductor/lowering.py#L3675" TargetMode="Externa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hyperlink" Target="https://github.com/pytorch/pytorch/blob/777ac632fb989119a95a95737d3d31c2ad1e52fe/torch/_inductor/ir.py#L203" TargetMode="Externa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ytorch/pytorch/blob/master/torch/_inductor/scheduler.py#L958" TargetMode="External"/><Relationship Id="rId2" Type="http://schemas.openxmlformats.org/officeDocument/2006/relationships/hyperlink" Target="https://github.com/pytorch/pytorch/blob/master/torch/_inductor/scheduler.py#L873" TargetMode="Externa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triton-lang.org/master/getting-started/installation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ai/triton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hyperlink" Target="http://www.eecs.harvard.edu/~htk/publication/2019-mapl-tillet-kung-cox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penai/triton/blob/master/lib/codegen/pass.cc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://www.eecs.harvard.edu/~htk/publication/2019-mapl-tillet-kung-cox.pdf" TargetMode="External"/><Relationship Id="rId4" Type="http://schemas.openxmlformats.org/officeDocument/2006/relationships/hyperlink" Target="https://openai.com/blog/triton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TorchInductor</a:t>
            </a:r>
            <a:r>
              <a:rPr lang="zh-CN" altLang="en-US" dirty="0" smtClean="0"/>
              <a:t>调研</a:t>
            </a: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2022</a:t>
            </a:r>
            <a:r>
              <a:rPr lang="en-US" altLang="zh-CN" dirty="0" smtClean="0"/>
              <a:t>/12/06 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TorchInductor</a:t>
            </a:r>
            <a:r>
              <a:rPr lang="zh-CN" altLang="en-US" dirty="0"/>
              <a:t>定位</a:t>
            </a:r>
          </a:p>
        </p:txBody>
      </p:sp>
      <p:grpSp>
        <p:nvGrpSpPr>
          <p:cNvPr id="46" name="组合 45"/>
          <p:cNvGrpSpPr/>
          <p:nvPr/>
        </p:nvGrpSpPr>
        <p:grpSpPr>
          <a:xfrm>
            <a:off x="310807" y="1518614"/>
            <a:ext cx="11628051" cy="4098894"/>
            <a:chOff x="563949" y="1379553"/>
            <a:chExt cx="11628051" cy="4098894"/>
          </a:xfrm>
        </p:grpSpPr>
        <p:pic>
          <p:nvPicPr>
            <p:cNvPr id="36" name="Picture 2">
              <a:extLst>
                <a:ext uri="{FF2B5EF4-FFF2-40B4-BE49-F238E27FC236}">
                  <a16:creationId xmlns:a16="http://schemas.microsoft.com/office/drawing/2014/main" id="{C9CB458A-E7B4-4B05-6AB4-FBA063307D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3949" y="1379553"/>
              <a:ext cx="8094019" cy="4098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2">
              <a:extLst>
                <a:ext uri="{FF2B5EF4-FFF2-40B4-BE49-F238E27FC236}">
                  <a16:creationId xmlns:a16="http://schemas.microsoft.com/office/drawing/2014/main" id="{BF3C7D2C-0202-DDC4-75CB-F683308FABBD}"/>
                </a:ext>
              </a:extLst>
            </p:cNvPr>
            <p:cNvSpPr txBox="1"/>
            <p:nvPr/>
          </p:nvSpPr>
          <p:spPr>
            <a:xfrm>
              <a:off x="1307022" y="261913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动态图</a:t>
              </a:r>
            </a:p>
          </p:txBody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8D99AE6A-804A-0F03-EA08-16D5780E9912}"/>
                </a:ext>
              </a:extLst>
            </p:cNvPr>
            <p:cNvSpPr txBox="1"/>
            <p:nvPr/>
          </p:nvSpPr>
          <p:spPr>
            <a:xfrm>
              <a:off x="3306164" y="2632864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静态图</a:t>
              </a:r>
            </a:p>
          </p:txBody>
        </p:sp>
        <p:sp>
          <p:nvSpPr>
            <p:cNvPr id="39" name="TextBox 6">
              <a:extLst>
                <a:ext uri="{FF2B5EF4-FFF2-40B4-BE49-F238E27FC236}">
                  <a16:creationId xmlns:a16="http://schemas.microsoft.com/office/drawing/2014/main" id="{1DFF3223-3551-86E8-33FE-4A9EE6C821F2}"/>
                </a:ext>
              </a:extLst>
            </p:cNvPr>
            <p:cNvSpPr txBox="1"/>
            <p:nvPr/>
          </p:nvSpPr>
          <p:spPr>
            <a:xfrm>
              <a:off x="4801356" y="261913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基础算子</a:t>
              </a:r>
            </a:p>
          </p:txBody>
        </p:sp>
        <p:sp>
          <p:nvSpPr>
            <p:cNvPr id="40" name="TextBox 7">
              <a:extLst>
                <a:ext uri="{FF2B5EF4-FFF2-40B4-BE49-F238E27FC236}">
                  <a16:creationId xmlns:a16="http://schemas.microsoft.com/office/drawing/2014/main" id="{87F8B56D-4DDD-3267-79AC-62565132D193}"/>
                </a:ext>
              </a:extLst>
            </p:cNvPr>
            <p:cNvSpPr txBox="1"/>
            <p:nvPr/>
          </p:nvSpPr>
          <p:spPr>
            <a:xfrm>
              <a:off x="7031331" y="2623208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编译器</a:t>
              </a:r>
            </a:p>
          </p:txBody>
        </p:sp>
        <p:sp>
          <p:nvSpPr>
            <p:cNvPr id="41" name="Frame 8">
              <a:extLst>
                <a:ext uri="{FF2B5EF4-FFF2-40B4-BE49-F238E27FC236}">
                  <a16:creationId xmlns:a16="http://schemas.microsoft.com/office/drawing/2014/main" id="{470A68B8-919E-765D-1DD3-44D5647F66E6}"/>
                </a:ext>
              </a:extLst>
            </p:cNvPr>
            <p:cNvSpPr/>
            <p:nvPr/>
          </p:nvSpPr>
          <p:spPr>
            <a:xfrm>
              <a:off x="6124833" y="2049447"/>
              <a:ext cx="1458098" cy="194014"/>
            </a:xfrm>
            <a:prstGeom prst="fram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N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Arrow Connector 10">
              <a:extLst>
                <a:ext uri="{FF2B5EF4-FFF2-40B4-BE49-F238E27FC236}">
                  <a16:creationId xmlns:a16="http://schemas.microsoft.com/office/drawing/2014/main" id="{B15B26A3-4FE6-3E8D-76A5-E176819A6F8C}"/>
                </a:ext>
              </a:extLst>
            </p:cNvPr>
            <p:cNvCxnSpPr>
              <a:cxnSpLocks/>
              <a:stCxn id="43" idx="1"/>
              <a:endCxn id="41" idx="2"/>
            </p:cNvCxnSpPr>
            <p:nvPr/>
          </p:nvCxnSpPr>
          <p:spPr>
            <a:xfrm flipH="1" flipV="1">
              <a:off x="6853882" y="2243461"/>
              <a:ext cx="2176591" cy="74500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3" name="TextBox 11">
              <a:extLst>
                <a:ext uri="{FF2B5EF4-FFF2-40B4-BE49-F238E27FC236}">
                  <a16:creationId xmlns:a16="http://schemas.microsoft.com/office/drawing/2014/main" id="{713542BA-E47D-B4BB-08BB-32CC69B7916A}"/>
                </a:ext>
              </a:extLst>
            </p:cNvPr>
            <p:cNvSpPr txBox="1"/>
            <p:nvPr/>
          </p:nvSpPr>
          <p:spPr>
            <a:xfrm>
              <a:off x="9030473" y="1695807"/>
              <a:ext cx="3161527" cy="2585323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CN" dirty="0"/>
                <a:t>TorchInductor的位置</a:t>
              </a:r>
            </a:p>
            <a:p>
              <a:r>
                <a:rPr lang="en-CN" dirty="0"/>
                <a:t>作为</a:t>
              </a:r>
              <a:r>
                <a:rPr lang="zh-CN" altLang="en-US" dirty="0"/>
                <a:t> </a:t>
              </a:r>
              <a:r>
                <a:rPr lang="en-CN" dirty="0"/>
                <a:t>Pytorch</a:t>
              </a:r>
              <a:r>
                <a:rPr lang="zh-CN" altLang="en-US" dirty="0"/>
                <a:t> 运行流程</a:t>
              </a:r>
              <a:endParaRPr lang="en-US" altLang="zh-CN" dirty="0"/>
            </a:p>
            <a:p>
              <a:r>
                <a:rPr lang="zh-CN" altLang="en-US" dirty="0"/>
                <a:t>中可选的编译器后端之一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CN" dirty="0"/>
                <a:t>这层</a:t>
              </a:r>
              <a:r>
                <a:rPr lang="zh-CN" altLang="en-US" dirty="0"/>
                <a:t>未来可供选择 </a:t>
              </a:r>
              <a:r>
                <a:rPr lang="en-US" altLang="zh-CN" dirty="0" err="1"/>
                <a:t>Pytorch</a:t>
              </a:r>
              <a:endParaRPr lang="en-US" altLang="zh-CN" dirty="0"/>
            </a:p>
            <a:p>
              <a:r>
                <a:rPr lang="zh-CN" altLang="en-US" dirty="0"/>
                <a:t>自家的 </a:t>
              </a:r>
              <a:r>
                <a:rPr lang="en-US" altLang="zh-CN" dirty="0" err="1"/>
                <a:t>NvFuser</a:t>
              </a:r>
              <a:r>
                <a:rPr lang="zh-CN" altLang="en-US" dirty="0"/>
                <a:t>， </a:t>
              </a:r>
              <a:r>
                <a:rPr lang="en-US" altLang="zh-CN" dirty="0" err="1"/>
                <a:t>AITemplate</a:t>
              </a:r>
              <a:r>
                <a:rPr lang="zh-CN" altLang="en-US" dirty="0"/>
                <a:t>，也可选择外部的 </a:t>
              </a:r>
              <a:r>
                <a:rPr lang="en-US" altLang="zh-CN" dirty="0"/>
                <a:t>XLA</a:t>
              </a:r>
              <a:r>
                <a:rPr lang="zh-CN" altLang="en-US" dirty="0"/>
                <a:t>、</a:t>
              </a:r>
              <a:r>
                <a:rPr lang="en-US" altLang="zh-CN" dirty="0"/>
                <a:t>TVM</a:t>
              </a:r>
              <a:r>
                <a:rPr lang="zh-CN" altLang="en-US" dirty="0"/>
                <a:t>，甚至非编译器的 </a:t>
              </a:r>
              <a:r>
                <a:rPr lang="en-US" altLang="zh-CN" dirty="0" err="1"/>
                <a:t>TensorRT</a:t>
              </a:r>
              <a:endParaRPr lang="en-CN" altLang="zh-CN" dirty="0"/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5726D612-14A1-B38E-091E-E5B320351A1E}"/>
                </a:ext>
              </a:extLst>
            </p:cNvPr>
            <p:cNvSpPr txBox="1"/>
            <p:nvPr/>
          </p:nvSpPr>
          <p:spPr>
            <a:xfrm>
              <a:off x="563949" y="1445347"/>
              <a:ext cx="15696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N" dirty="0"/>
                <a:t>Pytorch</a:t>
              </a:r>
              <a:r>
                <a:rPr lang="zh-CN" altLang="en-US" dirty="0"/>
                <a:t> </a:t>
              </a:r>
              <a:r>
                <a:rPr lang="en-US" altLang="zh-CN" dirty="0"/>
                <a:t>2.0</a:t>
              </a:r>
            </a:p>
            <a:p>
              <a:r>
                <a:rPr lang="en-US" dirty="0" err="1"/>
                <a:t>总体流程图</a:t>
              </a:r>
              <a:r>
                <a:rPr lang="zh-CN" altLang="en-US" dirty="0"/>
                <a:t>：</a:t>
              </a:r>
              <a:endParaRPr lang="en-CN" dirty="0"/>
            </a:p>
          </p:txBody>
        </p:sp>
      </p:grpSp>
    </p:spTree>
    <p:extLst>
      <p:ext uri="{BB962C8B-B14F-4D97-AF65-F5344CB8AC3E}">
        <p14:creationId xmlns:p14="http://schemas.microsoft.com/office/powerpoint/2010/main" val="120666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TorchInductor</a:t>
            </a:r>
            <a:r>
              <a:rPr lang="zh-CN" altLang="en-US" dirty="0" smtClean="0"/>
              <a:t>定位</a:t>
            </a:r>
            <a:endParaRPr lang="zh-CN" alt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1C79442-A60B-CBFC-8B43-ED9D00C9F7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900" y="953589"/>
            <a:ext cx="8238200" cy="5773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993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44500" y="609157"/>
            <a:ext cx="11836400" cy="34624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err="1"/>
              <a:t>TorchInductor</a:t>
            </a:r>
            <a:r>
              <a:rPr lang="zh-CN" altLang="en-US" b="1" dirty="0"/>
              <a:t> </a:t>
            </a:r>
            <a:r>
              <a:rPr lang="zh-CN" altLang="en-CN" b="1" dirty="0"/>
              <a:t>实验</a:t>
            </a:r>
            <a:r>
              <a:rPr lang="zh-CN" altLang="en-US" b="1" dirty="0"/>
              <a:t>数据</a:t>
            </a:r>
            <a:endParaRPr lang="en-US" altLang="zh-CN" b="1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比较对象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</a:t>
            </a:r>
            <a:r>
              <a:rPr lang="en-US" altLang="zh-CN" sz="1600" dirty="0"/>
              <a:t>1.</a:t>
            </a:r>
            <a:r>
              <a:rPr lang="zh-CN" altLang="en-US" sz="1600" dirty="0"/>
              <a:t> </a:t>
            </a:r>
            <a:r>
              <a:rPr lang="en-US" altLang="zh-CN" sz="1600" dirty="0"/>
              <a:t>eager: </a:t>
            </a:r>
            <a:r>
              <a:rPr lang="zh-CN" altLang="en-US" sz="1600" dirty="0"/>
              <a:t>使用 </a:t>
            </a:r>
            <a:r>
              <a:rPr lang="en-US" altLang="zh-CN" sz="1600" dirty="0" err="1"/>
              <a:t>Pytorch</a:t>
            </a:r>
            <a:r>
              <a:rPr lang="zh-CN" altLang="en-US" sz="1600" dirty="0"/>
              <a:t> 动态图模式运行获取的 </a:t>
            </a:r>
            <a:r>
              <a:rPr lang="en-US" altLang="zh-CN" sz="1600" dirty="0"/>
              <a:t>FX</a:t>
            </a:r>
            <a:r>
              <a:rPr lang="zh-CN" altLang="en-US" sz="1600" dirty="0"/>
              <a:t> </a:t>
            </a:r>
            <a:r>
              <a:rPr lang="en-US" altLang="zh-CN" sz="1600" dirty="0"/>
              <a:t>Graph</a:t>
            </a:r>
            <a:r>
              <a:rPr lang="zh-CN" altLang="en-US" sz="1600" dirty="0"/>
              <a:t>，这个是衡量 </a:t>
            </a:r>
            <a:r>
              <a:rPr lang="en-US" altLang="zh-CN" sz="1600" dirty="0" err="1"/>
              <a:t>TorchDynamo</a:t>
            </a:r>
            <a:r>
              <a:rPr lang="zh-CN" altLang="en-US" sz="1600" dirty="0"/>
              <a:t> 开销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</a:t>
            </a:r>
            <a:r>
              <a:rPr lang="en-US" altLang="zh-CN" sz="1600" dirty="0"/>
              <a:t>2.</a:t>
            </a:r>
            <a:r>
              <a:rPr lang="zh-CN" altLang="en-US" sz="1600" dirty="0"/>
              <a:t> </a:t>
            </a:r>
            <a:r>
              <a:rPr lang="en-US" altLang="zh-CN" sz="1600" dirty="0" err="1"/>
              <a:t>ts_nvfuser</a:t>
            </a:r>
            <a:r>
              <a:rPr lang="en-US" altLang="zh-CN" sz="1600" dirty="0"/>
              <a:t>: </a:t>
            </a:r>
            <a:r>
              <a:rPr lang="zh-CN" altLang="en-US" sz="1600" dirty="0"/>
              <a:t>用 </a:t>
            </a:r>
            <a:r>
              <a:rPr lang="en-US" altLang="zh-CN" sz="1600" dirty="0" err="1"/>
              <a:t>TorchScript</a:t>
            </a:r>
            <a:r>
              <a:rPr lang="zh-CN" altLang="en-US" sz="1600" dirty="0"/>
              <a:t> 老动转静方法 </a:t>
            </a:r>
            <a:r>
              <a:rPr lang="en-US" altLang="zh-CN" sz="1600" dirty="0"/>
              <a:t>+</a:t>
            </a:r>
            <a:r>
              <a:rPr lang="zh-CN" altLang="en-US" sz="1600" dirty="0"/>
              <a:t> 另一个编译器 </a:t>
            </a:r>
            <a:r>
              <a:rPr lang="en-US" altLang="zh-CN" sz="1600" dirty="0" err="1"/>
              <a:t>NvFuser</a:t>
            </a:r>
            <a:r>
              <a:rPr lang="zh-CN" altLang="en-US" sz="1600" dirty="0"/>
              <a:t> 后端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</a:t>
            </a:r>
            <a:r>
              <a:rPr lang="en-US" altLang="zh-CN" sz="1600" dirty="0"/>
              <a:t>3. </a:t>
            </a:r>
            <a:r>
              <a:rPr lang="en-US" altLang="zh-CN" sz="1600" dirty="0" err="1"/>
              <a:t>aot_eager</a:t>
            </a:r>
            <a:r>
              <a:rPr lang="en-US" altLang="zh-CN" sz="1600" dirty="0"/>
              <a:t>: </a:t>
            </a:r>
            <a:r>
              <a:rPr lang="zh-CN" altLang="en-US" sz="1600" dirty="0"/>
              <a:t>跑 </a:t>
            </a:r>
            <a:r>
              <a:rPr lang="en-US" altLang="zh-CN" sz="1600" dirty="0" err="1"/>
              <a:t>AOTAutograd</a:t>
            </a:r>
            <a:r>
              <a:rPr lang="zh-CN" altLang="en-US" sz="1600" dirty="0"/>
              <a:t> 运行 </a:t>
            </a:r>
            <a:r>
              <a:rPr lang="en-US" altLang="zh-CN" sz="1600" dirty="0" err="1"/>
              <a:t>Pytorch</a:t>
            </a:r>
            <a:r>
              <a:rPr lang="zh-CN" altLang="en-US" sz="1600" dirty="0"/>
              <a:t> 动态图，衡量 </a:t>
            </a:r>
            <a:r>
              <a:rPr lang="en-US" altLang="zh-CN" sz="1600" dirty="0" err="1"/>
              <a:t>AOTAutograd</a:t>
            </a:r>
            <a:r>
              <a:rPr lang="zh-CN" altLang="en-US" sz="1600" dirty="0"/>
              <a:t> 开销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</a:t>
            </a:r>
            <a:r>
              <a:rPr lang="en-US" altLang="zh-CN" sz="1600" dirty="0"/>
              <a:t>4.</a:t>
            </a:r>
            <a:r>
              <a:rPr lang="zh-CN" altLang="en-US" sz="1600" dirty="0"/>
              <a:t> </a:t>
            </a:r>
            <a:r>
              <a:rPr lang="en-US" altLang="zh-CN" sz="1600" dirty="0" err="1"/>
              <a:t>aot_cudagraphs</a:t>
            </a:r>
            <a:r>
              <a:rPr lang="en-US" altLang="zh-CN" sz="1600" dirty="0"/>
              <a:t>: </a:t>
            </a:r>
            <a:r>
              <a:rPr lang="en-US" altLang="zh-CN" sz="1600" dirty="0" err="1"/>
              <a:t>AOTAutograd</a:t>
            </a:r>
            <a:r>
              <a:rPr lang="zh-CN" altLang="en-US" sz="1600" dirty="0"/>
              <a:t> 使用 </a:t>
            </a:r>
            <a:r>
              <a:rPr lang="en-US" altLang="zh-CN" sz="1600" dirty="0" err="1"/>
              <a:t>CudaGraphs</a:t>
            </a:r>
            <a:r>
              <a:rPr lang="zh-CN" altLang="en-US" sz="1600" dirty="0"/>
              <a:t> 后端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</a:t>
            </a:r>
            <a:r>
              <a:rPr lang="en-US" altLang="zh-CN" sz="1600" dirty="0"/>
              <a:t>5.</a:t>
            </a:r>
            <a:r>
              <a:rPr lang="zh-CN" altLang="en-US" sz="1600" dirty="0"/>
              <a:t> </a:t>
            </a:r>
            <a:r>
              <a:rPr lang="en-US" altLang="zh-CN" sz="1600" dirty="0" err="1"/>
              <a:t>aot_nvfuser</a:t>
            </a:r>
            <a:r>
              <a:rPr lang="en-US" altLang="zh-CN" sz="1600" dirty="0"/>
              <a:t>: </a:t>
            </a:r>
            <a:r>
              <a:rPr lang="zh-CN" altLang="en-US" sz="1600" dirty="0"/>
              <a:t>编译器 </a:t>
            </a:r>
            <a:r>
              <a:rPr lang="en-US" altLang="zh-CN" sz="1600" dirty="0" err="1"/>
              <a:t>NvFuser</a:t>
            </a:r>
            <a:r>
              <a:rPr lang="zh-CN" altLang="en-US" sz="1600" dirty="0"/>
              <a:t> 使用 </a:t>
            </a:r>
            <a:r>
              <a:rPr lang="en-US" altLang="zh-CN" sz="1600" dirty="0" err="1"/>
              <a:t>AOTAutograd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    </a:t>
            </a:r>
            <a:r>
              <a:rPr lang="en-US" altLang="zh-CN" sz="1600" dirty="0"/>
              <a:t>6.</a:t>
            </a:r>
            <a:r>
              <a:rPr lang="zh-CN" altLang="en-US" sz="1600" dirty="0"/>
              <a:t> </a:t>
            </a:r>
            <a:r>
              <a:rPr lang="en-US" altLang="zh-CN" sz="1600" b="1" dirty="0" err="1"/>
              <a:t>inductor_cudagraphs</a:t>
            </a:r>
            <a:r>
              <a:rPr lang="en-US" altLang="zh-CN" sz="1600" b="1" dirty="0"/>
              <a:t>: </a:t>
            </a:r>
            <a:r>
              <a:rPr lang="en-US" altLang="zh-CN" sz="1600" b="1" dirty="0" err="1"/>
              <a:t>TorchInductor</a:t>
            </a:r>
            <a:r>
              <a:rPr lang="zh-CN" altLang="en-US" sz="1600" b="1" dirty="0"/>
              <a:t> 完整链条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FF0000"/>
                </a:solidFill>
              </a:rPr>
              <a:t>    比较</a:t>
            </a:r>
            <a:r>
              <a:rPr lang="zh-CN" altLang="en-US" sz="1600" b="1" dirty="0">
                <a:solidFill>
                  <a:srgbClr val="FF0000"/>
                </a:solidFill>
              </a:rPr>
              <a:t>结论：支持率几乎最低，性能最好，</a:t>
            </a:r>
            <a:r>
              <a:rPr lang="en-US" altLang="zh-CN" sz="1600" b="1" dirty="0">
                <a:solidFill>
                  <a:srgbClr val="FF0000"/>
                </a:solidFill>
              </a:rPr>
              <a:t>inductor</a:t>
            </a:r>
            <a:r>
              <a:rPr lang="zh-CN" altLang="en-US" sz="1600" b="1" dirty="0">
                <a:solidFill>
                  <a:srgbClr val="FF0000"/>
                </a:solidFill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</a:rPr>
              <a:t>大约能</a:t>
            </a:r>
            <a:r>
              <a:rPr lang="zh-CN" altLang="en-US" sz="1600" b="1" dirty="0">
                <a:solidFill>
                  <a:srgbClr val="FF0000"/>
                </a:solidFill>
              </a:rPr>
              <a:t>运行模型库中 </a:t>
            </a:r>
            <a:r>
              <a:rPr lang="en-US" altLang="zh-CN" sz="1600" b="1" dirty="0">
                <a:solidFill>
                  <a:srgbClr val="FF0000"/>
                </a:solidFill>
              </a:rPr>
              <a:t>70%</a:t>
            </a:r>
            <a:r>
              <a:rPr lang="zh-CN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-</a:t>
            </a:r>
            <a:r>
              <a:rPr lang="zh-CN" altLang="en-US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80%</a:t>
            </a:r>
            <a:r>
              <a:rPr lang="zh-CN" altLang="en-US" sz="1600" b="1" dirty="0">
                <a:solidFill>
                  <a:srgbClr val="FF0000"/>
                </a:solidFill>
              </a:rPr>
              <a:t> 模型，取得平均</a:t>
            </a:r>
            <a:r>
              <a:rPr lang="en-US" altLang="zh-CN" sz="1600" b="1" dirty="0">
                <a:solidFill>
                  <a:srgbClr val="FF0000"/>
                </a:solidFill>
              </a:rPr>
              <a:t>1.89x</a:t>
            </a:r>
            <a:r>
              <a:rPr lang="zh-CN" altLang="en-US" sz="1600" b="1" dirty="0">
                <a:solidFill>
                  <a:srgbClr val="FF0000"/>
                </a:solidFill>
              </a:rPr>
              <a:t> 的</a:t>
            </a:r>
            <a:r>
              <a:rPr lang="zh-CN" altLang="en-US" sz="1600" b="1" dirty="0" smtClean="0">
                <a:solidFill>
                  <a:srgbClr val="FF0000"/>
                </a:solidFill>
              </a:rPr>
              <a:t>加速比</a:t>
            </a:r>
            <a:endParaRPr lang="en-US" altLang="zh-CN" sz="1600" b="1" dirty="0">
              <a:solidFill>
                <a:srgbClr val="FF0000"/>
              </a:solidFill>
            </a:endParaRP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CAFDE41F-0583-48E7-4850-B2FB308ED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30"/>
          <a:stretch/>
        </p:blipFill>
        <p:spPr>
          <a:xfrm>
            <a:off x="231856" y="4124675"/>
            <a:ext cx="5388260" cy="2367566"/>
          </a:xfrm>
          <a:prstGeom prst="rect">
            <a:avLst/>
          </a:prstGeom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23A4B7C9-7060-95D5-53B2-20ECEA97C5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11" r="11660"/>
          <a:stretch/>
        </p:blipFill>
        <p:spPr>
          <a:xfrm>
            <a:off x="5774724" y="4127863"/>
            <a:ext cx="5550774" cy="23769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1440" y="5995850"/>
            <a:ext cx="11403874" cy="2612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345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TorchInductor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88114" y="925399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设计原则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6400" y="1580606"/>
            <a:ext cx="3825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Native</a:t>
            </a: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使用一个“</a:t>
            </a:r>
            <a:r>
              <a:rPr lang="en-US" altLang="zh-CN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thin translation layer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”来几乎全面支持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eager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特性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554583" y="1580605"/>
            <a:ext cx="3082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Python first</a:t>
            </a: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编译器，全部代码均为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代码，便于用户理解和“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hack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94766" y="1580606"/>
            <a:ext cx="32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Breadth first</a:t>
            </a: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定位是易于支持大量算子和硬件，以及优化的可扩展编译器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505680" y="388631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主要技术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06400" y="4541520"/>
            <a:ext cx="3825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Define-By-Run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Python functions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来定义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，便于快速进行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lowering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CodeGen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的变换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41371" y="4541521"/>
            <a:ext cx="3309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Dynamic Shape &amp; Strides</a:t>
            </a:r>
          </a:p>
          <a:p>
            <a:pPr algn="ctr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SymPy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模块的符号表达特性来“形式上”支持动态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shape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的表达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12332" y="4541521"/>
            <a:ext cx="3082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Reuse SOTA Languages</a:t>
            </a:r>
          </a:p>
          <a:p>
            <a:pPr algn="ctr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Triton For GPU</a:t>
            </a:r>
          </a:p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C++/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OpenMP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For CPU</a:t>
            </a:r>
          </a:p>
        </p:txBody>
      </p:sp>
    </p:spTree>
    <p:extLst>
      <p:ext uri="{BB962C8B-B14F-4D97-AF65-F5344CB8AC3E}">
        <p14:creationId xmlns:p14="http://schemas.microsoft.com/office/powerpoint/2010/main" val="316046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Dynamic Shapes —— Powered by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SymPy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77800" y="679609"/>
            <a:ext cx="11836400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err="1">
                <a:latin typeface="+mj-ea"/>
                <a:ea typeface="+mj-ea"/>
              </a:rPr>
              <a:t>TorchInductor</a:t>
            </a:r>
            <a:r>
              <a:rPr lang="zh-CN" altLang="en-US" b="1" dirty="0">
                <a:latin typeface="+mj-ea"/>
                <a:ea typeface="+mj-ea"/>
              </a:rPr>
              <a:t> 动态 </a:t>
            </a:r>
            <a:r>
              <a:rPr lang="en-US" altLang="zh-CN" b="1" dirty="0">
                <a:latin typeface="+mj-ea"/>
                <a:ea typeface="+mj-ea"/>
              </a:rPr>
              <a:t>Shape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zh-CN" altLang="en-US" b="1" dirty="0" smtClean="0">
                <a:latin typeface="+mj-ea"/>
                <a:ea typeface="+mj-ea"/>
              </a:rPr>
              <a:t>基本原理</a:t>
            </a:r>
            <a:endParaRPr lang="en-US" altLang="zh-CN" b="1" dirty="0" smtClean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 err="1">
                <a:latin typeface="+mj-ea"/>
                <a:ea typeface="+mj-ea"/>
              </a:rPr>
              <a:t>Sympy</a:t>
            </a:r>
            <a:r>
              <a:rPr lang="zh-CN" altLang="en-US" sz="1600" dirty="0" smtClean="0">
                <a:latin typeface="+mj-ea"/>
                <a:ea typeface="+mj-ea"/>
              </a:rPr>
              <a:t>是进行</a:t>
            </a:r>
            <a:r>
              <a:rPr lang="zh-CN" altLang="en-US" sz="1600" dirty="0">
                <a:latin typeface="+mj-ea"/>
                <a:ea typeface="+mj-ea"/>
              </a:rPr>
              <a:t>形式化数学</a:t>
            </a:r>
            <a:r>
              <a:rPr lang="zh-CN" altLang="en-US" sz="1600" dirty="0" smtClean="0">
                <a:latin typeface="+mj-ea"/>
                <a:ea typeface="+mj-ea"/>
              </a:rPr>
              <a:t>符号</a:t>
            </a:r>
            <a:r>
              <a:rPr lang="zh-CN" altLang="en-US" sz="1600" dirty="0">
                <a:latin typeface="+mj-ea"/>
                <a:ea typeface="+mj-ea"/>
              </a:rPr>
              <a:t>运算</a:t>
            </a:r>
            <a:r>
              <a:rPr lang="zh-CN" altLang="en-US" sz="1600" dirty="0" smtClean="0">
                <a:latin typeface="+mj-ea"/>
                <a:ea typeface="+mj-ea"/>
              </a:rPr>
              <a:t>库，比如给定符号 </a:t>
            </a:r>
            <a:r>
              <a:rPr lang="en-US" altLang="zh-CN" sz="1600" dirty="0" smtClean="0">
                <a:latin typeface="+mj-ea"/>
                <a:ea typeface="+mj-ea"/>
              </a:rPr>
              <a:t>x</a:t>
            </a:r>
            <a:r>
              <a:rPr lang="zh-CN" altLang="en-US" sz="1600" dirty="0" smtClean="0">
                <a:latin typeface="+mj-ea"/>
                <a:ea typeface="+mj-ea"/>
              </a:rPr>
              <a:t>，可以</a:t>
            </a:r>
            <a:r>
              <a:rPr lang="zh-CN" altLang="en-US" sz="1600" dirty="0">
                <a:latin typeface="+mj-ea"/>
                <a:ea typeface="+mj-ea"/>
              </a:rPr>
              <a:t>形式化表达</a:t>
            </a:r>
            <a:r>
              <a:rPr lang="en-US" altLang="zh-CN" sz="1600" dirty="0">
                <a:latin typeface="+mj-ea"/>
                <a:ea typeface="+mj-ea"/>
              </a:rPr>
              <a:t>x</a:t>
            </a:r>
            <a:r>
              <a:rPr lang="zh-CN" altLang="en-US" sz="1600" dirty="0">
                <a:latin typeface="+mj-ea"/>
                <a:ea typeface="+mj-ea"/>
              </a:rPr>
              <a:t>的计算，比如 </a:t>
            </a:r>
            <a:r>
              <a:rPr lang="en-US" altLang="zh-CN" sz="1600" dirty="0">
                <a:latin typeface="+mj-ea"/>
                <a:ea typeface="+mj-ea"/>
              </a:rPr>
              <a:t>x * 2 </a:t>
            </a:r>
            <a:r>
              <a:rPr lang="zh-CN" altLang="en-US" sz="1600" dirty="0" smtClean="0">
                <a:latin typeface="+mj-ea"/>
                <a:ea typeface="+mj-ea"/>
              </a:rPr>
              <a:t>等</a:t>
            </a:r>
            <a:endParaRPr lang="en-US" altLang="zh-CN" sz="1600" dirty="0" smtClean="0">
              <a:latin typeface="+mj-ea"/>
              <a:ea typeface="+mj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 dirty="0">
                <a:latin typeface="+mj-ea"/>
              </a:rPr>
              <a:t>Inductor</a:t>
            </a:r>
            <a:r>
              <a:rPr lang="zh-CN" altLang="en-US" sz="1600" dirty="0">
                <a:latin typeface="+mj-ea"/>
              </a:rPr>
              <a:t> 处理动态 </a:t>
            </a:r>
            <a:r>
              <a:rPr lang="en-US" altLang="zh-CN" sz="1600" dirty="0">
                <a:latin typeface="+mj-ea"/>
              </a:rPr>
              <a:t>Shape</a:t>
            </a:r>
            <a:r>
              <a:rPr lang="zh-CN" altLang="en-US" sz="1600" dirty="0">
                <a:latin typeface="+mj-ea"/>
              </a:rPr>
              <a:t> 借用了 </a:t>
            </a:r>
            <a:r>
              <a:rPr lang="en-US" altLang="zh-CN" sz="1600" dirty="0" err="1">
                <a:latin typeface="+mj-ea"/>
              </a:rPr>
              <a:t>Sympy</a:t>
            </a:r>
            <a:r>
              <a:rPr lang="zh-CN" altLang="en-US" sz="1600" dirty="0">
                <a:latin typeface="+mj-ea"/>
              </a:rPr>
              <a:t> 的能力，动态 </a:t>
            </a:r>
            <a:r>
              <a:rPr lang="en-US" altLang="zh-CN" sz="1600" dirty="0">
                <a:latin typeface="+mj-ea"/>
              </a:rPr>
              <a:t>Shape</a:t>
            </a:r>
            <a:r>
              <a:rPr lang="zh-CN" altLang="en-US" sz="1600" dirty="0">
                <a:latin typeface="+mj-ea"/>
              </a:rPr>
              <a:t> 相关未知数使用 </a:t>
            </a:r>
            <a:r>
              <a:rPr lang="en-US" altLang="zh-CN" sz="1600" dirty="0" err="1">
                <a:latin typeface="+mj-ea"/>
              </a:rPr>
              <a:t>Sympy</a:t>
            </a:r>
            <a:r>
              <a:rPr lang="zh-CN" altLang="en-US" sz="1600" dirty="0">
                <a:latin typeface="+mj-ea"/>
              </a:rPr>
              <a:t>，在模型</a:t>
            </a:r>
            <a:r>
              <a:rPr lang="en-US" altLang="zh-CN" sz="1600" dirty="0">
                <a:latin typeface="+mj-ea"/>
              </a:rPr>
              <a:t>AOT</a:t>
            </a:r>
            <a:r>
              <a:rPr lang="zh-CN" altLang="en-US" sz="1600" dirty="0">
                <a:latin typeface="+mj-ea"/>
              </a:rPr>
              <a:t>构建期可以像常数一样进行数学</a:t>
            </a:r>
            <a:r>
              <a:rPr lang="zh-CN" altLang="en-US" sz="1600" dirty="0" smtClean="0">
                <a:latin typeface="+mj-ea"/>
              </a:rPr>
              <a:t>操作</a:t>
            </a:r>
            <a:endParaRPr lang="en-US" altLang="zh-CN" sz="1600" dirty="0" smtClean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latin typeface="+mj-ea"/>
              </a:rPr>
              <a:t>在模型运行期，获取了动态 </a:t>
            </a:r>
            <a:r>
              <a:rPr lang="en-US" altLang="zh-CN" sz="1600" dirty="0">
                <a:latin typeface="+mj-ea"/>
              </a:rPr>
              <a:t>Shape</a:t>
            </a:r>
            <a:r>
              <a:rPr lang="zh-CN" altLang="en-US" sz="1600" dirty="0">
                <a:latin typeface="+mj-ea"/>
              </a:rPr>
              <a:t> 的数值，再使用相关值替代，进行编译。这里有不少替代情况，中间图给出其中一种简单替代情况</a:t>
            </a:r>
            <a:r>
              <a:rPr lang="zh-CN" altLang="en-US" sz="1600" dirty="0" smtClean="0">
                <a:latin typeface="+mj-ea"/>
              </a:rPr>
              <a:t>示例</a:t>
            </a:r>
            <a:endParaRPr lang="en-US" altLang="zh-CN" sz="1600" dirty="0">
              <a:latin typeface="+mj-ea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FCAE98DB-B8B8-86C6-A963-CCD32B1A9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8" y="3490937"/>
            <a:ext cx="5821230" cy="2595696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C6D05B0A-31B0-E47B-E1B8-17B942107D42}"/>
              </a:ext>
            </a:extLst>
          </p:cNvPr>
          <p:cNvSpPr txBox="1"/>
          <p:nvPr/>
        </p:nvSpPr>
        <p:spPr>
          <a:xfrm>
            <a:off x="716691" y="3121605"/>
            <a:ext cx="1440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Sympy示例</a:t>
            </a:r>
          </a:p>
        </p:txBody>
      </p:sp>
      <p:pic>
        <p:nvPicPr>
          <p:cNvPr id="10" name="Picture 8">
            <a:extLst>
              <a:ext uri="{FF2B5EF4-FFF2-40B4-BE49-F238E27FC236}">
                <a16:creationId xmlns:a16="http://schemas.microsoft.com/office/drawing/2014/main" id="{2C73A23D-CA7E-BC20-429E-42AFCE316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4873" y="5240420"/>
            <a:ext cx="4794131" cy="777995"/>
          </a:xfrm>
          <a:prstGeom prst="rect">
            <a:avLst/>
          </a:prstGeom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BFE2D625-8BA3-AFEF-1C4B-F2EF81E21798}"/>
              </a:ext>
            </a:extLst>
          </p:cNvPr>
          <p:cNvSpPr txBox="1"/>
          <p:nvPr/>
        </p:nvSpPr>
        <p:spPr>
          <a:xfrm>
            <a:off x="4340397" y="4260294"/>
            <a:ext cx="37038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Inductor中一个Sympy替换处理动态Shape示例</a:t>
            </a:r>
            <a:r>
              <a:rPr lang="zh-CN" altLang="en-US" dirty="0"/>
              <a:t>，这里是要获取</a:t>
            </a:r>
            <a:r>
              <a:rPr lang="en-US" altLang="zh-CN" dirty="0"/>
              <a:t>size</a:t>
            </a:r>
            <a:r>
              <a:rPr lang="zh-CN" altLang="en-US" dirty="0"/>
              <a:t>时，把</a:t>
            </a:r>
            <a:r>
              <a:rPr lang="en-US" altLang="zh-CN" dirty="0"/>
              <a:t>size</a:t>
            </a:r>
            <a:r>
              <a:rPr lang="zh-CN" altLang="en-US" dirty="0"/>
              <a:t>的</a:t>
            </a:r>
            <a:r>
              <a:rPr lang="en-US" altLang="zh-CN" dirty="0"/>
              <a:t>Expr</a:t>
            </a:r>
            <a:r>
              <a:rPr lang="zh-CN" altLang="en-US" dirty="0"/>
              <a:t>用数值替换</a:t>
            </a:r>
            <a:endParaRPr lang="en-CN" dirty="0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40CDEA3F-CFB3-0648-459E-E10C0C0F7DF6}"/>
              </a:ext>
            </a:extLst>
          </p:cNvPr>
          <p:cNvSpPr/>
          <p:nvPr/>
        </p:nvSpPr>
        <p:spPr>
          <a:xfrm>
            <a:off x="8843475" y="3504141"/>
            <a:ext cx="1440650" cy="654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/>
              <a:t>Sympy</a:t>
            </a:r>
          </a:p>
          <a:p>
            <a:pPr algn="ctr"/>
            <a:r>
              <a:rPr lang="en-CN" sz="1400" dirty="0"/>
              <a:t>相关操作</a:t>
            </a: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BD16E07F-5377-9EC5-3A44-45A9C99D576F}"/>
              </a:ext>
            </a:extLst>
          </p:cNvPr>
          <p:cNvSpPr/>
          <p:nvPr/>
        </p:nvSpPr>
        <p:spPr>
          <a:xfrm>
            <a:off x="8841870" y="4494547"/>
            <a:ext cx="1440650" cy="9233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/>
              <a:t>内存分配</a:t>
            </a:r>
            <a:r>
              <a:rPr lang="zh-CN" altLang="en-US" sz="1400" dirty="0"/>
              <a:t>、循环优化等</a:t>
            </a:r>
            <a:r>
              <a:rPr lang="en-US" altLang="zh-CN" sz="1400" dirty="0"/>
              <a:t>Shape</a:t>
            </a:r>
            <a:r>
              <a:rPr lang="zh-CN" altLang="en-US" sz="1400" dirty="0"/>
              <a:t>相关代码生成</a:t>
            </a:r>
            <a:endParaRPr lang="en-CN" sz="1400" dirty="0"/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5335BAE9-D6B7-2EAA-97E8-CB2D7BC95848}"/>
              </a:ext>
            </a:extLst>
          </p:cNvPr>
          <p:cNvSpPr/>
          <p:nvPr/>
        </p:nvSpPr>
        <p:spPr>
          <a:xfrm>
            <a:off x="8843475" y="5624869"/>
            <a:ext cx="1440650" cy="10234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/>
              <a:t>缓存查看是否已生成过该代码</a:t>
            </a:r>
            <a:r>
              <a:rPr lang="zh-CN" altLang="en-US" sz="1400" dirty="0"/>
              <a:t>，是则返回编译产物，否则重编译</a:t>
            </a:r>
            <a:endParaRPr lang="en-CN" sz="1400" dirty="0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F8AC733-BEE7-F6DE-5B15-17FD1F47D494}"/>
              </a:ext>
            </a:extLst>
          </p:cNvPr>
          <p:cNvSpPr/>
          <p:nvPr/>
        </p:nvSpPr>
        <p:spPr>
          <a:xfrm>
            <a:off x="10642682" y="3504141"/>
            <a:ext cx="1440650" cy="654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/>
              <a:t>运行时</a:t>
            </a:r>
          </a:p>
          <a:p>
            <a:pPr algn="ctr"/>
            <a:r>
              <a:rPr lang="en-CN" sz="1400" dirty="0"/>
              <a:t>真实数值</a:t>
            </a: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B05C1116-A8EB-DBAB-E253-ADF733B4DC69}"/>
              </a:ext>
            </a:extLst>
          </p:cNvPr>
          <p:cNvSpPr/>
          <p:nvPr/>
        </p:nvSpPr>
        <p:spPr>
          <a:xfrm>
            <a:off x="10642682" y="4628758"/>
            <a:ext cx="1440650" cy="6549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 dirty="0"/>
              <a:t>Sympy</a:t>
            </a:r>
          </a:p>
          <a:p>
            <a:pPr algn="ctr"/>
            <a:r>
              <a:rPr lang="en-CN" sz="1400" dirty="0"/>
              <a:t>表达式求值</a:t>
            </a:r>
          </a:p>
        </p:txBody>
      </p:sp>
      <p:cxnSp>
        <p:nvCxnSpPr>
          <p:cNvPr id="17" name="Straight Arrow Connector 18">
            <a:extLst>
              <a:ext uri="{FF2B5EF4-FFF2-40B4-BE49-F238E27FC236}">
                <a16:creationId xmlns:a16="http://schemas.microsoft.com/office/drawing/2014/main" id="{105A9C7A-2860-1B1B-CF73-3C2C58BAA4C5}"/>
              </a:ext>
            </a:extLst>
          </p:cNvPr>
          <p:cNvCxnSpPr>
            <a:stCxn id="15" idx="2"/>
            <a:endCxn id="16" idx="0"/>
          </p:cNvCxnSpPr>
          <p:nvPr/>
        </p:nvCxnSpPr>
        <p:spPr>
          <a:xfrm>
            <a:off x="11363007" y="4159049"/>
            <a:ext cx="0" cy="469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20">
            <a:extLst>
              <a:ext uri="{FF2B5EF4-FFF2-40B4-BE49-F238E27FC236}">
                <a16:creationId xmlns:a16="http://schemas.microsoft.com/office/drawing/2014/main" id="{8F30C89A-97DC-A3D7-1673-231787D93247}"/>
              </a:ext>
            </a:extLst>
          </p:cNvPr>
          <p:cNvCxnSpPr>
            <a:stCxn id="16" idx="1"/>
            <a:endCxn id="13" idx="3"/>
          </p:cNvCxnSpPr>
          <p:nvPr/>
        </p:nvCxnSpPr>
        <p:spPr>
          <a:xfrm flipH="1">
            <a:off x="10282520" y="4956212"/>
            <a:ext cx="36016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3">
            <a:extLst>
              <a:ext uri="{FF2B5EF4-FFF2-40B4-BE49-F238E27FC236}">
                <a16:creationId xmlns:a16="http://schemas.microsoft.com/office/drawing/2014/main" id="{68D7DF62-FAA8-6106-6E28-2488C584E231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 flipH="1">
            <a:off x="9562195" y="4159049"/>
            <a:ext cx="1605" cy="3354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25">
            <a:extLst>
              <a:ext uri="{FF2B5EF4-FFF2-40B4-BE49-F238E27FC236}">
                <a16:creationId xmlns:a16="http://schemas.microsoft.com/office/drawing/2014/main" id="{FCF15E33-E0DE-8CB3-D643-5C65CA681440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9562195" y="5417877"/>
            <a:ext cx="1605" cy="206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lbow Connector 27">
            <a:extLst>
              <a:ext uri="{FF2B5EF4-FFF2-40B4-BE49-F238E27FC236}">
                <a16:creationId xmlns:a16="http://schemas.microsoft.com/office/drawing/2014/main" id="{FC4D4461-F2F1-94CA-FE03-DF87157156E8}"/>
              </a:ext>
            </a:extLst>
          </p:cNvPr>
          <p:cNvCxnSpPr>
            <a:cxnSpLocks/>
          </p:cNvCxnSpPr>
          <p:nvPr/>
        </p:nvCxnSpPr>
        <p:spPr>
          <a:xfrm flipV="1">
            <a:off x="8829393" y="3123472"/>
            <a:ext cx="3241462" cy="1212709"/>
          </a:xfrm>
          <a:prstGeom prst="bent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30">
            <a:extLst>
              <a:ext uri="{FF2B5EF4-FFF2-40B4-BE49-F238E27FC236}">
                <a16:creationId xmlns:a16="http://schemas.microsoft.com/office/drawing/2014/main" id="{F8303A6B-7603-C8EE-6310-4F5E565FC1A3}"/>
              </a:ext>
            </a:extLst>
          </p:cNvPr>
          <p:cNvSpPr txBox="1"/>
          <p:nvPr/>
        </p:nvSpPr>
        <p:spPr>
          <a:xfrm>
            <a:off x="8829393" y="3105841"/>
            <a:ext cx="13524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AOT编译期</a:t>
            </a:r>
          </a:p>
        </p:txBody>
      </p:sp>
      <p:sp>
        <p:nvSpPr>
          <p:cNvPr id="23" name="TextBox 32">
            <a:extLst>
              <a:ext uri="{FF2B5EF4-FFF2-40B4-BE49-F238E27FC236}">
                <a16:creationId xmlns:a16="http://schemas.microsoft.com/office/drawing/2014/main" id="{AD096EB5-C519-AEE3-DF78-FC40CE47191B}"/>
              </a:ext>
            </a:extLst>
          </p:cNvPr>
          <p:cNvSpPr txBox="1"/>
          <p:nvPr/>
        </p:nvSpPr>
        <p:spPr>
          <a:xfrm>
            <a:off x="11003185" y="308462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运行期</a:t>
            </a:r>
          </a:p>
        </p:txBody>
      </p:sp>
      <p:sp>
        <p:nvSpPr>
          <p:cNvPr id="24" name="TextBox 36">
            <a:extLst>
              <a:ext uri="{FF2B5EF4-FFF2-40B4-BE49-F238E27FC236}">
                <a16:creationId xmlns:a16="http://schemas.microsoft.com/office/drawing/2014/main" id="{C883446B-FBB5-DA55-4829-7C7AFF1F2788}"/>
              </a:ext>
            </a:extLst>
          </p:cNvPr>
          <p:cNvSpPr txBox="1"/>
          <p:nvPr/>
        </p:nvSpPr>
        <p:spPr>
          <a:xfrm>
            <a:off x="10642682" y="5777860"/>
            <a:ext cx="1360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动态Shape流程简图</a:t>
            </a:r>
          </a:p>
        </p:txBody>
      </p:sp>
    </p:spTree>
    <p:extLst>
      <p:ext uri="{BB962C8B-B14F-4D97-AF65-F5344CB8AC3E}">
        <p14:creationId xmlns:p14="http://schemas.microsoft.com/office/powerpoint/2010/main" val="2297226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Define-By-Run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IR &amp;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Dynamic Shapes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9273" y="2581456"/>
            <a:ext cx="3833453" cy="301443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07981" y="2498090"/>
            <a:ext cx="380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Dynamic Shapes</a:t>
            </a:r>
            <a:endParaRPr lang="en-US" altLang="zh-CN" dirty="0" smtClean="0">
              <a:latin typeface="+mj-ea"/>
              <a:ea typeface="+mj-ea"/>
            </a:endParaRPr>
          </a:p>
          <a:p>
            <a:r>
              <a:rPr lang="zh-CN" altLang="en-US" dirty="0" smtClean="0">
                <a:latin typeface="+mj-ea"/>
                <a:ea typeface="+mj-ea"/>
              </a:rPr>
              <a:t>使用“</a:t>
            </a:r>
            <a:r>
              <a:rPr lang="en-US" altLang="zh-CN" dirty="0" smtClean="0">
                <a:latin typeface="+mj-ea"/>
                <a:ea typeface="+mj-ea"/>
              </a:rPr>
              <a:t>per graph</a:t>
            </a:r>
            <a:r>
              <a:rPr lang="zh-CN" altLang="en-US" dirty="0" smtClean="0">
                <a:latin typeface="+mj-ea"/>
                <a:ea typeface="+mj-ea"/>
              </a:rPr>
              <a:t>”数据库来记录输入的</a:t>
            </a:r>
            <a:r>
              <a:rPr lang="en-US" altLang="zh-CN" dirty="0" smtClean="0">
                <a:latin typeface="+mj-ea"/>
                <a:ea typeface="+mj-ea"/>
              </a:rPr>
              <a:t>shape</a:t>
            </a:r>
            <a:r>
              <a:rPr lang="zh-CN" altLang="en-US" dirty="0" smtClean="0">
                <a:latin typeface="+mj-ea"/>
                <a:ea typeface="+mj-ea"/>
              </a:rPr>
              <a:t>符号表达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5412" y="3663721"/>
            <a:ext cx="3219333" cy="42495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817" y="4692149"/>
            <a:ext cx="2097095" cy="454615"/>
          </a:xfrm>
          <a:prstGeom prst="rect">
            <a:avLst/>
          </a:prstGeom>
        </p:spPr>
      </p:pic>
      <p:sp>
        <p:nvSpPr>
          <p:cNvPr id="9" name="下箭头 8"/>
          <p:cNvSpPr/>
          <p:nvPr/>
        </p:nvSpPr>
        <p:spPr>
          <a:xfrm>
            <a:off x="9812762" y="4232364"/>
            <a:ext cx="484632" cy="33963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4525" y="2718528"/>
            <a:ext cx="32120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j-ea"/>
                <a:ea typeface="+mj-ea"/>
              </a:rPr>
              <a:t>Define-By-Run IR </a:t>
            </a:r>
            <a:endParaRPr lang="en-US" altLang="zh-CN" dirty="0" smtClean="0">
              <a:latin typeface="+mj-ea"/>
              <a:ea typeface="+mj-ea"/>
            </a:endParaRPr>
          </a:p>
          <a:p>
            <a:r>
              <a:rPr lang="en-US" altLang="zh-CN" dirty="0" smtClean="0">
                <a:latin typeface="+mj-ea"/>
                <a:ea typeface="+mj-ea"/>
              </a:rPr>
              <a:t>IR</a:t>
            </a:r>
            <a:r>
              <a:rPr lang="zh-CN" altLang="en-US" dirty="0" smtClean="0">
                <a:latin typeface="+mj-ea"/>
                <a:ea typeface="+mj-ea"/>
              </a:rPr>
              <a:t>表达是“可执行的”，因此可以通过替换“</a:t>
            </a:r>
            <a:r>
              <a:rPr lang="en-US" altLang="zh-CN" dirty="0" smtClean="0">
                <a:latin typeface="+mj-ea"/>
                <a:ea typeface="+mj-ea"/>
              </a:rPr>
              <a:t>ops.*</a:t>
            </a:r>
            <a:r>
              <a:rPr lang="zh-CN" altLang="en-US" dirty="0" smtClean="0">
                <a:latin typeface="+mj-ea"/>
                <a:ea typeface="+mj-ea"/>
              </a:rPr>
              <a:t>”部分来进行</a:t>
            </a:r>
            <a:r>
              <a:rPr lang="en-US" altLang="zh-CN" dirty="0" smtClean="0">
                <a:latin typeface="+mj-ea"/>
                <a:ea typeface="+mj-ea"/>
              </a:rPr>
              <a:t>lowering</a:t>
            </a:r>
            <a:r>
              <a:rPr lang="zh-CN" altLang="en-US" dirty="0" smtClean="0">
                <a:latin typeface="+mj-ea"/>
                <a:ea typeface="+mj-ea"/>
              </a:rPr>
              <a:t>和</a:t>
            </a:r>
            <a:r>
              <a:rPr lang="en-US" altLang="zh-CN" dirty="0" err="1" smtClean="0">
                <a:latin typeface="+mj-ea"/>
                <a:ea typeface="+mj-ea"/>
              </a:rPr>
              <a:t>CodeGen</a:t>
            </a:r>
            <a:endParaRPr lang="zh-CN" altLang="en-US" dirty="0">
              <a:latin typeface="+mj-ea"/>
              <a:ea typeface="+mj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5"/>
          <a:srcRect t="16806"/>
          <a:stretch/>
        </p:blipFill>
        <p:spPr>
          <a:xfrm>
            <a:off x="4211806" y="1170838"/>
            <a:ext cx="3768386" cy="418011"/>
          </a:xfrm>
          <a:prstGeom prst="rect">
            <a:avLst/>
          </a:prstGeom>
        </p:spPr>
      </p:pic>
      <p:sp>
        <p:nvSpPr>
          <p:cNvPr id="12" name="下箭头 11"/>
          <p:cNvSpPr/>
          <p:nvPr/>
        </p:nvSpPr>
        <p:spPr>
          <a:xfrm>
            <a:off x="5853683" y="1854926"/>
            <a:ext cx="484632" cy="4963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734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TorchInductor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关键流程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288938" y="836023"/>
            <a:ext cx="3821893" cy="5827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输入：</a:t>
            </a:r>
            <a:endParaRPr lang="en-US" altLang="zh-CN" sz="16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FX Graph in Aten/Prim IR 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（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250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）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1" name="下箭头 10"/>
          <p:cNvSpPr/>
          <p:nvPr/>
        </p:nvSpPr>
        <p:spPr>
          <a:xfrm>
            <a:off x="1993258" y="1487240"/>
            <a:ext cx="402946" cy="3042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2" name="矩形 11"/>
          <p:cNvSpPr/>
          <p:nvPr/>
        </p:nvSpPr>
        <p:spPr>
          <a:xfrm>
            <a:off x="288938" y="1929454"/>
            <a:ext cx="3821893" cy="875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Lowering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去除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views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BC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；索引化简；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layout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优化</a:t>
            </a:r>
            <a:endParaRPr lang="en-US" altLang="zh-CN" sz="16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算子拆解（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140+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）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endParaRPr lang="zh-CN" altLang="en-US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8938" y="4441372"/>
            <a:ext cx="3821893" cy="1249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Schedule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endParaRPr lang="en-US" altLang="zh-CN" sz="16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zh-CN" sz="1600" dirty="0" err="1" smtClean="0">
                <a:solidFill>
                  <a:schemeClr val="tx1"/>
                </a:solidFill>
                <a:latin typeface="+mj-ea"/>
                <a:ea typeface="+mj-ea"/>
              </a:rPr>
              <a:t>Horizongtal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/Vertical fusion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Reduction fusion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Tiling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、内存（</a:t>
            </a:r>
            <a:r>
              <a:rPr lang="en-US" altLang="zh-CN" sz="1600" dirty="0" err="1" smtClean="0">
                <a:solidFill>
                  <a:schemeClr val="tx1"/>
                </a:solidFill>
                <a:latin typeface="+mj-ea"/>
                <a:ea typeface="+mj-ea"/>
              </a:rPr>
              <a:t>Inplace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）优化</a:t>
            </a:r>
            <a:endParaRPr lang="en-US" altLang="zh-CN" sz="16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zh-CN" sz="1600" dirty="0" err="1" smtClean="0">
                <a:solidFill>
                  <a:srgbClr val="C00000"/>
                </a:solidFill>
                <a:latin typeface="+mj-ea"/>
                <a:ea typeface="+mj-ea"/>
              </a:rPr>
              <a:t>Autotuner</a:t>
            </a:r>
            <a:r>
              <a:rPr lang="en-US" altLang="zh-CN" sz="1600" dirty="0" smtClean="0">
                <a:solidFill>
                  <a:srgbClr val="C00000"/>
                </a:solidFill>
                <a:latin typeface="+mj-ea"/>
                <a:ea typeface="+mj-ea"/>
              </a:rPr>
              <a:t> / kernel select</a:t>
            </a:r>
            <a:r>
              <a:rPr lang="zh-CN" altLang="en-US" sz="1600" dirty="0" smtClean="0">
                <a:solidFill>
                  <a:srgbClr val="C00000"/>
                </a:solidFill>
                <a:latin typeface="+mj-ea"/>
                <a:ea typeface="+mj-ea"/>
              </a:rPr>
              <a:t>？？？</a:t>
            </a:r>
            <a:endParaRPr lang="en-US" altLang="zh-CN" sz="1600" dirty="0" smtClean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3785" y="3258019"/>
            <a:ext cx="3821893" cy="6204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“</a:t>
            </a:r>
            <a:r>
              <a:rPr lang="en-US" altLang="zh-CN" sz="1600" dirty="0">
                <a:solidFill>
                  <a:schemeClr val="tx1"/>
                </a:solidFill>
                <a:latin typeface="+mj-ea"/>
                <a:ea typeface="+mj-ea"/>
              </a:rPr>
              <a:t>Define-By-Run 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IR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”（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Inductor IR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）</a:t>
            </a:r>
            <a:endParaRPr lang="en-US" altLang="zh-CN" sz="16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（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50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" name="下箭头 16"/>
          <p:cNvSpPr/>
          <p:nvPr/>
        </p:nvSpPr>
        <p:spPr>
          <a:xfrm>
            <a:off x="1993258" y="2879197"/>
            <a:ext cx="402946" cy="3042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8" name="下箭头 17"/>
          <p:cNvSpPr/>
          <p:nvPr/>
        </p:nvSpPr>
        <p:spPr>
          <a:xfrm>
            <a:off x="1993258" y="4140926"/>
            <a:ext cx="402946" cy="2482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9" name="矩形 18"/>
          <p:cNvSpPr/>
          <p:nvPr/>
        </p:nvSpPr>
        <p:spPr>
          <a:xfrm>
            <a:off x="288938" y="6143764"/>
            <a:ext cx="3821893" cy="62049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err="1" smtClean="0">
                <a:solidFill>
                  <a:schemeClr val="tx1"/>
                </a:solidFill>
                <a:latin typeface="+mj-ea"/>
                <a:ea typeface="+mj-ea"/>
              </a:rPr>
              <a:t>CodeGen</a:t>
            </a:r>
            <a:endParaRPr lang="en-US" altLang="zh-CN" sz="1600" dirty="0" smtClean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Triton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（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GPU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）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/ </a:t>
            </a:r>
            <a:r>
              <a:rPr lang="en-US" altLang="zh-CN" sz="1600" dirty="0" err="1" smtClean="0">
                <a:solidFill>
                  <a:schemeClr val="tx1"/>
                </a:solidFill>
                <a:latin typeface="+mj-ea"/>
                <a:ea typeface="+mj-ea"/>
              </a:rPr>
              <a:t>OpenMP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（</a:t>
            </a:r>
            <a:r>
              <a:rPr lang="en-US" altLang="zh-CN" sz="1600" dirty="0" smtClean="0">
                <a:solidFill>
                  <a:schemeClr val="tx1"/>
                </a:solidFill>
                <a:latin typeface="+mj-ea"/>
                <a:ea typeface="+mj-ea"/>
              </a:rPr>
              <a:t>CPU</a:t>
            </a:r>
            <a:r>
              <a:rPr lang="zh-CN" altLang="en-US" sz="1600" dirty="0" smtClean="0">
                <a:solidFill>
                  <a:schemeClr val="tx1"/>
                </a:solidFill>
                <a:latin typeface="+mj-ea"/>
                <a:ea typeface="+mj-ea"/>
              </a:rPr>
              <a:t>）</a:t>
            </a:r>
            <a:endParaRPr lang="en-US" altLang="zh-CN" sz="16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1993258" y="5764942"/>
            <a:ext cx="402946" cy="3042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2" name="矩形 21"/>
          <p:cNvSpPr/>
          <p:nvPr/>
        </p:nvSpPr>
        <p:spPr>
          <a:xfrm>
            <a:off x="182880" y="1854923"/>
            <a:ext cx="4027048" cy="2098123"/>
          </a:xfrm>
          <a:prstGeom prst="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AEBFA3B-DD15-DFC3-C1FB-656A0647AE41}"/>
              </a:ext>
            </a:extLst>
          </p:cNvPr>
          <p:cNvGrpSpPr/>
          <p:nvPr/>
        </p:nvGrpSpPr>
        <p:grpSpPr>
          <a:xfrm>
            <a:off x="4771567" y="916217"/>
            <a:ext cx="7261560" cy="5353128"/>
            <a:chOff x="149374" y="837024"/>
            <a:chExt cx="7865994" cy="5735304"/>
          </a:xfrm>
        </p:grpSpPr>
        <p:sp>
          <p:nvSpPr>
            <p:cNvPr id="24" name="圆角矩形 23">
              <a:extLst>
                <a:ext uri="{FF2B5EF4-FFF2-40B4-BE49-F238E27FC236}">
                  <a16:creationId xmlns:a16="http://schemas.microsoft.com/office/drawing/2014/main" id="{27074897-F1CA-EB5C-BF94-D2BBA892C91E}"/>
                </a:ext>
              </a:extLst>
            </p:cNvPr>
            <p:cNvSpPr/>
            <p:nvPr/>
          </p:nvSpPr>
          <p:spPr>
            <a:xfrm>
              <a:off x="1318604" y="1375507"/>
              <a:ext cx="2405186" cy="615665"/>
            </a:xfrm>
            <a:prstGeom prst="roundRect">
              <a:avLst/>
            </a:prstGeom>
            <a:noFill/>
            <a:ln w="28575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IR</a:t>
              </a: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完整兼容飞桨 </a:t>
              </a:r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Program IR</a:t>
              </a:r>
              <a:endPara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0F9B2CF1-433C-05D6-D94F-568FE214B394}"/>
                </a:ext>
              </a:extLst>
            </p:cNvPr>
            <p:cNvSpPr/>
            <p:nvPr/>
          </p:nvSpPr>
          <p:spPr>
            <a:xfrm>
              <a:off x="4015267" y="1375506"/>
              <a:ext cx="2347929" cy="61566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 err="1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NetBuilder</a:t>
              </a:r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基础算子对外调用接口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圆角矩形 25">
              <a:extLst>
                <a:ext uri="{FF2B5EF4-FFF2-40B4-BE49-F238E27FC236}">
                  <a16:creationId xmlns:a16="http://schemas.microsoft.com/office/drawing/2014/main" id="{F3C5AE33-0937-080E-F8B7-80FA429FEF45}"/>
                </a:ext>
              </a:extLst>
            </p:cNvPr>
            <p:cNvSpPr/>
            <p:nvPr/>
          </p:nvSpPr>
          <p:spPr>
            <a:xfrm>
              <a:off x="6548883" y="1375507"/>
              <a:ext cx="1265985" cy="615665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DSL</a:t>
              </a:r>
            </a:p>
            <a:p>
              <a:pPr algn="ctr"/>
              <a:r>
                <a:rPr lang="en-US" altLang="zh-CN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CINN</a:t>
              </a:r>
              <a:r>
                <a:rPr lang="zh-CN" altLang="en-US" sz="105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算子开发</a:t>
              </a:r>
            </a:p>
          </p:txBody>
        </p:sp>
        <p:sp>
          <p:nvSpPr>
            <p:cNvPr id="27" name="圆角矩形 26">
              <a:extLst>
                <a:ext uri="{FF2B5EF4-FFF2-40B4-BE49-F238E27FC236}">
                  <a16:creationId xmlns:a16="http://schemas.microsoft.com/office/drawing/2014/main" id="{ADCE3AA5-244F-8C93-3EA9-6B90CF438672}"/>
                </a:ext>
              </a:extLst>
            </p:cNvPr>
            <p:cNvSpPr/>
            <p:nvPr/>
          </p:nvSpPr>
          <p:spPr>
            <a:xfrm>
              <a:off x="1318604" y="3142071"/>
              <a:ext cx="5044592" cy="726128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圆角矩形 27">
              <a:extLst>
                <a:ext uri="{FF2B5EF4-FFF2-40B4-BE49-F238E27FC236}">
                  <a16:creationId xmlns:a16="http://schemas.microsoft.com/office/drawing/2014/main" id="{8B6F9556-9328-42A6-7830-774277907D58}"/>
                </a:ext>
              </a:extLst>
            </p:cNvPr>
            <p:cNvSpPr/>
            <p:nvPr/>
          </p:nvSpPr>
          <p:spPr>
            <a:xfrm>
              <a:off x="1318605" y="4025613"/>
              <a:ext cx="6496264" cy="704202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圆角矩形 28">
              <a:extLst>
                <a:ext uri="{FF2B5EF4-FFF2-40B4-BE49-F238E27FC236}">
                  <a16:creationId xmlns:a16="http://schemas.microsoft.com/office/drawing/2014/main" id="{F0740D78-64D7-7C90-C81D-462E01A32D1E}"/>
                </a:ext>
              </a:extLst>
            </p:cNvPr>
            <p:cNvSpPr/>
            <p:nvPr/>
          </p:nvSpPr>
          <p:spPr>
            <a:xfrm>
              <a:off x="1318604" y="4887229"/>
              <a:ext cx="6496264" cy="705179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圆角矩形 29">
              <a:extLst>
                <a:ext uri="{FF2B5EF4-FFF2-40B4-BE49-F238E27FC236}">
                  <a16:creationId xmlns:a16="http://schemas.microsoft.com/office/drawing/2014/main" id="{CEA0218D-6EDD-829A-112A-89142E8D0FD6}"/>
                </a:ext>
              </a:extLst>
            </p:cNvPr>
            <p:cNvSpPr/>
            <p:nvPr/>
          </p:nvSpPr>
          <p:spPr>
            <a:xfrm>
              <a:off x="1318605" y="837024"/>
              <a:ext cx="6496263" cy="427874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飞桨模型（训练 </a:t>
              </a:r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&amp;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推理）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圆角矩形 30">
              <a:extLst>
                <a:ext uri="{FF2B5EF4-FFF2-40B4-BE49-F238E27FC236}">
                  <a16:creationId xmlns:a16="http://schemas.microsoft.com/office/drawing/2014/main" id="{DF827D62-129A-708F-85E1-3E46030B4A8D}"/>
                </a:ext>
              </a:extLst>
            </p:cNvPr>
            <p:cNvSpPr/>
            <p:nvPr/>
          </p:nvSpPr>
          <p:spPr>
            <a:xfrm>
              <a:off x="1318604" y="2293643"/>
              <a:ext cx="5044592" cy="702859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849B0B2-07EE-EC45-5F0A-1A40D27D05BE}"/>
                </a:ext>
              </a:extLst>
            </p:cNvPr>
            <p:cNvSpPr/>
            <p:nvPr/>
          </p:nvSpPr>
          <p:spPr>
            <a:xfrm>
              <a:off x="2165606" y="2322169"/>
              <a:ext cx="3085075" cy="338554"/>
            </a:xfrm>
            <a:prstGeom prst="rect">
              <a:avLst/>
            </a:prstGeom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高层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IR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Program + Graph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8A215AD2-7521-50F2-640D-A038E7B61D8C}"/>
                </a:ext>
              </a:extLst>
            </p:cNvPr>
            <p:cNvSpPr/>
            <p:nvPr/>
          </p:nvSpPr>
          <p:spPr>
            <a:xfrm>
              <a:off x="1504821" y="2616619"/>
              <a:ext cx="1146937" cy="308579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基础算子定义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圆角矩形 33">
              <a:extLst>
                <a:ext uri="{FF2B5EF4-FFF2-40B4-BE49-F238E27FC236}">
                  <a16:creationId xmlns:a16="http://schemas.microsoft.com/office/drawing/2014/main" id="{E84AE9A5-7884-CD25-8BFB-3DDAF5793F68}"/>
                </a:ext>
              </a:extLst>
            </p:cNvPr>
            <p:cNvSpPr/>
            <p:nvPr/>
          </p:nvSpPr>
          <p:spPr>
            <a:xfrm>
              <a:off x="2824093" y="2616619"/>
              <a:ext cx="1498504" cy="308579"/>
            </a:xfrm>
            <a:prstGeom prst="roundRect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复杂算子拆分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下箭头 34">
              <a:extLst>
                <a:ext uri="{FF2B5EF4-FFF2-40B4-BE49-F238E27FC236}">
                  <a16:creationId xmlns:a16="http://schemas.microsoft.com/office/drawing/2014/main" id="{C25E2AAD-BC6B-7FC9-1C6C-DB656DE0B0E5}"/>
                </a:ext>
              </a:extLst>
            </p:cNvPr>
            <p:cNvSpPr/>
            <p:nvPr/>
          </p:nvSpPr>
          <p:spPr>
            <a:xfrm>
              <a:off x="6926302" y="2336907"/>
              <a:ext cx="484632" cy="1401435"/>
            </a:xfrm>
            <a:prstGeom prst="downArrow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6A9BDBB-EF4A-07D7-6159-56DEF31816F0}"/>
                </a:ext>
              </a:extLst>
            </p:cNvPr>
            <p:cNvSpPr txBox="1"/>
            <p:nvPr/>
          </p:nvSpPr>
          <p:spPr>
            <a:xfrm>
              <a:off x="153375" y="1498672"/>
              <a:ext cx="11063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编译器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</a:t>
              </a:r>
            </a:p>
          </p:txBody>
        </p:sp>
        <p:cxnSp>
          <p:nvCxnSpPr>
            <p:cNvPr id="37" name="直接连接符 45">
              <a:extLst>
                <a:ext uri="{FF2B5EF4-FFF2-40B4-BE49-F238E27FC236}">
                  <a16:creationId xmlns:a16="http://schemas.microsoft.com/office/drawing/2014/main" id="{A324D1F8-37D8-470F-47EC-A3444D001D7E}"/>
                </a:ext>
              </a:extLst>
            </p:cNvPr>
            <p:cNvCxnSpPr/>
            <p:nvPr/>
          </p:nvCxnSpPr>
          <p:spPr>
            <a:xfrm>
              <a:off x="272255" y="2131092"/>
              <a:ext cx="77369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圆角矩形 37">
              <a:extLst>
                <a:ext uri="{FF2B5EF4-FFF2-40B4-BE49-F238E27FC236}">
                  <a16:creationId xmlns:a16="http://schemas.microsoft.com/office/drawing/2014/main" id="{2EED21DF-EA2F-AFCD-6955-52B6F949A552}"/>
                </a:ext>
              </a:extLst>
            </p:cNvPr>
            <p:cNvSpPr/>
            <p:nvPr/>
          </p:nvSpPr>
          <p:spPr>
            <a:xfrm>
              <a:off x="1324778" y="5885785"/>
              <a:ext cx="6496263" cy="686543"/>
            </a:xfrm>
            <a:prstGeom prst="roundRect">
              <a:avLst/>
            </a:prstGeom>
            <a:noFill/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endParaRPr lang="en-US" altLang="zh-CN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3AFC6C00-C3CA-A581-E139-3E185B500909}"/>
                </a:ext>
              </a:extLst>
            </p:cNvPr>
            <p:cNvSpPr/>
            <p:nvPr/>
          </p:nvSpPr>
          <p:spPr>
            <a:xfrm>
              <a:off x="4016356" y="4901349"/>
              <a:ext cx="1217000" cy="338554"/>
            </a:xfrm>
            <a:prstGeom prst="rect">
              <a:avLst/>
            </a:prstGeom>
            <a:ln w="28575"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低层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IR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圆角矩形 39">
              <a:extLst>
                <a:ext uri="{FF2B5EF4-FFF2-40B4-BE49-F238E27FC236}">
                  <a16:creationId xmlns:a16="http://schemas.microsoft.com/office/drawing/2014/main" id="{A09BF0CB-242B-65E1-93F8-E6231AFB3B08}"/>
                </a:ext>
              </a:extLst>
            </p:cNvPr>
            <p:cNvSpPr/>
            <p:nvPr/>
          </p:nvSpPr>
          <p:spPr>
            <a:xfrm>
              <a:off x="1657952" y="5243297"/>
              <a:ext cx="1625588" cy="255332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调度原语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圆角矩形 40">
              <a:extLst>
                <a:ext uri="{FF2B5EF4-FFF2-40B4-BE49-F238E27FC236}">
                  <a16:creationId xmlns:a16="http://schemas.microsoft.com/office/drawing/2014/main" id="{D21453E6-AC9C-5DE6-94AA-A89BA1F9265B}"/>
                </a:ext>
              </a:extLst>
            </p:cNvPr>
            <p:cNvSpPr/>
            <p:nvPr/>
          </p:nvSpPr>
          <p:spPr>
            <a:xfrm>
              <a:off x="3819622" y="5243297"/>
              <a:ext cx="1600801" cy="238352"/>
            </a:xfrm>
            <a:prstGeom prst="roundRect">
              <a:avLst/>
            </a:prstGeom>
            <a:noFill/>
            <a:ln w="158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规则调优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2" name="圆角矩形 41">
              <a:extLst>
                <a:ext uri="{FF2B5EF4-FFF2-40B4-BE49-F238E27FC236}">
                  <a16:creationId xmlns:a16="http://schemas.microsoft.com/office/drawing/2014/main" id="{23D9BB7C-E59B-27CD-0F05-E043E5477E48}"/>
                </a:ext>
              </a:extLst>
            </p:cNvPr>
            <p:cNvSpPr/>
            <p:nvPr/>
          </p:nvSpPr>
          <p:spPr>
            <a:xfrm>
              <a:off x="5978680" y="5243297"/>
              <a:ext cx="1625588" cy="255332"/>
            </a:xfrm>
            <a:prstGeom prst="roundRect">
              <a:avLst/>
            </a:prstGeom>
            <a:noFill/>
            <a:ln w="15875"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自动调优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43" name="直接连接符 51">
              <a:extLst>
                <a:ext uri="{FF2B5EF4-FFF2-40B4-BE49-F238E27FC236}">
                  <a16:creationId xmlns:a16="http://schemas.microsoft.com/office/drawing/2014/main" id="{021D4706-EF66-F2B9-4C0E-CC367D5E197B}"/>
                </a:ext>
              </a:extLst>
            </p:cNvPr>
            <p:cNvCxnSpPr/>
            <p:nvPr/>
          </p:nvCxnSpPr>
          <p:spPr>
            <a:xfrm>
              <a:off x="278429" y="5749822"/>
              <a:ext cx="773693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E4A363E-65BD-BAEE-D039-47B771661707}"/>
                </a:ext>
              </a:extLst>
            </p:cNvPr>
            <p:cNvSpPr txBox="1"/>
            <p:nvPr/>
          </p:nvSpPr>
          <p:spPr>
            <a:xfrm>
              <a:off x="154386" y="5905890"/>
              <a:ext cx="11063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编译器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后端</a:t>
              </a:r>
            </a:p>
          </p:txBody>
        </p:sp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64747EF4-88B9-E2DA-5980-CA892F4B8BE9}"/>
                </a:ext>
              </a:extLst>
            </p:cNvPr>
            <p:cNvSpPr/>
            <p:nvPr/>
          </p:nvSpPr>
          <p:spPr>
            <a:xfrm>
              <a:off x="3044904" y="3492745"/>
              <a:ext cx="1326477" cy="297850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算子节点融合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2E75E9B1-693D-0D44-89A4-DC1FC70CF4B8}"/>
                </a:ext>
              </a:extLst>
            </p:cNvPr>
            <p:cNvSpPr/>
            <p:nvPr/>
          </p:nvSpPr>
          <p:spPr>
            <a:xfrm>
              <a:off x="1888281" y="3493919"/>
              <a:ext cx="907428" cy="297850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自动剪枝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圆角矩形 46">
              <a:extLst>
                <a:ext uri="{FF2B5EF4-FFF2-40B4-BE49-F238E27FC236}">
                  <a16:creationId xmlns:a16="http://schemas.microsoft.com/office/drawing/2014/main" id="{8F9FCBF2-A0D7-5B1A-32C3-05DC2056A966}"/>
                </a:ext>
              </a:extLst>
            </p:cNvPr>
            <p:cNvSpPr/>
            <p:nvPr/>
          </p:nvSpPr>
          <p:spPr>
            <a:xfrm>
              <a:off x="4620788" y="3493919"/>
              <a:ext cx="930926" cy="297850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图化简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圆角矩形 47">
              <a:extLst>
                <a:ext uri="{FF2B5EF4-FFF2-40B4-BE49-F238E27FC236}">
                  <a16:creationId xmlns:a16="http://schemas.microsoft.com/office/drawing/2014/main" id="{9D1FE46E-3D7C-C50B-7303-926786F32916}"/>
                </a:ext>
              </a:extLst>
            </p:cNvPr>
            <p:cNvSpPr/>
            <p:nvPr/>
          </p:nvSpPr>
          <p:spPr>
            <a:xfrm>
              <a:off x="3911660" y="4358842"/>
              <a:ext cx="1239417" cy="295138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DSL</a:t>
              </a:r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算子描述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圆角矩形 48">
              <a:extLst>
                <a:ext uri="{FF2B5EF4-FFF2-40B4-BE49-F238E27FC236}">
                  <a16:creationId xmlns:a16="http://schemas.microsoft.com/office/drawing/2014/main" id="{71BBAA48-09B4-1E94-2AA1-144AF277FAA4}"/>
                </a:ext>
              </a:extLst>
            </p:cNvPr>
            <p:cNvSpPr/>
            <p:nvPr/>
          </p:nvSpPr>
          <p:spPr>
            <a:xfrm>
              <a:off x="2004536" y="6217268"/>
              <a:ext cx="907428" cy="282923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X86 CPU</a:t>
              </a:r>
            </a:p>
          </p:txBody>
        </p:sp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749593BA-11FD-BB83-7CB2-AAC1B045E943}"/>
                </a:ext>
              </a:extLst>
            </p:cNvPr>
            <p:cNvSpPr/>
            <p:nvPr/>
          </p:nvSpPr>
          <p:spPr>
            <a:xfrm>
              <a:off x="3229045" y="6225862"/>
              <a:ext cx="1284717" cy="274329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NVIDIA GPU</a:t>
              </a:r>
            </a:p>
          </p:txBody>
        </p:sp>
        <p:sp>
          <p:nvSpPr>
            <p:cNvPr id="51" name="圆角矩形 50">
              <a:extLst>
                <a:ext uri="{FF2B5EF4-FFF2-40B4-BE49-F238E27FC236}">
                  <a16:creationId xmlns:a16="http://schemas.microsoft.com/office/drawing/2014/main" id="{EEABAA78-1E7E-61F3-6AF4-55E2FE145017}"/>
                </a:ext>
              </a:extLst>
            </p:cNvPr>
            <p:cNvSpPr/>
            <p:nvPr/>
          </p:nvSpPr>
          <p:spPr>
            <a:xfrm>
              <a:off x="4806972" y="6221510"/>
              <a:ext cx="907428" cy="282923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迈创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424E861-2B82-0F5C-C1EA-936B606BFADC}"/>
                </a:ext>
              </a:extLst>
            </p:cNvPr>
            <p:cNvSpPr txBox="1"/>
            <p:nvPr/>
          </p:nvSpPr>
          <p:spPr>
            <a:xfrm>
              <a:off x="5614551" y="3484143"/>
              <a:ext cx="5084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……</a:t>
              </a:r>
              <a:endParaRPr lang="zh-CN" altLang="en-US" dirty="0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D709CEFA-D0BE-CF8A-C21C-28BFF24B1C45}"/>
                </a:ext>
              </a:extLst>
            </p:cNvPr>
            <p:cNvSpPr/>
            <p:nvPr/>
          </p:nvSpPr>
          <p:spPr>
            <a:xfrm>
              <a:off x="3870801" y="5897706"/>
              <a:ext cx="141577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硬件代码生成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A67F378F-5170-66AF-1A3E-0B3F43D4096E}"/>
                </a:ext>
              </a:extLst>
            </p:cNvPr>
            <p:cNvSpPr/>
            <p:nvPr/>
          </p:nvSpPr>
          <p:spPr>
            <a:xfrm>
              <a:off x="3736951" y="4028155"/>
              <a:ext cx="168347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低层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IR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AST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B684F44-EDB9-346E-81DD-3F29D24CDCEC}"/>
                </a:ext>
              </a:extLst>
            </p:cNvPr>
            <p:cNvSpPr/>
            <p:nvPr/>
          </p:nvSpPr>
          <p:spPr>
            <a:xfrm>
              <a:off x="3149884" y="3152138"/>
              <a:ext cx="1217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高层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IR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优化</a:t>
              </a:r>
              <a:endPara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圆角矩形 55">
              <a:extLst>
                <a:ext uri="{FF2B5EF4-FFF2-40B4-BE49-F238E27FC236}">
                  <a16:creationId xmlns:a16="http://schemas.microsoft.com/office/drawing/2014/main" id="{0DDBADC8-D462-A8D2-9E61-A31378CE7C47}"/>
                </a:ext>
              </a:extLst>
            </p:cNvPr>
            <p:cNvSpPr/>
            <p:nvPr/>
          </p:nvSpPr>
          <p:spPr>
            <a:xfrm>
              <a:off x="4494932" y="2613195"/>
              <a:ext cx="1775239" cy="312003"/>
            </a:xfrm>
            <a:prstGeom prst="roundRect">
              <a:avLst/>
            </a:prstGeom>
            <a:noFill/>
            <a:ln w="1587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混合精度、量化等变换</a:t>
              </a:r>
              <a:endParaRPr lang="en-US" altLang="zh-CN" sz="1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圆角矩形 56">
              <a:extLst>
                <a:ext uri="{FF2B5EF4-FFF2-40B4-BE49-F238E27FC236}">
                  <a16:creationId xmlns:a16="http://schemas.microsoft.com/office/drawing/2014/main" id="{35314291-45F3-5125-E936-0CB2931134A7}"/>
                </a:ext>
              </a:extLst>
            </p:cNvPr>
            <p:cNvSpPr/>
            <p:nvPr/>
          </p:nvSpPr>
          <p:spPr>
            <a:xfrm>
              <a:off x="6123024" y="6216796"/>
              <a:ext cx="907428" cy="282923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LLVM</a:t>
              </a: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300A24B-B61B-6A4D-D6CC-2D561469D247}"/>
                </a:ext>
              </a:extLst>
            </p:cNvPr>
            <p:cNvSpPr txBox="1"/>
            <p:nvPr/>
          </p:nvSpPr>
          <p:spPr>
            <a:xfrm>
              <a:off x="149374" y="3530309"/>
              <a:ext cx="11063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AI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编译器</a:t>
              </a:r>
              <a:endPara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中端</a:t>
              </a:r>
            </a:p>
          </p:txBody>
        </p:sp>
        <p:sp>
          <p:nvSpPr>
            <p:cNvPr id="59" name="圆角矩形 58">
              <a:extLst>
                <a:ext uri="{FF2B5EF4-FFF2-40B4-BE49-F238E27FC236}">
                  <a16:creationId xmlns:a16="http://schemas.microsoft.com/office/drawing/2014/main" id="{AF3E6550-4518-84E2-EA2F-5196F2885BD9}"/>
                </a:ext>
              </a:extLst>
            </p:cNvPr>
            <p:cNvSpPr/>
            <p:nvPr/>
          </p:nvSpPr>
          <p:spPr>
            <a:xfrm>
              <a:off x="2340061" y="4366709"/>
              <a:ext cx="1239417" cy="295138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CINN-IR</a:t>
              </a:r>
            </a:p>
          </p:txBody>
        </p:sp>
        <p:sp>
          <p:nvSpPr>
            <p:cNvPr id="60" name="圆角矩形 59">
              <a:extLst>
                <a:ext uri="{FF2B5EF4-FFF2-40B4-BE49-F238E27FC236}">
                  <a16:creationId xmlns:a16="http://schemas.microsoft.com/office/drawing/2014/main" id="{F3DE0C26-17E7-D7BB-0E14-97757074FBFF}"/>
                </a:ext>
              </a:extLst>
            </p:cNvPr>
            <p:cNvSpPr/>
            <p:nvPr/>
          </p:nvSpPr>
          <p:spPr>
            <a:xfrm>
              <a:off x="5491564" y="4366709"/>
              <a:ext cx="1239417" cy="295138"/>
            </a:xfrm>
            <a:prstGeom prst="roundRect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算子代码融合</a:t>
              </a:r>
              <a:endPara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1" name="矩形 60"/>
          <p:cNvSpPr/>
          <p:nvPr/>
        </p:nvSpPr>
        <p:spPr>
          <a:xfrm>
            <a:off x="5792943" y="2996304"/>
            <a:ext cx="6107320" cy="15968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90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latin typeface="+mj-ea"/>
                <a:ea typeface="+mj-ea"/>
              </a:rPr>
              <a:t>TorchInductor</a:t>
            </a:r>
            <a:r>
              <a:rPr lang="en-US" altLang="zh-CN" dirty="0" smtClean="0">
                <a:latin typeface="+mj-ea"/>
                <a:ea typeface="+mj-ea"/>
              </a:rPr>
              <a:t> Lowering</a:t>
            </a:r>
            <a:r>
              <a:rPr lang="zh-CN" altLang="en-US" dirty="0" smtClean="0">
                <a:latin typeface="+mj-ea"/>
                <a:ea typeface="+mj-ea"/>
              </a:rPr>
              <a:t>具体示例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B485878-8EAA-B95F-6091-F9301BFB04C7}"/>
              </a:ext>
            </a:extLst>
          </p:cNvPr>
          <p:cNvSpPr/>
          <p:nvPr/>
        </p:nvSpPr>
        <p:spPr>
          <a:xfrm>
            <a:off x="389318" y="1789940"/>
            <a:ext cx="1526149" cy="864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latin typeface="+mj-ea"/>
                <a:ea typeface="+mj-ea"/>
              </a:rPr>
              <a:t>A</a:t>
            </a:r>
            <a:r>
              <a:rPr lang="en-US" dirty="0">
                <a:latin typeface="+mj-ea"/>
                <a:ea typeface="+mj-ea"/>
              </a:rPr>
              <a:t>t</a:t>
            </a:r>
            <a:r>
              <a:rPr lang="en-CN" dirty="0">
                <a:latin typeface="+mj-ea"/>
                <a:ea typeface="+mj-ea"/>
              </a:rPr>
              <a:t>en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CN" dirty="0">
                <a:latin typeface="+mj-ea"/>
                <a:ea typeface="+mj-ea"/>
              </a:rPr>
              <a:t>算子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2A005071-9194-36F4-1A22-4CFF5DE8432E}"/>
              </a:ext>
            </a:extLst>
          </p:cNvPr>
          <p:cNvSpPr/>
          <p:nvPr/>
        </p:nvSpPr>
        <p:spPr>
          <a:xfrm>
            <a:off x="389318" y="3515279"/>
            <a:ext cx="1526148" cy="864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dirty="0">
                <a:latin typeface="+mj-ea"/>
                <a:ea typeface="+mj-ea"/>
              </a:rPr>
              <a:t>Inductor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dirty="0">
                <a:latin typeface="+mj-ea"/>
                <a:ea typeface="+mj-ea"/>
              </a:rPr>
              <a:t>IR</a:t>
            </a:r>
            <a:endParaRPr lang="en-CN" dirty="0">
              <a:latin typeface="+mj-ea"/>
              <a:ea typeface="+mj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6BEC3BE-7A54-11D0-A891-73824DFCD624}"/>
              </a:ext>
            </a:extLst>
          </p:cNvPr>
          <p:cNvSpPr/>
          <p:nvPr/>
        </p:nvSpPr>
        <p:spPr>
          <a:xfrm>
            <a:off x="389318" y="5401893"/>
            <a:ext cx="1526148" cy="8649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+mj-ea"/>
                <a:ea typeface="+mj-ea"/>
              </a:rPr>
              <a:t>Triton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dirty="0">
                <a:latin typeface="+mj-ea"/>
                <a:ea typeface="+mj-ea"/>
              </a:rPr>
              <a:t>DSL</a:t>
            </a:r>
            <a:endParaRPr lang="en-CN" dirty="0">
              <a:latin typeface="+mj-ea"/>
              <a:ea typeface="+mj-ea"/>
            </a:endParaRPr>
          </a:p>
        </p:txBody>
      </p:sp>
      <p:cxnSp>
        <p:nvCxnSpPr>
          <p:cNvPr id="7" name="Straight Arrow Connector 10">
            <a:extLst>
              <a:ext uri="{FF2B5EF4-FFF2-40B4-BE49-F238E27FC236}">
                <a16:creationId xmlns:a16="http://schemas.microsoft.com/office/drawing/2014/main" id="{94725518-C68D-14FE-4DC2-5BCDEC524779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152392" y="2654913"/>
            <a:ext cx="1" cy="860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2">
            <a:extLst>
              <a:ext uri="{FF2B5EF4-FFF2-40B4-BE49-F238E27FC236}">
                <a16:creationId xmlns:a16="http://schemas.microsoft.com/office/drawing/2014/main" id="{91757C38-5D76-6998-CE41-F6927D963FA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1152392" y="4380252"/>
            <a:ext cx="0" cy="1021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8">
            <a:extLst>
              <a:ext uri="{FF2B5EF4-FFF2-40B4-BE49-F238E27FC236}">
                <a16:creationId xmlns:a16="http://schemas.microsoft.com/office/drawing/2014/main" id="{E038F50C-8BE9-26D7-27BC-71C0BE2414B0}"/>
              </a:ext>
            </a:extLst>
          </p:cNvPr>
          <p:cNvSpPr txBox="1"/>
          <p:nvPr/>
        </p:nvSpPr>
        <p:spPr>
          <a:xfrm>
            <a:off x="6804914" y="2121889"/>
            <a:ext cx="515050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>
                <a:latin typeface="+mj-ea"/>
                <a:ea typeface="+mj-ea"/>
              </a:rPr>
              <a:t>仍然使用手工定义 </a:t>
            </a:r>
            <a:r>
              <a:rPr lang="en-US" altLang="zh-CN" sz="1400" dirty="0" smtClean="0">
                <a:latin typeface="+mj-ea"/>
                <a:ea typeface="+mj-ea"/>
              </a:rPr>
              <a:t>lowering </a:t>
            </a:r>
            <a:r>
              <a:rPr lang="zh-CN" altLang="en-US" sz="1400" dirty="0" smtClean="0">
                <a:latin typeface="+mj-ea"/>
                <a:ea typeface="+mj-ea"/>
              </a:rPr>
              <a:t>规则</a:t>
            </a:r>
            <a:r>
              <a:rPr lang="zh-CN" altLang="en-US" sz="1400" dirty="0" smtClean="0">
                <a:latin typeface="+mj-ea"/>
                <a:ea typeface="+mj-ea"/>
              </a:rPr>
              <a:t>的方式</a:t>
            </a:r>
            <a:r>
              <a:rPr lang="zh-CN" altLang="en-US" sz="1400" dirty="0" smtClean="0">
                <a:latin typeface="+mj-ea"/>
                <a:ea typeface="+mj-ea"/>
              </a:rPr>
              <a:t>，</a:t>
            </a:r>
            <a:r>
              <a:rPr lang="en-CN" sz="1400" dirty="0" smtClean="0">
                <a:latin typeface="+mj-ea"/>
                <a:ea typeface="+mj-ea"/>
              </a:rPr>
              <a:t>将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en-CN" sz="1400" dirty="0" smtClean="0">
                <a:latin typeface="+mj-ea"/>
                <a:ea typeface="+mj-ea"/>
              </a:rPr>
              <a:t>Aten</a:t>
            </a:r>
            <a:r>
              <a:rPr lang="en-US" sz="1400" dirty="0" smtClean="0">
                <a:latin typeface="+mj-ea"/>
                <a:ea typeface="+mj-ea"/>
              </a:rPr>
              <a:t>/Prim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zh-CN" altLang="en-US" sz="1400" dirty="0">
                <a:latin typeface="+mj-ea"/>
                <a:ea typeface="+mj-ea"/>
              </a:rPr>
              <a:t>算子与 </a:t>
            </a:r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  <a:r>
              <a:rPr lang="zh-CN" altLang="en-US" sz="1400" dirty="0">
                <a:latin typeface="+mj-ea"/>
                <a:ea typeface="+mj-ea"/>
              </a:rPr>
              <a:t> 的转化关系，用</a:t>
            </a:r>
            <a:r>
              <a:rPr lang="en-US" altLang="zh-CN" sz="1400" dirty="0" err="1" smtClean="0">
                <a:latin typeface="+mj-ea"/>
                <a:ea typeface="+mj-ea"/>
              </a:rPr>
              <a:t>register_lowering</a:t>
            </a:r>
            <a:r>
              <a:rPr lang="zh-CN" altLang="en-US" sz="1400" dirty="0" smtClean="0">
                <a:latin typeface="+mj-ea"/>
                <a:ea typeface="+mj-ea"/>
              </a:rPr>
              <a:t>预先</a:t>
            </a:r>
            <a:r>
              <a:rPr lang="zh-CN" altLang="en-US" sz="1400" dirty="0" smtClean="0">
                <a:latin typeface="+mj-ea"/>
                <a:ea typeface="+mj-ea"/>
              </a:rPr>
              <a:t>实现</a:t>
            </a:r>
            <a:r>
              <a:rPr lang="zh-CN" altLang="en-US" sz="1400" dirty="0" smtClean="0">
                <a:latin typeface="+mj-ea"/>
                <a:ea typeface="+mj-ea"/>
              </a:rPr>
              <a:t>，对于 </a:t>
            </a:r>
            <a:r>
              <a:rPr lang="en-US" altLang="zh-CN" sz="1400" dirty="0" err="1">
                <a:latin typeface="+mj-ea"/>
                <a:ea typeface="+mj-ea"/>
              </a:rPr>
              <a:t>Fx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Graph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zh-CN" altLang="en-US" sz="1400" dirty="0" smtClean="0">
                <a:latin typeface="+mj-ea"/>
                <a:ea typeface="+mj-ea"/>
              </a:rPr>
              <a:t>中的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en-US" altLang="zh-CN" sz="1400" dirty="0" smtClean="0">
                <a:latin typeface="+mj-ea"/>
                <a:ea typeface="+mj-ea"/>
              </a:rPr>
              <a:t>Aten/Prim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zh-CN" altLang="en-US" sz="1400" dirty="0">
                <a:latin typeface="+mj-ea"/>
                <a:ea typeface="+mj-ea"/>
              </a:rPr>
              <a:t>算子</a:t>
            </a:r>
            <a:r>
              <a:rPr lang="zh-CN" altLang="en-US" sz="1400" dirty="0" smtClean="0">
                <a:latin typeface="+mj-ea"/>
                <a:ea typeface="+mj-ea"/>
              </a:rPr>
              <a:t>，通过 </a:t>
            </a:r>
            <a:r>
              <a:rPr lang="en-US" altLang="zh-CN" sz="1400" dirty="0">
                <a:latin typeface="+mj-ea"/>
                <a:ea typeface="+mj-ea"/>
              </a:rPr>
              <a:t>register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zh-CN" altLang="en-US" sz="1400" dirty="0" smtClean="0">
                <a:latin typeface="+mj-ea"/>
                <a:ea typeface="+mj-ea"/>
              </a:rPr>
              <a:t>查表</a:t>
            </a:r>
            <a:r>
              <a:rPr lang="zh-CN" altLang="en-US" sz="1400" dirty="0">
                <a:latin typeface="+mj-ea"/>
                <a:ea typeface="+mj-ea"/>
              </a:rPr>
              <a:t>，更换为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  <a:r>
              <a:rPr lang="zh-CN" altLang="en-US" sz="1400" dirty="0">
                <a:latin typeface="+mj-ea"/>
                <a:ea typeface="+mj-ea"/>
              </a:rPr>
              <a:t>表示</a:t>
            </a:r>
            <a:r>
              <a:rPr lang="zh-CN" altLang="en-US" sz="1400" dirty="0" smtClean="0">
                <a:latin typeface="+mj-ea"/>
                <a:ea typeface="+mj-ea"/>
              </a:rPr>
              <a:t>。</a:t>
            </a:r>
            <a:r>
              <a:rPr lang="zh-CN" altLang="en-US" sz="1400" dirty="0">
                <a:latin typeface="+mj-ea"/>
                <a:ea typeface="+mj-ea"/>
              </a:rPr>
              <a:t>目前</a:t>
            </a:r>
            <a:r>
              <a:rPr lang="zh-CN" altLang="en-US" sz="1400" dirty="0" smtClean="0">
                <a:latin typeface="+mj-ea"/>
                <a:ea typeface="+mj-ea"/>
              </a:rPr>
              <a:t>手工 </a:t>
            </a:r>
            <a:r>
              <a:rPr lang="en-US" altLang="zh-CN" sz="1400" dirty="0">
                <a:latin typeface="+mj-ea"/>
                <a:ea typeface="+mj-ea"/>
              </a:rPr>
              <a:t>register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lowering</a:t>
            </a:r>
            <a:r>
              <a:rPr lang="zh-CN" altLang="en-US" sz="1400" dirty="0">
                <a:latin typeface="+mj-ea"/>
                <a:ea typeface="+mj-ea"/>
              </a:rPr>
              <a:t> 了</a:t>
            </a:r>
            <a:r>
              <a:rPr lang="en-US" altLang="zh-CN" sz="1400" dirty="0">
                <a:latin typeface="+mj-ea"/>
                <a:ea typeface="+mj-ea"/>
              </a:rPr>
              <a:t>140</a:t>
            </a:r>
            <a:r>
              <a:rPr lang="zh-CN" altLang="en-US" sz="1400" dirty="0">
                <a:latin typeface="+mj-ea"/>
                <a:ea typeface="+mj-ea"/>
              </a:rPr>
              <a:t>多个算子。</a:t>
            </a:r>
            <a:r>
              <a:rPr lang="zh-CN" altLang="en-US" sz="1400" dirty="0">
                <a:latin typeface="+mj-ea"/>
                <a:ea typeface="+mj-ea"/>
                <a:hlinkClick r:id="rId2"/>
              </a:rPr>
              <a:t>代码链接</a:t>
            </a:r>
            <a:endParaRPr lang="en-US" altLang="zh-CN" sz="1400" dirty="0">
              <a:latin typeface="+mj-ea"/>
              <a:ea typeface="+mj-ea"/>
            </a:endParaRPr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39B713D0-FDDC-63E2-5AC5-2D49AD1387BC}"/>
              </a:ext>
            </a:extLst>
          </p:cNvPr>
          <p:cNvSpPr txBox="1"/>
          <p:nvPr/>
        </p:nvSpPr>
        <p:spPr>
          <a:xfrm>
            <a:off x="684841" y="1260652"/>
            <a:ext cx="1122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+mj-ea"/>
                <a:ea typeface="+mj-ea"/>
              </a:rPr>
              <a:t>转化流程</a:t>
            </a:r>
          </a:p>
        </p:txBody>
      </p:sp>
      <p:sp>
        <p:nvSpPr>
          <p:cNvPr id="11" name="TextBox 20">
            <a:extLst>
              <a:ext uri="{FF2B5EF4-FFF2-40B4-BE49-F238E27FC236}">
                <a16:creationId xmlns:a16="http://schemas.microsoft.com/office/drawing/2014/main" id="{7D414DEC-449D-6890-64E9-1391153CDBE0}"/>
              </a:ext>
            </a:extLst>
          </p:cNvPr>
          <p:cNvSpPr txBox="1"/>
          <p:nvPr/>
        </p:nvSpPr>
        <p:spPr>
          <a:xfrm>
            <a:off x="3205756" y="12606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+mj-ea"/>
                <a:ea typeface="+mj-ea"/>
              </a:rPr>
              <a:t>代码实现</a:t>
            </a:r>
            <a:endParaRPr lang="en-CN" dirty="0">
              <a:latin typeface="+mj-ea"/>
              <a:ea typeface="+mj-ea"/>
            </a:endParaRPr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6820F1BB-ADAC-D580-551A-15CEB59381D2}"/>
              </a:ext>
            </a:extLst>
          </p:cNvPr>
          <p:cNvSpPr txBox="1"/>
          <p:nvPr/>
        </p:nvSpPr>
        <p:spPr>
          <a:xfrm>
            <a:off x="2896204" y="1957849"/>
            <a:ext cx="2603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 smtClean="0">
                <a:solidFill>
                  <a:srgbClr val="8250DF"/>
                </a:solidFill>
                <a:effectLst/>
                <a:latin typeface="+mj-ea"/>
                <a:ea typeface="+mj-ea"/>
              </a:rPr>
              <a:t>整除算子：</a:t>
            </a:r>
            <a:r>
              <a:rPr lang="en-US" b="0" i="0" u="none" strike="noStrike" dirty="0" err="1" smtClean="0">
                <a:solidFill>
                  <a:srgbClr val="8250DF"/>
                </a:solidFill>
                <a:effectLst/>
                <a:latin typeface="+mj-ea"/>
                <a:ea typeface="+mj-ea"/>
              </a:rPr>
              <a:t>floordiv</a:t>
            </a:r>
            <a:endParaRPr lang="en-CN" dirty="0">
              <a:latin typeface="+mj-ea"/>
              <a:ea typeface="+mj-ea"/>
            </a:endParaRPr>
          </a:p>
        </p:txBody>
      </p:sp>
      <p:pic>
        <p:nvPicPr>
          <p:cNvPr id="13" name="Picture 28">
            <a:extLst>
              <a:ext uri="{FF2B5EF4-FFF2-40B4-BE49-F238E27FC236}">
                <a16:creationId xmlns:a16="http://schemas.microsoft.com/office/drawing/2014/main" id="{FF535D2C-8990-E90B-C8DD-0B67A0D83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133" y="2488617"/>
            <a:ext cx="3389560" cy="841626"/>
          </a:xfrm>
          <a:prstGeom prst="rect">
            <a:avLst/>
          </a:prstGeom>
        </p:spPr>
      </p:pic>
      <p:sp>
        <p:nvSpPr>
          <p:cNvPr id="14" name="TextBox 31">
            <a:extLst>
              <a:ext uri="{FF2B5EF4-FFF2-40B4-BE49-F238E27FC236}">
                <a16:creationId xmlns:a16="http://schemas.microsoft.com/office/drawing/2014/main" id="{A8CE0364-47CF-F381-863C-98B0805910B6}"/>
              </a:ext>
            </a:extLst>
          </p:cNvPr>
          <p:cNvSpPr txBox="1"/>
          <p:nvPr/>
        </p:nvSpPr>
        <p:spPr>
          <a:xfrm>
            <a:off x="8272170" y="12606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+mj-ea"/>
                <a:ea typeface="+mj-ea"/>
              </a:rPr>
              <a:t>流程解释</a:t>
            </a:r>
          </a:p>
        </p:txBody>
      </p:sp>
      <p:pic>
        <p:nvPicPr>
          <p:cNvPr id="15" name="Picture 32">
            <a:extLst>
              <a:ext uri="{FF2B5EF4-FFF2-40B4-BE49-F238E27FC236}">
                <a16:creationId xmlns:a16="http://schemas.microsoft.com/office/drawing/2014/main" id="{B0D86B59-A855-BCF5-C94D-D27E75B5B5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7915"/>
          <a:stretch/>
        </p:blipFill>
        <p:spPr>
          <a:xfrm>
            <a:off x="2646345" y="3458700"/>
            <a:ext cx="5824547" cy="1004015"/>
          </a:xfrm>
          <a:prstGeom prst="rect">
            <a:avLst/>
          </a:prstGeom>
        </p:spPr>
      </p:pic>
      <p:sp>
        <p:nvSpPr>
          <p:cNvPr id="16" name="TextBox 33">
            <a:extLst>
              <a:ext uri="{FF2B5EF4-FFF2-40B4-BE49-F238E27FC236}">
                <a16:creationId xmlns:a16="http://schemas.microsoft.com/office/drawing/2014/main" id="{212EF7F8-BB34-9EEC-4ED1-0C07A6894637}"/>
              </a:ext>
            </a:extLst>
          </p:cNvPr>
          <p:cNvSpPr txBox="1"/>
          <p:nvPr/>
        </p:nvSpPr>
        <p:spPr>
          <a:xfrm>
            <a:off x="576638" y="282123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+mj-ea"/>
                <a:ea typeface="+mj-ea"/>
              </a:rPr>
              <a:t>注册表搜索</a:t>
            </a:r>
          </a:p>
        </p:txBody>
      </p:sp>
      <p:sp>
        <p:nvSpPr>
          <p:cNvPr id="17" name="TextBox 34">
            <a:extLst>
              <a:ext uri="{FF2B5EF4-FFF2-40B4-BE49-F238E27FC236}">
                <a16:creationId xmlns:a16="http://schemas.microsoft.com/office/drawing/2014/main" id="{3D5E9A66-CE64-4379-2267-1BB561C6622F}"/>
              </a:ext>
            </a:extLst>
          </p:cNvPr>
          <p:cNvSpPr txBox="1"/>
          <p:nvPr/>
        </p:nvSpPr>
        <p:spPr>
          <a:xfrm>
            <a:off x="277742" y="4820445"/>
            <a:ext cx="1836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latin typeface="+mj-ea"/>
                <a:ea typeface="+mj-ea"/>
              </a:rPr>
              <a:t>Triton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dirty="0" err="1">
                <a:latin typeface="+mj-ea"/>
                <a:ea typeface="+mj-ea"/>
              </a:rPr>
              <a:t>Codegen</a:t>
            </a:r>
            <a:endParaRPr lang="en-CN" dirty="0">
              <a:latin typeface="+mj-ea"/>
              <a:ea typeface="+mj-ea"/>
            </a:endParaRPr>
          </a:p>
        </p:txBody>
      </p:sp>
      <p:sp>
        <p:nvSpPr>
          <p:cNvPr id="18" name="TextBox 35">
            <a:extLst>
              <a:ext uri="{FF2B5EF4-FFF2-40B4-BE49-F238E27FC236}">
                <a16:creationId xmlns:a16="http://schemas.microsoft.com/office/drawing/2014/main" id="{2391CC1C-F54E-93BE-E582-B5A9DD459B81}"/>
              </a:ext>
            </a:extLst>
          </p:cNvPr>
          <p:cNvSpPr txBox="1"/>
          <p:nvPr/>
        </p:nvSpPr>
        <p:spPr>
          <a:xfrm>
            <a:off x="6802399" y="3415749"/>
            <a:ext cx="354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定义</a:t>
            </a:r>
            <a:r>
              <a:rPr lang="en-US" altLang="zh-CN" sz="1400" dirty="0">
                <a:latin typeface="+mj-ea"/>
                <a:ea typeface="+mj-ea"/>
              </a:rPr>
              <a:t>50</a:t>
            </a:r>
            <a:r>
              <a:rPr lang="zh-CN" altLang="en-US" sz="1400" dirty="0">
                <a:latin typeface="+mj-ea"/>
                <a:ea typeface="+mj-ea"/>
              </a:rPr>
              <a:t>多个</a:t>
            </a:r>
            <a:r>
              <a:rPr lang="zh-CN" altLang="en-US" sz="1400" dirty="0">
                <a:solidFill>
                  <a:srgbClr val="C00000"/>
                </a:solidFill>
                <a:latin typeface="+mj-ea"/>
                <a:ea typeface="+mj-ea"/>
              </a:rPr>
              <a:t>基本</a:t>
            </a:r>
            <a:r>
              <a:rPr lang="en-US" altLang="zh-CN" sz="1400" dirty="0">
                <a:solidFill>
                  <a:srgbClr val="C00000"/>
                </a:solidFill>
                <a:latin typeface="+mj-ea"/>
                <a:ea typeface="+mj-ea"/>
              </a:rPr>
              <a:t>IR</a:t>
            </a:r>
            <a:r>
              <a:rPr lang="zh-CN" altLang="en-US" sz="1400" dirty="0">
                <a:solidFill>
                  <a:srgbClr val="C00000"/>
                </a:solidFill>
                <a:latin typeface="+mj-ea"/>
                <a:ea typeface="+mj-ea"/>
              </a:rPr>
              <a:t>种类</a:t>
            </a:r>
            <a:r>
              <a:rPr lang="zh-CN" altLang="en-US" sz="1400" dirty="0">
                <a:latin typeface="+mj-ea"/>
                <a:ea typeface="+mj-ea"/>
              </a:rPr>
              <a:t>，这个例子里是一个</a:t>
            </a:r>
            <a:r>
              <a:rPr lang="en-US" altLang="zh-CN" sz="1400" dirty="0">
                <a:latin typeface="+mj-ea"/>
                <a:ea typeface="+mj-ea"/>
              </a:rPr>
              <a:t>floor</a:t>
            </a:r>
            <a:r>
              <a:rPr lang="zh-CN" altLang="en-US" sz="1400" dirty="0">
                <a:latin typeface="+mj-ea"/>
                <a:ea typeface="+mj-ea"/>
              </a:rPr>
              <a:t>除法指令，</a:t>
            </a:r>
            <a:r>
              <a:rPr lang="zh-CN" altLang="en-US" sz="1400" dirty="0">
                <a:latin typeface="+mj-ea"/>
                <a:ea typeface="+mj-ea"/>
                <a:hlinkClick r:id="rId5"/>
              </a:rPr>
              <a:t>代码链接</a:t>
            </a:r>
            <a:endParaRPr lang="en-US" altLang="zh-CN" sz="1400" dirty="0">
              <a:latin typeface="+mj-ea"/>
              <a:ea typeface="+mj-ea"/>
            </a:endParaRPr>
          </a:p>
        </p:txBody>
      </p:sp>
      <p:pic>
        <p:nvPicPr>
          <p:cNvPr id="19" name="Picture 36">
            <a:extLst>
              <a:ext uri="{FF2B5EF4-FFF2-40B4-BE49-F238E27FC236}">
                <a16:creationId xmlns:a16="http://schemas.microsoft.com/office/drawing/2014/main" id="{C8E7D843-A6DF-2AC0-EEA6-5B73FD632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7417" y="4642007"/>
            <a:ext cx="2660606" cy="2215994"/>
          </a:xfrm>
          <a:prstGeom prst="rect">
            <a:avLst/>
          </a:prstGeom>
        </p:spPr>
      </p:pic>
      <p:sp>
        <p:nvSpPr>
          <p:cNvPr id="20" name="TextBox 40">
            <a:extLst>
              <a:ext uri="{FF2B5EF4-FFF2-40B4-BE49-F238E27FC236}">
                <a16:creationId xmlns:a16="http://schemas.microsoft.com/office/drawing/2014/main" id="{275772B7-9F3F-5E0A-6015-FE7B8EBDBE5F}"/>
              </a:ext>
            </a:extLst>
          </p:cNvPr>
          <p:cNvSpPr txBox="1"/>
          <p:nvPr/>
        </p:nvSpPr>
        <p:spPr>
          <a:xfrm>
            <a:off x="6897590" y="5140283"/>
            <a:ext cx="35406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latin typeface="+mj-ea"/>
                <a:ea typeface="+mj-ea"/>
              </a:rPr>
              <a:t>TritonPrinter</a:t>
            </a:r>
            <a:r>
              <a:rPr lang="zh-CN" altLang="en-US" sz="1400" dirty="0">
                <a:latin typeface="+mj-ea"/>
                <a:ea typeface="+mj-ea"/>
              </a:rPr>
              <a:t> 继承自通用 </a:t>
            </a:r>
            <a:r>
              <a:rPr lang="en-US" altLang="zh-CN" sz="1400" dirty="0" err="1">
                <a:latin typeface="+mj-ea"/>
                <a:ea typeface="+mj-ea"/>
              </a:rPr>
              <a:t>ExprPrinter</a:t>
            </a:r>
            <a:r>
              <a:rPr lang="zh-CN" altLang="en-US" sz="1400" dirty="0">
                <a:latin typeface="+mj-ea"/>
                <a:ea typeface="+mj-ea"/>
              </a:rPr>
              <a:t> ，并且 </a:t>
            </a:r>
            <a:r>
              <a:rPr lang="en-US" altLang="zh-CN" sz="1400" dirty="0">
                <a:latin typeface="+mj-ea"/>
                <a:ea typeface="+mj-ea"/>
              </a:rPr>
              <a:t>Override</a:t>
            </a:r>
            <a:r>
              <a:rPr lang="zh-CN" altLang="en-US" sz="1400" dirty="0">
                <a:latin typeface="+mj-ea"/>
                <a:ea typeface="+mj-ea"/>
              </a:rPr>
              <a:t> 一些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  <a:r>
              <a:rPr lang="zh-CN" altLang="en-US" sz="1400" dirty="0">
                <a:latin typeface="+mj-ea"/>
                <a:ea typeface="+mj-ea"/>
              </a:rPr>
              <a:t> 的 </a:t>
            </a:r>
            <a:r>
              <a:rPr lang="en-US" altLang="zh-CN" sz="1400" dirty="0" err="1">
                <a:latin typeface="+mj-ea"/>
                <a:ea typeface="+mj-ea"/>
              </a:rPr>
              <a:t>Codegen</a:t>
            </a:r>
            <a:r>
              <a:rPr lang="zh-CN" altLang="en-US" sz="1400" dirty="0">
                <a:latin typeface="+mj-ea"/>
                <a:ea typeface="+mj-ea"/>
              </a:rPr>
              <a:t>，来生成 </a:t>
            </a:r>
            <a:r>
              <a:rPr lang="en-US" altLang="zh-CN" sz="1400" dirty="0">
                <a:latin typeface="+mj-ea"/>
                <a:ea typeface="+mj-ea"/>
              </a:rPr>
              <a:t>Triton</a:t>
            </a:r>
            <a:r>
              <a:rPr lang="zh-CN" altLang="en-US" sz="1400" dirty="0">
                <a:latin typeface="+mj-ea"/>
                <a:ea typeface="+mj-ea"/>
              </a:rPr>
              <a:t> 对应的 </a:t>
            </a:r>
            <a:r>
              <a:rPr lang="en-US" altLang="zh-CN" sz="1400" dirty="0">
                <a:latin typeface="+mj-ea"/>
                <a:ea typeface="+mj-ea"/>
              </a:rPr>
              <a:t>DSL</a:t>
            </a:r>
            <a:r>
              <a:rPr lang="zh-CN" altLang="en-US" sz="1400" dirty="0">
                <a:latin typeface="+mj-ea"/>
                <a:ea typeface="+mj-ea"/>
              </a:rPr>
              <a:t>，</a:t>
            </a:r>
            <a:r>
              <a:rPr lang="zh-CN" altLang="en-US" sz="1400" dirty="0">
                <a:latin typeface="+mj-ea"/>
                <a:ea typeface="+mj-ea"/>
                <a:hlinkClick r:id="rId7"/>
              </a:rPr>
              <a:t>代码</a:t>
            </a:r>
            <a:r>
              <a:rPr lang="zh-CN" altLang="en-US" sz="1400" dirty="0" smtClean="0">
                <a:latin typeface="+mj-ea"/>
                <a:ea typeface="+mj-ea"/>
                <a:hlinkClick r:id="rId7"/>
              </a:rPr>
              <a:t>链接</a:t>
            </a:r>
            <a:endParaRPr lang="en-US" altLang="zh-CN" sz="1400" dirty="0" smtClean="0">
              <a:latin typeface="+mj-ea"/>
              <a:ea typeface="+mj-ea"/>
            </a:endParaRPr>
          </a:p>
          <a:p>
            <a:endParaRPr lang="en-US" altLang="zh-CN" sz="1400" dirty="0">
              <a:latin typeface="+mj-ea"/>
              <a:ea typeface="+mj-ea"/>
            </a:endParaRPr>
          </a:p>
          <a:p>
            <a:r>
              <a:rPr lang="zh-CN" altLang="en-US" sz="1400" dirty="0">
                <a:latin typeface="+mj-ea"/>
              </a:rPr>
              <a:t>生成 </a:t>
            </a:r>
            <a:r>
              <a:rPr lang="en-US" altLang="zh-CN" sz="1400" dirty="0">
                <a:latin typeface="+mj-ea"/>
              </a:rPr>
              <a:t>C++</a:t>
            </a:r>
            <a:r>
              <a:rPr lang="zh-CN" altLang="en-US" sz="1400" dirty="0">
                <a:latin typeface="+mj-ea"/>
              </a:rPr>
              <a:t> </a:t>
            </a:r>
            <a:r>
              <a:rPr lang="en-US" altLang="zh-CN" sz="1400" dirty="0">
                <a:latin typeface="+mj-ea"/>
              </a:rPr>
              <a:t>/</a:t>
            </a:r>
            <a:r>
              <a:rPr lang="zh-CN" altLang="en-US" sz="1400" dirty="0">
                <a:latin typeface="+mj-ea"/>
              </a:rPr>
              <a:t> </a:t>
            </a:r>
            <a:r>
              <a:rPr lang="en-US" altLang="zh-CN" sz="1400" dirty="0" err="1">
                <a:latin typeface="+mj-ea"/>
              </a:rPr>
              <a:t>OpenMP</a:t>
            </a:r>
            <a:r>
              <a:rPr lang="zh-CN" altLang="en-US" sz="1400" dirty="0">
                <a:latin typeface="+mj-ea"/>
              </a:rPr>
              <a:t> 是通过开发相应的 </a:t>
            </a:r>
            <a:r>
              <a:rPr lang="en-US" altLang="zh-CN" sz="1400" dirty="0" err="1">
                <a:latin typeface="+mj-ea"/>
              </a:rPr>
              <a:t>Codegen</a:t>
            </a:r>
            <a:r>
              <a:rPr lang="zh-CN" altLang="en-US" sz="1400" dirty="0">
                <a:latin typeface="+mj-ea"/>
              </a:rPr>
              <a:t>，同理来做相应 </a:t>
            </a:r>
            <a:r>
              <a:rPr lang="en-US" altLang="zh-CN" sz="1400" dirty="0" smtClean="0">
                <a:latin typeface="+mj-ea"/>
              </a:rPr>
              <a:t>Lowering</a:t>
            </a:r>
            <a:endParaRPr lang="en-US" altLang="zh-CN" sz="1400" dirty="0">
              <a:latin typeface="+mj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40931" y="791386"/>
            <a:ext cx="45500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+mj-ea"/>
                <a:ea typeface="+mj-ea"/>
              </a:rPr>
              <a:t>从 </a:t>
            </a:r>
            <a:r>
              <a:rPr lang="en-US" altLang="zh-CN" sz="2000" dirty="0">
                <a:latin typeface="+mj-ea"/>
                <a:ea typeface="+mj-ea"/>
              </a:rPr>
              <a:t>Aten</a:t>
            </a:r>
            <a:r>
              <a:rPr lang="zh-CN" altLang="en-US" sz="2000" dirty="0">
                <a:latin typeface="+mj-ea"/>
                <a:ea typeface="+mj-ea"/>
              </a:rPr>
              <a:t> 算子 </a:t>
            </a:r>
            <a:r>
              <a:rPr lang="en-US" altLang="zh-CN" sz="2000" dirty="0">
                <a:latin typeface="+mj-ea"/>
                <a:ea typeface="+mj-ea"/>
              </a:rPr>
              <a:t>Lowering</a:t>
            </a:r>
            <a:r>
              <a:rPr lang="zh-CN" altLang="en-US" sz="2000" dirty="0">
                <a:latin typeface="+mj-ea"/>
                <a:ea typeface="+mj-ea"/>
              </a:rPr>
              <a:t> 到 </a:t>
            </a:r>
            <a:r>
              <a:rPr lang="en-US" altLang="zh-CN" sz="2000" dirty="0">
                <a:latin typeface="+mj-ea"/>
                <a:ea typeface="+mj-ea"/>
              </a:rPr>
              <a:t>Triton</a:t>
            </a:r>
            <a:r>
              <a:rPr lang="zh-CN" altLang="en-US" sz="2000" dirty="0">
                <a:latin typeface="+mj-ea"/>
                <a:ea typeface="+mj-ea"/>
              </a:rPr>
              <a:t> </a:t>
            </a:r>
            <a:r>
              <a:rPr lang="en-US" altLang="zh-CN" sz="2000" dirty="0">
                <a:latin typeface="+mj-ea"/>
                <a:ea typeface="+mj-ea"/>
              </a:rPr>
              <a:t>DSL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22" name="右箭头 21"/>
          <p:cNvSpPr/>
          <p:nvPr/>
        </p:nvSpPr>
        <p:spPr>
          <a:xfrm>
            <a:off x="2075961" y="2763587"/>
            <a:ext cx="47957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2064915" y="3846695"/>
            <a:ext cx="47957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30" name="右箭头 29"/>
          <p:cNvSpPr/>
          <p:nvPr/>
        </p:nvSpPr>
        <p:spPr>
          <a:xfrm>
            <a:off x="2070555" y="5519100"/>
            <a:ext cx="479576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7650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Inductor</a:t>
            </a:r>
            <a:r>
              <a:rPr lang="zh-CN" altLang="en-US" dirty="0">
                <a:latin typeface="+mj-ea"/>
              </a:rPr>
              <a:t> </a:t>
            </a:r>
            <a:r>
              <a:rPr lang="zh-CN" altLang="en-US" dirty="0" smtClean="0">
                <a:latin typeface="+mj-ea"/>
              </a:rPr>
              <a:t>的</a:t>
            </a:r>
            <a:r>
              <a:rPr lang="zh-CN" altLang="en-US" dirty="0" smtClean="0">
                <a:solidFill>
                  <a:srgbClr val="C00000"/>
                </a:solidFill>
                <a:latin typeface="+mj-ea"/>
              </a:rPr>
              <a:t>基本</a:t>
            </a:r>
            <a:r>
              <a:rPr lang="en-US" altLang="zh-CN" dirty="0">
                <a:solidFill>
                  <a:srgbClr val="C00000"/>
                </a:solidFill>
                <a:latin typeface="+mj-ea"/>
              </a:rPr>
              <a:t>IR</a:t>
            </a:r>
            <a:r>
              <a:rPr lang="zh-CN" altLang="en-US" dirty="0">
                <a:solidFill>
                  <a:srgbClr val="C00000"/>
                </a:solidFill>
                <a:latin typeface="+mj-ea"/>
              </a:rPr>
              <a:t>种类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8871" y="1188357"/>
            <a:ext cx="4790986" cy="56696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828" y="1188357"/>
            <a:ext cx="4381500" cy="58197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2690948" y="713970"/>
            <a:ext cx="711925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solidFill>
                  <a:srgbClr val="6C6C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TorchInductor’s</a:t>
            </a:r>
            <a:r>
              <a:rPr lang="en-US" altLang="zh-CN" sz="1400" dirty="0">
                <a:solidFill>
                  <a:srgbClr val="6C6C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core loop level IR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contains only ~50 operators</a:t>
            </a:r>
            <a:r>
              <a:rPr lang="en-US" altLang="zh-CN" sz="1400" dirty="0">
                <a:solidFill>
                  <a:srgbClr val="6C6C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endParaRPr lang="en-US" altLang="zh-CN" sz="1400" dirty="0" smtClean="0">
              <a:solidFill>
                <a:srgbClr val="6C6C6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 smtClean="0">
                <a:solidFill>
                  <a:srgbClr val="6C6C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 </a:t>
            </a:r>
            <a:r>
              <a:rPr lang="en-US" altLang="zh-CN" sz="1400" dirty="0">
                <a:solidFill>
                  <a:srgbClr val="6C6C6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 is implemented in Python, making it easily hackable and extensible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9041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0319D-CE7B-B906-16AE-6EDF521DD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j-ea"/>
              </a:rPr>
              <a:t>Inductor Schedule</a:t>
            </a:r>
            <a:r>
              <a:rPr lang="zh-CN" altLang="en-US" dirty="0" smtClean="0"/>
              <a:t>自动</a:t>
            </a:r>
            <a:r>
              <a:rPr lang="zh-CN" altLang="en-US" dirty="0"/>
              <a:t>融合策略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01708A-1081-BC43-CD8D-B2E7FFDFE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2848323"/>
            <a:ext cx="11379200" cy="498475"/>
          </a:xfrm>
        </p:spPr>
        <p:txBody>
          <a:bodyPr/>
          <a:lstStyle/>
          <a:p>
            <a:r>
              <a:rPr kumimoji="1" lang="zh-CN" altLang="en-US" b="1" dirty="0"/>
              <a:t>基于规则的自动融合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EC83B52-9A15-71F7-863F-9F6BB619F3C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74561" y="3857039"/>
          <a:ext cx="6079940" cy="2631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3849">
                  <a:extLst>
                    <a:ext uri="{9D8B030D-6E8A-4147-A177-3AD203B41FA5}">
                      <a16:colId xmlns:a16="http://schemas.microsoft.com/office/drawing/2014/main" val="2086991236"/>
                    </a:ext>
                  </a:extLst>
                </a:gridCol>
                <a:gridCol w="4896091">
                  <a:extLst>
                    <a:ext uri="{9D8B030D-6E8A-4147-A177-3AD203B41FA5}">
                      <a16:colId xmlns:a16="http://schemas.microsoft.com/office/drawing/2014/main" val="127342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融合级别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融合规则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35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子图级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子图之间位置关系需满足以下三个要求：</a:t>
                      </a:r>
                      <a:endParaRPr lang="en-US" altLang="zh-CN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>
                        <a:buFont typeface="+mj-ea"/>
                        <a:buAutoNum type="circleNumDbPlain"/>
                      </a:pP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存在直接共享数据节点</a:t>
                      </a:r>
                      <a:endParaRPr lang="en-US" altLang="zh-CN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>
                        <a:buFont typeface="+mj-ea"/>
                        <a:buAutoNum type="circleNumDbPlain"/>
                      </a:pP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融合后满足子图大小限制</a:t>
                      </a:r>
                      <a:endParaRPr lang="en-US" altLang="zh-CN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>
                        <a:buFont typeface="+mj-ea"/>
                        <a:buAutoNum type="circleNumDbPlain"/>
                      </a:pP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满足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Vertical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关系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35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模板级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ea"/>
                        <a:buAutoNum type="circleNumDbPlain"/>
                      </a:pP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Tiling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规则兼容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4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设备级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Font typeface="+mj-ea"/>
                        <a:buAutoNum type="circleNumDbPlain"/>
                      </a:pP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两个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reduction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算子，要求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reduction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模式相同</a:t>
                      </a:r>
                      <a:endParaRPr lang="en-US" altLang="zh-CN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342900" indent="-342900">
                        <a:buFont typeface="+mj-ea"/>
                        <a:buAutoNum type="circleNumDbPlain"/>
                      </a:pP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两个非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reduction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算子、或者一个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reduction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子图和一个非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reduction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子图，要求</a:t>
                      </a:r>
                      <a:r>
                        <a:rPr lang="en-US" altLang="zh-CN" sz="160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Tiling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规则相同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360628"/>
                  </a:ext>
                </a:extLst>
              </a:tr>
            </a:tbl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90973FF-4E5B-B182-1A9D-0D3678D30C33}"/>
              </a:ext>
            </a:extLst>
          </p:cNvPr>
          <p:cNvSpPr txBox="1">
            <a:spLocks/>
          </p:cNvSpPr>
          <p:nvPr/>
        </p:nvSpPr>
        <p:spPr>
          <a:xfrm>
            <a:off x="408328" y="917282"/>
            <a:ext cx="11379200" cy="498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Helvetica" pitchFamily="2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4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" pitchFamily="2" charset="0"/>
              <a:buChar char="⁃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■"/>
              <a:defRPr sz="1600" kern="1200">
                <a:solidFill>
                  <a:schemeClr val="tx1"/>
                </a:solidFill>
                <a:latin typeface="+mn-lt"/>
                <a:ea typeface="Songti SC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b="1" dirty="0"/>
              <a:t>节点（</a:t>
            </a:r>
            <a:r>
              <a:rPr kumimoji="1" lang="en-US" altLang="zh-CN" b="1" dirty="0"/>
              <a:t>Node</a:t>
            </a:r>
            <a:r>
              <a:rPr kumimoji="1" lang="zh-CN" altLang="en-US" b="1" dirty="0"/>
              <a:t>）类型</a:t>
            </a:r>
          </a:p>
        </p:txBody>
      </p:sp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0E39B611-CCF3-925B-60B7-7847F83BC62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353439" y="891089"/>
          <a:ext cx="845338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79601">
                  <a:extLst>
                    <a:ext uri="{9D8B030D-6E8A-4147-A177-3AD203B41FA5}">
                      <a16:colId xmlns:a16="http://schemas.microsoft.com/office/drawing/2014/main" val="2086991236"/>
                    </a:ext>
                  </a:extLst>
                </a:gridCol>
                <a:gridCol w="4573782">
                  <a:extLst>
                    <a:ext uri="{9D8B030D-6E8A-4147-A177-3AD203B41FA5}">
                      <a16:colId xmlns:a16="http://schemas.microsoft.com/office/drawing/2014/main" val="1273423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节点类型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600" b="1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935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ExternKernelSchedulerNode</a:t>
                      </a:r>
                      <a:endParaRPr lang="zh-CN" altLang="en-US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外部节点，调用</a:t>
                      </a:r>
                      <a:r>
                        <a:rPr lang="en-US" altLang="zh-CN" sz="16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ATen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算子计算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352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NopKernelSchedulerNode</a:t>
                      </a:r>
                      <a:endParaRPr lang="zh-CN" altLang="en-US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空节点，没有计算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40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存在生成模板节点 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lang="en-US" altLang="zh-CN" sz="16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is_template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lang="zh-CN" altLang="en-US" sz="16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生成节点，依据模板生成</a:t>
                      </a:r>
                      <a:r>
                        <a:rPr lang="en-US" altLang="zh-CN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Triton</a:t>
                      </a:r>
                      <a:r>
                        <a:rPr lang="zh-CN" altLang="en-US" sz="16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代码计算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36062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941C9BF-B526-538C-CB46-DD05EAF87A84}"/>
              </a:ext>
            </a:extLst>
          </p:cNvPr>
          <p:cNvSpPr txBox="1"/>
          <p:nvPr/>
        </p:nvSpPr>
        <p:spPr>
          <a:xfrm>
            <a:off x="173616" y="3313251"/>
            <a:ext cx="4599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can_fuse</a:t>
            </a:r>
            <a:r>
              <a:rPr kumimoji="1" lang="zh-CN" altLang="en-US" dirty="0"/>
              <a:t>：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判断子图或算子节点是否能融合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85AADA-F222-82E4-AD6F-9AF2BB5672CF}"/>
              </a:ext>
            </a:extLst>
          </p:cNvPr>
          <p:cNvSpPr txBox="1"/>
          <p:nvPr/>
        </p:nvSpPr>
        <p:spPr>
          <a:xfrm>
            <a:off x="6819414" y="3313251"/>
            <a:ext cx="5102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score_fusion</a:t>
            </a:r>
            <a:r>
              <a:rPr kumimoji="1" lang="zh-CN" altLang="en-US" dirty="0"/>
              <a:t>：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给定一个优先级，来控制融合发生的顺序</a:t>
            </a:r>
            <a:r>
              <a:rPr kumimoji="1"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。目前使用规则进行计算，主要依据</a:t>
            </a:r>
            <a:r>
              <a:rPr kumimoji="1" lang="en-US" altLang="zh-CN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IO</a:t>
            </a:r>
            <a:r>
              <a:rPr kumimoji="1" lang="zh-CN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操作量的减少进行判断。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819414" y="5011151"/>
            <a:ext cx="517959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Pointwise ops can be fused with: other pointwise ops; reduction ops; and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matmul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conv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templates. It also supports fusing multiple reductions/broadcasts together.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34683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3B243-CABC-6FB1-7F11-9325D4E91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Triton —— </a:t>
            </a:r>
            <a:r>
              <a:rPr kumimoji="1" lang="zh-CN" altLang="en-US" dirty="0" smtClean="0"/>
              <a:t>自定义</a:t>
            </a:r>
            <a:r>
              <a:rPr kumimoji="1" lang="en-US" altLang="zh-CN" dirty="0" smtClean="0"/>
              <a:t>GPU</a:t>
            </a:r>
            <a:r>
              <a:rPr kumimoji="1" lang="zh-CN" altLang="en-US" dirty="0" smtClean="0"/>
              <a:t>编程语言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9CF22FA-AD0A-AE21-DD7D-955F380D4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6" y="2625621"/>
            <a:ext cx="6144896" cy="34510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52FEC3-0C78-D75D-186F-CAD6FB398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300" y="2625621"/>
            <a:ext cx="5624379" cy="34510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13E6A1A-9B68-63AD-149F-DEF8299348F9}"/>
              </a:ext>
            </a:extLst>
          </p:cNvPr>
          <p:cNvSpPr txBox="1"/>
          <p:nvPr/>
        </p:nvSpPr>
        <p:spPr>
          <a:xfrm>
            <a:off x="300939" y="1053299"/>
            <a:ext cx="5440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Kernel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只需关注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Block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级别计算，不需要关注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Block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内部线程任务划分、片上共享内存使用等细节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6AF528-363C-55FF-2BCA-1CECF7137691}"/>
              </a:ext>
            </a:extLst>
          </p:cNvPr>
          <p:cNvSpPr txBox="1"/>
          <p:nvPr/>
        </p:nvSpPr>
        <p:spPr>
          <a:xfrm>
            <a:off x="6391153" y="1055225"/>
            <a:ext cx="5703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Host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需设计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Block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间任务划分方法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可以人工设置并行线程配置；也可以指定线程配置的参数空间，使用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triton.autotune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自动搜索和调优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C6EC52-48D7-6E17-F046-D1EE651E6055}"/>
              </a:ext>
            </a:extLst>
          </p:cNvPr>
          <p:cNvSpPr txBox="1"/>
          <p:nvPr/>
        </p:nvSpPr>
        <p:spPr>
          <a:xfrm>
            <a:off x="335663" y="6469450"/>
            <a:ext cx="61114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hlinkClick r:id="rId4"/>
              </a:rPr>
              <a:t>https://triton-lang.org/master/getting-started/installation.html</a:t>
            </a:r>
            <a:endParaRPr lang="en-US" altLang="zh-CN" sz="16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77CF411-E330-871E-4B84-7B0DAD44E7CE}"/>
              </a:ext>
            </a:extLst>
          </p:cNvPr>
          <p:cNvSpPr/>
          <p:nvPr/>
        </p:nvSpPr>
        <p:spPr>
          <a:xfrm>
            <a:off x="300939" y="3429000"/>
            <a:ext cx="5440101" cy="4369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>
                <a:solidFill>
                  <a:srgbClr val="FF0000"/>
                </a:solidFill>
              </a:ln>
              <a:noFill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79C18C3-7BA0-F4B8-BA70-9219B75C9496}"/>
              </a:ext>
            </a:extLst>
          </p:cNvPr>
          <p:cNvSpPr txBox="1"/>
          <p:nvPr/>
        </p:nvSpPr>
        <p:spPr>
          <a:xfrm>
            <a:off x="3773347" y="3078865"/>
            <a:ext cx="2215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无线程</a:t>
            </a:r>
            <a:r>
              <a:rPr kumimoji="1" lang="en-US" altLang="zh-CN" dirty="0">
                <a:solidFill>
                  <a:srgbClr val="FF0000"/>
                </a:solidFill>
              </a:rPr>
              <a:t>id</a:t>
            </a:r>
            <a:r>
              <a:rPr kumimoji="1" lang="zh-CN" altLang="en-US" dirty="0">
                <a:solidFill>
                  <a:srgbClr val="FF0000"/>
                </a:solidFill>
              </a:rPr>
              <a:t>相关的控制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3C71D2-098B-A485-03C8-99B4669A0A32}"/>
              </a:ext>
            </a:extLst>
          </p:cNvPr>
          <p:cNvSpPr/>
          <p:nvPr/>
        </p:nvSpPr>
        <p:spPr>
          <a:xfrm>
            <a:off x="335663" y="4109013"/>
            <a:ext cx="787081" cy="2777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FC74C6-A5A6-5791-72D8-C61807A2BDEB}"/>
              </a:ext>
            </a:extLst>
          </p:cNvPr>
          <p:cNvSpPr/>
          <p:nvPr/>
        </p:nvSpPr>
        <p:spPr>
          <a:xfrm>
            <a:off x="335663" y="4525701"/>
            <a:ext cx="300945" cy="1388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276CE4-0925-6D59-EA31-0489B9CA3E52}"/>
              </a:ext>
            </a:extLst>
          </p:cNvPr>
          <p:cNvSpPr/>
          <p:nvPr/>
        </p:nvSpPr>
        <p:spPr>
          <a:xfrm>
            <a:off x="335663" y="4791919"/>
            <a:ext cx="1365815" cy="11227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E75FB1-8909-AF94-6E6D-A6A0C84071BD}"/>
              </a:ext>
            </a:extLst>
          </p:cNvPr>
          <p:cNvSpPr txBox="1"/>
          <p:nvPr/>
        </p:nvSpPr>
        <p:spPr>
          <a:xfrm>
            <a:off x="3010703" y="4027985"/>
            <a:ext cx="3296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数据对象都是</a:t>
            </a:r>
            <a:r>
              <a:rPr kumimoji="1" lang="en-US" altLang="zh-CN" dirty="0">
                <a:solidFill>
                  <a:srgbClr val="FF0000"/>
                </a:solidFill>
              </a:rPr>
              <a:t>Tile</a:t>
            </a:r>
            <a:r>
              <a:rPr kumimoji="1" lang="zh-CN" altLang="en-US" dirty="0">
                <a:solidFill>
                  <a:srgbClr val="FF0000"/>
                </a:solidFill>
              </a:rPr>
              <a:t>扩展数据类型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B407F9B1-379E-EEC3-1BF6-E4D557254CC9}"/>
              </a:ext>
            </a:extLst>
          </p:cNvPr>
          <p:cNvCxnSpPr/>
          <p:nvPr/>
        </p:nvCxnSpPr>
        <p:spPr>
          <a:xfrm flipH="1">
            <a:off x="1122744" y="4212651"/>
            <a:ext cx="1887959" cy="352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70D41616-2E77-7DB9-8B15-64AA8952E50F}"/>
              </a:ext>
            </a:extLst>
          </p:cNvPr>
          <p:cNvCxnSpPr>
            <a:cxnSpLocks/>
          </p:cNvCxnSpPr>
          <p:nvPr/>
        </p:nvCxnSpPr>
        <p:spPr>
          <a:xfrm flipH="1">
            <a:off x="636608" y="4216079"/>
            <a:ext cx="2374095" cy="3790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4445D144-B5DC-9443-0540-C10A7F76C6D7}"/>
              </a:ext>
            </a:extLst>
          </p:cNvPr>
          <p:cNvCxnSpPr>
            <a:stCxn id="14" idx="1"/>
          </p:cNvCxnSpPr>
          <p:nvPr/>
        </p:nvCxnSpPr>
        <p:spPr>
          <a:xfrm flipH="1">
            <a:off x="1701478" y="4212651"/>
            <a:ext cx="1309225" cy="680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A8F3DE4C-231B-132C-3A91-C1285DE7E595}"/>
              </a:ext>
            </a:extLst>
          </p:cNvPr>
          <p:cNvSpPr/>
          <p:nvPr/>
        </p:nvSpPr>
        <p:spPr>
          <a:xfrm>
            <a:off x="6678592" y="3659047"/>
            <a:ext cx="1585732" cy="6004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7A2706A-F2DB-06D5-6EC7-4B3981B2F1A9}"/>
              </a:ext>
            </a:extLst>
          </p:cNvPr>
          <p:cNvSpPr txBox="1"/>
          <p:nvPr/>
        </p:nvSpPr>
        <p:spPr>
          <a:xfrm>
            <a:off x="8275897" y="3680749"/>
            <a:ext cx="3940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人工进行</a:t>
            </a:r>
            <a:r>
              <a:rPr kumimoji="1" lang="en-US" altLang="zh-CN" dirty="0">
                <a:solidFill>
                  <a:srgbClr val="FF0000"/>
                </a:solidFill>
              </a:rPr>
              <a:t>Block</a:t>
            </a:r>
            <a:r>
              <a:rPr kumimoji="1" lang="zh-CN" altLang="en-US" dirty="0">
                <a:solidFill>
                  <a:srgbClr val="FF0000"/>
                </a:solidFill>
              </a:rPr>
              <a:t>间任务划分和线程配置</a:t>
            </a:r>
          </a:p>
        </p:txBody>
      </p:sp>
    </p:spTree>
    <p:extLst>
      <p:ext uri="{BB962C8B-B14F-4D97-AF65-F5344CB8AC3E}">
        <p14:creationId xmlns:p14="http://schemas.microsoft.com/office/powerpoint/2010/main" val="1218319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C1681D87-07B2-1D5A-D119-2B340A787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416" y="2407532"/>
            <a:ext cx="3207999" cy="4243168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82C9F6B-C994-9625-6EB0-275A3D463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926927"/>
            <a:ext cx="5994400" cy="1787784"/>
          </a:xfrm>
        </p:spPr>
        <p:txBody>
          <a:bodyPr>
            <a:normAutofit/>
          </a:bodyPr>
          <a:lstStyle/>
          <a:p>
            <a:r>
              <a:rPr kumimoji="1" lang="en-US" altLang="zh-CN" sz="1800" b="1" dirty="0" err="1"/>
              <a:t>Github</a:t>
            </a:r>
            <a:r>
              <a:rPr kumimoji="1" lang="zh-CN" altLang="en-US" sz="1800" dirty="0"/>
              <a:t>：</a:t>
            </a:r>
            <a:r>
              <a:rPr kumimoji="1" lang="en-US" altLang="zh-CN" sz="1800" dirty="0" err="1">
                <a:hlinkClick r:id="rId3"/>
              </a:rPr>
              <a:t>openai</a:t>
            </a:r>
            <a:r>
              <a:rPr kumimoji="1" lang="en-US" altLang="zh-CN" sz="1800" dirty="0">
                <a:hlinkClick r:id="rId3"/>
              </a:rPr>
              <a:t>/triton</a:t>
            </a:r>
            <a:endParaRPr kumimoji="1" lang="en-US" altLang="zh-CN" sz="1800" dirty="0"/>
          </a:p>
          <a:p>
            <a:r>
              <a:rPr kumimoji="1" lang="zh-CN" altLang="en-US" sz="1800" b="1" dirty="0"/>
              <a:t>定位</a:t>
            </a:r>
            <a:r>
              <a:rPr kumimoji="1" lang="zh-CN" altLang="en-US" sz="1800" dirty="0"/>
              <a:t>：一套新型的</a:t>
            </a:r>
            <a:r>
              <a:rPr kumimoji="1" lang="en-US" altLang="zh-CN" sz="1800" dirty="0"/>
              <a:t>GPU</a:t>
            </a:r>
            <a:r>
              <a:rPr kumimoji="1" lang="zh-CN" altLang="en-US" sz="1800" dirty="0"/>
              <a:t>编程</a:t>
            </a:r>
            <a:r>
              <a:rPr kumimoji="1" lang="en-US" altLang="zh-CN" sz="1800" dirty="0"/>
              <a:t>&amp;</a:t>
            </a:r>
            <a:r>
              <a:rPr kumimoji="1" lang="zh-CN" altLang="en-US" sz="1800" dirty="0"/>
              <a:t>编译套件</a:t>
            </a:r>
            <a:endParaRPr kumimoji="1"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1800" b="1" dirty="0"/>
              <a:t>核心</a:t>
            </a:r>
            <a:r>
              <a:rPr kumimoji="1" lang="zh-CN" altLang="en-US" sz="1800" dirty="0"/>
              <a:t>：</a:t>
            </a:r>
            <a:r>
              <a:rPr kumimoji="1" lang="en-US" altLang="zh-CN" sz="1800" b="1" dirty="0">
                <a:solidFill>
                  <a:srgbClr val="0000FF"/>
                </a:solidFill>
              </a:rPr>
              <a:t>Tile</a:t>
            </a:r>
            <a:r>
              <a:rPr kumimoji="1" lang="zh-CN" altLang="en-US" sz="1800" dirty="0"/>
              <a:t>拓展数据结构，比如</a:t>
            </a:r>
            <a:r>
              <a:rPr kumimoji="1"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int</a:t>
            </a:r>
            <a:r>
              <a:rPr kumimoji="1" lang="zh-CN" alt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tile[16,</a:t>
            </a:r>
            <a:r>
              <a:rPr kumimoji="1" lang="zh-CN" altLang="en-US" sz="18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sz="1800" dirty="0">
                <a:solidFill>
                  <a:srgbClr val="0000FF"/>
                </a:solidFill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16]</a:t>
            </a:r>
          </a:p>
          <a:p>
            <a:pPr lvl="1">
              <a:buFont typeface="系统字体常规体"/>
              <a:buChar char="-"/>
            </a:pPr>
            <a:r>
              <a:rPr kumimoji="1" lang="en-US" altLang="zh-CN" sz="16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Tile</a:t>
            </a:r>
            <a:r>
              <a:rPr kumimoji="1" lang="zh-CN" alt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是很多循环优化（</a:t>
            </a:r>
            <a:r>
              <a:rPr kumimoji="1" lang="en-US" altLang="zh-CN" sz="16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Split</a:t>
            </a:r>
            <a:r>
              <a:rPr kumimoji="1" lang="zh-CN" alt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、</a:t>
            </a:r>
            <a:r>
              <a:rPr kumimoji="1" lang="en-US" altLang="zh-CN" sz="16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Unroll</a:t>
            </a:r>
            <a:r>
              <a:rPr kumimoji="1" lang="zh-CN" alt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）的基础</a:t>
            </a:r>
            <a:endParaRPr kumimoji="1" lang="en-US" altLang="zh-CN" sz="1600" dirty="0"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pPr lvl="1">
              <a:buFont typeface="系统字体常规体"/>
              <a:buChar char="-"/>
            </a:pPr>
            <a:r>
              <a:rPr kumimoji="1" lang="zh-CN" altLang="en-US" sz="1600" dirty="0">
                <a:latin typeface="Consolas" panose="020B0609020204030204" pitchFamily="49" charset="0"/>
                <a:ea typeface="Cambria Math" panose="02040503050406030204" pitchFamily="18" charset="0"/>
                <a:cs typeface="Consolas" panose="020B0609020204030204" pitchFamily="49" charset="0"/>
              </a:rPr>
              <a:t>便于充分利用存储层次优化</a:t>
            </a:r>
            <a:endParaRPr kumimoji="1" lang="en-US" altLang="zh-CN" sz="1600" dirty="0">
              <a:latin typeface="Consolas" panose="020B0609020204030204" pitchFamily="49" charset="0"/>
              <a:ea typeface="Cambria Math" panose="02040503050406030204" pitchFamily="18" charset="0"/>
              <a:cs typeface="Consolas" panose="020B060902020403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9A10D0C-BDD3-3C47-BFC6-1A266293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Triton</a:t>
            </a:r>
            <a:r>
              <a:rPr lang="zh-CN" altLang="en-US" dirty="0"/>
              <a:t>系统简介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A2D5341-BD1D-8809-2064-86F942550646}"/>
              </a:ext>
            </a:extLst>
          </p:cNvPr>
          <p:cNvSpPr txBox="1"/>
          <p:nvPr/>
        </p:nvSpPr>
        <p:spPr>
          <a:xfrm>
            <a:off x="81025" y="3391148"/>
            <a:ext cx="1560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基于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LLVM-IR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8" name="曲线连接符 7">
            <a:extLst>
              <a:ext uri="{FF2B5EF4-FFF2-40B4-BE49-F238E27FC236}">
                <a16:creationId xmlns:a16="http://schemas.microsoft.com/office/drawing/2014/main" id="{94985C4E-F171-1BE2-F201-075CA6F6B7E5}"/>
              </a:ext>
            </a:extLst>
          </p:cNvPr>
          <p:cNvCxnSpPr>
            <a:endCxn id="6" idx="3"/>
          </p:cNvCxnSpPr>
          <p:nvPr/>
        </p:nvCxnSpPr>
        <p:spPr>
          <a:xfrm rot="10800000" flipV="1">
            <a:off x="1641067" y="3151204"/>
            <a:ext cx="1738742" cy="424609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E8ADADA-C66E-8264-3B68-8568BE28288A}"/>
              </a:ext>
            </a:extLst>
          </p:cNvPr>
          <p:cNvSpPr txBox="1"/>
          <p:nvPr/>
        </p:nvSpPr>
        <p:spPr>
          <a:xfrm>
            <a:off x="466850" y="6488653"/>
            <a:ext cx="90243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/>
              <a:t>论文：</a:t>
            </a:r>
            <a:r>
              <a:rPr lang="en" altLang="zh-CN" sz="1600" dirty="0">
                <a:hlinkClick r:id="rId4"/>
              </a:rPr>
              <a:t>Triton: An Intermediate Language and Compiler for Tiled Neural Network Computations</a:t>
            </a:r>
            <a:endParaRPr lang="en" altLang="zh-CN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8438C88-5482-44D6-29A8-FEAC3682C8DE}"/>
                  </a:ext>
                </a:extLst>
              </p:cNvPr>
              <p:cNvSpPr txBox="1"/>
              <p:nvPr/>
            </p:nvSpPr>
            <p:spPr>
              <a:xfrm>
                <a:off x="7037408" y="2407532"/>
                <a:ext cx="515459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机器无关</a:t>
                </a:r>
                <a:r>
                  <a:rPr kumimoji="1" lang="en-US" altLang="zh-CN" b="1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Pass</a:t>
                </a:r>
              </a:p>
              <a:p>
                <a:pPr marL="342900" indent="-342900">
                  <a:buFont typeface="+mj-ea"/>
                  <a:buAutoNum type="circleNumDbPlain"/>
                </a:pP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数据预取：自动插入数据预取指令，隐藏计算延迟</a:t>
                </a:r>
                <a:endParaRPr kumimoji="1"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342900" indent="-342900">
                  <a:buFont typeface="+mj-ea"/>
                  <a:buAutoNum type="circleNumDbPlain"/>
                </a:pP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Tile-Level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Peephole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优化：如</a:t>
                </a:r>
                <a14:m>
                  <m:oMath xmlns:m="http://schemas.openxmlformats.org/officeDocument/2006/math"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𝑋</m:t>
                    </m:r>
                    <m:r>
                      <a:rPr kumimoji="1"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(</m:t>
                        </m:r>
                        <m:sSup>
                          <m:sSupPr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</a:rPr>
                              <m:t>𝑇</m:t>
                            </m:r>
                          </m:sup>
                        </m:s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)</m:t>
                        </m:r>
                      </m:e>
                      <m:sup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等数学变换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8438C88-5482-44D6-29A8-FEAC3682C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408" y="2407532"/>
                <a:ext cx="5154592" cy="1477328"/>
              </a:xfrm>
              <a:prstGeom prst="rect">
                <a:avLst/>
              </a:prstGeom>
              <a:blipFill>
                <a:blip r:embed="rId5"/>
                <a:stretch>
                  <a:fillRect l="-980" t="-1709" b="-5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4370F7AF-A3A9-97BA-4721-2CBB0A11E23C}"/>
              </a:ext>
            </a:extLst>
          </p:cNvPr>
          <p:cNvSpPr txBox="1"/>
          <p:nvPr/>
        </p:nvSpPr>
        <p:spPr>
          <a:xfrm>
            <a:off x="7027758" y="4087792"/>
            <a:ext cx="51642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机器相关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Pass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分层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Tiling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：自动应用嵌套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Tiling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策略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访存合并：自动并行，并且按照存储连续性进行线程排序</a:t>
            </a:r>
            <a:endParaRPr kumimoji="1"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Shared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Memory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申请：分析变量的生命周期，决定是否需要暂存到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Shared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Memory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Shared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Memory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同步：通过数据流分析检测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RAW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WAR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34B94B6-EFD5-C8EF-F9EB-A7003AD9C7C9}"/>
              </a:ext>
            </a:extLst>
          </p:cNvPr>
          <p:cNvSpPr txBox="1"/>
          <p:nvPr/>
        </p:nvSpPr>
        <p:spPr>
          <a:xfrm>
            <a:off x="7039334" y="1136249"/>
            <a:ext cx="5152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自动调优：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穷举搜索</a:t>
            </a:r>
            <a:endParaRPr kumimoji="1"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buFont typeface="+mj-ea"/>
              <a:buAutoNum type="circleNumDbPlain"/>
            </a:pP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层嵌套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Tiling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配置：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32/128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8/32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1/4</a:t>
            </a:r>
          </a:p>
          <a:p>
            <a:pPr marL="342900" indent="-342900">
              <a:buFont typeface="+mj-ea"/>
              <a:buAutoNum type="circleNumDbPlain"/>
            </a:pP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自定义参数空间：如线程配置、软流水级数</a:t>
            </a: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AA51CF61-9EC3-858B-5796-CF34508AB3CB}"/>
              </a:ext>
            </a:extLst>
          </p:cNvPr>
          <p:cNvCxnSpPr>
            <a:endCxn id="20" idx="1"/>
          </p:cNvCxnSpPr>
          <p:nvPr/>
        </p:nvCxnSpPr>
        <p:spPr>
          <a:xfrm flipV="1">
            <a:off x="5729468" y="1597914"/>
            <a:ext cx="1309866" cy="27310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2A2C777-AF4F-C06C-C3AF-8340CB6925AC}"/>
              </a:ext>
            </a:extLst>
          </p:cNvPr>
          <p:cNvCxnSpPr>
            <a:endCxn id="11" idx="1"/>
          </p:cNvCxnSpPr>
          <p:nvPr/>
        </p:nvCxnSpPr>
        <p:spPr>
          <a:xfrm flipV="1">
            <a:off x="5717894" y="3146196"/>
            <a:ext cx="1319514" cy="182622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EEA98644-6AD8-5832-583F-2EFD3B19B103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5708244" y="5241954"/>
            <a:ext cx="1319514" cy="3385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9136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9F049BF-3A00-A635-AD26-378BF829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225" y="869051"/>
            <a:ext cx="4917954" cy="548403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kumimoji="1" lang="en-US" altLang="zh-CN" sz="1800" b="1" dirty="0"/>
              <a:t>Triton</a:t>
            </a:r>
            <a:r>
              <a:rPr kumimoji="1" lang="zh-CN" altLang="en-US" sz="1800" b="1" dirty="0"/>
              <a:t>支持的优化</a:t>
            </a:r>
            <a:r>
              <a:rPr kumimoji="1" lang="en-US" altLang="zh-CN" sz="1800" b="1" dirty="0"/>
              <a:t>Pass</a:t>
            </a:r>
          </a:p>
          <a:p>
            <a:pPr lvl="1"/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分析类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Pass</a:t>
            </a: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Align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，地址对齐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Axes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，维度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Layouts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，数据布局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Liveness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，生命周期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Swizzle</a:t>
            </a: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Allocation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，存储申请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kumimoji="1" lang="zh-CN" altLang="en-US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变换类</a:t>
            </a:r>
            <a:r>
              <a:rPr kumimoji="1" lang="en-US" altLang="zh-CN" sz="1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Pass</a:t>
            </a:r>
          </a:p>
          <a:p>
            <a:pPr lvl="2">
              <a:buFont typeface="系统字体常规体"/>
              <a:buChar char="-"/>
            </a:pPr>
            <a:r>
              <a:rPr kumimoji="1"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Inliner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，代码内联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Pipeline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，流水线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Disassociate</a:t>
            </a: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CTS</a:t>
            </a: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DCE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，死代码消除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Peephole</a:t>
            </a:r>
          </a:p>
          <a:p>
            <a:pPr lvl="2">
              <a:buFont typeface="系统字体常规体"/>
              <a:buChar char="-"/>
            </a:pPr>
            <a:r>
              <a:rPr kumimoji="1"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Coalese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，显存合并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Prefetch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，预取</a:t>
            </a:r>
            <a:endParaRPr kumimoji="1"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Font typeface="系统字体常规体"/>
              <a:buChar char="-"/>
            </a:pPr>
            <a:r>
              <a:rPr kumimoji="1" lang="en-US" altLang="zh-CN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Barriar</a:t>
            </a:r>
            <a:r>
              <a:rPr kumimoji="1" lang="zh-CN" altLang="en-US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，同步</a:t>
            </a:r>
            <a:endParaRPr kumimoji="1" lang="en-US" altLang="zh-CN" sz="1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buFont typeface="Wingdings" pitchFamily="2" charset="2"/>
              <a:buChar char="Ø"/>
            </a:pPr>
            <a:r>
              <a:rPr kumimoji="1" lang="zh-CN" altLang="en-US" sz="1800" b="1" dirty="0"/>
              <a:t>不支持的优化</a:t>
            </a:r>
            <a:endParaRPr kumimoji="1" lang="en-US" altLang="zh-CN" b="1" dirty="0"/>
          </a:p>
          <a:p>
            <a:pPr lvl="1"/>
            <a:r>
              <a:rPr kumimoji="1" lang="zh-CN" altLang="en-US" sz="1600" dirty="0"/>
              <a:t>向量化、循环重排等</a:t>
            </a:r>
            <a:endParaRPr kumimoji="1" lang="en-US" altLang="zh-CN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165DCB1-619A-A760-8FDD-7B9365364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Triton</a:t>
            </a:r>
            <a:r>
              <a:rPr kumimoji="1" lang="zh-CN" altLang="en-US" dirty="0"/>
              <a:t> </a:t>
            </a:r>
            <a:r>
              <a:rPr lang="en-US" altLang="zh-CN" dirty="0"/>
              <a:t>Pass</a:t>
            </a:r>
            <a:r>
              <a:rPr lang="zh-CN" altLang="en-US" dirty="0"/>
              <a:t>优化</a:t>
            </a:r>
            <a:endParaRPr kumimoji="1" lang="zh-CN" alt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AECB9A-1D1A-220B-DFB7-8A98632C6F25}"/>
              </a:ext>
            </a:extLst>
          </p:cNvPr>
          <p:cNvGrpSpPr/>
          <p:nvPr/>
        </p:nvGrpSpPr>
        <p:grpSpPr>
          <a:xfrm>
            <a:off x="3275640" y="740703"/>
            <a:ext cx="7556068" cy="5996930"/>
            <a:chOff x="4166893" y="740703"/>
            <a:chExt cx="7556068" cy="5996930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E90CAF0-BD74-C0DE-DA7B-BF12B9BDFE44}"/>
                </a:ext>
              </a:extLst>
            </p:cNvPr>
            <p:cNvGrpSpPr/>
            <p:nvPr/>
          </p:nvGrpSpPr>
          <p:grpSpPr>
            <a:xfrm>
              <a:off x="4166893" y="740703"/>
              <a:ext cx="6278281" cy="5996930"/>
              <a:chOff x="5416954" y="775504"/>
              <a:chExt cx="6278281" cy="5996930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5473E334-5F42-DA31-A8A5-8E58BA315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33491" y="775504"/>
                <a:ext cx="2588271" cy="5996930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E14AF0-DF75-45C3-B99F-81F65569C0F7}"/>
                  </a:ext>
                </a:extLst>
              </p:cNvPr>
              <p:cNvSpPr txBox="1"/>
              <p:nvPr/>
            </p:nvSpPr>
            <p:spPr>
              <a:xfrm>
                <a:off x="5416954" y="3634450"/>
                <a:ext cx="11068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Consolas" panose="020B0609020204030204" pitchFamily="49" charset="0"/>
                  </a:rPr>
                  <a:t>Triton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Consolas" panose="020B0609020204030204" pitchFamily="49" charset="0"/>
                  </a:rPr>
                  <a:t>IR</a:t>
                </a:r>
                <a:endPara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1" name="右箭头 10">
                <a:extLst>
                  <a:ext uri="{FF2B5EF4-FFF2-40B4-BE49-F238E27FC236}">
                    <a16:creationId xmlns:a16="http://schemas.microsoft.com/office/drawing/2014/main" id="{4F62669D-3639-609C-4177-A8C6B2ABBB7E}"/>
                  </a:ext>
                </a:extLst>
              </p:cNvPr>
              <p:cNvSpPr/>
              <p:nvPr/>
            </p:nvSpPr>
            <p:spPr>
              <a:xfrm>
                <a:off x="6643868" y="3669175"/>
                <a:ext cx="381965" cy="27779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1733923-EBD4-C4B8-3C35-C0DEB6AD784D}"/>
                  </a:ext>
                </a:extLst>
              </p:cNvPr>
              <p:cNvSpPr txBox="1"/>
              <p:nvPr/>
            </p:nvSpPr>
            <p:spPr>
              <a:xfrm>
                <a:off x="10619043" y="3577635"/>
                <a:ext cx="10761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Consolas" panose="020B0609020204030204" pitchFamily="49" charset="0"/>
                  </a:rPr>
                  <a:t>LLVM</a:t>
                </a:r>
                <a:r>
                  <a:rPr kumimoji="1"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Consolas" panose="020B0609020204030204" pitchFamily="49" charset="0"/>
                  </a:rPr>
                  <a:t> </a:t>
                </a:r>
                <a:r>
                  <a:rPr kumimoji="1"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Consolas" panose="020B0609020204030204" pitchFamily="49" charset="0"/>
                  </a:rPr>
                  <a:t>IR</a:t>
                </a:r>
                <a:endParaRPr kumimoji="1"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endParaRPr>
              </a:p>
            </p:txBody>
          </p:sp>
          <p:sp>
            <p:nvSpPr>
              <p:cNvPr id="13" name="右箭头 12">
                <a:extLst>
                  <a:ext uri="{FF2B5EF4-FFF2-40B4-BE49-F238E27FC236}">
                    <a16:creationId xmlns:a16="http://schemas.microsoft.com/office/drawing/2014/main" id="{CCBF8FB9-34ED-3C97-BE0D-32D51077ABC1}"/>
                  </a:ext>
                </a:extLst>
              </p:cNvPr>
              <p:cNvSpPr/>
              <p:nvPr/>
            </p:nvSpPr>
            <p:spPr>
              <a:xfrm>
                <a:off x="10029420" y="3633458"/>
                <a:ext cx="381965" cy="277792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BFC79AE-3C5B-42AE-3268-6738540BB53B}"/>
                </a:ext>
              </a:extLst>
            </p:cNvPr>
            <p:cNvSpPr txBox="1"/>
            <p:nvPr/>
          </p:nvSpPr>
          <p:spPr>
            <a:xfrm>
              <a:off x="11115807" y="3552887"/>
              <a:ext cx="6071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Consolas" panose="020B0609020204030204" pitchFamily="49" charset="0"/>
                </a:rPr>
                <a:t>PTX</a:t>
              </a:r>
              <a:endPara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endParaRPr>
            </a:p>
          </p:txBody>
        </p:sp>
        <p:sp>
          <p:nvSpPr>
            <p:cNvPr id="16" name="右箭头 15">
              <a:extLst>
                <a:ext uri="{FF2B5EF4-FFF2-40B4-BE49-F238E27FC236}">
                  <a16:creationId xmlns:a16="http://schemas.microsoft.com/office/drawing/2014/main" id="{C717AD19-D981-027D-C3C5-177BAFA0E285}"/>
                </a:ext>
              </a:extLst>
            </p:cNvPr>
            <p:cNvSpPr/>
            <p:nvPr/>
          </p:nvSpPr>
          <p:spPr>
            <a:xfrm>
              <a:off x="10589508" y="3598657"/>
              <a:ext cx="381965" cy="27779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D3D66E58-6471-0B1A-76FF-42425625FF4B}"/>
              </a:ext>
            </a:extLst>
          </p:cNvPr>
          <p:cNvSpPr txBox="1"/>
          <p:nvPr/>
        </p:nvSpPr>
        <p:spPr>
          <a:xfrm>
            <a:off x="-33435" y="6461696"/>
            <a:ext cx="60998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hlinkClick r:id="rId3"/>
              </a:rPr>
              <a:t>https://github.com/openai/triton/blob/master/lib/codegen/pass.cc</a:t>
            </a:r>
            <a:endParaRPr lang="en-US" altLang="zh-CN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B46DEFA-B2F9-A22E-E698-97C3496E0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5469" y="730153"/>
            <a:ext cx="4294956" cy="18162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D3AB90-FB2B-E4E2-0BB9-886BBFB78030}"/>
              </a:ext>
            </a:extLst>
          </p:cNvPr>
          <p:cNvSpPr txBox="1"/>
          <p:nvPr/>
        </p:nvSpPr>
        <p:spPr>
          <a:xfrm>
            <a:off x="9074554" y="2592731"/>
            <a:ext cx="25410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Triton</a:t>
            </a:r>
            <a:r>
              <a:rPr kumimoji="1" lang="zh-CN" altLang="en-US" sz="1600" dirty="0"/>
              <a:t>编译器优化能力总结</a:t>
            </a:r>
          </a:p>
        </p:txBody>
      </p:sp>
    </p:spTree>
    <p:extLst>
      <p:ext uri="{BB962C8B-B14F-4D97-AF65-F5344CB8AC3E}">
        <p14:creationId xmlns:p14="http://schemas.microsoft.com/office/powerpoint/2010/main" val="367509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470B0-38A1-4DF0-9D7D-590C91FB2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Triton</a:t>
            </a:r>
            <a:r>
              <a:rPr kumimoji="1" lang="zh-CN" altLang="en-US" dirty="0"/>
              <a:t>性能数据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E12623-C8C4-758E-8A79-8B513EC61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926926"/>
            <a:ext cx="5080000" cy="5484034"/>
          </a:xfrm>
        </p:spPr>
        <p:txBody>
          <a:bodyPr/>
          <a:lstStyle/>
          <a:p>
            <a:r>
              <a:rPr kumimoji="1" lang="zh-CN" altLang="en-US" b="1" dirty="0"/>
              <a:t>矩阵乘性能</a:t>
            </a:r>
            <a:endParaRPr kumimoji="1" lang="en-US" altLang="zh-CN" b="1" dirty="0"/>
          </a:p>
          <a:p>
            <a:pPr lvl="1"/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可以达到硬件峰值性能的</a:t>
            </a:r>
            <a:r>
              <a:rPr kumimoji="1"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90%</a:t>
            </a:r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以上，仅次于</a:t>
            </a:r>
            <a:r>
              <a:rPr kumimoji="1"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cuBLAS</a:t>
            </a:r>
            <a:endParaRPr kumimoji="1" lang="zh-CN" altLang="en-US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优于</a:t>
            </a:r>
            <a:r>
              <a:rPr kumimoji="1"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AutoTVM</a:t>
            </a:r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kumimoji="1"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2x</a:t>
            </a:r>
            <a:r>
              <a:rPr kumimoji="1"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以内）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D45CE86-5C08-6F8D-2C01-07B2AA8EE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1" y="2178051"/>
            <a:ext cx="4709610" cy="40098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F072DDA-341E-CA41-E2B6-E8985CCD3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50" y="2429919"/>
            <a:ext cx="5917369" cy="317321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28F56C4-B7EC-E370-2A63-8A22D158D3DD}"/>
              </a:ext>
            </a:extLst>
          </p:cNvPr>
          <p:cNvSpPr txBox="1"/>
          <p:nvPr/>
        </p:nvSpPr>
        <p:spPr>
          <a:xfrm>
            <a:off x="7118430" y="5671588"/>
            <a:ext cx="39885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数据来自：</a:t>
            </a:r>
            <a:r>
              <a:rPr kumimoji="1" lang="en" altLang="zh-CN" sz="1600" dirty="0">
                <a:hlinkClick r:id="rId4"/>
              </a:rPr>
              <a:t>https://openai.com/blog/triton/</a:t>
            </a:r>
            <a:endParaRPr kumimoji="1" lang="en" altLang="zh-CN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38C7AF-9C4D-96D6-124B-199BCDA3B741}"/>
              </a:ext>
            </a:extLst>
          </p:cNvPr>
          <p:cNvSpPr txBox="1"/>
          <p:nvPr/>
        </p:nvSpPr>
        <p:spPr>
          <a:xfrm>
            <a:off x="675198" y="6234008"/>
            <a:ext cx="48343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600" dirty="0"/>
              <a:t>数据来自：</a:t>
            </a:r>
            <a:r>
              <a:rPr lang="en" altLang="zh-CN" sz="1600" dirty="0">
                <a:hlinkClick r:id="rId5"/>
              </a:rPr>
              <a:t>Triton: An Intermediate Language and Compiler for Tiled Neural Network Computations</a:t>
            </a:r>
            <a:endParaRPr lang="en" altLang="zh-CN" sz="1600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30757C2B-FD84-1F72-B101-86F456D1360B}"/>
              </a:ext>
            </a:extLst>
          </p:cNvPr>
          <p:cNvSpPr txBox="1">
            <a:spLocks/>
          </p:cNvSpPr>
          <p:nvPr/>
        </p:nvSpPr>
        <p:spPr>
          <a:xfrm>
            <a:off x="6160953" y="928854"/>
            <a:ext cx="5080000" cy="5484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Helvetica" pitchFamily="2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40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Helvetica" pitchFamily="2" charset="0"/>
              <a:buChar char="⁃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4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Lucida Grande" panose="020B0600040502020204" pitchFamily="34" charset="0"/>
              <a:buChar char="■"/>
              <a:defRPr sz="1600" kern="1200">
                <a:solidFill>
                  <a:schemeClr val="tx1"/>
                </a:solidFill>
                <a:latin typeface="+mn-lt"/>
                <a:ea typeface="Songti SC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b="1" dirty="0" err="1"/>
              <a:t>Softmax</a:t>
            </a:r>
            <a:r>
              <a:rPr kumimoji="1" lang="zh-CN" altLang="en-US" b="1" dirty="0"/>
              <a:t>性能</a:t>
            </a:r>
            <a:endParaRPr kumimoji="1" lang="en-US" altLang="zh-CN" b="1" dirty="0"/>
          </a:p>
          <a:p>
            <a:pPr lvl="1"/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显著优于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PyTorch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ATen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算子和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jit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优化版本（使用</a:t>
            </a:r>
            <a:r>
              <a:rPr kumimoji="1"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pytorch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v1.9</a:t>
            </a:r>
            <a:r>
              <a:rPr kumimoji="1"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09416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TorchInductor</a:t>
            </a:r>
            <a:r>
              <a:rPr lang="en-US" altLang="zh-CN" dirty="0"/>
              <a:t> </a:t>
            </a:r>
            <a:r>
              <a:rPr lang="zh-CN" altLang="en-US" dirty="0"/>
              <a:t>与</a:t>
            </a:r>
            <a:r>
              <a:rPr lang="zh-CN" altLang="en-US" dirty="0" smtClean="0"/>
              <a:t>其他编译器关系及对比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77800" y="669126"/>
            <a:ext cx="11836400" cy="55861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+mj-ea"/>
                <a:ea typeface="+mj-ea"/>
              </a:rPr>
              <a:t>   </a:t>
            </a:r>
            <a:r>
              <a:rPr lang="en-US" altLang="zh-CN" sz="1400" b="1" dirty="0" smtClean="0">
                <a:latin typeface="+mj-ea"/>
                <a:ea typeface="+mj-ea"/>
              </a:rPr>
              <a:t>TVM</a:t>
            </a:r>
            <a:endParaRPr lang="en-US" altLang="zh-CN" sz="14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1.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  <a:r>
              <a:rPr lang="zh-CN" altLang="en-US" sz="1400" dirty="0">
                <a:latin typeface="+mj-ea"/>
                <a:ea typeface="+mj-ea"/>
              </a:rPr>
              <a:t>设计上，</a:t>
            </a:r>
            <a:r>
              <a:rPr lang="zh-CN" altLang="en-US" sz="1400" dirty="0" smtClean="0">
                <a:latin typeface="+mj-ea"/>
                <a:ea typeface="+mj-ea"/>
              </a:rPr>
              <a:t>作者提到开发过程</a:t>
            </a:r>
            <a:r>
              <a:rPr lang="zh-CN" altLang="en-US" sz="1400" dirty="0">
                <a:latin typeface="+mj-ea"/>
                <a:ea typeface="+mj-ea"/>
              </a:rPr>
              <a:t>参考了 </a:t>
            </a:r>
            <a:r>
              <a:rPr lang="en-US" altLang="zh-CN" sz="1400" dirty="0">
                <a:latin typeface="+mj-ea"/>
                <a:ea typeface="+mj-ea"/>
              </a:rPr>
              <a:t>Halide</a:t>
            </a:r>
            <a:r>
              <a:rPr lang="zh-CN" altLang="en-US" sz="1400" dirty="0">
                <a:latin typeface="+mj-ea"/>
                <a:ea typeface="+mj-ea"/>
              </a:rPr>
              <a:t> 和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2. </a:t>
            </a:r>
            <a:r>
              <a:rPr lang="zh-CN" altLang="en-US" sz="1400" dirty="0">
                <a:latin typeface="+mj-ea"/>
                <a:ea typeface="+mj-ea"/>
              </a:rPr>
              <a:t>速度上， 作者认为在他们</a:t>
            </a:r>
            <a:r>
              <a:rPr lang="zh-CN" altLang="en-CN" sz="1400" dirty="0">
                <a:latin typeface="+mj-ea"/>
                <a:ea typeface="+mj-ea"/>
              </a:rPr>
              <a:t>实验里</a:t>
            </a:r>
            <a:r>
              <a:rPr lang="zh-CN" altLang="en-US" sz="1400" dirty="0">
                <a:latin typeface="+mj-ea"/>
                <a:ea typeface="+mj-ea"/>
              </a:rPr>
              <a:t>用 </a:t>
            </a:r>
            <a:r>
              <a:rPr lang="en-US" altLang="zh-CN" sz="1400" dirty="0" err="1">
                <a:latin typeface="+mj-ea"/>
                <a:ea typeface="+mj-ea"/>
              </a:rPr>
              <a:t>TorchInductor</a:t>
            </a:r>
            <a:r>
              <a:rPr lang="zh-CN" altLang="en-US" sz="1400" dirty="0">
                <a:latin typeface="+mj-ea"/>
                <a:ea typeface="+mj-ea"/>
              </a:rPr>
              <a:t> 做后端在大部分模型比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快，但他认为是个不公平比较，因为接入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有更多层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    转换，可能丢失了很多信息，而且他们发现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的性能很大程度取决于自动调优结果。而 </a:t>
            </a:r>
            <a:r>
              <a:rPr lang="en-US" altLang="zh-CN" sz="1400" dirty="0">
                <a:latin typeface="+mj-ea"/>
                <a:ea typeface="+mj-ea"/>
              </a:rPr>
              <a:t>Triton</a:t>
            </a:r>
            <a:r>
              <a:rPr lang="zh-CN" altLang="en-US" sz="1400" dirty="0">
                <a:latin typeface="+mj-ea"/>
                <a:ea typeface="+mj-ea"/>
              </a:rPr>
              <a:t> 需要的自动调优更少。从公开论文看，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    </a:t>
            </a:r>
            <a:r>
              <a:rPr lang="en-US" altLang="zh-CN" sz="1400" dirty="0">
                <a:latin typeface="+mj-ea"/>
                <a:ea typeface="+mj-ea"/>
              </a:rPr>
              <a:t>Triton</a:t>
            </a:r>
            <a:r>
              <a:rPr lang="zh-CN" altLang="en-US" sz="1400" dirty="0">
                <a:latin typeface="+mj-ea"/>
                <a:ea typeface="+mj-ea"/>
              </a:rPr>
              <a:t> 只有 </a:t>
            </a:r>
            <a:r>
              <a:rPr lang="en-US" altLang="zh-CN" sz="1400" dirty="0">
                <a:latin typeface="+mj-ea"/>
                <a:ea typeface="+mj-ea"/>
              </a:rPr>
              <a:t>Hierarchical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Tiling</a:t>
            </a:r>
            <a:r>
              <a:rPr lang="zh-CN" altLang="en-US" sz="1400" dirty="0">
                <a:latin typeface="+mj-ea"/>
                <a:ea typeface="+mj-ea"/>
              </a:rPr>
              <a:t> 使用了自动调优技术，其对 </a:t>
            </a:r>
            <a:r>
              <a:rPr lang="en-US" altLang="zh-CN" sz="1400" dirty="0">
                <a:latin typeface="+mj-ea"/>
                <a:ea typeface="+mj-ea"/>
              </a:rPr>
              <a:t>Tiling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size</a:t>
            </a:r>
            <a:r>
              <a:rPr lang="zh-CN" altLang="en-US" sz="1400" dirty="0">
                <a:latin typeface="+mj-ea"/>
                <a:ea typeface="+mj-ea"/>
              </a:rPr>
              <a:t> 进行</a:t>
            </a:r>
            <a:r>
              <a:rPr lang="zh-CN" altLang="en-CN" sz="1400" dirty="0">
                <a:latin typeface="+mj-ea"/>
                <a:ea typeface="+mj-ea"/>
              </a:rPr>
              <a:t>穷举</a:t>
            </a:r>
            <a:r>
              <a:rPr lang="zh-CN" altLang="en-US" sz="1400" dirty="0">
                <a:latin typeface="+mj-ea"/>
                <a:ea typeface="+mj-ea"/>
              </a:rPr>
              <a:t>搜索。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3.</a:t>
            </a:r>
            <a:r>
              <a:rPr lang="zh-CN" altLang="en-US" sz="1400" dirty="0">
                <a:latin typeface="+mj-ea"/>
                <a:ea typeface="+mj-ea"/>
              </a:rPr>
              <a:t> 后端适用性上，也因为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的自动调优能力，作者认为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在适配多硬件后端时速度会由于自动调优有优势，而 </a:t>
            </a:r>
            <a:r>
              <a:rPr lang="en-US" altLang="zh-CN" sz="1400" dirty="0">
                <a:latin typeface="+mj-ea"/>
                <a:ea typeface="+mj-ea"/>
              </a:rPr>
              <a:t>Triton</a:t>
            </a:r>
            <a:r>
              <a:rPr lang="zh-CN" altLang="en-US" sz="1400" dirty="0">
                <a:latin typeface="+mj-ea"/>
                <a:ea typeface="+mj-ea"/>
              </a:rPr>
              <a:t> 是仅为 </a:t>
            </a:r>
            <a:r>
              <a:rPr lang="en-US" altLang="zh-CN" sz="1400" dirty="0">
                <a:latin typeface="+mj-ea"/>
                <a:ea typeface="+mj-ea"/>
              </a:rPr>
              <a:t>GPU</a:t>
            </a:r>
            <a:r>
              <a:rPr lang="zh-CN" altLang="en-US" sz="1400" dirty="0">
                <a:latin typeface="+mj-ea"/>
                <a:ea typeface="+mj-ea"/>
              </a:rPr>
              <a:t> 服务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zh-CN" altLang="en-US" sz="1400" b="1" dirty="0">
                <a:latin typeface="+mj-ea"/>
                <a:ea typeface="+mj-ea"/>
              </a:rPr>
              <a:t>对比 </a:t>
            </a:r>
            <a:r>
              <a:rPr lang="en-US" altLang="zh-CN" sz="1400" b="1" dirty="0" err="1">
                <a:latin typeface="+mj-ea"/>
                <a:ea typeface="+mj-ea"/>
              </a:rPr>
              <a:t>NvFuser</a:t>
            </a:r>
            <a:endParaRPr lang="en-US" altLang="zh-CN" sz="1400" b="1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1.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  <a:r>
              <a:rPr lang="zh-CN" altLang="en-US" sz="1400" dirty="0">
                <a:latin typeface="+mj-ea"/>
                <a:ea typeface="+mj-ea"/>
              </a:rPr>
              <a:t>设计上，</a:t>
            </a:r>
            <a:r>
              <a:rPr lang="en-US" altLang="zh-CN" sz="1400" dirty="0" err="1">
                <a:latin typeface="+mj-ea"/>
                <a:ea typeface="+mj-ea"/>
              </a:rPr>
              <a:t>NvFuser</a:t>
            </a:r>
            <a:r>
              <a:rPr lang="zh-CN" altLang="en-US" sz="1400" dirty="0">
                <a:latin typeface="+mj-ea"/>
                <a:ea typeface="+mj-ea"/>
              </a:rPr>
              <a:t> 同样公开说在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  <a:r>
              <a:rPr lang="zh-CN" altLang="en-US" sz="1400" dirty="0">
                <a:latin typeface="+mj-ea"/>
                <a:ea typeface="+mj-ea"/>
              </a:rPr>
              <a:t> 有借鉴 </a:t>
            </a:r>
            <a:r>
              <a:rPr lang="en-US" altLang="zh-CN" sz="1400" dirty="0">
                <a:latin typeface="+mj-ea"/>
                <a:ea typeface="+mj-ea"/>
              </a:rPr>
              <a:t>Halide</a:t>
            </a:r>
            <a:r>
              <a:rPr lang="zh-CN" altLang="en-US" sz="1400" dirty="0">
                <a:latin typeface="+mj-ea"/>
                <a:ea typeface="+mj-ea"/>
              </a:rPr>
              <a:t> 和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2.</a:t>
            </a:r>
            <a:r>
              <a:rPr lang="zh-CN" altLang="en-US" sz="1400" dirty="0">
                <a:latin typeface="+mj-ea"/>
                <a:ea typeface="+mj-ea"/>
              </a:rPr>
              <a:t> 速度上，从 </a:t>
            </a:r>
            <a:r>
              <a:rPr lang="en-US" altLang="zh-CN" sz="1400" dirty="0" err="1">
                <a:latin typeface="+mj-ea"/>
                <a:ea typeface="+mj-ea"/>
              </a:rPr>
              <a:t>TorchInductor</a:t>
            </a:r>
            <a:r>
              <a:rPr lang="zh-CN" altLang="en-US" sz="1400" dirty="0">
                <a:latin typeface="+mj-ea"/>
                <a:ea typeface="+mj-ea"/>
              </a:rPr>
              <a:t> 发布来看，</a:t>
            </a:r>
            <a:r>
              <a:rPr lang="en-US" altLang="zh-CN" sz="1400" dirty="0" err="1">
                <a:latin typeface="+mj-ea"/>
                <a:ea typeface="+mj-ea"/>
              </a:rPr>
              <a:t>TrochScript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+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 err="1">
                <a:latin typeface="+mj-ea"/>
                <a:ea typeface="+mj-ea"/>
              </a:rPr>
              <a:t>NvFuser</a:t>
            </a:r>
            <a:r>
              <a:rPr lang="zh-CN" altLang="en-US" sz="1400" dirty="0">
                <a:latin typeface="+mj-ea"/>
                <a:ea typeface="+mj-ea"/>
              </a:rPr>
              <a:t> 提升有限</a:t>
            </a:r>
            <a:r>
              <a:rPr lang="zh-CN" altLang="en-US" sz="1400" dirty="0" smtClean="0">
                <a:latin typeface="+mj-ea"/>
                <a:ea typeface="+mj-ea"/>
              </a:rPr>
              <a:t>，</a:t>
            </a:r>
            <a:r>
              <a:rPr lang="en-US" altLang="zh-CN" sz="1400" dirty="0" smtClean="0">
                <a:latin typeface="+mj-ea"/>
                <a:ea typeface="+mj-ea"/>
              </a:rPr>
              <a:t>AOT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+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en-US" altLang="zh-CN" sz="1400" dirty="0" err="1">
                <a:latin typeface="+mj-ea"/>
                <a:ea typeface="+mj-ea"/>
              </a:rPr>
              <a:t>NvFuser</a:t>
            </a:r>
            <a:r>
              <a:rPr lang="zh-CN" altLang="en-US" sz="1400" dirty="0">
                <a:latin typeface="+mj-ea"/>
                <a:ea typeface="+mj-ea"/>
              </a:rPr>
              <a:t> 也比 </a:t>
            </a:r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慢。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3.</a:t>
            </a:r>
            <a:r>
              <a:rPr lang="zh-CN" altLang="en-US" sz="1400" dirty="0">
                <a:latin typeface="+mj-ea"/>
                <a:ea typeface="+mj-ea"/>
              </a:rPr>
              <a:t> 后端适用性上，</a:t>
            </a:r>
            <a:r>
              <a:rPr lang="en-US" altLang="zh-CN" sz="1400" dirty="0" err="1">
                <a:latin typeface="+mj-ea"/>
                <a:ea typeface="+mj-ea"/>
              </a:rPr>
              <a:t>NvFuser</a:t>
            </a:r>
            <a:r>
              <a:rPr lang="zh-CN" altLang="en-US" sz="1400" dirty="0">
                <a:latin typeface="+mj-ea"/>
                <a:ea typeface="+mj-ea"/>
              </a:rPr>
              <a:t> 是专门针对 </a:t>
            </a:r>
            <a:r>
              <a:rPr lang="en-US" altLang="zh-CN" sz="1400" dirty="0">
                <a:latin typeface="+mj-ea"/>
                <a:ea typeface="+mj-ea"/>
              </a:rPr>
              <a:t>GPU</a:t>
            </a:r>
            <a:r>
              <a:rPr lang="zh-CN" altLang="en-US" sz="1400" dirty="0">
                <a:latin typeface="+mj-ea"/>
                <a:ea typeface="+mj-ea"/>
              </a:rPr>
              <a:t>，所以和 </a:t>
            </a:r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一样对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这方面是劣势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4.</a:t>
            </a:r>
            <a:r>
              <a:rPr lang="zh-CN" altLang="en-US" sz="1400" dirty="0">
                <a:latin typeface="+mj-ea"/>
                <a:ea typeface="+mj-ea"/>
              </a:rPr>
              <a:t> </a:t>
            </a:r>
            <a:r>
              <a:rPr lang="zh-CN" altLang="en-US" sz="1400" dirty="0" smtClean="0">
                <a:latin typeface="+mj-ea"/>
                <a:ea typeface="+mj-ea"/>
              </a:rPr>
              <a:t>定位上两者在</a:t>
            </a:r>
            <a:r>
              <a:rPr lang="zh-CN" altLang="en-US" sz="1400" dirty="0">
                <a:latin typeface="+mj-ea"/>
                <a:ea typeface="+mj-ea"/>
              </a:rPr>
              <a:t>同</a:t>
            </a:r>
            <a:r>
              <a:rPr lang="zh-CN" altLang="en-US" sz="1400" dirty="0" smtClean="0">
                <a:latin typeface="+mj-ea"/>
                <a:ea typeface="+mj-ea"/>
              </a:rPr>
              <a:t>一 </a:t>
            </a:r>
            <a:r>
              <a:rPr lang="en-US" altLang="zh-CN" sz="1400" dirty="0" smtClean="0">
                <a:latin typeface="+mj-ea"/>
                <a:ea typeface="+mj-ea"/>
              </a:rPr>
              <a:t>level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zh-CN" altLang="en-US" sz="1400" dirty="0" smtClean="0">
                <a:latin typeface="+mj-ea"/>
                <a:ea typeface="+mj-ea"/>
              </a:rPr>
              <a:t>，个人认为 </a:t>
            </a:r>
            <a:r>
              <a:rPr lang="en-US" altLang="zh-CN" sz="1400" dirty="0" err="1" smtClean="0">
                <a:latin typeface="+mj-ea"/>
                <a:ea typeface="+mj-ea"/>
              </a:rPr>
              <a:t>PyTorch</a:t>
            </a:r>
            <a:r>
              <a:rPr lang="en-US" altLang="zh-CN" sz="1400" dirty="0" smtClean="0">
                <a:latin typeface="+mj-ea"/>
                <a:ea typeface="+mj-ea"/>
              </a:rPr>
              <a:t> </a:t>
            </a:r>
            <a:r>
              <a:rPr lang="zh-CN" altLang="en-US" sz="1400" dirty="0" smtClean="0">
                <a:latin typeface="+mj-ea"/>
                <a:ea typeface="+mj-ea"/>
              </a:rPr>
              <a:t>的路线目前仍在不清晰阶段，很多项目仍然是各自从不同技术路线、不同团队角度独自发展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zh-CN" altLang="en-US" sz="1400" b="1" dirty="0">
                <a:latin typeface="+mj-ea"/>
                <a:ea typeface="+mj-ea"/>
              </a:rPr>
              <a:t>对比飞桨 </a:t>
            </a:r>
            <a:r>
              <a:rPr lang="en-US" altLang="zh-CN" sz="1400" b="1" dirty="0">
                <a:latin typeface="+mj-ea"/>
                <a:ea typeface="+mj-ea"/>
              </a:rPr>
              <a:t>CINN</a:t>
            </a: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+mj-ea"/>
                <a:ea typeface="+mj-ea"/>
              </a:rPr>
              <a:t>    1.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en-US" altLang="zh-CN" sz="1400" dirty="0">
                <a:latin typeface="+mj-ea"/>
                <a:ea typeface="+mj-ea"/>
              </a:rPr>
              <a:t>IR</a:t>
            </a:r>
            <a:r>
              <a:rPr lang="zh-CN" altLang="en-US" sz="1400" dirty="0">
                <a:latin typeface="+mj-ea"/>
                <a:ea typeface="+mj-ea"/>
              </a:rPr>
              <a:t>、整体流程、结构上，编译器之间有相似性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2</a:t>
            </a:r>
            <a:r>
              <a:rPr lang="en-US" altLang="zh-CN" sz="1400" dirty="0" smtClean="0">
                <a:latin typeface="+mj-ea"/>
                <a:ea typeface="+mj-ea"/>
              </a:rPr>
              <a:t>.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zh-CN" altLang="en-US" sz="1400" dirty="0">
                <a:latin typeface="+mj-ea"/>
                <a:ea typeface="+mj-ea"/>
              </a:rPr>
              <a:t>速度上，</a:t>
            </a:r>
            <a:r>
              <a:rPr lang="en-US" altLang="zh-CN" sz="1400" dirty="0">
                <a:latin typeface="+mj-ea"/>
                <a:ea typeface="+mj-ea"/>
              </a:rPr>
              <a:t>CINN</a:t>
            </a:r>
            <a:r>
              <a:rPr lang="zh-CN" altLang="en-US" sz="1400" dirty="0">
                <a:latin typeface="+mj-ea"/>
                <a:ea typeface="+mj-ea"/>
              </a:rPr>
              <a:t> 多了自动调优能力</a:t>
            </a:r>
            <a:r>
              <a:rPr lang="zh-CN" altLang="en-US" sz="1400" dirty="0" smtClean="0">
                <a:latin typeface="+mj-ea"/>
                <a:ea typeface="+mj-ea"/>
              </a:rPr>
              <a:t>，目前跑</a:t>
            </a:r>
            <a:r>
              <a:rPr lang="zh-CN" altLang="en-US" sz="1400" dirty="0">
                <a:latin typeface="+mj-ea"/>
                <a:ea typeface="+mj-ea"/>
              </a:rPr>
              <a:t>通的算子能和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 速度差不多。未和 </a:t>
            </a:r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比较速度。作者尝试过 </a:t>
            </a:r>
            <a:r>
              <a:rPr lang="en-US" altLang="zh-CN" sz="1400" dirty="0" err="1">
                <a:latin typeface="+mj-ea"/>
                <a:ea typeface="+mj-ea"/>
              </a:rPr>
              <a:t>Pytorch</a:t>
            </a:r>
            <a:r>
              <a:rPr lang="zh-CN" altLang="en-US" sz="1400" dirty="0">
                <a:latin typeface="+mj-ea"/>
                <a:ea typeface="+mj-ea"/>
              </a:rPr>
              <a:t> 使用 </a:t>
            </a:r>
            <a:r>
              <a:rPr lang="en-US" altLang="zh-CN" sz="1400" dirty="0">
                <a:latin typeface="+mj-ea"/>
                <a:ea typeface="+mj-ea"/>
              </a:rPr>
              <a:t>script</a:t>
            </a:r>
            <a:r>
              <a:rPr lang="zh-CN" altLang="en-US" sz="1400" dirty="0">
                <a:latin typeface="+mj-ea"/>
                <a:ea typeface="+mj-ea"/>
              </a:rPr>
              <a:t> 比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    较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，但这不是单独框架比较，作者未必在此比较基础调优很多。感觉和 </a:t>
            </a:r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的速度比较还待我们展开。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+mj-ea"/>
                <a:ea typeface="+mj-ea"/>
              </a:rPr>
              <a:t>    </a:t>
            </a:r>
            <a:r>
              <a:rPr lang="en-US" altLang="zh-CN" sz="1400" dirty="0">
                <a:latin typeface="+mj-ea"/>
                <a:ea typeface="+mj-ea"/>
              </a:rPr>
              <a:t>3</a:t>
            </a:r>
            <a:r>
              <a:rPr lang="en-US" altLang="zh-CN" sz="1400" dirty="0" smtClean="0">
                <a:latin typeface="+mj-ea"/>
                <a:ea typeface="+mj-ea"/>
              </a:rPr>
              <a:t>.</a:t>
            </a:r>
            <a:r>
              <a:rPr lang="zh-CN" altLang="en-US" sz="1400" dirty="0" smtClean="0">
                <a:latin typeface="+mj-ea"/>
                <a:ea typeface="+mj-ea"/>
              </a:rPr>
              <a:t> </a:t>
            </a:r>
            <a:r>
              <a:rPr lang="zh-CN" altLang="en-US" sz="1400" dirty="0">
                <a:latin typeface="+mj-ea"/>
                <a:ea typeface="+mj-ea"/>
              </a:rPr>
              <a:t>后端适用性上</a:t>
            </a:r>
            <a:r>
              <a:rPr lang="zh-CN" altLang="en-US" sz="1400" dirty="0" smtClean="0">
                <a:latin typeface="+mj-ea"/>
                <a:ea typeface="+mj-ea"/>
              </a:rPr>
              <a:t>，</a:t>
            </a:r>
            <a:r>
              <a:rPr lang="en-US" altLang="zh-CN" sz="1400" dirty="0" smtClean="0">
                <a:latin typeface="+mj-ea"/>
                <a:ea typeface="+mj-ea"/>
              </a:rPr>
              <a:t>CINN</a:t>
            </a:r>
            <a:r>
              <a:rPr lang="zh-CN" altLang="en-US" sz="1400" dirty="0" smtClean="0">
                <a:latin typeface="+mj-ea"/>
                <a:ea typeface="+mj-ea"/>
              </a:rPr>
              <a:t>类似 </a:t>
            </a:r>
            <a:r>
              <a:rPr lang="en-US" altLang="zh-CN" sz="1400" dirty="0">
                <a:latin typeface="+mj-ea"/>
                <a:ea typeface="+mj-ea"/>
              </a:rPr>
              <a:t>TVM</a:t>
            </a:r>
            <a:r>
              <a:rPr lang="zh-CN" altLang="en-US" sz="1400" dirty="0">
                <a:latin typeface="+mj-ea"/>
                <a:ea typeface="+mj-ea"/>
              </a:rPr>
              <a:t>，比 </a:t>
            </a:r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好。</a:t>
            </a:r>
            <a:r>
              <a:rPr lang="en-US" altLang="zh-CN" sz="1400" dirty="0">
                <a:latin typeface="+mj-ea"/>
                <a:ea typeface="+mj-ea"/>
              </a:rPr>
              <a:t>Inductor</a:t>
            </a:r>
            <a:r>
              <a:rPr lang="zh-CN" altLang="en-US" sz="1400" dirty="0">
                <a:latin typeface="+mj-ea"/>
                <a:ea typeface="+mj-ea"/>
              </a:rPr>
              <a:t> 接新硬件得开发对应新硬件高速</a:t>
            </a:r>
            <a:r>
              <a:rPr lang="zh-CN" altLang="en-CN" sz="1400" dirty="0">
                <a:latin typeface="+mj-ea"/>
                <a:ea typeface="+mj-ea"/>
              </a:rPr>
              <a:t>计算库</a:t>
            </a:r>
            <a:r>
              <a:rPr lang="zh-CN" altLang="en-US" sz="1400" dirty="0">
                <a:latin typeface="+mj-ea"/>
                <a:ea typeface="+mj-ea"/>
              </a:rPr>
              <a:t>（</a:t>
            </a:r>
            <a:r>
              <a:rPr lang="en-US" altLang="zh-CN" sz="1400" dirty="0">
                <a:latin typeface="+mj-ea"/>
                <a:ea typeface="+mj-ea"/>
              </a:rPr>
              <a:t>Triton</a:t>
            </a:r>
            <a:r>
              <a:rPr lang="zh-CN" altLang="en-US" sz="1400" dirty="0">
                <a:latin typeface="+mj-ea"/>
                <a:ea typeface="+mj-ea"/>
              </a:rPr>
              <a:t>，</a:t>
            </a:r>
            <a:r>
              <a:rPr lang="en-US" altLang="zh-CN" sz="1400" dirty="0">
                <a:latin typeface="+mj-ea"/>
                <a:ea typeface="+mj-ea"/>
              </a:rPr>
              <a:t>OpenMP</a:t>
            </a:r>
            <a:r>
              <a:rPr lang="zh-CN" altLang="en-US" sz="1400" dirty="0">
                <a:latin typeface="+mj-ea"/>
                <a:ea typeface="+mj-ea"/>
              </a:rPr>
              <a:t>这样）</a:t>
            </a:r>
            <a:endParaRPr lang="en-US" altLang="zh-CN" sz="1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+mj-ea"/>
                <a:ea typeface="+mj-ea"/>
              </a:rPr>
              <a:t>    </a:t>
            </a:r>
            <a:r>
              <a:rPr lang="en-US" altLang="zh-CN" sz="1400" dirty="0" smtClean="0">
                <a:latin typeface="+mj-ea"/>
                <a:ea typeface="+mj-ea"/>
              </a:rPr>
              <a:t>4. </a:t>
            </a:r>
            <a:r>
              <a:rPr lang="zh-CN" altLang="en-US" sz="1400" dirty="0">
                <a:latin typeface="+mj-ea"/>
                <a:ea typeface="+mj-ea"/>
              </a:rPr>
              <a:t>完整性上，我们限于人力，还远远不如 </a:t>
            </a:r>
            <a:r>
              <a:rPr lang="en-US" altLang="zh-CN" sz="1400" dirty="0" smtClean="0">
                <a:latin typeface="+mj-ea"/>
                <a:ea typeface="+mj-ea"/>
              </a:rPr>
              <a:t>Inductor</a:t>
            </a:r>
            <a:r>
              <a:rPr lang="zh-CN" altLang="en-US" sz="1400" dirty="0" smtClean="0">
                <a:latin typeface="+mj-ea"/>
                <a:ea typeface="+mj-ea"/>
              </a:rPr>
              <a:t>，</a:t>
            </a:r>
            <a:r>
              <a:rPr lang="en-US" altLang="zh-CN" sz="1400" dirty="0" smtClean="0">
                <a:latin typeface="+mj-ea"/>
                <a:ea typeface="+mj-ea"/>
              </a:rPr>
              <a:t>inductor</a:t>
            </a:r>
            <a:r>
              <a:rPr lang="zh-CN" altLang="en-US" sz="1400" dirty="0" smtClean="0">
                <a:latin typeface="+mj-ea"/>
                <a:ea typeface="+mj-ea"/>
              </a:rPr>
              <a:t>验证模型</a:t>
            </a:r>
            <a:r>
              <a:rPr lang="en-US" altLang="zh-CN" sz="1400" dirty="0" smtClean="0">
                <a:latin typeface="+mj-ea"/>
                <a:ea typeface="+mj-ea"/>
              </a:rPr>
              <a:t>160+</a:t>
            </a:r>
            <a:endParaRPr lang="en-US" altLang="zh-CN" sz="14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389958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飞桨-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12544</TotalTime>
  <Words>1871</Words>
  <Application>Microsoft Office PowerPoint</Application>
  <PresentationFormat>宽屏</PresentationFormat>
  <Paragraphs>238</Paragraphs>
  <Slides>16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1" baseType="lpstr">
      <vt:lpstr>Arial Unicode MS</vt:lpstr>
      <vt:lpstr>ヒラギノ角ゴ Pro W3</vt:lpstr>
      <vt:lpstr>等线</vt:lpstr>
      <vt:lpstr>黑体</vt:lpstr>
      <vt:lpstr>微软雅黑</vt:lpstr>
      <vt:lpstr>微软雅黑</vt:lpstr>
      <vt:lpstr>系统字体常规体</vt:lpstr>
      <vt:lpstr>Arial</vt:lpstr>
      <vt:lpstr>Cambria Math</vt:lpstr>
      <vt:lpstr>Consolas</vt:lpstr>
      <vt:lpstr>Helvetica</vt:lpstr>
      <vt:lpstr>Wingdings</vt:lpstr>
      <vt:lpstr>webwppDefTheme</vt:lpstr>
      <vt:lpstr>飞桨-2</vt:lpstr>
      <vt:lpstr>think-cell Slide</vt:lpstr>
      <vt:lpstr>TorchInductor调研</vt:lpstr>
      <vt:lpstr>TorchInductor定位</vt:lpstr>
      <vt:lpstr>TorchInductor定位</vt:lpstr>
      <vt:lpstr>PowerPoint 演示文稿</vt:lpstr>
      <vt:lpstr>TorchInductor</vt:lpstr>
      <vt:lpstr>Dynamic Shapes —— Powered by SymPy</vt:lpstr>
      <vt:lpstr>Define-By-Run IR &amp; Dynamic Shapes 示例</vt:lpstr>
      <vt:lpstr>TorchInductor关键流程</vt:lpstr>
      <vt:lpstr>TorchInductor Lowering具体示例</vt:lpstr>
      <vt:lpstr>Inductor 的基本IR种类</vt:lpstr>
      <vt:lpstr>Inductor Schedule自动融合策略</vt:lpstr>
      <vt:lpstr>Triton —— 自定义GPU编程语言</vt:lpstr>
      <vt:lpstr>Triton系统简介</vt:lpstr>
      <vt:lpstr>Triton Pass优化</vt:lpstr>
      <vt:lpstr>Triton性能数据</vt:lpstr>
      <vt:lpstr>TorchInductor 与其他编译器关系及对比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通用模型分析</dc:title>
  <dc:creator>Lan,Xiang</dc:creator>
  <cp:lastModifiedBy>Lan,Xiang</cp:lastModifiedBy>
  <cp:revision>369</cp:revision>
  <dcterms:created xsi:type="dcterms:W3CDTF">2021-12-14T04:33:42Z</dcterms:created>
  <dcterms:modified xsi:type="dcterms:W3CDTF">2022-12-06T07:11:11Z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