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62" r:id="rId3"/>
    <p:sldId id="291" r:id="rId4"/>
    <p:sldId id="312" r:id="rId5"/>
    <p:sldId id="264" r:id="rId6"/>
    <p:sldId id="313" r:id="rId7"/>
    <p:sldId id="309" r:id="rId8"/>
    <p:sldId id="310" r:id="rId9"/>
    <p:sldId id="311" r:id="rId10"/>
    <p:sldId id="292" r:id="rId11"/>
    <p:sldId id="263" r:id="rId12"/>
    <p:sldId id="272" r:id="rId13"/>
    <p:sldId id="267" r:id="rId14"/>
    <p:sldId id="273" r:id="rId15"/>
    <p:sldId id="320" r:id="rId16"/>
    <p:sldId id="321" r:id="rId17"/>
    <p:sldId id="268" r:id="rId18"/>
    <p:sldId id="301" r:id="rId19"/>
    <p:sldId id="293" r:id="rId20"/>
    <p:sldId id="294" r:id="rId21"/>
    <p:sldId id="295" r:id="rId22"/>
    <p:sldId id="296" r:id="rId23"/>
    <p:sldId id="297" r:id="rId24"/>
    <p:sldId id="302" r:id="rId25"/>
    <p:sldId id="303" r:id="rId26"/>
    <p:sldId id="304" r:id="rId27"/>
    <p:sldId id="306" r:id="rId28"/>
    <p:sldId id="305" r:id="rId29"/>
    <p:sldId id="314" r:id="rId30"/>
    <p:sldId id="265" r:id="rId31"/>
    <p:sldId id="269" r:id="rId32"/>
    <p:sldId id="271" r:id="rId33"/>
    <p:sldId id="266" r:id="rId34"/>
    <p:sldId id="274" r:id="rId35"/>
    <p:sldId id="275" r:id="rId36"/>
    <p:sldId id="316" r:id="rId37"/>
    <p:sldId id="317" r:id="rId38"/>
    <p:sldId id="277" r:id="rId39"/>
    <p:sldId id="278" r:id="rId40"/>
    <p:sldId id="276" r:id="rId41"/>
    <p:sldId id="279" r:id="rId42"/>
    <p:sldId id="280" r:id="rId43"/>
    <p:sldId id="281" r:id="rId44"/>
    <p:sldId id="282" r:id="rId45"/>
    <p:sldId id="289" r:id="rId46"/>
    <p:sldId id="283" r:id="rId47"/>
    <p:sldId id="284" r:id="rId48"/>
    <p:sldId id="285" r:id="rId49"/>
    <p:sldId id="286" r:id="rId50"/>
    <p:sldId id="287" r:id="rId51"/>
    <p:sldId id="288" r:id="rId52"/>
    <p:sldId id="315" r:id="rId53"/>
    <p:sldId id="318" r:id="rId54"/>
    <p:sldId id="319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673" autoAdjust="0"/>
  </p:normalViewPr>
  <p:slideViewPr>
    <p:cSldViewPr snapToGrid="0">
      <p:cViewPr varScale="1">
        <p:scale>
          <a:sx n="86" d="100"/>
          <a:sy n="86" d="100"/>
        </p:scale>
        <p:origin x="15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357188-8AA6-4AB9-BEB5-E56148F96E6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02B53E8F-1CEB-4D82-AF7D-7F9B100B9F9A}">
      <dgm:prSet phldrT="[Text]" custT="1"/>
      <dgm:spPr/>
      <dgm:t>
        <a:bodyPr/>
        <a:lstStyle/>
        <a:p>
          <a:r>
            <a:rPr lang="zh-CN" altLang="en-US" sz="2800" dirty="0"/>
            <a:t>需求设计</a:t>
          </a:r>
        </a:p>
      </dgm:t>
    </dgm:pt>
    <dgm:pt modelId="{020F9A02-8733-4F7D-A6D1-C072D9072DCD}" type="parTrans" cxnId="{32211964-9864-457B-98E1-BD719EBA0729}">
      <dgm:prSet/>
      <dgm:spPr/>
      <dgm:t>
        <a:bodyPr/>
        <a:lstStyle/>
        <a:p>
          <a:endParaRPr lang="zh-CN" altLang="en-US"/>
        </a:p>
      </dgm:t>
    </dgm:pt>
    <dgm:pt modelId="{EE1C4967-7F74-4866-BA9A-369076B8DBCB}" type="sibTrans" cxnId="{32211964-9864-457B-98E1-BD719EBA0729}">
      <dgm:prSet/>
      <dgm:spPr/>
      <dgm:t>
        <a:bodyPr/>
        <a:lstStyle/>
        <a:p>
          <a:endParaRPr lang="zh-CN" altLang="en-US"/>
        </a:p>
      </dgm:t>
    </dgm:pt>
    <dgm:pt modelId="{08DE7471-9471-4F6C-92AE-9A5BB5B70DCB}">
      <dgm:prSet phldrT="[Text]" custT="1"/>
      <dgm:spPr/>
      <dgm:t>
        <a:bodyPr/>
        <a:lstStyle/>
        <a:p>
          <a:r>
            <a:rPr lang="zh-CN" altLang="en-US" sz="2800" dirty="0"/>
            <a:t>设计</a:t>
          </a:r>
        </a:p>
      </dgm:t>
    </dgm:pt>
    <dgm:pt modelId="{BE35EF7D-D58B-40B3-8996-FE655ADBF96D}" type="parTrans" cxnId="{4A4F3342-8AE8-4893-888A-289873418A62}">
      <dgm:prSet/>
      <dgm:spPr/>
      <dgm:t>
        <a:bodyPr/>
        <a:lstStyle/>
        <a:p>
          <a:endParaRPr lang="zh-CN" altLang="en-US"/>
        </a:p>
      </dgm:t>
    </dgm:pt>
    <dgm:pt modelId="{4E14501A-FDDB-4A17-A21D-651A629A2DE6}" type="sibTrans" cxnId="{4A4F3342-8AE8-4893-888A-289873418A62}">
      <dgm:prSet/>
      <dgm:spPr/>
      <dgm:t>
        <a:bodyPr/>
        <a:lstStyle/>
        <a:p>
          <a:endParaRPr lang="zh-CN" altLang="en-US"/>
        </a:p>
      </dgm:t>
    </dgm:pt>
    <dgm:pt modelId="{CA02AB4F-5852-4A93-9D4E-A81F733DB448}">
      <dgm:prSet phldrT="[Text]" custT="1"/>
      <dgm:spPr/>
      <dgm:t>
        <a:bodyPr/>
        <a:lstStyle/>
        <a:p>
          <a:r>
            <a:rPr lang="zh-CN" altLang="en-US" sz="2800" dirty="0"/>
            <a:t>开发</a:t>
          </a:r>
        </a:p>
      </dgm:t>
    </dgm:pt>
    <dgm:pt modelId="{8868354F-2AAD-46AD-BAB4-B438A06C2146}" type="parTrans" cxnId="{2212653A-CE49-4587-B3D3-999063A94289}">
      <dgm:prSet/>
      <dgm:spPr/>
      <dgm:t>
        <a:bodyPr/>
        <a:lstStyle/>
        <a:p>
          <a:endParaRPr lang="zh-CN" altLang="en-US"/>
        </a:p>
      </dgm:t>
    </dgm:pt>
    <dgm:pt modelId="{BF1918BE-0B7F-4F0C-99C1-8FB392E91490}" type="sibTrans" cxnId="{2212653A-CE49-4587-B3D3-999063A94289}">
      <dgm:prSet/>
      <dgm:spPr/>
      <dgm:t>
        <a:bodyPr/>
        <a:lstStyle/>
        <a:p>
          <a:endParaRPr lang="zh-CN" altLang="en-US"/>
        </a:p>
      </dgm:t>
    </dgm:pt>
    <dgm:pt modelId="{2051B22C-5BDD-4263-B808-94F6AC49AF82}">
      <dgm:prSet phldrT="[Text]" custT="1"/>
      <dgm:spPr/>
      <dgm:t>
        <a:bodyPr/>
        <a:lstStyle/>
        <a:p>
          <a:r>
            <a:rPr lang="zh-CN" altLang="en-US" sz="2800" dirty="0"/>
            <a:t>测试</a:t>
          </a:r>
        </a:p>
      </dgm:t>
    </dgm:pt>
    <dgm:pt modelId="{ED1E7F20-83B2-4825-8EF6-178E829E3552}" type="parTrans" cxnId="{CE4CCE3A-D55C-4C5E-A41A-DAD84B0D5D59}">
      <dgm:prSet/>
      <dgm:spPr/>
      <dgm:t>
        <a:bodyPr/>
        <a:lstStyle/>
        <a:p>
          <a:endParaRPr lang="zh-CN" altLang="en-US"/>
        </a:p>
      </dgm:t>
    </dgm:pt>
    <dgm:pt modelId="{B4ABFC73-6415-47B5-8ACB-8E65FF6224CA}" type="sibTrans" cxnId="{CE4CCE3A-D55C-4C5E-A41A-DAD84B0D5D59}">
      <dgm:prSet/>
      <dgm:spPr/>
      <dgm:t>
        <a:bodyPr/>
        <a:lstStyle/>
        <a:p>
          <a:endParaRPr lang="zh-CN" altLang="en-US"/>
        </a:p>
      </dgm:t>
    </dgm:pt>
    <dgm:pt modelId="{3561A235-4DD8-48D2-AA9F-2B48EC4CA9A4}">
      <dgm:prSet phldrT="[Text]" custT="1"/>
      <dgm:spPr/>
      <dgm:t>
        <a:bodyPr/>
        <a:lstStyle/>
        <a:p>
          <a:r>
            <a:rPr lang="zh-CN" altLang="en-US" sz="2800" dirty="0"/>
            <a:t>发布</a:t>
          </a:r>
        </a:p>
      </dgm:t>
    </dgm:pt>
    <dgm:pt modelId="{0F325FCE-8445-4B6F-8906-E623FCD39E67}" type="parTrans" cxnId="{7DD26ECC-A583-4920-8B2D-EC0C50FD0A20}">
      <dgm:prSet/>
      <dgm:spPr/>
      <dgm:t>
        <a:bodyPr/>
        <a:lstStyle/>
        <a:p>
          <a:endParaRPr lang="zh-CN" altLang="en-US"/>
        </a:p>
      </dgm:t>
    </dgm:pt>
    <dgm:pt modelId="{F26A2504-362D-4FB5-9CA3-F02E753FC129}" type="sibTrans" cxnId="{7DD26ECC-A583-4920-8B2D-EC0C50FD0A20}">
      <dgm:prSet/>
      <dgm:spPr/>
      <dgm:t>
        <a:bodyPr/>
        <a:lstStyle/>
        <a:p>
          <a:endParaRPr lang="zh-CN" altLang="en-US"/>
        </a:p>
      </dgm:t>
    </dgm:pt>
    <dgm:pt modelId="{FB43C32B-D99C-417D-B4E7-3EFEB980EBF6}" type="pres">
      <dgm:prSet presAssocID="{43357188-8AA6-4AB9-BEB5-E56148F96E62}" presName="CompostProcess" presStyleCnt="0">
        <dgm:presLayoutVars>
          <dgm:dir/>
          <dgm:resizeHandles val="exact"/>
        </dgm:presLayoutVars>
      </dgm:prSet>
      <dgm:spPr/>
    </dgm:pt>
    <dgm:pt modelId="{064210AA-21F2-41EF-B85E-3B2A28F3809D}" type="pres">
      <dgm:prSet presAssocID="{43357188-8AA6-4AB9-BEB5-E56148F96E62}" presName="arrow" presStyleLbl="bgShp" presStyleIdx="0" presStyleCnt="1"/>
      <dgm:spPr/>
    </dgm:pt>
    <dgm:pt modelId="{EC0087BD-65C7-42A5-856A-830E6DA1AFA9}" type="pres">
      <dgm:prSet presAssocID="{43357188-8AA6-4AB9-BEB5-E56148F96E62}" presName="linearProcess" presStyleCnt="0"/>
      <dgm:spPr/>
    </dgm:pt>
    <dgm:pt modelId="{F9473021-E485-4D93-94BA-5C5BE3A012D7}" type="pres">
      <dgm:prSet presAssocID="{02B53E8F-1CEB-4D82-AF7D-7F9B100B9F9A}" presName="textNode" presStyleLbl="node1" presStyleIdx="0" presStyleCnt="5">
        <dgm:presLayoutVars>
          <dgm:bulletEnabled val="1"/>
        </dgm:presLayoutVars>
      </dgm:prSet>
      <dgm:spPr/>
    </dgm:pt>
    <dgm:pt modelId="{3B70DDDB-12BC-4AB8-A0D8-873C2AC43C57}" type="pres">
      <dgm:prSet presAssocID="{EE1C4967-7F74-4866-BA9A-369076B8DBCB}" presName="sibTrans" presStyleCnt="0"/>
      <dgm:spPr/>
    </dgm:pt>
    <dgm:pt modelId="{E71EA642-4AAA-4DB9-958A-017034F0C107}" type="pres">
      <dgm:prSet presAssocID="{08DE7471-9471-4F6C-92AE-9A5BB5B70DCB}" presName="textNode" presStyleLbl="node1" presStyleIdx="1" presStyleCnt="5">
        <dgm:presLayoutVars>
          <dgm:bulletEnabled val="1"/>
        </dgm:presLayoutVars>
      </dgm:prSet>
      <dgm:spPr/>
    </dgm:pt>
    <dgm:pt modelId="{AD5B7B07-52E3-4AD9-9934-913A5839E849}" type="pres">
      <dgm:prSet presAssocID="{4E14501A-FDDB-4A17-A21D-651A629A2DE6}" presName="sibTrans" presStyleCnt="0"/>
      <dgm:spPr/>
    </dgm:pt>
    <dgm:pt modelId="{E97EF16C-CCAB-4455-B9FC-9154F0F55059}" type="pres">
      <dgm:prSet presAssocID="{CA02AB4F-5852-4A93-9D4E-A81F733DB448}" presName="textNode" presStyleLbl="node1" presStyleIdx="2" presStyleCnt="5">
        <dgm:presLayoutVars>
          <dgm:bulletEnabled val="1"/>
        </dgm:presLayoutVars>
      </dgm:prSet>
      <dgm:spPr/>
    </dgm:pt>
    <dgm:pt modelId="{9735C632-0A2C-47C1-A6A8-A9CBE1E7D218}" type="pres">
      <dgm:prSet presAssocID="{BF1918BE-0B7F-4F0C-99C1-8FB392E91490}" presName="sibTrans" presStyleCnt="0"/>
      <dgm:spPr/>
    </dgm:pt>
    <dgm:pt modelId="{727465C6-4C0E-413C-B413-BB8A4BA2FC37}" type="pres">
      <dgm:prSet presAssocID="{2051B22C-5BDD-4263-B808-94F6AC49AF82}" presName="textNode" presStyleLbl="node1" presStyleIdx="3" presStyleCnt="5">
        <dgm:presLayoutVars>
          <dgm:bulletEnabled val="1"/>
        </dgm:presLayoutVars>
      </dgm:prSet>
      <dgm:spPr/>
    </dgm:pt>
    <dgm:pt modelId="{DEDB77A8-6782-4B60-847F-DEB3C845534C}" type="pres">
      <dgm:prSet presAssocID="{B4ABFC73-6415-47B5-8ACB-8E65FF6224CA}" presName="sibTrans" presStyleCnt="0"/>
      <dgm:spPr/>
    </dgm:pt>
    <dgm:pt modelId="{329E9822-9B60-405B-A485-CF7ACEF92954}" type="pres">
      <dgm:prSet presAssocID="{3561A235-4DD8-48D2-AA9F-2B48EC4CA9A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A848E702-9A59-4F9D-8D14-2E75D8E653DA}" type="presOf" srcId="{08DE7471-9471-4F6C-92AE-9A5BB5B70DCB}" destId="{E71EA642-4AAA-4DB9-958A-017034F0C107}" srcOrd="0" destOrd="0" presId="urn:microsoft.com/office/officeart/2005/8/layout/hProcess9"/>
    <dgm:cxn modelId="{009AF607-0C5D-4145-9481-D82F9E47CBFB}" type="presOf" srcId="{02B53E8F-1CEB-4D82-AF7D-7F9B100B9F9A}" destId="{F9473021-E485-4D93-94BA-5C5BE3A012D7}" srcOrd="0" destOrd="0" presId="urn:microsoft.com/office/officeart/2005/8/layout/hProcess9"/>
    <dgm:cxn modelId="{2212653A-CE49-4587-B3D3-999063A94289}" srcId="{43357188-8AA6-4AB9-BEB5-E56148F96E62}" destId="{CA02AB4F-5852-4A93-9D4E-A81F733DB448}" srcOrd="2" destOrd="0" parTransId="{8868354F-2AAD-46AD-BAB4-B438A06C2146}" sibTransId="{BF1918BE-0B7F-4F0C-99C1-8FB392E91490}"/>
    <dgm:cxn modelId="{CE4CCE3A-D55C-4C5E-A41A-DAD84B0D5D59}" srcId="{43357188-8AA6-4AB9-BEB5-E56148F96E62}" destId="{2051B22C-5BDD-4263-B808-94F6AC49AF82}" srcOrd="3" destOrd="0" parTransId="{ED1E7F20-83B2-4825-8EF6-178E829E3552}" sibTransId="{B4ABFC73-6415-47B5-8ACB-8E65FF6224CA}"/>
    <dgm:cxn modelId="{231AAC3D-A9BE-4F6D-B3E2-767CC538F627}" type="presOf" srcId="{3561A235-4DD8-48D2-AA9F-2B48EC4CA9A4}" destId="{329E9822-9B60-405B-A485-CF7ACEF92954}" srcOrd="0" destOrd="0" presId="urn:microsoft.com/office/officeart/2005/8/layout/hProcess9"/>
    <dgm:cxn modelId="{4A4F3342-8AE8-4893-888A-289873418A62}" srcId="{43357188-8AA6-4AB9-BEB5-E56148F96E62}" destId="{08DE7471-9471-4F6C-92AE-9A5BB5B70DCB}" srcOrd="1" destOrd="0" parTransId="{BE35EF7D-D58B-40B3-8996-FE655ADBF96D}" sibTransId="{4E14501A-FDDB-4A17-A21D-651A629A2DE6}"/>
    <dgm:cxn modelId="{32211964-9864-457B-98E1-BD719EBA0729}" srcId="{43357188-8AA6-4AB9-BEB5-E56148F96E62}" destId="{02B53E8F-1CEB-4D82-AF7D-7F9B100B9F9A}" srcOrd="0" destOrd="0" parTransId="{020F9A02-8733-4F7D-A6D1-C072D9072DCD}" sibTransId="{EE1C4967-7F74-4866-BA9A-369076B8DBCB}"/>
    <dgm:cxn modelId="{5FEA6095-2AE4-4F9A-AF84-841AAA273865}" type="presOf" srcId="{CA02AB4F-5852-4A93-9D4E-A81F733DB448}" destId="{E97EF16C-CCAB-4455-B9FC-9154F0F55059}" srcOrd="0" destOrd="0" presId="urn:microsoft.com/office/officeart/2005/8/layout/hProcess9"/>
    <dgm:cxn modelId="{816A97C7-6BAB-4F37-9BE2-928A5E15101D}" type="presOf" srcId="{43357188-8AA6-4AB9-BEB5-E56148F96E62}" destId="{FB43C32B-D99C-417D-B4E7-3EFEB980EBF6}" srcOrd="0" destOrd="0" presId="urn:microsoft.com/office/officeart/2005/8/layout/hProcess9"/>
    <dgm:cxn modelId="{7DD26ECC-A583-4920-8B2D-EC0C50FD0A20}" srcId="{43357188-8AA6-4AB9-BEB5-E56148F96E62}" destId="{3561A235-4DD8-48D2-AA9F-2B48EC4CA9A4}" srcOrd="4" destOrd="0" parTransId="{0F325FCE-8445-4B6F-8906-E623FCD39E67}" sibTransId="{F26A2504-362D-4FB5-9CA3-F02E753FC129}"/>
    <dgm:cxn modelId="{407363EF-43C0-4A59-A9E9-D66A84F7898B}" type="presOf" srcId="{2051B22C-5BDD-4263-B808-94F6AC49AF82}" destId="{727465C6-4C0E-413C-B413-BB8A4BA2FC37}" srcOrd="0" destOrd="0" presId="urn:microsoft.com/office/officeart/2005/8/layout/hProcess9"/>
    <dgm:cxn modelId="{E69C7496-F010-46C8-99EF-47419208660E}" type="presParOf" srcId="{FB43C32B-D99C-417D-B4E7-3EFEB980EBF6}" destId="{064210AA-21F2-41EF-B85E-3B2A28F3809D}" srcOrd="0" destOrd="0" presId="urn:microsoft.com/office/officeart/2005/8/layout/hProcess9"/>
    <dgm:cxn modelId="{CC4C8E24-9275-47B1-A8BB-F0A4757FA019}" type="presParOf" srcId="{FB43C32B-D99C-417D-B4E7-3EFEB980EBF6}" destId="{EC0087BD-65C7-42A5-856A-830E6DA1AFA9}" srcOrd="1" destOrd="0" presId="urn:microsoft.com/office/officeart/2005/8/layout/hProcess9"/>
    <dgm:cxn modelId="{97777459-585D-4847-9BCA-BB006C1124B2}" type="presParOf" srcId="{EC0087BD-65C7-42A5-856A-830E6DA1AFA9}" destId="{F9473021-E485-4D93-94BA-5C5BE3A012D7}" srcOrd="0" destOrd="0" presId="urn:microsoft.com/office/officeart/2005/8/layout/hProcess9"/>
    <dgm:cxn modelId="{A2C9A48A-4601-4885-922D-DF906229EDC9}" type="presParOf" srcId="{EC0087BD-65C7-42A5-856A-830E6DA1AFA9}" destId="{3B70DDDB-12BC-4AB8-A0D8-873C2AC43C57}" srcOrd="1" destOrd="0" presId="urn:microsoft.com/office/officeart/2005/8/layout/hProcess9"/>
    <dgm:cxn modelId="{F97E3CE5-4690-4871-B1C8-5864C3424BF5}" type="presParOf" srcId="{EC0087BD-65C7-42A5-856A-830E6DA1AFA9}" destId="{E71EA642-4AAA-4DB9-958A-017034F0C107}" srcOrd="2" destOrd="0" presId="urn:microsoft.com/office/officeart/2005/8/layout/hProcess9"/>
    <dgm:cxn modelId="{22EB9FB3-D1E4-40AE-B31E-01414D6CC9B2}" type="presParOf" srcId="{EC0087BD-65C7-42A5-856A-830E6DA1AFA9}" destId="{AD5B7B07-52E3-4AD9-9934-913A5839E849}" srcOrd="3" destOrd="0" presId="urn:microsoft.com/office/officeart/2005/8/layout/hProcess9"/>
    <dgm:cxn modelId="{7299A573-3F02-486B-8A83-AA26728A99B1}" type="presParOf" srcId="{EC0087BD-65C7-42A5-856A-830E6DA1AFA9}" destId="{E97EF16C-CCAB-4455-B9FC-9154F0F55059}" srcOrd="4" destOrd="0" presId="urn:microsoft.com/office/officeart/2005/8/layout/hProcess9"/>
    <dgm:cxn modelId="{253FE9F4-7982-464F-8382-FBB753A04315}" type="presParOf" srcId="{EC0087BD-65C7-42A5-856A-830E6DA1AFA9}" destId="{9735C632-0A2C-47C1-A6A8-A9CBE1E7D218}" srcOrd="5" destOrd="0" presId="urn:microsoft.com/office/officeart/2005/8/layout/hProcess9"/>
    <dgm:cxn modelId="{8622F923-5DA6-4A23-9A67-1651541B5184}" type="presParOf" srcId="{EC0087BD-65C7-42A5-856A-830E6DA1AFA9}" destId="{727465C6-4C0E-413C-B413-BB8A4BA2FC37}" srcOrd="6" destOrd="0" presId="urn:microsoft.com/office/officeart/2005/8/layout/hProcess9"/>
    <dgm:cxn modelId="{343D265A-E02C-40E1-993E-DECD053AD37E}" type="presParOf" srcId="{EC0087BD-65C7-42A5-856A-830E6DA1AFA9}" destId="{DEDB77A8-6782-4B60-847F-DEB3C845534C}" srcOrd="7" destOrd="0" presId="urn:microsoft.com/office/officeart/2005/8/layout/hProcess9"/>
    <dgm:cxn modelId="{FA159C0F-7ACF-4109-84F4-3B1E0AA7482E}" type="presParOf" srcId="{EC0087BD-65C7-42A5-856A-830E6DA1AFA9}" destId="{329E9822-9B60-405B-A485-CF7ACEF92954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EE8312-EE97-4CC8-B1C3-4ED6DFE92715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2EE7260-131B-444E-B89B-64FFAEE77DC5}">
      <dgm:prSet phldrT="[Text]"/>
      <dgm:spPr/>
      <dgm:t>
        <a:bodyPr/>
        <a:lstStyle/>
        <a:p>
          <a:r>
            <a:rPr lang="zh-CN" altLang="en-US" dirty="0"/>
            <a:t>创建与修改</a:t>
          </a:r>
          <a:r>
            <a:rPr lang="en-US" altLang="zh-CN" dirty="0"/>
            <a:t>CI</a:t>
          </a:r>
          <a:r>
            <a:rPr lang="zh-CN" altLang="en-US" dirty="0"/>
            <a:t>任务</a:t>
          </a:r>
        </a:p>
      </dgm:t>
    </dgm:pt>
    <dgm:pt modelId="{5FB0C67D-7A4A-4C03-95AF-8276013E72A0}" type="parTrans" cxnId="{7BA1D28D-D9E7-466E-8B0A-D9F7634E9268}">
      <dgm:prSet/>
      <dgm:spPr/>
      <dgm:t>
        <a:bodyPr/>
        <a:lstStyle/>
        <a:p>
          <a:endParaRPr lang="zh-CN" altLang="en-US"/>
        </a:p>
      </dgm:t>
    </dgm:pt>
    <dgm:pt modelId="{5F09D4B7-F8DA-4666-9F2E-1A9671FCD202}" type="sibTrans" cxnId="{7BA1D28D-D9E7-466E-8B0A-D9F7634E9268}">
      <dgm:prSet/>
      <dgm:spPr/>
      <dgm:t>
        <a:bodyPr/>
        <a:lstStyle/>
        <a:p>
          <a:endParaRPr lang="zh-CN" altLang="en-US"/>
        </a:p>
      </dgm:t>
    </dgm:pt>
    <dgm:pt modelId="{70EF2DE7-4359-458E-814D-746045DC903D}">
      <dgm:prSet phldrT="[Text]"/>
      <dgm:spPr/>
      <dgm:t>
        <a:bodyPr/>
        <a:lstStyle/>
        <a:p>
          <a:r>
            <a:rPr lang="en-US" altLang="zh-CN" dirty="0"/>
            <a:t> CI</a:t>
          </a:r>
          <a:r>
            <a:rPr lang="zh-CN" altLang="en-US" dirty="0"/>
            <a:t>效率改进</a:t>
          </a:r>
        </a:p>
      </dgm:t>
    </dgm:pt>
    <dgm:pt modelId="{32C90017-C687-4C1B-9593-017863DE151C}" type="parTrans" cxnId="{2052715F-6619-44FA-B3AF-7E0B57A54701}">
      <dgm:prSet/>
      <dgm:spPr/>
      <dgm:t>
        <a:bodyPr/>
        <a:lstStyle/>
        <a:p>
          <a:endParaRPr lang="zh-CN" altLang="en-US"/>
        </a:p>
      </dgm:t>
    </dgm:pt>
    <dgm:pt modelId="{6CA38F60-D93D-49E5-AB97-4E9A3948044B}" type="sibTrans" cxnId="{2052715F-6619-44FA-B3AF-7E0B57A54701}">
      <dgm:prSet/>
      <dgm:spPr/>
      <dgm:t>
        <a:bodyPr/>
        <a:lstStyle/>
        <a:p>
          <a:endParaRPr lang="zh-CN" altLang="en-US"/>
        </a:p>
      </dgm:t>
    </dgm:pt>
    <dgm:pt modelId="{C112106B-3D41-4A01-A242-D5817A3DDC0C}">
      <dgm:prSet phldrT="[Text]"/>
      <dgm:spPr/>
      <dgm:t>
        <a:bodyPr/>
        <a:lstStyle/>
        <a:p>
          <a:r>
            <a:rPr lang="en-US" altLang="zh-CN" dirty="0"/>
            <a:t> CI</a:t>
          </a:r>
          <a:r>
            <a:rPr lang="zh-CN" altLang="en-US" dirty="0"/>
            <a:t>效率展望</a:t>
          </a:r>
        </a:p>
      </dgm:t>
    </dgm:pt>
    <dgm:pt modelId="{5EFCA707-D369-4A85-926F-4BC66AD5F0DE}" type="parTrans" cxnId="{32EF77A4-3041-47F2-9A29-24AF474767AD}">
      <dgm:prSet/>
      <dgm:spPr/>
      <dgm:t>
        <a:bodyPr/>
        <a:lstStyle/>
        <a:p>
          <a:endParaRPr lang="zh-CN" altLang="en-US"/>
        </a:p>
      </dgm:t>
    </dgm:pt>
    <dgm:pt modelId="{5CAF025B-9EEE-4F4D-B759-B4B3D27F0EC7}" type="sibTrans" cxnId="{32EF77A4-3041-47F2-9A29-24AF474767AD}">
      <dgm:prSet/>
      <dgm:spPr/>
      <dgm:t>
        <a:bodyPr/>
        <a:lstStyle/>
        <a:p>
          <a:endParaRPr lang="zh-CN" altLang="en-US"/>
        </a:p>
      </dgm:t>
    </dgm:pt>
    <dgm:pt modelId="{289B2819-C70D-4E81-887A-04EF55F5E202}" type="pres">
      <dgm:prSet presAssocID="{27EE8312-EE97-4CC8-B1C3-4ED6DFE92715}" presName="Name0" presStyleCnt="0">
        <dgm:presLayoutVars>
          <dgm:chMax val="7"/>
          <dgm:chPref val="7"/>
          <dgm:dir/>
        </dgm:presLayoutVars>
      </dgm:prSet>
      <dgm:spPr/>
    </dgm:pt>
    <dgm:pt modelId="{E494AC6B-2AA7-4FC1-989A-4FF609A2C2A2}" type="pres">
      <dgm:prSet presAssocID="{27EE8312-EE97-4CC8-B1C3-4ED6DFE92715}" presName="Name1" presStyleCnt="0"/>
      <dgm:spPr/>
    </dgm:pt>
    <dgm:pt modelId="{F4D470E5-DA83-4D2F-98EB-03BE63AFAA63}" type="pres">
      <dgm:prSet presAssocID="{27EE8312-EE97-4CC8-B1C3-4ED6DFE92715}" presName="cycle" presStyleCnt="0"/>
      <dgm:spPr/>
    </dgm:pt>
    <dgm:pt modelId="{FFBB4D08-F6DD-48BF-9112-7697B038CAD1}" type="pres">
      <dgm:prSet presAssocID="{27EE8312-EE97-4CC8-B1C3-4ED6DFE92715}" presName="srcNode" presStyleLbl="node1" presStyleIdx="0" presStyleCnt="3"/>
      <dgm:spPr/>
    </dgm:pt>
    <dgm:pt modelId="{9C861E1C-2046-42E8-8528-1368D367A655}" type="pres">
      <dgm:prSet presAssocID="{27EE8312-EE97-4CC8-B1C3-4ED6DFE92715}" presName="conn" presStyleLbl="parChTrans1D2" presStyleIdx="0" presStyleCnt="1"/>
      <dgm:spPr/>
    </dgm:pt>
    <dgm:pt modelId="{DCF2B553-3615-49E8-B9D3-AB779C7C8065}" type="pres">
      <dgm:prSet presAssocID="{27EE8312-EE97-4CC8-B1C3-4ED6DFE92715}" presName="extraNode" presStyleLbl="node1" presStyleIdx="0" presStyleCnt="3"/>
      <dgm:spPr/>
    </dgm:pt>
    <dgm:pt modelId="{6E2014EC-D14A-40E1-BC01-45C3CF41E314}" type="pres">
      <dgm:prSet presAssocID="{27EE8312-EE97-4CC8-B1C3-4ED6DFE92715}" presName="dstNode" presStyleLbl="node1" presStyleIdx="0" presStyleCnt="3"/>
      <dgm:spPr/>
    </dgm:pt>
    <dgm:pt modelId="{B806B1DC-BBF0-41D5-9073-A3EA633705A0}" type="pres">
      <dgm:prSet presAssocID="{92EE7260-131B-444E-B89B-64FFAEE77DC5}" presName="text_1" presStyleLbl="node1" presStyleIdx="0" presStyleCnt="3">
        <dgm:presLayoutVars>
          <dgm:bulletEnabled val="1"/>
        </dgm:presLayoutVars>
      </dgm:prSet>
      <dgm:spPr/>
    </dgm:pt>
    <dgm:pt modelId="{14C568A8-2859-480F-83A4-35BE0A1BF9B6}" type="pres">
      <dgm:prSet presAssocID="{92EE7260-131B-444E-B89B-64FFAEE77DC5}" presName="accent_1" presStyleCnt="0"/>
      <dgm:spPr/>
    </dgm:pt>
    <dgm:pt modelId="{C903D957-84DF-492A-AB18-4C85B872E527}" type="pres">
      <dgm:prSet presAssocID="{92EE7260-131B-444E-B89B-64FFAEE77DC5}" presName="accentRepeatNode" presStyleLbl="solidFgAcc1" presStyleIdx="0" presStyleCnt="3"/>
      <dgm:spPr/>
    </dgm:pt>
    <dgm:pt modelId="{84788690-9650-4454-97F4-C624011095E1}" type="pres">
      <dgm:prSet presAssocID="{70EF2DE7-4359-458E-814D-746045DC903D}" presName="text_2" presStyleLbl="node1" presStyleIdx="1" presStyleCnt="3">
        <dgm:presLayoutVars>
          <dgm:bulletEnabled val="1"/>
        </dgm:presLayoutVars>
      </dgm:prSet>
      <dgm:spPr/>
    </dgm:pt>
    <dgm:pt modelId="{04EB9D22-0223-4FBF-889B-0EC62D4B679A}" type="pres">
      <dgm:prSet presAssocID="{70EF2DE7-4359-458E-814D-746045DC903D}" presName="accent_2" presStyleCnt="0"/>
      <dgm:spPr/>
    </dgm:pt>
    <dgm:pt modelId="{EB310762-6242-4B51-A29E-B82F0E50E997}" type="pres">
      <dgm:prSet presAssocID="{70EF2DE7-4359-458E-814D-746045DC903D}" presName="accentRepeatNode" presStyleLbl="solidFgAcc1" presStyleIdx="1" presStyleCnt="3"/>
      <dgm:spPr/>
    </dgm:pt>
    <dgm:pt modelId="{0C51BFF3-A765-4F00-B453-A9461CA084C5}" type="pres">
      <dgm:prSet presAssocID="{C112106B-3D41-4A01-A242-D5817A3DDC0C}" presName="text_3" presStyleLbl="node1" presStyleIdx="2" presStyleCnt="3">
        <dgm:presLayoutVars>
          <dgm:bulletEnabled val="1"/>
        </dgm:presLayoutVars>
      </dgm:prSet>
      <dgm:spPr/>
    </dgm:pt>
    <dgm:pt modelId="{B08D311D-7919-4E85-B4FB-5A551C8FCF89}" type="pres">
      <dgm:prSet presAssocID="{C112106B-3D41-4A01-A242-D5817A3DDC0C}" presName="accent_3" presStyleCnt="0"/>
      <dgm:spPr/>
    </dgm:pt>
    <dgm:pt modelId="{1C66D572-2D2F-4E0D-8DD0-3A766BA7FC6B}" type="pres">
      <dgm:prSet presAssocID="{C112106B-3D41-4A01-A242-D5817A3DDC0C}" presName="accentRepeatNode" presStyleLbl="solidFgAcc1" presStyleIdx="2" presStyleCnt="3"/>
      <dgm:spPr/>
    </dgm:pt>
  </dgm:ptLst>
  <dgm:cxnLst>
    <dgm:cxn modelId="{0AFA6803-5D65-4B1F-AD6E-8EE84BA4830D}" type="presOf" srcId="{70EF2DE7-4359-458E-814D-746045DC903D}" destId="{84788690-9650-4454-97F4-C624011095E1}" srcOrd="0" destOrd="0" presId="urn:microsoft.com/office/officeart/2008/layout/VerticalCurvedList"/>
    <dgm:cxn modelId="{2052715F-6619-44FA-B3AF-7E0B57A54701}" srcId="{27EE8312-EE97-4CC8-B1C3-4ED6DFE92715}" destId="{70EF2DE7-4359-458E-814D-746045DC903D}" srcOrd="1" destOrd="0" parTransId="{32C90017-C687-4C1B-9593-017863DE151C}" sibTransId="{6CA38F60-D93D-49E5-AB97-4E9A3948044B}"/>
    <dgm:cxn modelId="{51150371-AD36-4FF3-84D8-61BEFB670F2A}" type="presOf" srcId="{27EE8312-EE97-4CC8-B1C3-4ED6DFE92715}" destId="{289B2819-C70D-4E81-887A-04EF55F5E202}" srcOrd="0" destOrd="0" presId="urn:microsoft.com/office/officeart/2008/layout/VerticalCurvedList"/>
    <dgm:cxn modelId="{1EF0D353-87F4-4658-ACCA-996B61ABA95F}" type="presOf" srcId="{92EE7260-131B-444E-B89B-64FFAEE77DC5}" destId="{B806B1DC-BBF0-41D5-9073-A3EA633705A0}" srcOrd="0" destOrd="0" presId="urn:microsoft.com/office/officeart/2008/layout/VerticalCurvedList"/>
    <dgm:cxn modelId="{1E0A3058-7C7C-4772-B19E-4B4E30A62C11}" type="presOf" srcId="{5F09D4B7-F8DA-4666-9F2E-1A9671FCD202}" destId="{9C861E1C-2046-42E8-8528-1368D367A655}" srcOrd="0" destOrd="0" presId="urn:microsoft.com/office/officeart/2008/layout/VerticalCurvedList"/>
    <dgm:cxn modelId="{7BA1D28D-D9E7-466E-8B0A-D9F7634E9268}" srcId="{27EE8312-EE97-4CC8-B1C3-4ED6DFE92715}" destId="{92EE7260-131B-444E-B89B-64FFAEE77DC5}" srcOrd="0" destOrd="0" parTransId="{5FB0C67D-7A4A-4C03-95AF-8276013E72A0}" sibTransId="{5F09D4B7-F8DA-4666-9F2E-1A9671FCD202}"/>
    <dgm:cxn modelId="{6DBB5493-32AA-4EC2-9DCB-69676E0C32BE}" type="presOf" srcId="{C112106B-3D41-4A01-A242-D5817A3DDC0C}" destId="{0C51BFF3-A765-4F00-B453-A9461CA084C5}" srcOrd="0" destOrd="0" presId="urn:microsoft.com/office/officeart/2008/layout/VerticalCurvedList"/>
    <dgm:cxn modelId="{32EF77A4-3041-47F2-9A29-24AF474767AD}" srcId="{27EE8312-EE97-4CC8-B1C3-4ED6DFE92715}" destId="{C112106B-3D41-4A01-A242-D5817A3DDC0C}" srcOrd="2" destOrd="0" parTransId="{5EFCA707-D369-4A85-926F-4BC66AD5F0DE}" sibTransId="{5CAF025B-9EEE-4F4D-B759-B4B3D27F0EC7}"/>
    <dgm:cxn modelId="{71C12967-9679-444B-AF7D-C21AF7B2CE1F}" type="presParOf" srcId="{289B2819-C70D-4E81-887A-04EF55F5E202}" destId="{E494AC6B-2AA7-4FC1-989A-4FF609A2C2A2}" srcOrd="0" destOrd="0" presId="urn:microsoft.com/office/officeart/2008/layout/VerticalCurvedList"/>
    <dgm:cxn modelId="{59678EF9-0774-45A8-837B-FB233887D3A7}" type="presParOf" srcId="{E494AC6B-2AA7-4FC1-989A-4FF609A2C2A2}" destId="{F4D470E5-DA83-4D2F-98EB-03BE63AFAA63}" srcOrd="0" destOrd="0" presId="urn:microsoft.com/office/officeart/2008/layout/VerticalCurvedList"/>
    <dgm:cxn modelId="{264B2919-0127-48EB-8690-A8F85F3BECF4}" type="presParOf" srcId="{F4D470E5-DA83-4D2F-98EB-03BE63AFAA63}" destId="{FFBB4D08-F6DD-48BF-9112-7697B038CAD1}" srcOrd="0" destOrd="0" presId="urn:microsoft.com/office/officeart/2008/layout/VerticalCurvedList"/>
    <dgm:cxn modelId="{4E21D875-6C8D-473F-B4E4-5106BEDF2474}" type="presParOf" srcId="{F4D470E5-DA83-4D2F-98EB-03BE63AFAA63}" destId="{9C861E1C-2046-42E8-8528-1368D367A655}" srcOrd="1" destOrd="0" presId="urn:microsoft.com/office/officeart/2008/layout/VerticalCurvedList"/>
    <dgm:cxn modelId="{E0F44CBE-2BB2-4412-8923-CD75B6211CDB}" type="presParOf" srcId="{F4D470E5-DA83-4D2F-98EB-03BE63AFAA63}" destId="{DCF2B553-3615-49E8-B9D3-AB779C7C8065}" srcOrd="2" destOrd="0" presId="urn:microsoft.com/office/officeart/2008/layout/VerticalCurvedList"/>
    <dgm:cxn modelId="{8836D111-BD8A-41A4-9EDA-8C4745B37C17}" type="presParOf" srcId="{F4D470E5-DA83-4D2F-98EB-03BE63AFAA63}" destId="{6E2014EC-D14A-40E1-BC01-45C3CF41E314}" srcOrd="3" destOrd="0" presId="urn:microsoft.com/office/officeart/2008/layout/VerticalCurvedList"/>
    <dgm:cxn modelId="{494583DE-CDFE-4812-91E2-79A1DFB1F75A}" type="presParOf" srcId="{E494AC6B-2AA7-4FC1-989A-4FF609A2C2A2}" destId="{B806B1DC-BBF0-41D5-9073-A3EA633705A0}" srcOrd="1" destOrd="0" presId="urn:microsoft.com/office/officeart/2008/layout/VerticalCurvedList"/>
    <dgm:cxn modelId="{8BC87369-74B0-4D69-8043-A38FC41EB228}" type="presParOf" srcId="{E494AC6B-2AA7-4FC1-989A-4FF609A2C2A2}" destId="{14C568A8-2859-480F-83A4-35BE0A1BF9B6}" srcOrd="2" destOrd="0" presId="urn:microsoft.com/office/officeart/2008/layout/VerticalCurvedList"/>
    <dgm:cxn modelId="{D24D019F-3DC8-433D-BE1D-5CD82D69D2F8}" type="presParOf" srcId="{14C568A8-2859-480F-83A4-35BE0A1BF9B6}" destId="{C903D957-84DF-492A-AB18-4C85B872E527}" srcOrd="0" destOrd="0" presId="urn:microsoft.com/office/officeart/2008/layout/VerticalCurvedList"/>
    <dgm:cxn modelId="{EFD3B20B-6146-4587-AD8A-CCA7170D3613}" type="presParOf" srcId="{E494AC6B-2AA7-4FC1-989A-4FF609A2C2A2}" destId="{84788690-9650-4454-97F4-C624011095E1}" srcOrd="3" destOrd="0" presId="urn:microsoft.com/office/officeart/2008/layout/VerticalCurvedList"/>
    <dgm:cxn modelId="{761C4804-2046-4BF3-BCD1-E337676207E8}" type="presParOf" srcId="{E494AC6B-2AA7-4FC1-989A-4FF609A2C2A2}" destId="{04EB9D22-0223-4FBF-889B-0EC62D4B679A}" srcOrd="4" destOrd="0" presId="urn:microsoft.com/office/officeart/2008/layout/VerticalCurvedList"/>
    <dgm:cxn modelId="{5D9822CF-969C-4A36-AD76-D604F490EE28}" type="presParOf" srcId="{04EB9D22-0223-4FBF-889B-0EC62D4B679A}" destId="{EB310762-6242-4B51-A29E-B82F0E50E997}" srcOrd="0" destOrd="0" presId="urn:microsoft.com/office/officeart/2008/layout/VerticalCurvedList"/>
    <dgm:cxn modelId="{FFCEC1D2-EA45-4C83-AC54-995F122623C8}" type="presParOf" srcId="{E494AC6B-2AA7-4FC1-989A-4FF609A2C2A2}" destId="{0C51BFF3-A765-4F00-B453-A9461CA084C5}" srcOrd="5" destOrd="0" presId="urn:microsoft.com/office/officeart/2008/layout/VerticalCurvedList"/>
    <dgm:cxn modelId="{E0E48967-3CC4-4F19-A5A5-1554378717B1}" type="presParOf" srcId="{E494AC6B-2AA7-4FC1-989A-4FF609A2C2A2}" destId="{B08D311D-7919-4E85-B4FB-5A551C8FCF89}" srcOrd="6" destOrd="0" presId="urn:microsoft.com/office/officeart/2008/layout/VerticalCurvedList"/>
    <dgm:cxn modelId="{AD08CF86-FE06-4952-86A5-B5E4C2EB99C7}" type="presParOf" srcId="{B08D311D-7919-4E85-B4FB-5A551C8FCF89}" destId="{1C66D572-2D2F-4E0D-8DD0-3A766BA7FC6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210AA-21F2-41EF-B85E-3B2A28F3809D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73021-E485-4D93-94BA-5C5BE3A012D7}">
      <dsp:nvSpPr>
        <dsp:cNvPr id="0" name=""/>
        <dsp:cNvSpPr/>
      </dsp:nvSpPr>
      <dsp:spPr>
        <a:xfrm>
          <a:off x="3080" y="1305401"/>
          <a:ext cx="185460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需求设计</a:t>
          </a:r>
        </a:p>
      </dsp:txBody>
      <dsp:txXfrm>
        <a:off x="88046" y="1390367"/>
        <a:ext cx="1684674" cy="1570603"/>
      </dsp:txXfrm>
    </dsp:sp>
    <dsp:sp modelId="{E71EA642-4AAA-4DB9-958A-017034F0C107}">
      <dsp:nvSpPr>
        <dsp:cNvPr id="0" name=""/>
        <dsp:cNvSpPr/>
      </dsp:nvSpPr>
      <dsp:spPr>
        <a:xfrm>
          <a:off x="2166788" y="1305401"/>
          <a:ext cx="185460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设计</a:t>
          </a:r>
        </a:p>
      </dsp:txBody>
      <dsp:txXfrm>
        <a:off x="2251754" y="1390367"/>
        <a:ext cx="1684674" cy="1570603"/>
      </dsp:txXfrm>
    </dsp:sp>
    <dsp:sp modelId="{E97EF16C-CCAB-4455-B9FC-9154F0F55059}">
      <dsp:nvSpPr>
        <dsp:cNvPr id="0" name=""/>
        <dsp:cNvSpPr/>
      </dsp:nvSpPr>
      <dsp:spPr>
        <a:xfrm>
          <a:off x="4330496" y="1305401"/>
          <a:ext cx="185460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开发</a:t>
          </a:r>
        </a:p>
      </dsp:txBody>
      <dsp:txXfrm>
        <a:off x="4415462" y="1390367"/>
        <a:ext cx="1684674" cy="1570603"/>
      </dsp:txXfrm>
    </dsp:sp>
    <dsp:sp modelId="{727465C6-4C0E-413C-B413-BB8A4BA2FC37}">
      <dsp:nvSpPr>
        <dsp:cNvPr id="0" name=""/>
        <dsp:cNvSpPr/>
      </dsp:nvSpPr>
      <dsp:spPr>
        <a:xfrm>
          <a:off x="6494204" y="1305401"/>
          <a:ext cx="185460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测试</a:t>
          </a:r>
        </a:p>
      </dsp:txBody>
      <dsp:txXfrm>
        <a:off x="6579170" y="1390367"/>
        <a:ext cx="1684674" cy="1570603"/>
      </dsp:txXfrm>
    </dsp:sp>
    <dsp:sp modelId="{329E9822-9B60-405B-A485-CF7ACEF92954}">
      <dsp:nvSpPr>
        <dsp:cNvPr id="0" name=""/>
        <dsp:cNvSpPr/>
      </dsp:nvSpPr>
      <dsp:spPr>
        <a:xfrm>
          <a:off x="8657912" y="1305401"/>
          <a:ext cx="185460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发布</a:t>
          </a:r>
        </a:p>
      </dsp:txBody>
      <dsp:txXfrm>
        <a:off x="8742878" y="1390367"/>
        <a:ext cx="1684674" cy="157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61E1C-2046-42E8-8528-1368D367A655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6B1DC-BBF0-41D5-9073-A3EA633705A0}">
      <dsp:nvSpPr>
        <dsp:cNvPr id="0" name=""/>
        <dsp:cNvSpPr/>
      </dsp:nvSpPr>
      <dsp:spPr>
        <a:xfrm>
          <a:off x="604289" y="435133"/>
          <a:ext cx="9851585" cy="8702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0775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/>
            <a:t>创建与修改</a:t>
          </a:r>
          <a:r>
            <a:rPr lang="en-US" altLang="zh-CN" sz="4100" kern="1200" dirty="0"/>
            <a:t>CI</a:t>
          </a:r>
          <a:r>
            <a:rPr lang="zh-CN" altLang="en-US" sz="4100" kern="1200" dirty="0"/>
            <a:t>任务</a:t>
          </a:r>
        </a:p>
      </dsp:txBody>
      <dsp:txXfrm>
        <a:off x="604289" y="435133"/>
        <a:ext cx="9851585" cy="870267"/>
      </dsp:txXfrm>
    </dsp:sp>
    <dsp:sp modelId="{C903D957-84DF-492A-AB18-4C85B872E527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4788690-9650-4454-97F4-C624011095E1}">
      <dsp:nvSpPr>
        <dsp:cNvPr id="0" name=""/>
        <dsp:cNvSpPr/>
      </dsp:nvSpPr>
      <dsp:spPr>
        <a:xfrm>
          <a:off x="920631" y="1740535"/>
          <a:ext cx="9535243" cy="8702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0775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kern="1200" dirty="0"/>
            <a:t> CI</a:t>
          </a:r>
          <a:r>
            <a:rPr lang="zh-CN" altLang="en-US" sz="4100" kern="1200" dirty="0"/>
            <a:t>效率改进</a:t>
          </a:r>
        </a:p>
      </dsp:txBody>
      <dsp:txXfrm>
        <a:off x="920631" y="1740535"/>
        <a:ext cx="9535243" cy="870267"/>
      </dsp:txXfrm>
    </dsp:sp>
    <dsp:sp modelId="{EB310762-6242-4B51-A29E-B82F0E50E997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C51BFF3-A765-4F00-B453-A9461CA084C5}">
      <dsp:nvSpPr>
        <dsp:cNvPr id="0" name=""/>
        <dsp:cNvSpPr/>
      </dsp:nvSpPr>
      <dsp:spPr>
        <a:xfrm>
          <a:off x="604289" y="3045936"/>
          <a:ext cx="9851585" cy="8702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0775" tIns="104140" rIns="104140" bIns="10414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kern="1200" dirty="0"/>
            <a:t> CI</a:t>
          </a:r>
          <a:r>
            <a:rPr lang="zh-CN" altLang="en-US" sz="4100" kern="1200" dirty="0"/>
            <a:t>效率展望</a:t>
          </a:r>
        </a:p>
      </dsp:txBody>
      <dsp:txXfrm>
        <a:off x="604289" y="3045936"/>
        <a:ext cx="9851585" cy="870267"/>
      </dsp:txXfrm>
    </dsp:sp>
    <dsp:sp modelId="{1C66D572-2D2F-4E0D-8DD0-3A766BA7FC6B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EFE9C-A20E-4AB0-8FC7-A2752DFAE9D5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43D70-AB18-468D-A943-68EC05B5E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28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测试驱动和反馈驱动的短周期，持续改进</a:t>
            </a:r>
            <a:endParaRPr lang="en-US" altLang="zh-CN" dirty="0"/>
          </a:p>
          <a:p>
            <a:r>
              <a:rPr lang="zh-CN" altLang="en-US" dirty="0"/>
              <a:t>其中，  </a:t>
            </a:r>
            <a:r>
              <a:rPr lang="en-US" altLang="zh-CN" dirty="0"/>
              <a:t>short cycle</a:t>
            </a:r>
            <a:r>
              <a:rPr lang="zh-CN" altLang="en-US" dirty="0"/>
              <a:t>是核心。整个软件开发活动应该被划分成一系列短的迭代过程，每个迭代完成一定数目的功能。迭代周期应该尽量短。</a:t>
            </a:r>
          </a:p>
          <a:p>
            <a:r>
              <a:rPr lang="zh-CN" altLang="en-US" dirty="0"/>
              <a:t>如何实现</a:t>
            </a:r>
            <a:r>
              <a:rPr lang="en-US" altLang="zh-CN" dirty="0"/>
              <a:t>short cycle</a:t>
            </a:r>
            <a:r>
              <a:rPr lang="zh-CN" altLang="en-US" dirty="0"/>
              <a:t>，就不得不用到持续集成（持续集成出现的时间早于敏捷编程）。一方面，良好的持续集成（集成时间频率可以根据项目需要自主决定）完全可以自动化地实现</a:t>
            </a:r>
            <a:r>
              <a:rPr lang="en-US" altLang="zh-CN" dirty="0"/>
              <a:t>short cycle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另一方面，利用相关插件，持续集成可以实现对</a:t>
            </a:r>
            <a:r>
              <a:rPr lang="en-US" altLang="zh-CN" dirty="0"/>
              <a:t>TDD</a:t>
            </a:r>
            <a:r>
              <a:rPr lang="zh-CN" altLang="en-US" dirty="0"/>
              <a:t>的支持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72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在各类版本控制的开源软件中，最著名的</a:t>
            </a:r>
            <a:r>
              <a:rPr lang="en-US" altLang="zh-CN" dirty="0"/>
              <a:t>CVS</a:t>
            </a:r>
            <a:r>
              <a:rPr lang="zh-CN" altLang="en-US" dirty="0"/>
              <a:t>、</a:t>
            </a:r>
            <a:r>
              <a:rPr lang="en-US" altLang="zh-CN" dirty="0"/>
              <a:t>SVN</a:t>
            </a:r>
            <a:r>
              <a:rPr lang="zh-CN" altLang="en-US" dirty="0"/>
              <a:t>（</a:t>
            </a:r>
            <a:r>
              <a:rPr lang="en-US" altLang="zh-CN" dirty="0"/>
              <a:t>Subversion</a:t>
            </a:r>
            <a:r>
              <a:rPr lang="zh-CN" altLang="en-US" dirty="0"/>
              <a:t>）、</a:t>
            </a:r>
            <a:r>
              <a:rPr lang="en-US" altLang="zh-CN" dirty="0"/>
              <a:t>GIT</a:t>
            </a:r>
          </a:p>
          <a:p>
            <a:r>
              <a:rPr lang="zh-CN" altLang="en-US" dirty="0"/>
              <a:t>这三个工具各有千秋。其中，</a:t>
            </a:r>
            <a:r>
              <a:rPr lang="en-US" altLang="zh-CN" dirty="0"/>
              <a:t>GIT</a:t>
            </a:r>
            <a:r>
              <a:rPr lang="zh-CN" altLang="en-US" dirty="0"/>
              <a:t>支持离线工作，更适合开源软件或者开发人员不能集中办公情况下的版本管理工作。同时，</a:t>
            </a:r>
            <a:r>
              <a:rPr lang="en-US" altLang="zh-CN" dirty="0"/>
              <a:t>SVN</a:t>
            </a:r>
            <a:r>
              <a:rPr lang="zh-CN" altLang="en-US" dirty="0"/>
              <a:t>和</a:t>
            </a:r>
            <a:r>
              <a:rPr lang="en-US" altLang="zh-CN" dirty="0"/>
              <a:t>GIT</a:t>
            </a:r>
            <a:r>
              <a:rPr lang="zh-CN" altLang="en-US" dirty="0"/>
              <a:t>可以配合使用。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35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构建工具是持续集成的核心，它对源代码进行自动化编译、测试、代码检查，以及打包程序、部署（发布）到应用服务器上。从配置管理工具上下载最新源代码后，所有的后续工作几乎都可以通过构建工具完成。</a:t>
            </a:r>
          </a:p>
          <a:p>
            <a:r>
              <a:rPr lang="zh-CN" altLang="en-US" dirty="0"/>
              <a:t>    </a:t>
            </a:r>
            <a:endParaRPr lang="en-US" altLang="zh-CN" dirty="0"/>
          </a:p>
          <a:p>
            <a:r>
              <a:rPr lang="en-US" altLang="zh-CN" dirty="0"/>
              <a:t>CI</a:t>
            </a:r>
            <a:r>
              <a:rPr lang="zh-CN" altLang="en-US" dirty="0"/>
              <a:t>服务器的主要作用就是提供一个平台，用于整合版本控制和构建工作，并管理、控制自动化的持续集成。</a:t>
            </a:r>
          </a:p>
          <a:p>
            <a:r>
              <a:rPr lang="zh-CN" altLang="en-US" dirty="0"/>
              <a:t>    开源软件中，比较有名的</a:t>
            </a:r>
            <a:r>
              <a:rPr lang="en-US" altLang="zh-CN" dirty="0"/>
              <a:t>CI</a:t>
            </a:r>
            <a:r>
              <a:rPr lang="zh-CN" altLang="en-US" dirty="0"/>
              <a:t>服务器包括</a:t>
            </a:r>
            <a:r>
              <a:rPr lang="en-US" altLang="zh-CN" dirty="0"/>
              <a:t>Jenkins</a:t>
            </a:r>
            <a:r>
              <a:rPr lang="zh-CN" altLang="en-US" dirty="0"/>
              <a:t>、</a:t>
            </a:r>
            <a:r>
              <a:rPr lang="en-US" altLang="zh-CN" dirty="0" err="1"/>
              <a:t>CruiseControl</a:t>
            </a:r>
            <a:r>
              <a:rPr lang="zh-CN" altLang="en-US" dirty="0"/>
              <a:t>、</a:t>
            </a:r>
            <a:r>
              <a:rPr lang="en-US" altLang="zh-CN" dirty="0"/>
              <a:t>Continuum</a:t>
            </a:r>
            <a:r>
              <a:rPr lang="zh-CN" altLang="en-US" dirty="0"/>
              <a:t>。而比较有名的商业化</a:t>
            </a:r>
            <a:r>
              <a:rPr lang="en-US" altLang="zh-CN" dirty="0"/>
              <a:t>CI</a:t>
            </a:r>
            <a:r>
              <a:rPr lang="zh-CN" altLang="en-US" dirty="0"/>
              <a:t>服务器是</a:t>
            </a:r>
            <a:r>
              <a:rPr lang="en-US" altLang="zh-CN" dirty="0"/>
              <a:t>TeamCity</a:t>
            </a:r>
            <a:r>
              <a:rPr lang="zh-CN" altLang="en-US" dirty="0"/>
              <a:t>、</a:t>
            </a:r>
            <a:r>
              <a:rPr lang="en-US" altLang="zh-CN" dirty="0"/>
              <a:t>Bamboo</a:t>
            </a:r>
            <a:r>
              <a:rPr lang="zh-CN" altLang="en-US" dirty="0"/>
              <a:t>、</a:t>
            </a:r>
            <a:r>
              <a:rPr lang="en-US" altLang="zh-CN" dirty="0"/>
              <a:t>Pulse</a:t>
            </a:r>
            <a:r>
              <a:rPr lang="zh-CN" altLang="en-US" dirty="0"/>
              <a:t>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40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05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44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03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45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776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284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9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287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505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测试和采集结果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en-US" altLang="zh-CN" dirty="0"/>
              <a:t>Automate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你的核心业务是软件开发，而不是软件建设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客户不关心你如何构建你的软件，他们只对拥有最好的软件应用程序感兴趣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所以你应该：现代构建系统应该能够构建软件，打包软件，测试它并告诉它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28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73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311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平台检查和外部依赖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123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3D70-AB18-468D-A943-68EC05B5E67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71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4943-5329-4F7B-A1A0-40EEAC023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2A7D1-9CAB-44C6-BF12-0A815A43F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98DD-7FDD-4B4A-B841-0D00128C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5452E-EF5D-4A3A-9D53-6D410A10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838FD-FBC1-4602-82CF-A1C57761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40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B6B1-0A9F-43B5-AD8A-5249A70E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3138B-E0B5-4E31-A46A-22DE2F60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C96A-7D4C-4A95-A3A1-C6FC9B78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F970D-1258-414E-AAEA-2FC813B4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D365-0230-4633-8974-24CFFB22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3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DC38-3602-4F63-A7AE-43969F52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C057E-46B5-4EAA-8325-1FDD86F5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9F6F-0CBF-45F6-A718-B680FC768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2CDD-ABEF-4F65-8B0B-6752ED86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28818-CAC3-4015-983C-03ED668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58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6977-5CDE-4B8C-8FD0-8751EA78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1AFB0-8E53-43DE-B80D-596B9CDE4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3D73F-8215-49C7-B495-FCF09B1AF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024D8-D7E4-4391-8671-DB5648DF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43E49-E3BA-4C0C-B7F0-447330CC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B917A-381F-4B18-9E14-913A1D55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48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1A03-942E-4082-A5F9-F1A01068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F322F-21AA-4FD2-A380-7597C517D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28E15-795B-4347-A625-942A09F7B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76498-7E74-4B8D-9538-D93AC6B42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3F3E3-57EE-472D-8EB5-1FFD4A342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14A45-5AAA-4B8C-BE51-80561D8C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71C45-B955-4459-91B8-2193C01B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0B5FB-83B1-4391-85E6-A1093514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04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0B83-13A9-429B-8C4D-39B5D5A9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6BE56-CA0E-4978-8C13-DD972BD7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E692C-AD14-485F-87DC-9C02FF30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77AEA-AB79-4B19-9E53-C5A4B860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29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24EC0-6774-4B61-9C1C-E6FA2588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CCFC4-C3EF-4AB9-ADCD-F2A24198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EA970-BB72-481D-BB81-9D5FFAF4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10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BAFA-25AB-48FF-AAB1-820357F0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349E-2AFF-4BAA-BA88-DD3CB4CFD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B07C-C34E-4805-9DA0-A62ADA1CF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149B8-5A32-4682-9CDD-405B1543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34017-A3D6-4042-8347-F07B7529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DD541-E8F3-4B89-BD23-A997C682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4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3FDB-9F70-4156-A96F-43867F57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65522-81DD-4718-A9FA-840F24E44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C3E79-54C9-44FE-A485-94EA53823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C4FA3-C58C-4FE8-8C53-D5CFA085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00C4-4026-4DB5-9A18-6462139F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A435F-B07E-4A0B-B46D-139DE4A5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1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D1F9-AEA0-447C-B0E4-8F06D4CE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99FE1-A816-423D-80A7-651963A39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8B4AE-C52C-406C-9763-4A6B28C7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8D69-B6C1-4EA2-9548-3D95AA6A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9C39-B7D3-4E78-8830-C75F3E8A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62B13-B7F3-4BF2-8966-A5A811B43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B98EB-B0AC-4D22-9FCF-19066F33A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D823-D109-4437-96DE-ADCDDC44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DA3F-6790-4A88-80C7-39B59A91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95E8-D59B-4A03-B489-22CAC765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51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0868F1-EE1D-4B9D-8AE4-84F0CE47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A34E5-155A-4A04-88FE-5250821A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C520-F526-4562-AA79-7144E6761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14A08-314B-48EF-92B7-ECB34F081AF9}" type="datetimeFigureOut">
              <a:rPr lang="zh-CN" altLang="en-US" smtClean="0"/>
              <a:t>2019/8/23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BC20-AD4C-47B3-A69E-99AB1DE07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C4FA9-D445-4305-9EBA-F4106D2CE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733AC-A1A6-477A-A3CC-F4C59BF97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7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i.paddlepaddle.org/viewType.html?buildTypeId=YYTest_PrCiCpuPy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i.paddlepaddle.org/viewType.html?buildTypeId=Paddle_PrCiNightCuda9cudnn7Py3develop" TargetMode="External"/><Relationship Id="rId4" Type="http://schemas.openxmlformats.org/officeDocument/2006/relationships/hyperlink" Target="http://ci.paddlepaddle.org/viewType.html?buildTypeId=Paddle_PrC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paddlepaddle.org/documentation/docs/zh/1.4/advanced_usage/development/contribute_to_paddle/local_dev_guide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iki.baidu.com/pages/viewpage.action?pageId=779490958" TargetMode="Externa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87D4-8449-4FB9-8E76-632E57763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新人串讲 </a:t>
            </a:r>
            <a:r>
              <a:rPr lang="en-US" altLang="zh-CN" dirty="0"/>
              <a:t>CI</a:t>
            </a:r>
            <a:r>
              <a:rPr lang="zh-CN" altLang="en-US" dirty="0"/>
              <a:t>和</a:t>
            </a:r>
            <a:r>
              <a:rPr lang="en-US" altLang="zh-CN" dirty="0"/>
              <a:t>CMAKE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4C632-EDB4-4D13-8D84-859035E40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司灵通</a:t>
            </a:r>
          </a:p>
        </p:txBody>
      </p:sp>
    </p:spTree>
    <p:extLst>
      <p:ext uri="{BB962C8B-B14F-4D97-AF65-F5344CB8AC3E}">
        <p14:creationId xmlns:p14="http://schemas.microsoft.com/office/powerpoint/2010/main" val="51621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4A11-FE85-4D48-83EC-F7D8ED0C6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PADDLE</a:t>
            </a:r>
            <a:r>
              <a:rPr lang="zh-CN" altLang="en-US" b="1" dirty="0"/>
              <a:t>开发流程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AA0B3A-3927-4173-B9E3-9C92FA850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4971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DDD703-4EF1-41CF-B847-7535ECCC37F0}"/>
              </a:ext>
            </a:extLst>
          </p:cNvPr>
          <p:cNvSpPr txBox="1"/>
          <p:nvPr/>
        </p:nvSpPr>
        <p:spPr>
          <a:xfrm>
            <a:off x="1127464" y="4834572"/>
            <a:ext cx="11095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Icafe</a:t>
            </a:r>
            <a:r>
              <a:rPr lang="zh-CN" altLang="en-US" dirty="0"/>
              <a:t>卡片</a:t>
            </a:r>
            <a:endParaRPr lang="en-US" altLang="zh-CN" dirty="0"/>
          </a:p>
          <a:p>
            <a:r>
              <a:rPr lang="en-US" altLang="zh-CN" dirty="0"/>
              <a:t>Issue</a:t>
            </a:r>
          </a:p>
          <a:p>
            <a:r>
              <a:rPr lang="zh-CN" altLang="en-US" dirty="0"/>
              <a:t>外部需求</a:t>
            </a:r>
            <a:endParaRPr lang="en-US" altLang="zh-CN" dirty="0"/>
          </a:p>
          <a:p>
            <a:r>
              <a:rPr lang="zh-CN" altLang="en-US" dirty="0"/>
              <a:t>内部优化</a:t>
            </a:r>
            <a:endParaRPr lang="en-US" altLang="zh-CN" dirty="0"/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2A98E-55B3-4364-9B89-AC5EFC002398}"/>
              </a:ext>
            </a:extLst>
          </p:cNvPr>
          <p:cNvSpPr txBox="1"/>
          <p:nvPr/>
        </p:nvSpPr>
        <p:spPr>
          <a:xfrm>
            <a:off x="3335133" y="4873434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设计文档</a:t>
            </a:r>
            <a:endParaRPr lang="en-US" altLang="zh-CN" dirty="0"/>
          </a:p>
          <a:p>
            <a:r>
              <a:rPr lang="zh-CN" altLang="en-US" dirty="0"/>
              <a:t>设计评审</a:t>
            </a:r>
            <a:endParaRPr lang="en-US" altLang="zh-CN" dirty="0"/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190FF-FD4C-4A75-A3AD-7F4F7F9B5165}"/>
              </a:ext>
            </a:extLst>
          </p:cNvPr>
          <p:cNvSpPr txBox="1"/>
          <p:nvPr/>
        </p:nvSpPr>
        <p:spPr>
          <a:xfrm>
            <a:off x="5541200" y="4834572"/>
            <a:ext cx="11945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编码规范</a:t>
            </a:r>
            <a:endParaRPr lang="en-US" altLang="zh-CN" dirty="0"/>
          </a:p>
          <a:p>
            <a:r>
              <a:rPr lang="zh-CN" altLang="en-US" dirty="0"/>
              <a:t>代码提交</a:t>
            </a:r>
            <a:endParaRPr lang="en-US" altLang="zh-CN" dirty="0"/>
          </a:p>
          <a:p>
            <a:r>
              <a:rPr lang="zh-CN" altLang="en-US" dirty="0"/>
              <a:t>代码复查</a:t>
            </a:r>
            <a:endParaRPr lang="en-US" altLang="zh-CN" dirty="0"/>
          </a:p>
          <a:p>
            <a:r>
              <a:rPr lang="zh-CN" altLang="en-US" dirty="0"/>
              <a:t>单测</a:t>
            </a:r>
            <a:r>
              <a:rPr lang="en-US" altLang="zh-CN" dirty="0"/>
              <a:t>/</a:t>
            </a:r>
            <a:r>
              <a:rPr lang="zh-CN" altLang="en-US" dirty="0"/>
              <a:t>自测</a:t>
            </a:r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CI</a:t>
            </a:r>
            <a:r>
              <a:rPr lang="zh-CN" altLang="en-US" dirty="0">
                <a:highlight>
                  <a:srgbClr val="FFFF00"/>
                </a:highlight>
              </a:rPr>
              <a:t>任务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60DEA-0B20-49F1-959B-9E13BAB52356}"/>
              </a:ext>
            </a:extLst>
          </p:cNvPr>
          <p:cNvSpPr txBox="1"/>
          <p:nvPr/>
        </p:nvSpPr>
        <p:spPr>
          <a:xfrm>
            <a:off x="7741391" y="4834572"/>
            <a:ext cx="12907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功能测试</a:t>
            </a:r>
            <a:endParaRPr lang="en-US" altLang="zh-CN" dirty="0"/>
          </a:p>
          <a:p>
            <a:r>
              <a:rPr lang="zh-CN" altLang="en-US" dirty="0"/>
              <a:t>性能测试</a:t>
            </a:r>
            <a:endParaRPr lang="en-US" altLang="zh-CN" dirty="0"/>
          </a:p>
          <a:p>
            <a:r>
              <a:rPr lang="en-US" altLang="zh-CN" dirty="0"/>
              <a:t>CE</a:t>
            </a:r>
          </a:p>
          <a:p>
            <a:r>
              <a:rPr lang="en-US" altLang="zh-CN" dirty="0"/>
              <a:t>benchmark</a:t>
            </a:r>
          </a:p>
          <a:p>
            <a:r>
              <a:rPr lang="zh-CN" altLang="en-US" dirty="0"/>
              <a:t>发布测试</a:t>
            </a:r>
            <a:endParaRPr lang="en-US" altLang="zh-CN" dirty="0"/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AD765-5E8C-48DF-A725-27A80A665F16}"/>
              </a:ext>
            </a:extLst>
          </p:cNvPr>
          <p:cNvSpPr txBox="1"/>
          <p:nvPr/>
        </p:nvSpPr>
        <p:spPr>
          <a:xfrm>
            <a:off x="9954937" y="4834572"/>
            <a:ext cx="14494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切换分支</a:t>
            </a:r>
            <a:endParaRPr lang="en-US" altLang="zh-CN" dirty="0"/>
          </a:p>
          <a:p>
            <a:r>
              <a:rPr lang="zh-CN" altLang="en-US" dirty="0"/>
              <a:t>标记</a:t>
            </a:r>
            <a:r>
              <a:rPr lang="en-US" altLang="zh-CN" dirty="0"/>
              <a:t>LOG</a:t>
            </a:r>
          </a:p>
          <a:p>
            <a:r>
              <a:rPr lang="en-US" altLang="zh-CN" dirty="0"/>
              <a:t>Release note</a:t>
            </a:r>
          </a:p>
          <a:p>
            <a:r>
              <a:rPr lang="zh-CN" altLang="en-US" dirty="0"/>
              <a:t>编包上传</a:t>
            </a:r>
            <a:endParaRPr lang="en-US" altLang="zh-CN" dirty="0"/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32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5590-FF33-49DF-9069-69E80CAD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CI</a:t>
            </a:r>
            <a:endParaRPr lang="zh-CN" alt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353D2B-8C3F-4D7A-9A31-E87ABC6F2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618" y="1029809"/>
            <a:ext cx="4781554" cy="575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4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FB51-0412-4027-BEC7-D5EBFEC0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背景介绍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4EF6D-A143-42FD-9DB2-72A8B21BC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34" y="870044"/>
            <a:ext cx="4669057" cy="5622831"/>
          </a:xfrm>
        </p:spPr>
      </p:pic>
    </p:spTree>
    <p:extLst>
      <p:ext uri="{BB962C8B-B14F-4D97-AF65-F5344CB8AC3E}">
        <p14:creationId xmlns:p14="http://schemas.microsoft.com/office/powerpoint/2010/main" val="182486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599C-BE8A-413D-AB07-14E33F3D7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为什么需要</a:t>
            </a:r>
            <a:r>
              <a:rPr lang="en-US" altLang="zh-CN" dirty="0"/>
              <a:t>CI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敏捷开发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Cycles that are test-driven and feedback-driven, yielding constant improvement.</a:t>
            </a:r>
          </a:p>
          <a:p>
            <a:r>
              <a:rPr lang="zh-CN" altLang="en-US" dirty="0"/>
              <a:t>什么是</a:t>
            </a:r>
            <a:r>
              <a:rPr lang="en-US" altLang="zh-CN" dirty="0"/>
              <a:t>CI</a:t>
            </a:r>
          </a:p>
          <a:p>
            <a:pPr marL="457200" lvl="1" indent="0">
              <a:buNone/>
            </a:pPr>
            <a:r>
              <a:rPr lang="zh-CN" altLang="en-US" dirty="0"/>
              <a:t>       频繁地（一天多次）将代码集成到主干。让产品可以快速迭代，同时还能保持高质量。而且代码集成到主之前，必须通过自动化测试。只要有一个测试用例失败，就不能集成。</a:t>
            </a:r>
            <a:endParaRPr lang="en-US" altLang="zh-CN" dirty="0"/>
          </a:p>
          <a:p>
            <a:r>
              <a:rPr lang="en-US" altLang="zh-CN" dirty="0"/>
              <a:t>CI</a:t>
            </a:r>
            <a:r>
              <a:rPr lang="zh-CN" altLang="en-US" dirty="0"/>
              <a:t>的好处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提高开发效率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快速定位</a:t>
            </a:r>
            <a:r>
              <a:rPr lang="en-US" altLang="zh-CN" dirty="0"/>
              <a:t>BUG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更快速的发布更新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持续集成并不能消除</a:t>
            </a:r>
            <a:r>
              <a:rPr lang="en-US" altLang="zh-CN" dirty="0">
                <a:solidFill>
                  <a:srgbClr val="FF0000"/>
                </a:solidFill>
              </a:rPr>
              <a:t>Bug</a:t>
            </a:r>
            <a:r>
              <a:rPr lang="zh-CN" altLang="en-US" dirty="0">
                <a:solidFill>
                  <a:srgbClr val="FF0000"/>
                </a:solidFill>
              </a:rPr>
              <a:t>，而是让它们非常容易发现和改正</a:t>
            </a:r>
          </a:p>
        </p:txBody>
      </p:sp>
    </p:spTree>
    <p:extLst>
      <p:ext uri="{BB962C8B-B14F-4D97-AF65-F5344CB8AC3E}">
        <p14:creationId xmlns:p14="http://schemas.microsoft.com/office/powerpoint/2010/main" val="296863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A6A6-E94C-4702-8F9E-A048AE4E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</a:t>
            </a:r>
            <a:r>
              <a:rPr lang="zh-CN" altLang="en-US" dirty="0"/>
              <a:t>过程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F8D79-96B2-47A5-B2F3-CA8ED9894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066" y="1027906"/>
            <a:ext cx="4620568" cy="5564437"/>
          </a:xfrm>
        </p:spPr>
      </p:pic>
    </p:spTree>
    <p:extLst>
      <p:ext uri="{BB962C8B-B14F-4D97-AF65-F5344CB8AC3E}">
        <p14:creationId xmlns:p14="http://schemas.microsoft.com/office/powerpoint/2010/main" val="144795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C368-D2AE-4062-BA3A-B73E7BE2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持续集成准备阶段的工作主要包括：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通过版本控制</a:t>
            </a:r>
            <a:r>
              <a:rPr lang="en-US" altLang="zh-CN" dirty="0"/>
              <a:t>/</a:t>
            </a:r>
            <a:r>
              <a:rPr lang="zh-CN" altLang="en-US" dirty="0"/>
              <a:t>配置管理工具（比如</a:t>
            </a:r>
            <a:r>
              <a:rPr lang="en-US" altLang="zh-CN" dirty="0"/>
              <a:t>SVN</a:t>
            </a:r>
            <a:r>
              <a:rPr lang="zh-CN" altLang="en-US" dirty="0"/>
              <a:t>或</a:t>
            </a:r>
            <a:r>
              <a:rPr lang="en-US" altLang="zh-CN" dirty="0"/>
              <a:t>GIT</a:t>
            </a:r>
            <a:r>
              <a:rPr lang="zh-CN" altLang="en-US" dirty="0"/>
              <a:t>）建立源代码仓库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使用构建工具，建立相关配置文件（比如</a:t>
            </a:r>
            <a:r>
              <a:rPr lang="en-US" altLang="zh-CN" dirty="0"/>
              <a:t>maven</a:t>
            </a:r>
            <a:r>
              <a:rPr lang="zh-CN" altLang="en-US" dirty="0"/>
              <a:t>的</a:t>
            </a:r>
            <a:r>
              <a:rPr lang="en-US" altLang="zh-CN" dirty="0"/>
              <a:t>POM</a:t>
            </a:r>
            <a:r>
              <a:rPr lang="zh-CN" altLang="en-US" dirty="0"/>
              <a:t>文件）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通过</a:t>
            </a:r>
            <a:r>
              <a:rPr lang="en-US" altLang="zh-CN" dirty="0"/>
              <a:t>CI</a:t>
            </a:r>
            <a:r>
              <a:rPr lang="zh-CN" altLang="en-US" dirty="0"/>
              <a:t>服务器（比如</a:t>
            </a:r>
            <a:r>
              <a:rPr lang="en-US" altLang="zh-CN" dirty="0" err="1"/>
              <a:t>jenkins</a:t>
            </a:r>
            <a:r>
              <a:rPr lang="zh-CN" altLang="en-US" dirty="0"/>
              <a:t>）建立一个</a:t>
            </a:r>
            <a:r>
              <a:rPr lang="en-US" altLang="zh-CN" dirty="0"/>
              <a:t>job</a:t>
            </a:r>
            <a:r>
              <a:rPr lang="zh-CN" altLang="en-US" dirty="0"/>
              <a:t>，将版本控制仓库和构建工具有机整合起来，并设置构建触发条件</a:t>
            </a:r>
            <a:endParaRPr lang="en-US" altLang="zh-CN" dirty="0"/>
          </a:p>
          <a:p>
            <a:r>
              <a:rPr lang="en-US" altLang="zh-CN" dirty="0"/>
              <a:t>CI</a:t>
            </a:r>
            <a:r>
              <a:rPr lang="zh-CN" altLang="en-US" dirty="0"/>
              <a:t>工具选择：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版本控制（</a:t>
            </a:r>
            <a:r>
              <a:rPr lang="en-US" altLang="zh-CN" dirty="0"/>
              <a:t>SCM</a:t>
            </a:r>
            <a:r>
              <a:rPr lang="zh-CN" altLang="en-US" dirty="0"/>
              <a:t>）工具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889E9-03FB-48B0-95DB-BFC84DF72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33" y="4279468"/>
            <a:ext cx="92487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74AD-3CAD-489C-8B76-07E0B670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640"/>
            <a:ext cx="10515600" cy="435133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构建工具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CI</a:t>
            </a:r>
            <a:r>
              <a:rPr lang="zh-CN" altLang="en-US" dirty="0"/>
              <a:t>服务器（</a:t>
            </a:r>
            <a:r>
              <a:rPr lang="en-US" altLang="zh-CN" dirty="0" err="1"/>
              <a:t>Teamcity</a:t>
            </a:r>
            <a:r>
              <a:rPr lang="zh-CN" altLang="en-US" dirty="0"/>
              <a:t>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B8081-77D6-44B0-AF5A-52380D0BB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137" y="1454022"/>
            <a:ext cx="9258300" cy="185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95722A-6612-4280-ABE6-874F0B451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137" y="3877692"/>
            <a:ext cx="92392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3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F0E1-391B-4291-BC0F-979FFF93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58620"/>
          </a:xfrm>
        </p:spPr>
        <p:txBody>
          <a:bodyPr>
            <a:normAutofit/>
          </a:bodyPr>
          <a:lstStyle/>
          <a:p>
            <a:r>
              <a:rPr lang="en-US" altLang="zh-CN" dirty="0"/>
              <a:t>CI</a:t>
            </a:r>
            <a:r>
              <a:rPr lang="zh-CN" altLang="en-US" dirty="0"/>
              <a:t>的主要步骤 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程序员从源代码仓库下载最新程序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程序员编写代码、测试用例，并提交更新结果给版本控制仓库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zh-CN" dirty="0"/>
              <a:t>CI</a:t>
            </a:r>
            <a:r>
              <a:rPr lang="zh-CN" altLang="en-US" dirty="0"/>
              <a:t>服务器根据触发条件，从版本控制仓库提取最新代码，交给构建工具的工作空间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构建工具对代码进行编译、测试，并进行打包。如有必要，实现产品部署、发布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通过构建工具与版本控制工具的配合，实现产品版本控制与管理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建立、管理项目开发的工作网站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324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4C8A-4647-4FD6-AA3C-2681134F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CI</a:t>
            </a:r>
            <a:r>
              <a:rPr lang="zh-CN" altLang="en-US" b="1" dirty="0"/>
              <a:t>任务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84CDB35-E509-4A6D-BD88-217EB6AB6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050" y="2414725"/>
            <a:ext cx="5480135" cy="3973529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8A3BDF-7AD3-4880-9405-3FCBF8C19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4" y="1477624"/>
            <a:ext cx="4290805" cy="5167312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27545D-67BF-412A-AA01-CF11DFD26564}"/>
              </a:ext>
            </a:extLst>
          </p:cNvPr>
          <p:cNvSpPr/>
          <p:nvPr/>
        </p:nvSpPr>
        <p:spPr>
          <a:xfrm>
            <a:off x="4814769" y="4401489"/>
            <a:ext cx="846281" cy="23265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98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E6059-C269-4E26-97D7-911DC8211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Paddle</a:t>
            </a:r>
            <a:r>
              <a:rPr lang="zh-CN" altLang="en-US" dirty="0"/>
              <a:t>团队使用</a:t>
            </a:r>
            <a:r>
              <a:rPr lang="en-US" altLang="zh-CN" dirty="0"/>
              <a:t>CI</a:t>
            </a:r>
            <a:r>
              <a:rPr lang="zh-CN" altLang="en-US" dirty="0"/>
              <a:t>进行如下任务：</a:t>
            </a:r>
            <a:endParaRPr lang="en-US" altLang="zh-CN" dirty="0"/>
          </a:p>
          <a:p>
            <a:r>
              <a:rPr lang="en-US" altLang="zh-CN" dirty="0"/>
              <a:t>PR</a:t>
            </a:r>
            <a:r>
              <a:rPr lang="zh-CN" altLang="en-US" dirty="0"/>
              <a:t>提交时的检查：确保代码质量</a:t>
            </a:r>
            <a:r>
              <a:rPr lang="en-US" altLang="zh-CN" dirty="0"/>
              <a:t>/</a:t>
            </a:r>
            <a:r>
              <a:rPr lang="zh-CN" altLang="en-US" dirty="0"/>
              <a:t>规范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编译，单测，打包检查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格式，</a:t>
            </a:r>
            <a:r>
              <a:rPr lang="en-US" altLang="zh-CN" dirty="0" err="1"/>
              <a:t>api</a:t>
            </a:r>
            <a:r>
              <a:rPr lang="en-US" altLang="zh-CN" dirty="0"/>
              <a:t> spec</a:t>
            </a:r>
            <a:r>
              <a:rPr lang="zh-CN" altLang="en-US" dirty="0"/>
              <a:t>检查，规范检查</a:t>
            </a:r>
            <a:endParaRPr lang="en-US" altLang="zh-CN" dirty="0"/>
          </a:p>
          <a:p>
            <a:r>
              <a:rPr lang="zh-CN" altLang="en-US" dirty="0"/>
              <a:t>定期打包：确保打包质量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night build,</a:t>
            </a:r>
            <a:r>
              <a:rPr lang="zh-CN" altLang="en-US" dirty="0"/>
              <a:t>产出及对应任务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版本打包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编译镜像</a:t>
            </a:r>
            <a:endParaRPr lang="en-US" altLang="zh-CN" dirty="0"/>
          </a:p>
          <a:p>
            <a:r>
              <a:rPr lang="en-US" altLang="zh-CN" dirty="0"/>
              <a:t>night build</a:t>
            </a:r>
            <a:r>
              <a:rPr lang="zh-CN" altLang="en-US" dirty="0"/>
              <a:t>（测试）</a:t>
            </a:r>
            <a:r>
              <a:rPr lang="en-US" altLang="zh-CN" dirty="0"/>
              <a:t> </a:t>
            </a:r>
            <a:r>
              <a:rPr lang="zh-CN" altLang="en-US" dirty="0"/>
              <a:t>：确保项目质量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35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BAD71-A20F-48D0-85AC-09E72CA9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982" y="1136342"/>
            <a:ext cx="2286740" cy="554346"/>
          </a:xfrm>
        </p:spPr>
        <p:txBody>
          <a:bodyPr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b="1" dirty="0" err="1"/>
              <a:t>Cla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介绍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19527-E9E3-480A-9EDD-361A2509D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982" y="1853529"/>
            <a:ext cx="8239125" cy="281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EC3F82-DCA6-4287-B8F4-B88D9F608A3B}"/>
              </a:ext>
            </a:extLst>
          </p:cNvPr>
          <p:cNvSpPr txBox="1"/>
          <p:nvPr/>
        </p:nvSpPr>
        <p:spPr>
          <a:xfrm>
            <a:off x="1225119" y="4835770"/>
            <a:ext cx="10650673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建议在</a:t>
            </a:r>
            <a:r>
              <a:rPr lang="en-US" altLang="zh-CN" dirty="0"/>
              <a:t>git</a:t>
            </a:r>
            <a:r>
              <a:rPr lang="zh-CN" altLang="en-US" dirty="0"/>
              <a:t>中设置：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en-US" altLang="zh-CN" dirty="0"/>
              <a:t>git config –local </a:t>
            </a:r>
            <a:r>
              <a:rPr lang="en-US" altLang="zh-CN" dirty="0" err="1"/>
              <a:t>user.email</a:t>
            </a:r>
            <a:r>
              <a:rPr lang="en-US" altLang="zh-CN" dirty="0"/>
              <a:t> “</a:t>
            </a:r>
            <a:r>
              <a:rPr lang="zh-CN" altLang="en-US" dirty="0"/>
              <a:t>你的邮箱” 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en-US" altLang="zh-CN" dirty="0"/>
              <a:t>git config –local user.name “</a:t>
            </a:r>
            <a:r>
              <a:rPr lang="zh-CN" altLang="en-US" dirty="0"/>
              <a:t>你的名字” 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sz="1400" dirty="0"/>
              <a:t>注：在第一次提交代码时候需要签署。只能用签署的</a:t>
            </a:r>
            <a:r>
              <a:rPr lang="en-US" altLang="zh-CN" sz="1400" dirty="0" err="1"/>
              <a:t>github</a:t>
            </a:r>
            <a:r>
              <a:rPr lang="zh-CN" altLang="en-US" sz="1400" dirty="0"/>
              <a:t>用户提交，不能用其他用户提交，否则就会出现上述情况导致不通过。 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而且设置的邮箱和名字应该与你</a:t>
            </a:r>
            <a:r>
              <a:rPr lang="en-US" altLang="zh-CN" sz="1400" dirty="0">
                <a:solidFill>
                  <a:srgbClr val="FF0000"/>
                </a:solidFill>
              </a:rPr>
              <a:t>GitHub</a:t>
            </a:r>
            <a:r>
              <a:rPr lang="zh-CN" altLang="en-US" sz="1400" dirty="0">
                <a:solidFill>
                  <a:srgbClr val="FF0000"/>
                </a:solidFill>
              </a:rPr>
              <a:t>上一致或者添加邮箱被添加到</a:t>
            </a:r>
            <a:r>
              <a:rPr lang="en-US" altLang="zh-CN" sz="1400" dirty="0" err="1">
                <a:solidFill>
                  <a:srgbClr val="FF0000"/>
                </a:solidFill>
              </a:rPr>
              <a:t>githug</a:t>
            </a:r>
            <a:r>
              <a:rPr lang="zh-CN" altLang="en-US" sz="1400" dirty="0">
                <a:solidFill>
                  <a:srgbClr val="FF0000"/>
                </a:solidFill>
              </a:rPr>
              <a:t>中</a:t>
            </a:r>
            <a:r>
              <a:rPr lang="zh-CN" altLang="en-US" sz="1400" dirty="0"/>
              <a:t>，否则也会不通过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8077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B9FD-617D-47FA-B211-B6239324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50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Travis CI </a:t>
            </a:r>
            <a:r>
              <a:rPr lang="zh-CN" altLang="en-US" sz="2800" b="1" dirty="0"/>
              <a:t>介绍</a:t>
            </a:r>
            <a:endParaRPr lang="en-US" altLang="zh-C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06A5D-4D29-4DD9-ADE8-10DDD306C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97" y="1726199"/>
            <a:ext cx="8210550" cy="3190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D66911-FA3C-47B6-8BA1-F6BCCB2640BE}"/>
              </a:ext>
            </a:extLst>
          </p:cNvPr>
          <p:cNvSpPr txBox="1"/>
          <p:nvPr/>
        </p:nvSpPr>
        <p:spPr>
          <a:xfrm>
            <a:off x="838200" y="5167312"/>
            <a:ext cx="9443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用来检查代码是否规范，在提交代码时使用 </a:t>
            </a:r>
            <a:r>
              <a:rPr lang="en-US" altLang="zh-CN" dirty="0"/>
              <a:t>pre-commit install </a:t>
            </a:r>
            <a:r>
              <a:rPr lang="zh-CN" altLang="en-US" dirty="0"/>
              <a:t>来本地检测，本地能帮我们修改代码格式，以此保证线上</a:t>
            </a:r>
            <a:r>
              <a:rPr lang="en-US" altLang="zh-CN" dirty="0" err="1"/>
              <a:t>travis</a:t>
            </a:r>
            <a:r>
              <a:rPr lang="en-US" altLang="zh-CN" dirty="0"/>
              <a:t> ci </a:t>
            </a:r>
            <a:r>
              <a:rPr lang="zh-CN" altLang="en-US" dirty="0"/>
              <a:t>一次通过，。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669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1F1A-3228-403E-94C2-CF127583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940" y="986562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b="1" dirty="0" err="1"/>
              <a:t>Teamcity</a:t>
            </a:r>
            <a:r>
              <a:rPr lang="en-US" altLang="zh-CN" sz="2800" b="1" dirty="0"/>
              <a:t> CI</a:t>
            </a:r>
            <a:r>
              <a:rPr lang="zh-CN" altLang="en-US" sz="2800" b="1" dirty="0"/>
              <a:t>介绍</a:t>
            </a:r>
            <a:endParaRPr lang="zh-CN" alt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AAA9B-C64A-45BE-A0B4-AB93A41E0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924050"/>
            <a:ext cx="84772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30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FE2FE-3D07-401A-A419-D28C8F65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873"/>
            <a:ext cx="10515600" cy="6314766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b="1" dirty="0"/>
              <a:t>Linux CPU CI</a:t>
            </a:r>
          </a:p>
          <a:p>
            <a:r>
              <a:rPr lang="en-US" altLang="zh-CN" dirty="0"/>
              <a:t>CI </a:t>
            </a:r>
            <a:r>
              <a:rPr lang="zh-CN" altLang="en-US" dirty="0"/>
              <a:t>任务名 </a:t>
            </a:r>
            <a:r>
              <a:rPr lang="en-US" altLang="zh-CN" dirty="0"/>
              <a:t>: </a:t>
            </a:r>
            <a:r>
              <a:rPr lang="en-US" altLang="zh-CN" dirty="0" err="1"/>
              <a:t>PaddlePRCI</a:t>
            </a:r>
            <a:r>
              <a:rPr lang="en-US" altLang="zh-CN" dirty="0"/>
              <a:t> -&gt; Compile -&gt; PR_CI_CPU_Py2</a:t>
            </a:r>
          </a:p>
          <a:p>
            <a:pPr lvl="1"/>
            <a:r>
              <a:rPr lang="en-US" altLang="zh-CN" dirty="0">
                <a:hlinkClick r:id="rId3"/>
              </a:rPr>
              <a:t>http://ci.paddlepaddle.org/viewType.html?buildTypeId=YYTest_PrCiCpuPy2</a:t>
            </a:r>
            <a:endParaRPr lang="en-US" altLang="zh-CN" dirty="0"/>
          </a:p>
          <a:p>
            <a:r>
              <a:rPr lang="zh-CN" altLang="en-US" dirty="0"/>
              <a:t>任务流程</a:t>
            </a:r>
          </a:p>
          <a:p>
            <a:pPr lvl="1"/>
            <a:r>
              <a:rPr lang="zh-CN" altLang="en-US" dirty="0"/>
              <a:t>拉取</a:t>
            </a:r>
            <a:r>
              <a:rPr lang="en-US" altLang="zh-CN" dirty="0" err="1"/>
              <a:t>github</a:t>
            </a:r>
            <a:r>
              <a:rPr lang="zh-CN" altLang="en-US" dirty="0"/>
              <a:t>代码 ：</a:t>
            </a:r>
            <a:r>
              <a:rPr lang="en-US" altLang="zh-CN" dirty="0"/>
              <a:t>github.com/</a:t>
            </a:r>
            <a:r>
              <a:rPr lang="en-US" altLang="zh-CN" dirty="0" err="1"/>
              <a:t>paddlepaddle</a:t>
            </a:r>
            <a:r>
              <a:rPr lang="en-US" altLang="zh-CN" dirty="0"/>
              <a:t>/paddle</a:t>
            </a:r>
          </a:p>
          <a:p>
            <a:pPr lvl="1"/>
            <a:r>
              <a:rPr lang="en-US" altLang="zh-CN" dirty="0"/>
              <a:t>merge </a:t>
            </a:r>
            <a:r>
              <a:rPr lang="zh-CN" altLang="en-US" dirty="0"/>
              <a:t>用户 </a:t>
            </a:r>
            <a:r>
              <a:rPr lang="en-US" altLang="zh-CN" dirty="0" err="1"/>
              <a:t>pr</a:t>
            </a:r>
            <a:endParaRPr lang="en-US" altLang="zh-CN" dirty="0"/>
          </a:p>
          <a:p>
            <a:pPr lvl="1"/>
            <a:r>
              <a:rPr lang="zh-CN" altLang="en-US" dirty="0"/>
              <a:t>检查</a:t>
            </a:r>
            <a:r>
              <a:rPr lang="en-US" altLang="zh-CN" dirty="0"/>
              <a:t>docker </a:t>
            </a:r>
            <a:r>
              <a:rPr lang="zh-CN" altLang="en-US" dirty="0"/>
              <a:t>文件是否有更新，有则</a:t>
            </a:r>
            <a:r>
              <a:rPr lang="en-US" altLang="zh-CN" dirty="0"/>
              <a:t>docker build</a:t>
            </a:r>
          </a:p>
          <a:p>
            <a:pPr lvl="1"/>
            <a:r>
              <a:rPr lang="zh-CN" altLang="en-US" dirty="0"/>
              <a:t>计算 </a:t>
            </a:r>
            <a:r>
              <a:rPr lang="en-US" altLang="zh-CN" dirty="0"/>
              <a:t>md5sum paddle/</a:t>
            </a:r>
            <a:r>
              <a:rPr lang="en-US" altLang="zh-CN" dirty="0" err="1"/>
              <a:t>cmake</a:t>
            </a:r>
            <a:r>
              <a:rPr lang="en-US" altLang="zh-CN" dirty="0"/>
              <a:t>/external/*.</a:t>
            </a:r>
            <a:r>
              <a:rPr lang="en-US" altLang="zh-CN" dirty="0" err="1"/>
              <a:t>cmake</a:t>
            </a:r>
            <a:r>
              <a:rPr lang="en-US" altLang="zh-CN" dirty="0"/>
              <a:t> </a:t>
            </a:r>
            <a:r>
              <a:rPr lang="zh-CN" altLang="en-US" dirty="0"/>
              <a:t>哈希值，根据</a:t>
            </a:r>
            <a:r>
              <a:rPr lang="en-US" altLang="zh-CN" dirty="0"/>
              <a:t>hash</a:t>
            </a:r>
            <a:r>
              <a:rPr lang="zh-CN" altLang="en-US" dirty="0"/>
              <a:t>值检查是否有</a:t>
            </a:r>
            <a:r>
              <a:rPr lang="en-US" altLang="zh-CN" dirty="0" err="1"/>
              <a:t>third_party</a:t>
            </a:r>
            <a:r>
              <a:rPr lang="zh-CN" altLang="en-US" dirty="0"/>
              <a:t>预编译缓存，有则使用预编译缓存</a:t>
            </a:r>
          </a:p>
          <a:p>
            <a:pPr lvl="1"/>
            <a:r>
              <a:rPr lang="zh-CN" altLang="en-US" dirty="0"/>
              <a:t>起新</a:t>
            </a:r>
            <a:r>
              <a:rPr lang="en-US" altLang="zh-CN" dirty="0"/>
              <a:t>docker</a:t>
            </a:r>
            <a:r>
              <a:rPr lang="zh-CN" altLang="en-US" dirty="0"/>
              <a:t>，设置环境和代码路径，设置</a:t>
            </a:r>
            <a:r>
              <a:rPr lang="en-US" altLang="zh-CN" dirty="0" err="1"/>
              <a:t>ccache</a:t>
            </a:r>
            <a:r>
              <a:rPr lang="zh-CN" altLang="en-US" dirty="0"/>
              <a:t>，开始编译</a:t>
            </a:r>
          </a:p>
          <a:p>
            <a:pPr lvl="1"/>
            <a:r>
              <a:rPr lang="zh-CN" altLang="en-US" dirty="0"/>
              <a:t>检查编译结果，退出</a:t>
            </a:r>
            <a:endParaRPr lang="en-US" altLang="zh-CN" dirty="0"/>
          </a:p>
          <a:p>
            <a:r>
              <a:rPr lang="en-US" altLang="zh-CN" b="1" dirty="0"/>
              <a:t>Linux GPU CI</a:t>
            </a:r>
          </a:p>
          <a:p>
            <a:r>
              <a:rPr lang="en-US" altLang="zh-CN" dirty="0"/>
              <a:t>CI </a:t>
            </a:r>
            <a:r>
              <a:rPr lang="zh-CN" altLang="en-US" dirty="0"/>
              <a:t>任务名 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/>
              <a:t>Paddle -&gt; PR_CI </a:t>
            </a:r>
            <a:r>
              <a:rPr lang="zh-CN" altLang="en-US" dirty="0"/>
              <a:t>（</a:t>
            </a:r>
            <a:r>
              <a:rPr lang="en-US" altLang="zh-CN" dirty="0"/>
              <a:t>python2</a:t>
            </a:r>
            <a:r>
              <a:rPr lang="zh-CN" altLang="en-US" dirty="0"/>
              <a:t>）： </a:t>
            </a:r>
            <a:r>
              <a:rPr lang="en-US" altLang="zh-CN" dirty="0">
                <a:hlinkClick r:id="rId4"/>
              </a:rPr>
              <a:t>http://ci.paddlepaddle.org/viewType.html?buildTypeId=Paddle_PrCi</a:t>
            </a:r>
            <a:endParaRPr lang="en-US" altLang="zh-CN" dirty="0"/>
          </a:p>
          <a:p>
            <a:pPr lvl="1"/>
            <a:r>
              <a:rPr lang="en-US" altLang="zh-CN" dirty="0"/>
              <a:t>Paddle -&gt; PR_CI_Night_cuda9_cudnn7_Py3_develop (python3) : </a:t>
            </a:r>
            <a:r>
              <a:rPr lang="en-US" altLang="zh-CN" dirty="0">
                <a:hlinkClick r:id="rId5"/>
              </a:rPr>
              <a:t>http://ci.paddlepaddle.org/viewType.html?buildTypeId=Paddle_PrCiNightCuda9cudnn7Py3develop</a:t>
            </a:r>
            <a:endParaRPr lang="en-US" altLang="zh-CN" dirty="0"/>
          </a:p>
          <a:p>
            <a:r>
              <a:rPr lang="zh-CN" altLang="en-US" dirty="0"/>
              <a:t>任务流程</a:t>
            </a:r>
          </a:p>
          <a:p>
            <a:pPr lvl="1"/>
            <a:r>
              <a:rPr lang="zh-CN" altLang="en-US" dirty="0"/>
              <a:t>基本同上</a:t>
            </a:r>
            <a:endParaRPr lang="en-US" altLang="zh-CN" dirty="0"/>
          </a:p>
          <a:p>
            <a:pPr lvl="1"/>
            <a:r>
              <a:rPr lang="zh-CN" altLang="en-US" dirty="0"/>
              <a:t>编译成功后进行单测</a:t>
            </a:r>
            <a:endParaRPr lang="en-US" altLang="zh-CN" dirty="0"/>
          </a:p>
          <a:p>
            <a:pPr lvl="1"/>
            <a:r>
              <a:rPr lang="zh-CN" altLang="en-US" dirty="0"/>
              <a:t>单测成功后进行检查是否需要缓存 </a:t>
            </a:r>
            <a:r>
              <a:rPr lang="en-US" altLang="zh-CN" dirty="0"/>
              <a:t>third-party</a:t>
            </a:r>
            <a:r>
              <a:rPr lang="zh-CN" altLang="en-US" dirty="0"/>
              <a:t>，需要则缓存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390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DD3E-9710-4BE2-A6A6-FEF3EC1A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166" y="116770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Nightly </a:t>
            </a:r>
            <a:r>
              <a:rPr lang="zh-CN" altLang="en-US" dirty="0"/>
              <a:t>任务</a:t>
            </a:r>
          </a:p>
          <a:p>
            <a:r>
              <a:rPr lang="en-US" altLang="zh-CN" dirty="0"/>
              <a:t>Nightly</a:t>
            </a:r>
            <a:r>
              <a:rPr lang="zh-CN" altLang="en-US" dirty="0"/>
              <a:t>任务主要为耗时较长的任务，包括 </a:t>
            </a:r>
          </a:p>
          <a:p>
            <a:pPr lvl="1"/>
            <a:r>
              <a:rPr lang="en-US" altLang="zh-CN" dirty="0"/>
              <a:t>Linux GPU</a:t>
            </a:r>
            <a:r>
              <a:rPr lang="zh-CN" altLang="en-US" dirty="0"/>
              <a:t>任务</a:t>
            </a:r>
          </a:p>
          <a:p>
            <a:pPr lvl="1"/>
            <a:r>
              <a:rPr lang="en-US" altLang="zh-CN" dirty="0"/>
              <a:t>Mac </a:t>
            </a:r>
            <a:r>
              <a:rPr lang="zh-CN" altLang="en-US" dirty="0"/>
              <a:t>压测任务</a:t>
            </a:r>
          </a:p>
          <a:p>
            <a:pPr lvl="1"/>
            <a:r>
              <a:rPr lang="en-US" altLang="zh-CN" dirty="0"/>
              <a:t>Windows GPU</a:t>
            </a:r>
            <a:r>
              <a:rPr lang="zh-CN" altLang="en-US" dirty="0"/>
              <a:t>任务（</a:t>
            </a:r>
            <a:r>
              <a:rPr lang="en-US" altLang="zh-CN" dirty="0"/>
              <a:t>windows</a:t>
            </a:r>
            <a:r>
              <a:rPr lang="zh-CN" altLang="en-US" dirty="0"/>
              <a:t>暂无编译加速，编译速度很慢）</a:t>
            </a:r>
          </a:p>
          <a:p>
            <a:pPr lvl="1"/>
            <a:r>
              <a:rPr lang="en-US" altLang="zh-CN" dirty="0"/>
              <a:t>Windows </a:t>
            </a:r>
            <a:r>
              <a:rPr lang="zh-CN" altLang="en-US" dirty="0"/>
              <a:t>压测任务</a:t>
            </a:r>
          </a:p>
          <a:p>
            <a:r>
              <a:rPr lang="zh-CN" altLang="en-US" dirty="0"/>
              <a:t>其它</a:t>
            </a:r>
          </a:p>
          <a:p>
            <a:pPr lvl="1"/>
            <a:r>
              <a:rPr lang="en-US" altLang="zh-CN" dirty="0"/>
              <a:t>docker</a:t>
            </a:r>
            <a:r>
              <a:rPr lang="zh-CN" altLang="en-US" dirty="0"/>
              <a:t>镜像任务</a:t>
            </a:r>
          </a:p>
          <a:p>
            <a:pPr lvl="1"/>
            <a:r>
              <a:rPr lang="en-US" altLang="zh-CN" dirty="0"/>
              <a:t>Many </a:t>
            </a:r>
            <a:r>
              <a:rPr lang="en-US" altLang="zh-CN" dirty="0" err="1"/>
              <a:t>linux</a:t>
            </a:r>
            <a:r>
              <a:rPr lang="zh-CN" altLang="en-US" dirty="0"/>
              <a:t>发包任务</a:t>
            </a:r>
          </a:p>
          <a:p>
            <a:pPr lvl="1"/>
            <a:r>
              <a:rPr lang="zh-CN" altLang="en-US" dirty="0"/>
              <a:t>镜像上传任务等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675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995C-2AFD-4866-871A-746CCF2E5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CI</a:t>
            </a:r>
            <a:r>
              <a:rPr lang="zh-CN" altLang="en-US" dirty="0"/>
              <a:t>触发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触发</a:t>
            </a:r>
            <a:r>
              <a:rPr lang="en-US" altLang="zh-CN" dirty="0"/>
              <a:t>develop</a:t>
            </a:r>
            <a:r>
              <a:rPr lang="zh-CN" altLang="en-US" dirty="0"/>
              <a:t>分支使用：</a:t>
            </a:r>
            <a:r>
              <a:rPr lang="en-US" altLang="zh-CN" dirty="0"/>
              <a:t>git commit -m “test=develop”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触发</a:t>
            </a:r>
            <a:r>
              <a:rPr lang="en-US" altLang="zh-CN" dirty="0"/>
              <a:t>release/</a:t>
            </a:r>
            <a:r>
              <a:rPr lang="en-US" altLang="zh-CN" dirty="0" err="1"/>
              <a:t>x.x</a:t>
            </a:r>
            <a:r>
              <a:rPr lang="zh-CN" altLang="en-US" dirty="0"/>
              <a:t>分支使用：</a:t>
            </a:r>
            <a:r>
              <a:rPr lang="en-US" altLang="zh-CN" dirty="0"/>
              <a:t>git commit -m “test=release/xx” </a:t>
            </a:r>
          </a:p>
          <a:p>
            <a:pPr marL="914400" lvl="2" indent="0">
              <a:buNone/>
            </a:pPr>
            <a:r>
              <a:rPr lang="zh-CN" altLang="en-US" dirty="0"/>
              <a:t>请参考官网本地开发指南：</a:t>
            </a:r>
            <a:r>
              <a:rPr lang="en-US" altLang="zh-CN" dirty="0">
                <a:hlinkClick r:id="rId2"/>
              </a:rPr>
              <a:t>http://paddlepaddle.org/documentation/docs/zh/1.4/advanced_usage/development/contribute_to_paddle/local_dev_guide.html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注：触发文档自动预览：</a:t>
            </a:r>
            <a:r>
              <a:rPr lang="en-US" altLang="zh-CN" dirty="0"/>
              <a:t>git commit –m “test=</a:t>
            </a:r>
            <a:r>
              <a:rPr lang="en-US" altLang="zh-CN" dirty="0" err="1"/>
              <a:t>document_review</a:t>
            </a:r>
            <a:r>
              <a:rPr lang="en-US" altLang="zh-CN" dirty="0"/>
              <a:t>”</a:t>
            </a:r>
          </a:p>
          <a:p>
            <a:pPr marL="914400" lvl="2" indent="0">
              <a:buNone/>
            </a:pPr>
            <a:r>
              <a:rPr lang="zh-CN" altLang="en-US" dirty="0"/>
              <a:t>详情请参见</a:t>
            </a:r>
            <a:r>
              <a:rPr lang="en-US" altLang="zh-CN" dirty="0"/>
              <a:t>http://wiki.baidu.com/pages/viewpage.action?pageId=749525970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412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38ED7-D5E2-4B5A-8827-7BD1A1AC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</a:t>
            </a:r>
            <a:r>
              <a:rPr lang="zh-CN" altLang="en-US" dirty="0"/>
              <a:t>管理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1BCF72-C59E-4B38-B930-B57E87C3F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2777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0999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AFC3-B50B-4BBA-8131-5D421037A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900"/>
            <a:ext cx="10515600" cy="4351338"/>
          </a:xfrm>
        </p:spPr>
        <p:txBody>
          <a:bodyPr/>
          <a:lstStyle/>
          <a:p>
            <a:r>
              <a:rPr lang="zh-CN" altLang="en-US" dirty="0"/>
              <a:t>任务管理统一通过</a:t>
            </a:r>
            <a:r>
              <a:rPr lang="en-US" altLang="zh-CN" dirty="0"/>
              <a:t>web</a:t>
            </a:r>
            <a:r>
              <a:rPr lang="zh-CN" altLang="en-US" dirty="0"/>
              <a:t>方式进行 ： </a:t>
            </a:r>
            <a:r>
              <a:rPr lang="en-US" altLang="zh-CN" dirty="0"/>
              <a:t>ci.paddlepaddle.org</a:t>
            </a:r>
          </a:p>
          <a:p>
            <a:r>
              <a:rPr lang="zh-CN" altLang="en-US" dirty="0"/>
              <a:t>有需要时，可以由管理员（田硕）统一创建任务后编辑</a:t>
            </a:r>
          </a:p>
          <a:p>
            <a:r>
              <a:rPr lang="zh-CN" altLang="en-US" dirty="0"/>
              <a:t>编译方式 </a:t>
            </a:r>
          </a:p>
          <a:p>
            <a:r>
              <a:rPr lang="zh-CN" altLang="en-US" dirty="0"/>
              <a:t>通过页面右上角进入编辑：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F5D509-7262-444B-AF4A-BC940C0AD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82" y="3443288"/>
            <a:ext cx="6677025" cy="1885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02217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4F67A-67D6-4761-999F-56E702489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5" y="528611"/>
            <a:ext cx="5677593" cy="5800777"/>
          </a:xfrm>
        </p:spPr>
        <p:txBody>
          <a:bodyPr/>
          <a:lstStyle/>
          <a:p>
            <a:r>
              <a:rPr lang="zh-CN" altLang="en-US" dirty="0"/>
              <a:t>通过任务下拉进入</a:t>
            </a:r>
            <a:r>
              <a:rPr lang="en-US" altLang="zh-CN" dirty="0"/>
              <a:t>(</a:t>
            </a:r>
            <a:r>
              <a:rPr lang="zh-CN" altLang="en-US" dirty="0"/>
              <a:t>右上</a:t>
            </a:r>
            <a:r>
              <a:rPr lang="en-US" altLang="zh-CN" dirty="0"/>
              <a:t>)</a:t>
            </a:r>
            <a:r>
              <a:rPr lang="zh-CN" altLang="en-US" dirty="0"/>
              <a:t>，具体编辑内容包括（右下）：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General Settings 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zh-CN" sz="1800" dirty="0"/>
              <a:t>name - </a:t>
            </a:r>
            <a:r>
              <a:rPr lang="zh-CN" altLang="en-US" sz="1800" dirty="0"/>
              <a:t>任务名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zh-CN" sz="1800" dirty="0"/>
              <a:t>Artifact paths: - </a:t>
            </a:r>
            <a:r>
              <a:rPr lang="zh-CN" altLang="en-US" sz="1800" dirty="0"/>
              <a:t>任务完成后的产出，如本地产出</a:t>
            </a:r>
            <a:r>
              <a:rPr lang="en-US" altLang="zh-CN" sz="1800" dirty="0"/>
              <a:t>python/</a:t>
            </a:r>
            <a:r>
              <a:rPr lang="en-US" altLang="zh-CN" sz="1800" dirty="0" err="1"/>
              <a:t>dist</a:t>
            </a:r>
            <a:r>
              <a:rPr lang="en-US" altLang="zh-CN" sz="1800" dirty="0"/>
              <a:t>/</a:t>
            </a:r>
            <a:r>
              <a:rPr lang="en-US" altLang="zh-CN" sz="1800" dirty="0" err="1"/>
              <a:t>xxx.whl</a:t>
            </a:r>
            <a:r>
              <a:rPr lang="zh-CN" altLang="en-US" sz="1800" dirty="0"/>
              <a:t>，则可以用 </a:t>
            </a:r>
            <a:r>
              <a:rPr lang="en-US" altLang="zh-CN" sz="1800" dirty="0"/>
              <a:t>python/</a:t>
            </a:r>
            <a:r>
              <a:rPr lang="en-US" altLang="zh-CN" sz="1800" dirty="0" err="1"/>
              <a:t>dist</a:t>
            </a:r>
            <a:r>
              <a:rPr lang="en-US" altLang="zh-CN" sz="1800" dirty="0"/>
              <a:t> =&gt; </a:t>
            </a:r>
            <a:r>
              <a:rPr lang="en-US" altLang="zh-CN" sz="1800" dirty="0" err="1"/>
              <a:t>dist</a:t>
            </a:r>
            <a:r>
              <a:rPr lang="en-US" altLang="zh-CN" sz="1800" dirty="0"/>
              <a:t> </a:t>
            </a:r>
            <a:r>
              <a:rPr lang="zh-CN" altLang="en-US" sz="1800" dirty="0"/>
              <a:t>的方式，将</a:t>
            </a:r>
            <a:r>
              <a:rPr lang="en-US" altLang="zh-CN" sz="1800" dirty="0" err="1"/>
              <a:t>whl</a:t>
            </a:r>
            <a:r>
              <a:rPr lang="zh-CN" altLang="en-US" sz="1800" dirty="0"/>
              <a:t>包最终产出到</a:t>
            </a:r>
            <a:r>
              <a:rPr lang="en-US" altLang="zh-CN" sz="1800" dirty="0" err="1"/>
              <a:t>dist</a:t>
            </a:r>
            <a:r>
              <a:rPr lang="zh-CN" altLang="en-US" sz="1800" dirty="0"/>
              <a:t>发布路径下，通过当次任务结果来查看</a:t>
            </a:r>
            <a:r>
              <a:rPr lang="en-US" altLang="zh-CN" sz="1800" dirty="0"/>
              <a:t>(</a:t>
            </a:r>
            <a:r>
              <a:rPr lang="zh-CN" altLang="en-US" sz="1800" dirty="0"/>
              <a:t>左下</a:t>
            </a:r>
            <a:r>
              <a:rPr lang="en-US" altLang="zh-CN" sz="1800" dirty="0"/>
              <a:t>)</a:t>
            </a:r>
          </a:p>
          <a:p>
            <a:pPr marL="914400" lvl="2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7DC8D-BA85-46BE-A1E4-DF8EC3549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83" y="19500"/>
            <a:ext cx="5991225" cy="3457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C286E-BFC5-491C-90E7-31D7532D1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495" y="3780975"/>
            <a:ext cx="2495550" cy="3057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4B1849-37C6-4FA4-9BB3-0B701A13D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62" y="3780975"/>
            <a:ext cx="47625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52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0742D-EB3A-4062-AE7D-AB805746C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Version Control Settings</a:t>
            </a:r>
            <a:r>
              <a:rPr lang="zh-CN" altLang="en-US" dirty="0"/>
              <a:t>：任务关联的代码路径设定 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当前可以设定</a:t>
            </a:r>
            <a:r>
              <a:rPr lang="en-US" altLang="zh-CN" dirty="0" err="1"/>
              <a:t>github</a:t>
            </a:r>
            <a:r>
              <a:rPr lang="zh-CN" altLang="en-US" dirty="0"/>
              <a:t>／</a:t>
            </a:r>
            <a:r>
              <a:rPr lang="en-US" altLang="zh-CN" dirty="0" err="1"/>
              <a:t>vcs</a:t>
            </a:r>
            <a:r>
              <a:rPr lang="zh-CN" altLang="en-US" dirty="0"/>
              <a:t>等路径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代码检出规则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CE26E-D873-4673-A305-B5D943EC4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0" y="4687481"/>
            <a:ext cx="7981950" cy="2057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29166F-6F1E-46E4-91E5-CB3AD8E13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307" y="2083537"/>
            <a:ext cx="77343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1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2701F-5613-41D5-A356-EA6EF3751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3595"/>
            <a:ext cx="10515600" cy="56902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Triggers</a:t>
            </a:r>
            <a:r>
              <a:rPr lang="zh-CN" altLang="en-US" dirty="0"/>
              <a:t>：设定任务触发规则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Build Step: Command Line </a:t>
            </a:r>
            <a:r>
              <a:rPr lang="zh-CN" altLang="en-US" dirty="0"/>
              <a:t>编译脚本设定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根据操作系统不同，可以采用不同的编译脚本写法，语法跟系统版本基本对应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基本上绝大部分操作均在这个地方，如</a:t>
            </a:r>
            <a:r>
              <a:rPr lang="en-US" altLang="zh-CN" dirty="0" err="1"/>
              <a:t>linux</a:t>
            </a:r>
            <a:r>
              <a:rPr lang="zh-CN" altLang="en-US" dirty="0"/>
              <a:t>的任务基本可以分为以下步骤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拉取代码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检查编译环境，如</a:t>
            </a:r>
            <a:r>
              <a:rPr lang="en-US" altLang="zh-CN" dirty="0"/>
              <a:t>docker</a:t>
            </a:r>
            <a:r>
              <a:rPr lang="zh-CN" altLang="en-US" dirty="0"/>
              <a:t>等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代码编译</a:t>
            </a:r>
            <a:endParaRPr lang="en-US" altLang="zh-CN" dirty="0"/>
          </a:p>
          <a:p>
            <a:pPr marL="1428750" lvl="2" indent="-514350">
              <a:buFont typeface="+mj-lt"/>
              <a:buAutoNum type="alphaLcParenR"/>
            </a:pPr>
            <a:r>
              <a:rPr lang="zh-CN" altLang="en-US" dirty="0"/>
              <a:t>单元测试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18F2D-3FCA-498E-B750-1337079B8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643595"/>
            <a:ext cx="63817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19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4092-1917-4004-A567-60228E38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Failure Conditions </a:t>
            </a:r>
            <a:r>
              <a:rPr lang="zh-CN" altLang="en-US" dirty="0"/>
              <a:t>： 任务失败条件（通常设定任务超时时间即可）</a:t>
            </a:r>
            <a:endParaRPr lang="en-US" altLang="zh-CN" dirty="0"/>
          </a:p>
          <a:p>
            <a:r>
              <a:rPr lang="en-US" altLang="zh-CN" dirty="0"/>
              <a:t>Dependencies </a:t>
            </a:r>
            <a:r>
              <a:rPr lang="zh-CN" altLang="en-US" dirty="0"/>
              <a:t>： 任务关联（</a:t>
            </a:r>
            <a:r>
              <a:rPr lang="en-US" altLang="zh-CN" dirty="0"/>
              <a:t>CI</a:t>
            </a:r>
            <a:r>
              <a:rPr lang="zh-CN" altLang="en-US" dirty="0"/>
              <a:t>效率改进部分会牵涉到部分内容）</a:t>
            </a:r>
            <a:endParaRPr lang="en-US" altLang="zh-CN" dirty="0"/>
          </a:p>
          <a:p>
            <a:r>
              <a:rPr lang="en-US" altLang="zh-CN" dirty="0"/>
              <a:t>Parameters </a:t>
            </a:r>
            <a:r>
              <a:rPr lang="zh-CN" altLang="en-US" dirty="0"/>
              <a:t>： 任务参数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脚本中使用到的参数在此设定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脚本中通过 </a:t>
            </a:r>
            <a:r>
              <a:rPr lang="en-US" altLang="zh-CN" dirty="0"/>
              <a:t>%xxx% </a:t>
            </a:r>
            <a:r>
              <a:rPr lang="zh-CN" altLang="en-US" dirty="0"/>
              <a:t>方式引用</a:t>
            </a:r>
            <a:endParaRPr lang="en-US" altLang="zh-CN" dirty="0"/>
          </a:p>
          <a:p>
            <a:r>
              <a:rPr lang="en-US" altLang="zh-CN" dirty="0"/>
              <a:t>Agent Requirements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运行</a:t>
            </a:r>
            <a:r>
              <a:rPr lang="en-US" altLang="zh-CN" dirty="0"/>
              <a:t>CI</a:t>
            </a:r>
            <a:r>
              <a:rPr lang="zh-CN" altLang="en-US" dirty="0"/>
              <a:t>任务的</a:t>
            </a:r>
            <a:r>
              <a:rPr lang="en-US" altLang="zh-CN" dirty="0"/>
              <a:t>agent</a:t>
            </a:r>
            <a:r>
              <a:rPr lang="zh-CN" altLang="en-US" dirty="0"/>
              <a:t>设定（通过管理员 田硕 设定即可，一般不需要关注）</a:t>
            </a:r>
            <a:endParaRPr lang="en-US" altLang="zh-CN" dirty="0"/>
          </a:p>
          <a:p>
            <a:r>
              <a:rPr lang="zh-CN" altLang="en-US" dirty="0"/>
              <a:t>其它 （暂无涉及，可忽略）</a:t>
            </a:r>
          </a:p>
        </p:txBody>
      </p:sp>
    </p:spTree>
    <p:extLst>
      <p:ext uri="{BB962C8B-B14F-4D97-AF65-F5344CB8AC3E}">
        <p14:creationId xmlns:p14="http://schemas.microsoft.com/office/powerpoint/2010/main" val="618207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5B120-82DB-4A55-9256-A1C45D29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CI</a:t>
            </a:r>
            <a:r>
              <a:rPr lang="zh-CN" altLang="en-US" dirty="0"/>
              <a:t>效率改进</a:t>
            </a:r>
            <a:endParaRPr lang="en-US" altLang="zh-CN" dirty="0"/>
          </a:p>
          <a:p>
            <a:pPr lvl="1"/>
            <a:r>
              <a:rPr lang="zh-CN" altLang="en-US" dirty="0"/>
              <a:t>历史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CI</a:t>
            </a:r>
            <a:r>
              <a:rPr lang="zh-CN" altLang="en-US" dirty="0"/>
              <a:t>任务存在速度慢的问题，发版前由于任务多，也会出现排队任务处理不及时的问题。</a:t>
            </a:r>
            <a:endParaRPr lang="en-US" altLang="zh-CN" dirty="0"/>
          </a:p>
          <a:p>
            <a:pPr lvl="1"/>
            <a:r>
              <a:rPr lang="zh-CN" altLang="en-US" dirty="0"/>
              <a:t>改进编译速度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问题原因</a:t>
            </a:r>
            <a:r>
              <a:rPr lang="en-US" altLang="zh-CN" dirty="0"/>
              <a:t>1</a:t>
            </a:r>
            <a:r>
              <a:rPr lang="zh-CN" altLang="en-US" dirty="0"/>
              <a:t>：单机编译速度耗时较长</a:t>
            </a:r>
          </a:p>
          <a:p>
            <a:pPr marL="914400" lvl="2" indent="0">
              <a:buNone/>
            </a:pPr>
            <a:r>
              <a:rPr lang="zh-CN" altLang="en-US" dirty="0"/>
              <a:t>解决方案</a:t>
            </a:r>
            <a:r>
              <a:rPr lang="en-US" altLang="zh-CN" dirty="0"/>
              <a:t>1</a:t>
            </a:r>
            <a:r>
              <a:rPr lang="zh-CN" altLang="en-US" dirty="0"/>
              <a:t>：通过引入</a:t>
            </a:r>
            <a:r>
              <a:rPr lang="en-US" altLang="zh-CN" dirty="0" err="1"/>
              <a:t>ccache</a:t>
            </a:r>
            <a:r>
              <a:rPr lang="zh-CN" altLang="en-US" dirty="0"/>
              <a:t>来加速编译</a:t>
            </a:r>
          </a:p>
          <a:p>
            <a:pPr marL="914400" lvl="2" indent="0">
              <a:buNone/>
            </a:pPr>
            <a:r>
              <a:rPr lang="zh-CN" altLang="en-US" dirty="0"/>
              <a:t>问题原因</a:t>
            </a:r>
            <a:r>
              <a:rPr lang="en-US" altLang="zh-CN" dirty="0"/>
              <a:t>2</a:t>
            </a:r>
            <a:r>
              <a:rPr lang="zh-CN" altLang="en-US" dirty="0"/>
              <a:t>：编译时间占总时间约</a:t>
            </a:r>
            <a:r>
              <a:rPr lang="en-US" altLang="zh-CN" dirty="0"/>
              <a:t>40%</a:t>
            </a:r>
          </a:p>
          <a:p>
            <a:pPr marL="914400" lvl="2" indent="0">
              <a:buNone/>
            </a:pPr>
            <a:r>
              <a:rPr lang="zh-CN" altLang="en-US" dirty="0"/>
              <a:t>解决方案</a:t>
            </a:r>
            <a:r>
              <a:rPr lang="en-US" altLang="zh-CN" dirty="0"/>
              <a:t>2</a:t>
            </a:r>
            <a:r>
              <a:rPr lang="zh-CN" altLang="en-US" dirty="0"/>
              <a:t>（未上线）：</a:t>
            </a:r>
            <a:r>
              <a:rPr lang="en-US" altLang="zh-CN" dirty="0"/>
              <a:t>GPU</a:t>
            </a:r>
            <a:r>
              <a:rPr lang="zh-CN" altLang="en-US" dirty="0"/>
              <a:t>机器资源有限，但编译是不需要</a:t>
            </a:r>
            <a:r>
              <a:rPr lang="en-US" altLang="zh-CN" dirty="0"/>
              <a:t>GPU</a:t>
            </a:r>
            <a:r>
              <a:rPr lang="zh-CN" altLang="en-US" dirty="0"/>
              <a:t>资源的，可以将编译流程分离出来，放到</a:t>
            </a:r>
            <a:r>
              <a:rPr lang="en-US" altLang="zh-CN" dirty="0"/>
              <a:t>CPU</a:t>
            </a:r>
            <a:r>
              <a:rPr lang="zh-CN" altLang="en-US" dirty="0"/>
              <a:t>机器上，现有</a:t>
            </a:r>
            <a:r>
              <a:rPr lang="en-US" altLang="zh-CN" dirty="0"/>
              <a:t>GPU</a:t>
            </a:r>
            <a:r>
              <a:rPr lang="zh-CN" altLang="en-US" dirty="0"/>
              <a:t>机器只用来做单测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57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5AF3-1005-4EF5-B516-BE57272D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545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之前的方案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64A26-1DED-451B-ABB4-F4EC067E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2137569"/>
            <a:ext cx="7019925" cy="3467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94322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D183-BB4E-41C2-91C4-51B6EE6F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22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改造后的方案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F6659-5AD4-48A0-83CD-BDD433D8D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1896646"/>
            <a:ext cx="7334250" cy="441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87829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1D9B-6B05-4D89-9B8D-05D18FE6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84908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改进单测性能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问题原因：表现在单测数量较多，且单测串行运行，部分单测运行时间过长，且部分单测随机挂导致。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解决方案：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zh-CN" dirty="0"/>
              <a:t>mac</a:t>
            </a:r>
            <a:r>
              <a:rPr lang="zh-CN" altLang="en-US" dirty="0"/>
              <a:t>机器通过并发</a:t>
            </a:r>
            <a:r>
              <a:rPr lang="en-US" altLang="zh-CN" dirty="0" err="1"/>
              <a:t>ctest</a:t>
            </a:r>
            <a:r>
              <a:rPr lang="zh-CN" altLang="en-US" dirty="0"/>
              <a:t>来解决；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zh-CN" dirty="0"/>
              <a:t>Linux</a:t>
            </a:r>
            <a:r>
              <a:rPr lang="zh-CN" altLang="en-US" dirty="0"/>
              <a:t>不能通过直接设定并发</a:t>
            </a:r>
            <a:r>
              <a:rPr lang="en-US" altLang="zh-CN" dirty="0" err="1"/>
              <a:t>ctest</a:t>
            </a:r>
            <a:r>
              <a:rPr lang="zh-CN" altLang="en-US" dirty="0"/>
              <a:t>的数量来解决，否则会造成单测抢占同一显卡资源，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出现资源申请失败而最终单测失败，最终方案为，</a:t>
            </a:r>
            <a:endParaRPr lang="en-US" altLang="zh-CN" dirty="0"/>
          </a:p>
          <a:p>
            <a:pPr marL="1828800" lvl="3" indent="-457200">
              <a:buFont typeface="+mj-lt"/>
              <a:buAutoNum type="alphaLcParenR"/>
            </a:pPr>
            <a:r>
              <a:rPr lang="zh-CN" altLang="en-US" dirty="0"/>
              <a:t>通过设定环境变量隔离单测运行环境 </a:t>
            </a:r>
            <a:r>
              <a:rPr lang="en-US" altLang="zh-CN" dirty="0"/>
              <a:t>export CUDA_VISIBLE_DEVICES=</a:t>
            </a:r>
            <a:r>
              <a:rPr lang="en-US" altLang="zh-CN" dirty="0" err="1"/>
              <a:t>x,y</a:t>
            </a:r>
            <a:endParaRPr lang="en-US" altLang="zh-CN" dirty="0"/>
          </a:p>
          <a:p>
            <a:pPr marL="1828800" lvl="3" indent="-457200">
              <a:buFont typeface="+mj-lt"/>
              <a:buAutoNum type="alphaLcParenR"/>
            </a:pPr>
            <a:r>
              <a:rPr lang="zh-CN" altLang="en-US" dirty="0"/>
              <a:t>将单测进行分为 单卡／双卡／独占 三种运行方式，通过指定显卡来达到加速目的，如指定单卡运行到在</a:t>
            </a:r>
            <a:r>
              <a:rPr lang="en-US" altLang="zh-CN" dirty="0"/>
              <a:t>8</a:t>
            </a:r>
            <a:r>
              <a:rPr lang="zh-CN" altLang="en-US" dirty="0"/>
              <a:t>卡机器上可以同时运行</a:t>
            </a:r>
            <a:r>
              <a:rPr lang="en-US" altLang="zh-CN" dirty="0"/>
              <a:t>8</a:t>
            </a:r>
            <a:r>
              <a:rPr lang="zh-CN" altLang="en-US" dirty="0"/>
              <a:t>个单测</a:t>
            </a:r>
            <a:endParaRPr lang="en-US" altLang="zh-CN" dirty="0"/>
          </a:p>
          <a:p>
            <a:pPr marL="1828800" lvl="3" indent="-457200">
              <a:buFont typeface="+mj-lt"/>
              <a:buAutoNum type="alphaLcParenR"/>
            </a:pPr>
            <a:r>
              <a:rPr lang="en-US" altLang="zh-CN" dirty="0"/>
              <a:t>8</a:t>
            </a:r>
            <a:r>
              <a:rPr lang="zh-CN" altLang="en-US" dirty="0"/>
              <a:t>卡机器加速对比为：</a:t>
            </a:r>
            <a:r>
              <a:rPr lang="en-US" altLang="zh-CN" dirty="0"/>
              <a:t>53</a:t>
            </a:r>
            <a:r>
              <a:rPr lang="zh-CN" altLang="en-US" dirty="0"/>
              <a:t>分钟（之前） </a:t>
            </a:r>
            <a:r>
              <a:rPr lang="en-US" altLang="zh-CN" dirty="0"/>
              <a:t>&lt;-----&gt; 27</a:t>
            </a:r>
            <a:r>
              <a:rPr lang="zh-CN" altLang="en-US" dirty="0"/>
              <a:t>分钟（改造后）</a:t>
            </a:r>
            <a:endParaRPr lang="en-US" altLang="zh-CN" dirty="0"/>
          </a:p>
          <a:p>
            <a:pPr marL="1371600" lvl="3" indent="0">
              <a:buNone/>
            </a:pPr>
            <a:endParaRPr lang="zh-CN" altLang="en-US" dirty="0"/>
          </a:p>
          <a:p>
            <a:r>
              <a:rPr lang="zh-CN" altLang="en-US" dirty="0"/>
              <a:t>改进排队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问题原因：定位为资源不足，需要进一步增加机器资源缓解；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解决方案：由效率云提供机器动态扩容方案。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790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A77E-4F59-456F-B3D0-62862B538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75"/>
            <a:ext cx="10515600" cy="4351338"/>
          </a:xfrm>
        </p:spPr>
        <p:txBody>
          <a:bodyPr/>
          <a:lstStyle/>
          <a:p>
            <a:r>
              <a:rPr lang="zh-CN" altLang="en-US" dirty="0"/>
              <a:t>效率展望</a:t>
            </a:r>
            <a:endParaRPr lang="en-US" altLang="zh-CN" dirty="0"/>
          </a:p>
          <a:p>
            <a:pPr lvl="1"/>
            <a:r>
              <a:rPr lang="zh-CN" altLang="en-US" dirty="0"/>
              <a:t>总体来说当前的</a:t>
            </a:r>
            <a:r>
              <a:rPr lang="en-US" altLang="zh-CN" dirty="0"/>
              <a:t>CI</a:t>
            </a:r>
            <a:r>
              <a:rPr lang="zh-CN" altLang="en-US" dirty="0"/>
              <a:t>效率还没有达到最理想效果，可以从以下方向进一步发展 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dirty="0"/>
              <a:t>分布式编译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dirty="0"/>
              <a:t>分布式单测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8689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19F1-5C98-4F0C-BB4F-F5C21258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b="1" dirty="0"/>
              <a:t>出错分析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19FAE6-6CA9-4895-9B0E-FAC4B73E1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201" y="1825625"/>
            <a:ext cx="361324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0D187-B359-44FD-B561-9E1E3B7B6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97474"/>
            <a:ext cx="5649769" cy="354468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5E1CF67-C511-4F02-9CA0-F0BEE9302AB3}"/>
              </a:ext>
            </a:extLst>
          </p:cNvPr>
          <p:cNvSpPr/>
          <p:nvPr/>
        </p:nvSpPr>
        <p:spPr>
          <a:xfrm>
            <a:off x="5240080" y="3768639"/>
            <a:ext cx="846281" cy="23265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93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A690-560C-41FF-9B73-40E1E576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Return</a:t>
            </a:r>
            <a:endParaRPr lang="zh-CN" alt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E86A1-92CB-4B77-919D-A63B66700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49" y="1593034"/>
            <a:ext cx="6381750" cy="2514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3F01D1-D016-4100-9625-A84BBB19CEEE}"/>
              </a:ext>
            </a:extLst>
          </p:cNvPr>
          <p:cNvSpPr txBox="1"/>
          <p:nvPr/>
        </p:nvSpPr>
        <p:spPr>
          <a:xfrm>
            <a:off x="838200" y="4475749"/>
            <a:ext cx="51459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点击对应任务的</a:t>
            </a:r>
            <a:r>
              <a:rPr lang="en-US" altLang="zh-CN" dirty="0"/>
              <a:t>details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切换到</a:t>
            </a:r>
            <a:r>
              <a:rPr lang="en-US" altLang="zh-CN" dirty="0"/>
              <a:t>Build Log</a:t>
            </a:r>
            <a:r>
              <a:rPr lang="zh-CN" altLang="en-US" dirty="0"/>
              <a:t>查看日志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如果是随机</a:t>
            </a:r>
            <a:r>
              <a:rPr lang="en-US" altLang="zh-CN" dirty="0"/>
              <a:t>fail</a:t>
            </a:r>
            <a:r>
              <a:rPr lang="zh-CN" altLang="en-US" dirty="0"/>
              <a:t>，点击</a:t>
            </a:r>
            <a:r>
              <a:rPr lang="en-US" altLang="zh-CN" dirty="0"/>
              <a:t>run</a:t>
            </a:r>
            <a:r>
              <a:rPr lang="zh-CN" altLang="en-US" dirty="0"/>
              <a:t>重跑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解决后重新提交，会触发当前</a:t>
            </a:r>
            <a:r>
              <a:rPr lang="en-US" altLang="zh-CN" dirty="0"/>
              <a:t>PR</a:t>
            </a:r>
            <a:r>
              <a:rPr lang="zh-CN" altLang="en-US" dirty="0"/>
              <a:t>的所有</a:t>
            </a:r>
            <a:r>
              <a:rPr lang="en-US" altLang="zh-CN" dirty="0"/>
              <a:t>CI</a:t>
            </a:r>
            <a:r>
              <a:rPr lang="zh-CN" altLang="en-US" dirty="0"/>
              <a:t>任务</a:t>
            </a:r>
            <a:endParaRPr lang="en-US" altLang="zh-CN" dirty="0"/>
          </a:p>
          <a:p>
            <a:r>
              <a:rPr lang="zh-CN" altLang="en-US" dirty="0"/>
              <a:t>重跑</a:t>
            </a:r>
            <a:endParaRPr lang="en-US" altLang="zh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0D2E1C-E3F7-4EA6-8A4D-1D945A027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926" y="1593034"/>
            <a:ext cx="4019550" cy="17145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13A214-8C51-466C-8C2C-F084811DEA88}"/>
              </a:ext>
            </a:extLst>
          </p:cNvPr>
          <p:cNvSpPr txBox="1"/>
          <p:nvPr/>
        </p:nvSpPr>
        <p:spPr>
          <a:xfrm>
            <a:off x="7433627" y="4475749"/>
            <a:ext cx="45608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点击</a:t>
            </a:r>
            <a:r>
              <a:rPr lang="en-US" altLang="zh-CN" dirty="0"/>
              <a:t>run</a:t>
            </a:r>
            <a:r>
              <a:rPr lang="zh-CN" altLang="en-US" dirty="0"/>
              <a:t>按钮，如果没有请查看是否登陆 </a:t>
            </a:r>
            <a:endParaRPr lang="en-US" altLang="zh-CN" dirty="0"/>
          </a:p>
          <a:p>
            <a:pPr lvl="1"/>
            <a:r>
              <a:rPr lang="zh-CN" altLang="en-US" dirty="0"/>
              <a:t>用户：</a:t>
            </a:r>
            <a:r>
              <a:rPr lang="en-US" altLang="zh-CN" dirty="0"/>
              <a:t>paddle-dev </a:t>
            </a:r>
            <a:br>
              <a:rPr lang="zh-CN" altLang="en-US" dirty="0"/>
            </a:br>
            <a:r>
              <a:rPr lang="zh-CN" altLang="en-US" dirty="0"/>
              <a:t>密码：</a:t>
            </a:r>
            <a:r>
              <a:rPr lang="en-US" altLang="zh-CN" dirty="0"/>
              <a:t>paddle-dev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033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E435-B3D1-4031-AAB2-A73EBD96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b="1" dirty="0"/>
              <a:t>分析日志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0E363F-3B87-4749-94A9-75966C5CE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886450" cy="190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4D031F-AFAB-498A-95F9-B98B3B5D42E5}"/>
              </a:ext>
            </a:extLst>
          </p:cNvPr>
          <p:cNvSpPr txBox="1"/>
          <p:nvPr/>
        </p:nvSpPr>
        <p:spPr>
          <a:xfrm>
            <a:off x="6974897" y="1996857"/>
            <a:ext cx="4935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可以点击</a:t>
            </a:r>
            <a:r>
              <a:rPr lang="en-US" altLang="zh-CN" dirty="0"/>
              <a:t>Tree view </a:t>
            </a:r>
            <a:r>
              <a:rPr lang="zh-CN" altLang="en-US" dirty="0"/>
              <a:t>查看完整日志，日志比较</a:t>
            </a:r>
            <a:endParaRPr lang="en-US" altLang="zh-CN" dirty="0"/>
          </a:p>
          <a:p>
            <a:r>
              <a:rPr lang="zh-CN" altLang="en-US" dirty="0"/>
              <a:t>大需要一段时间缓存，也可以下载到本地查看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9F19B-32DA-4791-A5AF-E6B22BFA9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59226"/>
            <a:ext cx="4333875" cy="1924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26AEF-CE64-4E46-866A-A7F6F467A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186" y="3959226"/>
            <a:ext cx="478155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7384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DFB7-B446-4DD3-B36D-D99F4835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b="1" dirty="0"/>
              <a:t>分析日志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C1666C-ACE9-42A8-BA8B-683DFDE6D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8015"/>
            <a:ext cx="7600950" cy="923925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D12519-DE2F-4D02-BE39-222F01974AAD}"/>
              </a:ext>
            </a:extLst>
          </p:cNvPr>
          <p:cNvSpPr/>
          <p:nvPr/>
        </p:nvSpPr>
        <p:spPr>
          <a:xfrm>
            <a:off x="838200" y="1555311"/>
            <a:ext cx="7879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Museo"/>
              </a:rPr>
              <a:t>1. API Difference 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5317C-C852-455A-90AE-570521055551}"/>
              </a:ext>
            </a:extLst>
          </p:cNvPr>
          <p:cNvSpPr/>
          <p:nvPr/>
        </p:nvSpPr>
        <p:spPr>
          <a:xfrm>
            <a:off x="838200" y="3255312"/>
            <a:ext cx="7879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2.Approvals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74617-AF31-4173-8E3C-D2F11FF09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61" y="3764732"/>
            <a:ext cx="7524750" cy="962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D303B4-769B-4979-BEF9-89F22EED2CEF}"/>
              </a:ext>
            </a:extLst>
          </p:cNvPr>
          <p:cNvSpPr/>
          <p:nvPr/>
        </p:nvSpPr>
        <p:spPr>
          <a:xfrm>
            <a:off x="838200" y="4909146"/>
            <a:ext cx="7879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单测失败</a:t>
            </a:r>
            <a:r>
              <a:rPr lang="en-US" altLang="zh-CN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0642A3-3D0F-4BBA-A37B-CD9D1FA88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72" y="5348073"/>
            <a:ext cx="7886700" cy="10953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9FEBC73-C750-40DB-B793-016CCF8017B9}"/>
              </a:ext>
            </a:extLst>
          </p:cNvPr>
          <p:cNvSpPr/>
          <p:nvPr/>
        </p:nvSpPr>
        <p:spPr>
          <a:xfrm>
            <a:off x="831171" y="6467288"/>
            <a:ext cx="11180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API/OP</a:t>
            </a:r>
            <a:r>
              <a:rPr lang="zh-CN" altLang="en-US" dirty="0"/>
              <a:t>负责人列表以及单测列表 </a:t>
            </a:r>
            <a:r>
              <a:rPr lang="en-US" altLang="zh-CN" dirty="0">
                <a:hlinkClick r:id="rId5"/>
              </a:rPr>
              <a:t>http://wiki.baidu.com/pages/viewpage.action?pageId=779490958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5282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F447-1710-4401-960C-526A8DED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b="1" dirty="0"/>
              <a:t>分析</a:t>
            </a:r>
            <a:r>
              <a:rPr lang="en-US" altLang="zh-CN" b="1" dirty="0"/>
              <a:t>Exit code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BF5E0A-AD20-4C69-A83B-A839B1F5F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419" y="2551837"/>
            <a:ext cx="5324475" cy="1752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03B7EF-4F3F-4A15-90F0-C24FDC0DE56C}"/>
              </a:ext>
            </a:extLst>
          </p:cNvPr>
          <p:cNvSpPr txBox="1"/>
          <p:nvPr/>
        </p:nvSpPr>
        <p:spPr>
          <a:xfrm>
            <a:off x="997998" y="2551837"/>
            <a:ext cx="51748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</a:t>
            </a:r>
            <a:r>
              <a:rPr lang="en-US" altLang="zh-CN" dirty="0"/>
              <a:t>Details</a:t>
            </a:r>
            <a:r>
              <a:rPr lang="zh-CN" altLang="en-US" dirty="0"/>
              <a:t>链接跳到失败的任务界面，观察</a:t>
            </a:r>
            <a:r>
              <a:rPr lang="en-US" altLang="zh-CN" dirty="0"/>
              <a:t>exit</a:t>
            </a:r>
          </a:p>
          <a:p>
            <a:r>
              <a:rPr lang="zh-CN" altLang="en-US" dirty="0"/>
              <a:t>退出状态。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常见失败问题：</a:t>
            </a:r>
            <a:endParaRPr lang="en-US" altLang="zh-CN" dirty="0"/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exit 1 </a:t>
            </a:r>
            <a:r>
              <a:rPr lang="zh-CN" altLang="en-US" dirty="0"/>
              <a:t>编译失败或者需要</a:t>
            </a:r>
            <a:r>
              <a:rPr lang="en-US" altLang="zh-CN" dirty="0"/>
              <a:t>approval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exit 125 Docker build</a:t>
            </a:r>
            <a:r>
              <a:rPr lang="zh-CN" altLang="en-US" dirty="0"/>
              <a:t>失败 </a:t>
            </a:r>
            <a:endParaRPr lang="en-US" altLang="zh-CN" dirty="0"/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exit 8 </a:t>
            </a:r>
            <a:r>
              <a:rPr lang="zh-CN" altLang="en-US" dirty="0"/>
              <a:t>单测没有通过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EC8BA-2DCB-4EFB-8C16-3E764BFAEA9D}"/>
              </a:ext>
            </a:extLst>
          </p:cNvPr>
          <p:cNvSpPr/>
          <p:nvPr/>
        </p:nvSpPr>
        <p:spPr>
          <a:xfrm>
            <a:off x="838200" y="5238228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1600" dirty="0"/>
              <a:t>注：如果确认不是自己修改导致的错误，请及时反馈到</a:t>
            </a:r>
            <a:r>
              <a:rPr lang="en-US" altLang="zh-CN" sz="1600" dirty="0"/>
              <a:t>CE and CI</a:t>
            </a:r>
            <a:r>
              <a:rPr lang="zh-CN" altLang="en-US" sz="1600" dirty="0"/>
              <a:t>维护群 </a:t>
            </a:r>
            <a:r>
              <a:rPr lang="en-US" altLang="zh-CN" sz="1600" dirty="0"/>
              <a:t>(1616610)</a:t>
            </a:r>
            <a:r>
              <a:rPr lang="zh-CN" altLang="en-US" sz="1600" dirty="0"/>
              <a:t>，报错附带</a:t>
            </a:r>
            <a:r>
              <a:rPr lang="en-US" altLang="zh-CN" sz="1600" dirty="0"/>
              <a:t>PR</a:t>
            </a:r>
            <a:r>
              <a:rPr lang="zh-CN" altLang="en-US" sz="1600" dirty="0"/>
              <a:t>链接和日志链接 请</a:t>
            </a:r>
            <a:r>
              <a:rPr lang="en-US" altLang="zh-CN" sz="1600" dirty="0"/>
              <a:t>ci</a:t>
            </a:r>
            <a:r>
              <a:rPr lang="zh-CN" altLang="en-US" sz="1600" dirty="0"/>
              <a:t>单测负责人及时修改所负责单测随机挂问题</a:t>
            </a:r>
          </a:p>
        </p:txBody>
      </p:sp>
    </p:spTree>
    <p:extLst>
      <p:ext uri="{BB962C8B-B14F-4D97-AF65-F5344CB8AC3E}">
        <p14:creationId xmlns:p14="http://schemas.microsoft.com/office/powerpoint/2010/main" val="2359815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D98E-490C-4BCA-88B7-C2B27B06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CMAKE</a:t>
            </a:r>
            <a:endParaRPr lang="zh-CN" altLang="en-US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459E05D-7156-4BE8-AFF7-CD21D05AC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11" y="1602601"/>
            <a:ext cx="6451983" cy="4351338"/>
          </a:xfrm>
        </p:spPr>
      </p:pic>
    </p:spTree>
    <p:extLst>
      <p:ext uri="{BB962C8B-B14F-4D97-AF65-F5344CB8AC3E}">
        <p14:creationId xmlns:p14="http://schemas.microsoft.com/office/powerpoint/2010/main" val="2520829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C3D4AF9-D4BB-43D6-8BD2-8E36D3388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WHY?</a:t>
            </a:r>
            <a:endParaRPr lang="zh-CN" altLang="en-US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C934045-B6F1-43F0-AE07-C2095BFCBECB}"/>
              </a:ext>
            </a:extLst>
          </p:cNvPr>
          <p:cNvSpPr/>
          <p:nvPr/>
        </p:nvSpPr>
        <p:spPr>
          <a:xfrm>
            <a:off x="6605895" y="3557860"/>
            <a:ext cx="846281" cy="23265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A6B9C5-300D-4A20-AA6E-6431016BC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176" y="1539005"/>
            <a:ext cx="4394335" cy="435133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5520B1-E500-4656-B4FA-69A1B5D82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432" y="1614846"/>
            <a:ext cx="645198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9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35AAB-5785-4E97-AB7C-99495C78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62" y="1123099"/>
            <a:ext cx="10515600" cy="4351338"/>
          </a:xfrm>
        </p:spPr>
        <p:txBody>
          <a:bodyPr/>
          <a:lstStyle/>
          <a:p>
            <a:r>
              <a:rPr lang="zh-CN" altLang="en-US" dirty="0"/>
              <a:t>你做一个应用需要做什么？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编译源程序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链接其他库程序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贡献源程序或者二进制文件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do better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在软件上运行单元测试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在发行</a:t>
            </a:r>
            <a:r>
              <a:rPr lang="en-US" altLang="zh-CN" dirty="0"/>
              <a:t>package</a:t>
            </a:r>
            <a:r>
              <a:rPr lang="zh-CN" altLang="en-US" dirty="0"/>
              <a:t>上运行单测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查看单测结果？？</a:t>
            </a:r>
          </a:p>
          <a:p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E7E460-AD58-4BBA-9CFB-238A397D5537}"/>
              </a:ext>
            </a:extLst>
          </p:cNvPr>
          <p:cNvSpPr txBox="1">
            <a:spLocks/>
          </p:cNvSpPr>
          <p:nvPr/>
        </p:nvSpPr>
        <p:spPr>
          <a:xfrm>
            <a:off x="5393473" y="1123099"/>
            <a:ext cx="62149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compiling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手动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 ­DMYDEFINE c </a:t>
            </a:r>
            <a:r>
              <a:rPr lang="en-US" altLang="zh-CN" dirty="0" err="1"/>
              <a:t>myapp.o</a:t>
            </a:r>
            <a:r>
              <a:rPr lang="en-US" altLang="zh-CN" dirty="0"/>
              <a:t> myapp.cpp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当什么时候不可行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你有许多文件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一些文件应该只在一个特别的平台编译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不同定义取决于调试</a:t>
            </a:r>
            <a:r>
              <a:rPr lang="en-US" altLang="zh-CN" dirty="0"/>
              <a:t>/</a:t>
            </a:r>
            <a:r>
              <a:rPr lang="zh-CN" altLang="en-US" dirty="0"/>
              <a:t>发布、平台、编译器、等</a:t>
            </a:r>
          </a:p>
          <a:p>
            <a:r>
              <a:rPr lang="en-US" altLang="zh-CN" dirty="0"/>
              <a:t>Linking</a:t>
            </a:r>
            <a:r>
              <a:rPr lang="zh-CN" altLang="en-US" dirty="0"/>
              <a:t>（同上）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手动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某些情况不可行</a:t>
            </a:r>
          </a:p>
        </p:txBody>
      </p:sp>
    </p:spTree>
    <p:extLst>
      <p:ext uri="{BB962C8B-B14F-4D97-AF65-F5344CB8AC3E}">
        <p14:creationId xmlns:p14="http://schemas.microsoft.com/office/powerpoint/2010/main" val="3919074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35AAB-5785-4E97-AB7C-99495C78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62" y="1123098"/>
            <a:ext cx="5172306" cy="5511877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distribute software</a:t>
            </a:r>
            <a:endParaRPr lang="zh-CN" alt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传统方法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开发人员负责开发代码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一旦软件完成，其他人将其打包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多种包装格式取决于操作系统版本，平台，</a:t>
            </a:r>
            <a:r>
              <a:rPr lang="en-US" altLang="zh-CN" dirty="0"/>
              <a:t>Linux</a:t>
            </a:r>
            <a:r>
              <a:rPr lang="zh-CN" altLang="en-US" dirty="0"/>
              <a:t>分发，等等：</a:t>
            </a:r>
            <a:r>
              <a:rPr lang="en-US" altLang="zh-CN" dirty="0"/>
              <a:t>.deb</a:t>
            </a:r>
            <a:r>
              <a:rPr lang="zh-CN" altLang="en-US" dirty="0"/>
              <a:t>，</a:t>
            </a:r>
            <a:r>
              <a:rPr lang="en-US" altLang="zh-CN" dirty="0"/>
              <a:t>.rpm</a:t>
            </a:r>
            <a:r>
              <a:rPr lang="zh-CN" altLang="en-US" dirty="0"/>
              <a:t>，</a:t>
            </a:r>
            <a:r>
              <a:rPr lang="en-US" altLang="zh-CN" dirty="0"/>
              <a:t>.</a:t>
            </a:r>
            <a:r>
              <a:rPr lang="en-US" altLang="zh-CN" dirty="0" err="1"/>
              <a:t>msi</a:t>
            </a:r>
            <a:r>
              <a:rPr lang="zh-CN" altLang="en-US" dirty="0"/>
              <a:t>，</a:t>
            </a:r>
            <a:r>
              <a:rPr lang="en-US" altLang="zh-CN" dirty="0"/>
              <a:t>.dmg</a:t>
            </a:r>
            <a:r>
              <a:rPr lang="zh-CN" altLang="en-US" dirty="0"/>
              <a:t>，</a:t>
            </a:r>
            <a:r>
              <a:rPr lang="en-US" altLang="zh-CN" dirty="0"/>
              <a:t>.src.tar.gz</a:t>
            </a:r>
            <a:r>
              <a:rPr lang="zh-CN" altLang="en-US" dirty="0"/>
              <a:t>，</a:t>
            </a:r>
            <a:r>
              <a:rPr lang="en-US" altLang="zh-CN" dirty="0"/>
              <a:t>.tar.gz</a:t>
            </a:r>
            <a:r>
              <a:rPr lang="zh-CN" altLang="en-US" dirty="0"/>
              <a:t>，</a:t>
            </a:r>
            <a:r>
              <a:rPr lang="en-US" altLang="zh-CN" dirty="0"/>
              <a:t>.</a:t>
            </a:r>
            <a:r>
              <a:rPr lang="en-US" altLang="zh-CN" dirty="0" err="1"/>
              <a:t>installshield</a:t>
            </a:r>
            <a:r>
              <a:rPr lang="zh-CN" altLang="en-US" dirty="0"/>
              <a:t>，等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你会喜欢自动化这但是是可能把包装工带入开发过程</a:t>
            </a:r>
          </a:p>
          <a:p>
            <a:r>
              <a:rPr lang="en-US" altLang="zh-CN" dirty="0"/>
              <a:t>Testing and gathering 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有人需要为对应平台做测试然后合并结果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是否可能自动化这一点？“做测试”？收集结果怎么样？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E7E460-AD58-4BBA-9CFB-238A397D5537}"/>
              </a:ext>
            </a:extLst>
          </p:cNvPr>
          <p:cNvSpPr txBox="1">
            <a:spLocks/>
          </p:cNvSpPr>
          <p:nvPr/>
        </p:nvSpPr>
        <p:spPr>
          <a:xfrm>
            <a:off x="5828371" y="1123099"/>
            <a:ext cx="6270702" cy="5511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testing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开发软件时都应该使用单元测试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何时以及如何进行单元测试？ 通常是三步流程：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您手动调用构建过程（例如</a:t>
            </a:r>
            <a:r>
              <a:rPr lang="en-US" altLang="zh-CN" dirty="0"/>
              <a:t>make</a:t>
            </a:r>
            <a:r>
              <a:rPr lang="zh-CN" altLang="en-US" dirty="0"/>
              <a:t>）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完成后，您手动运行测试套件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完成后，查看结果并搜索错误和</a:t>
            </a:r>
            <a:r>
              <a:rPr lang="en-US" altLang="zh-CN" dirty="0"/>
              <a:t>/</a:t>
            </a:r>
            <a:r>
              <a:rPr lang="zh-CN" altLang="en-US" dirty="0"/>
              <a:t>或警告</a:t>
            </a:r>
            <a:endParaRPr lang="en-US" altLang="zh-CN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dirty="0"/>
              <a:t>您能测试</a:t>
            </a:r>
            <a:r>
              <a:rPr lang="en-US" altLang="zh-CN" dirty="0"/>
              <a:t>package</a:t>
            </a:r>
            <a:r>
              <a:rPr lang="zh-CN" altLang="en-US" dirty="0"/>
              <a:t>吗？您是否需要手动调用单个测试或单元测试？</a:t>
            </a:r>
          </a:p>
        </p:txBody>
      </p:sp>
    </p:spTree>
    <p:extLst>
      <p:ext uri="{BB962C8B-B14F-4D97-AF65-F5344CB8AC3E}">
        <p14:creationId xmlns:p14="http://schemas.microsoft.com/office/powerpoint/2010/main" val="735285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7465-1DBD-49CD-BC4E-3818D7A5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Meeting CMAKE</a:t>
            </a:r>
            <a:endParaRPr lang="zh-CN" alt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7AC282-565D-437B-847C-538B1BEE3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00" y="1432628"/>
            <a:ext cx="5331561" cy="4351338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16E170D-BEA3-431C-AE6C-DF31F35419BD}"/>
              </a:ext>
            </a:extLst>
          </p:cNvPr>
          <p:cNvSpPr/>
          <p:nvPr/>
        </p:nvSpPr>
        <p:spPr>
          <a:xfrm>
            <a:off x="5710001" y="3508275"/>
            <a:ext cx="846281" cy="23265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EB5AE-005E-4F8A-BA13-26788D598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080029" cy="41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51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00F4-DDA2-4929-96D6-228362350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946"/>
            <a:ext cx="10515600" cy="5263375"/>
          </a:xfrm>
        </p:spPr>
        <p:txBody>
          <a:bodyPr/>
          <a:lstStyle/>
          <a:p>
            <a:r>
              <a:rPr lang="en-US" altLang="zh-CN" dirty="0"/>
              <a:t>What?</a:t>
            </a:r>
          </a:p>
          <a:p>
            <a:pPr lvl="1"/>
            <a:r>
              <a:rPr lang="en-US" altLang="zh-CN" sz="2800" dirty="0" err="1"/>
              <a:t>cmake</a:t>
            </a:r>
            <a:r>
              <a:rPr lang="zh-CN" altLang="en-US" sz="2800" dirty="0"/>
              <a:t>用于控制软件编译过程使用简单平台和编译器独立配置文件</a:t>
            </a:r>
            <a:endParaRPr lang="en-US" altLang="zh-CN" sz="2800" dirty="0"/>
          </a:p>
          <a:p>
            <a:pPr lvl="1"/>
            <a:r>
              <a:rPr lang="zh-CN" altLang="en-US" sz="2800" dirty="0"/>
              <a:t>在你的选择的编译环境中生成一个原生的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文件文件和一个工作空间，即：</a:t>
            </a:r>
            <a:r>
              <a:rPr lang="en-US" altLang="zh-CN" sz="2800" dirty="0"/>
              <a:t>Visual C++</a:t>
            </a:r>
            <a:r>
              <a:rPr lang="zh-CN" altLang="en-US" sz="2800" dirty="0"/>
              <a:t>，</a:t>
            </a:r>
            <a:r>
              <a:rPr lang="en-US" altLang="zh-CN" sz="2800" dirty="0"/>
              <a:t>KeDeal3</a:t>
            </a:r>
            <a:r>
              <a:rPr lang="zh-CN" altLang="en-US" sz="2800" dirty="0"/>
              <a:t>，</a:t>
            </a:r>
            <a:r>
              <a:rPr lang="en-US" altLang="zh-CN" sz="2800" dirty="0"/>
              <a:t>Eclipse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XxCord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（</a:t>
            </a:r>
            <a:r>
              <a:rPr lang="en-US" altLang="zh-CN" sz="2800" dirty="0"/>
              <a:t>UNIX</a:t>
            </a:r>
            <a:r>
              <a:rPr lang="zh-CN" altLang="en-US" sz="2800" dirty="0"/>
              <a:t>，</a:t>
            </a:r>
            <a:r>
              <a:rPr lang="en-US" altLang="zh-CN" sz="2800" dirty="0"/>
              <a:t>NNGOW</a:t>
            </a:r>
            <a:r>
              <a:rPr lang="zh-CN" altLang="en-US" sz="2800" dirty="0"/>
              <a:t>，</a:t>
            </a:r>
            <a:r>
              <a:rPr lang="en-US" altLang="zh-CN" sz="2800" dirty="0"/>
              <a:t>Borland</a:t>
            </a:r>
            <a:r>
              <a:rPr lang="zh-CN" altLang="en-US" sz="2800" dirty="0"/>
              <a:t>，</a:t>
            </a:r>
            <a:r>
              <a:rPr lang="en-US" altLang="zh-CN" sz="2800" dirty="0"/>
              <a:t>VATCOM</a:t>
            </a:r>
            <a:r>
              <a:rPr lang="zh-CN" altLang="en-US" sz="2800" dirty="0"/>
              <a:t>，</a:t>
            </a:r>
            <a:r>
              <a:rPr lang="en-US" altLang="zh-CN" sz="2800" dirty="0"/>
              <a:t>MIWW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MySe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CygWin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/>
            <a:r>
              <a:rPr lang="zh-CN" altLang="en-US" sz="2800" dirty="0"/>
              <a:t>项目在</a:t>
            </a:r>
            <a:r>
              <a:rPr lang="en-US" altLang="zh-CN" sz="2800" dirty="0"/>
              <a:t>cmakelists.txt</a:t>
            </a:r>
            <a:r>
              <a:rPr lang="zh-CN" altLang="en-US" sz="2800" dirty="0"/>
              <a:t>文件中描述</a:t>
            </a:r>
          </a:p>
        </p:txBody>
      </p:sp>
    </p:spTree>
    <p:extLst>
      <p:ext uri="{BB962C8B-B14F-4D97-AF65-F5344CB8AC3E}">
        <p14:creationId xmlns:p14="http://schemas.microsoft.com/office/powerpoint/2010/main" val="1191636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00D6-4C31-4A7B-9F1A-3FDE86E1A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863"/>
            <a:ext cx="10515600" cy="5597100"/>
          </a:xfrm>
        </p:spPr>
        <p:txBody>
          <a:bodyPr/>
          <a:lstStyle/>
          <a:p>
            <a:r>
              <a:rPr lang="en-US" altLang="zh-CN" sz="3200" dirty="0"/>
              <a:t>CMAKE advantages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跨平台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非常简单的脚本语言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查看模块方便</a:t>
            </a:r>
            <a:r>
              <a:rPr lang="en-US" altLang="zh-CN" sz="2800" dirty="0"/>
              <a:t>:  FIND_PACKAGE 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为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、</a:t>
            </a:r>
            <a:r>
              <a:rPr lang="en-US" altLang="zh-CN" sz="2800" dirty="0"/>
              <a:t>visual studio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kdevelop</a:t>
            </a:r>
            <a:r>
              <a:rPr lang="zh-CN" altLang="en-US" sz="2800" dirty="0"/>
              <a:t>、</a:t>
            </a:r>
            <a:r>
              <a:rPr lang="en-US" altLang="zh-CN" sz="2800" dirty="0"/>
              <a:t>eclipse</a:t>
            </a:r>
            <a:r>
              <a:rPr lang="zh-CN" altLang="en-US" sz="2800" dirty="0"/>
              <a:t>、等创建项目文件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用户依旧可以使用他们习惯的工具</a:t>
            </a:r>
            <a:endParaRPr lang="en-US" altLang="zh-CN" sz="2800" dirty="0"/>
          </a:p>
          <a:p>
            <a:pPr marL="457200" lvl="1" indent="0">
              <a:buNone/>
            </a:pP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CN" sz="3200" dirty="0"/>
              <a:t>Disadvantages</a:t>
            </a:r>
            <a:r>
              <a:rPr lang="en-US" altLang="zh-CN" sz="2800" dirty="0"/>
              <a:t>:</a:t>
            </a:r>
          </a:p>
          <a:p>
            <a:pPr marL="457200" lvl="1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无法克服</a:t>
            </a:r>
            <a:r>
              <a:rPr lang="en-US" altLang="zh-CN" sz="2800" dirty="0"/>
              <a:t>IDE /'make'</a:t>
            </a:r>
            <a:r>
              <a:rPr lang="zh-CN" altLang="en-US" sz="2800" dirty="0"/>
              <a:t>所具有的限制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212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C46D-21CB-46AD-9105-BD0F3428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586" y="588149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Build Flow</a:t>
            </a:r>
            <a:endParaRPr lang="zh-CN" altLang="en-US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A535A8-5A3D-4FAC-834F-5CCFA4D17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12" y="1568172"/>
            <a:ext cx="6915849" cy="4351338"/>
          </a:xfrm>
        </p:spPr>
      </p:pic>
    </p:spTree>
    <p:extLst>
      <p:ext uri="{BB962C8B-B14F-4D97-AF65-F5344CB8AC3E}">
        <p14:creationId xmlns:p14="http://schemas.microsoft.com/office/powerpoint/2010/main" val="4109912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CB19-1848-4B36-8E00-F1B4D4D8D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In-source  VS out-of-source </a:t>
            </a:r>
          </a:p>
          <a:p>
            <a:pPr lvl="1"/>
            <a:r>
              <a:rPr lang="zh-CN" altLang="en-US" dirty="0"/>
              <a:t>放置目标文件，可执行文件和库的位置</a:t>
            </a:r>
            <a:endParaRPr lang="en-US" altLang="zh-CN" dirty="0"/>
          </a:p>
          <a:p>
            <a:pPr lvl="1"/>
            <a:r>
              <a:rPr lang="zh-CN" altLang="en-US" dirty="0"/>
              <a:t>源内编译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 err="1"/>
              <a:t>helloapp</a:t>
            </a:r>
            <a:r>
              <a:rPr lang="en-US" altLang="zh-CN" dirty="0"/>
              <a:t>/hello.cpp 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 err="1"/>
              <a:t>helloapp</a:t>
            </a:r>
            <a:r>
              <a:rPr lang="en-US" altLang="zh-CN" dirty="0"/>
              <a:t>/hello.exe </a:t>
            </a:r>
          </a:p>
          <a:p>
            <a:pPr lvl="1"/>
            <a:r>
              <a:rPr lang="zh-CN" altLang="en-US" dirty="0"/>
              <a:t>源外编译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 err="1"/>
              <a:t>helloapp</a:t>
            </a:r>
            <a:r>
              <a:rPr lang="en-US" altLang="zh-CN" dirty="0"/>
              <a:t>/hello.cpp 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 err="1"/>
              <a:t>helloapp­build</a:t>
            </a:r>
            <a:r>
              <a:rPr lang="en-US" altLang="zh-CN" dirty="0"/>
              <a:t>/hello.exe </a:t>
            </a:r>
          </a:p>
          <a:p>
            <a:pPr lvl="1"/>
            <a:r>
              <a:rPr lang="zh-CN" altLang="en-US" dirty="0"/>
              <a:t>推荐源外编译</a:t>
            </a:r>
            <a:r>
              <a:rPr lang="en-US" altLang="zh-CN" dirty="0"/>
              <a:t>(paddle</a:t>
            </a:r>
            <a:r>
              <a:rPr lang="zh-CN" altLang="en-US" dirty="0"/>
              <a:t>推荐源源外编译）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F5C4E-890E-43CE-813B-701125D75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48" y="4921289"/>
            <a:ext cx="6181725" cy="1609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DC1B8-0635-4E40-B819-B50B6A114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382" y="3093089"/>
            <a:ext cx="3857625" cy="1552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4834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3DC5-574E-4F29-9C6F-15C36422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The </a:t>
            </a:r>
            <a:r>
              <a:rPr lang="en-US" altLang="zh-CN" dirty="0" err="1"/>
              <a:t>CMake</a:t>
            </a:r>
            <a:r>
              <a:rPr lang="en-US" altLang="zh-CN" dirty="0"/>
              <a:t> workflow</a:t>
            </a:r>
          </a:p>
          <a:p>
            <a:pPr lvl="1"/>
            <a:r>
              <a:rPr lang="zh-CN" altLang="en-US" dirty="0"/>
              <a:t>工作目录</a:t>
            </a:r>
            <a:endParaRPr lang="en-US" altLang="zh-CN" dirty="0"/>
          </a:p>
          <a:p>
            <a:pPr lvl="2"/>
            <a:r>
              <a:rPr lang="en-US" altLang="zh-CN" dirty="0"/>
              <a:t>Paddle</a:t>
            </a:r>
          </a:p>
          <a:p>
            <a:pPr marL="1371600" lvl="3" indent="0">
              <a:buNone/>
            </a:pPr>
            <a:r>
              <a:rPr lang="en-US" altLang="zh-CN" dirty="0"/>
              <a:t>build</a:t>
            </a:r>
          </a:p>
          <a:p>
            <a:pPr marL="1371600" lvl="3" indent="0">
              <a:buNone/>
            </a:pPr>
            <a:r>
              <a:rPr lang="en-US" altLang="zh-CN" dirty="0" err="1"/>
              <a:t>cmake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dirty="0"/>
              <a:t>doc</a:t>
            </a:r>
          </a:p>
          <a:p>
            <a:pPr marL="1371600" lvl="3" indent="0">
              <a:buNone/>
            </a:pP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cd paddle/build</a:t>
            </a:r>
          </a:p>
          <a:p>
            <a:pPr lvl="1"/>
            <a:r>
              <a:rPr lang="en-US" altLang="zh-CN" dirty="0"/>
              <a:t>cd </a:t>
            </a:r>
            <a:r>
              <a:rPr lang="en-US" altLang="zh-CN" dirty="0" err="1"/>
              <a:t>cmake</a:t>
            </a:r>
            <a:r>
              <a:rPr lang="en-US" altLang="zh-CN" dirty="0"/>
              <a:t> .. [options][</a:t>
            </a:r>
            <a:r>
              <a:rPr lang="en-US" altLang="zh-CN" dirty="0" err="1"/>
              <a:t>args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make</a:t>
            </a:r>
            <a:r>
              <a:rPr lang="zh-CN" altLang="en-US" dirty="0"/>
              <a:t>命令（</a:t>
            </a:r>
            <a:r>
              <a:rPr lang="en-US" altLang="zh-CN" dirty="0"/>
              <a:t>Unix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或者打开项目（</a:t>
            </a:r>
            <a:r>
              <a:rPr lang="en-US" altLang="zh-CN" dirty="0"/>
              <a:t>VC++)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上，您还可以使用</a:t>
            </a:r>
            <a:r>
              <a:rPr lang="en-US" altLang="zh-CN" dirty="0" err="1"/>
              <a:t>CMakeSetup</a:t>
            </a:r>
            <a:r>
              <a:rPr lang="zh-CN" altLang="en-US" dirty="0"/>
              <a:t>（</a:t>
            </a:r>
            <a:r>
              <a:rPr lang="en-US" altLang="zh-CN" dirty="0"/>
              <a:t>GUI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97A76B-7E89-4BAA-B99C-41B44C0C973F}"/>
              </a:ext>
            </a:extLst>
          </p:cNvPr>
          <p:cNvSpPr/>
          <p:nvPr/>
        </p:nvSpPr>
        <p:spPr>
          <a:xfrm>
            <a:off x="7936637" y="850285"/>
            <a:ext cx="3275861" cy="21756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D9938-C082-49D2-8B99-C9B321EDC35B}"/>
              </a:ext>
            </a:extLst>
          </p:cNvPr>
          <p:cNvSpPr txBox="1"/>
          <p:nvPr/>
        </p:nvSpPr>
        <p:spPr>
          <a:xfrm>
            <a:off x="7302154" y="850285"/>
            <a:ext cx="2696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dirty="0"/>
              <a:t>在</a:t>
            </a:r>
            <a:r>
              <a:rPr lang="en-US" altLang="zh-CN" dirty="0"/>
              <a:t>Eclipse:</a:t>
            </a:r>
          </a:p>
          <a:p>
            <a:pPr marL="1200150" lvl="2" indent="-285750" algn="ctr">
              <a:buFont typeface="Arial" panose="020B0604020202020204" pitchFamily="34" charset="0"/>
              <a:buChar char="•"/>
            </a:pPr>
            <a:r>
              <a:rPr lang="en-US" altLang="zh-CN" dirty="0" err="1"/>
              <a:t>Myapp</a:t>
            </a:r>
            <a:r>
              <a:rPr lang="en-US" altLang="zh-CN" dirty="0"/>
              <a:t>/trunk</a:t>
            </a:r>
          </a:p>
          <a:p>
            <a:pPr marL="1200150" lvl="2" indent="-285750" algn="ctr">
              <a:buFont typeface="Arial" panose="020B0604020202020204" pitchFamily="34" charset="0"/>
              <a:buChar char="•"/>
            </a:pPr>
            <a:r>
              <a:rPr lang="en-US" altLang="zh-CN" dirty="0" err="1"/>
              <a:t>Myapp</a:t>
            </a:r>
            <a:r>
              <a:rPr lang="en-US" altLang="zh-CN" dirty="0"/>
              <a:t>-build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26889-1092-47A2-AB55-4E2E83FCA86F}"/>
              </a:ext>
            </a:extLst>
          </p:cNvPr>
          <p:cNvSpPr txBox="1"/>
          <p:nvPr/>
        </p:nvSpPr>
        <p:spPr>
          <a:xfrm>
            <a:off x="7969302" y="1938119"/>
            <a:ext cx="3243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如果构建目录是源目录的子</a:t>
            </a:r>
            <a:endParaRPr lang="en-US" altLang="zh-CN" dirty="0"/>
          </a:p>
          <a:p>
            <a:r>
              <a:rPr lang="zh-CN" altLang="en-US" dirty="0"/>
              <a:t>目录</a:t>
            </a:r>
            <a:r>
              <a:rPr lang="en-US" altLang="zh-CN" dirty="0"/>
              <a:t>, Eclipse</a:t>
            </a:r>
            <a:r>
              <a:rPr lang="zh-CN" altLang="en-US" dirty="0"/>
              <a:t>会有问题</a:t>
            </a:r>
          </a:p>
        </p:txBody>
      </p:sp>
    </p:spTree>
    <p:extLst>
      <p:ext uri="{BB962C8B-B14F-4D97-AF65-F5344CB8AC3E}">
        <p14:creationId xmlns:p14="http://schemas.microsoft.com/office/powerpoint/2010/main" val="1323054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2C18-98BE-49EE-AC6C-00D589B6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Example</a:t>
            </a:r>
            <a:endParaRPr lang="zh-CN" alt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1F43-FD1E-4F5B-BC1A-79B9BB04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972"/>
            <a:ext cx="10515600" cy="535576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制作简单的执行器</a:t>
            </a:r>
            <a:endParaRPr lang="en-US" altLang="zh-CN" sz="1600" dirty="0"/>
          </a:p>
          <a:p>
            <a:pPr marL="457200" lvl="1" indent="0">
              <a:buNone/>
            </a:pPr>
            <a:r>
              <a:rPr lang="en-US" altLang="zh-CN" sz="1400" dirty="0"/>
              <a:t>PROJECT( </a:t>
            </a:r>
            <a:r>
              <a:rPr lang="en-US" altLang="zh-CN" sz="1400" dirty="0" err="1"/>
              <a:t>helloworld</a:t>
            </a:r>
            <a:r>
              <a:rPr lang="en-US" altLang="zh-CN" sz="1400" dirty="0"/>
              <a:t> )  </a:t>
            </a:r>
          </a:p>
          <a:p>
            <a:pPr marL="457200" lvl="1" indent="0">
              <a:buNone/>
            </a:pPr>
            <a:r>
              <a:rPr lang="en-US" altLang="zh-CN" sz="1400" dirty="0"/>
              <a:t>SET( </a:t>
            </a:r>
            <a:r>
              <a:rPr lang="en-US" altLang="zh-CN" sz="1400" dirty="0" err="1"/>
              <a:t>hello_SRCS</a:t>
            </a:r>
            <a:r>
              <a:rPr lang="en-US" altLang="zh-CN" sz="1400" dirty="0"/>
              <a:t> hello.cpp )</a:t>
            </a:r>
          </a:p>
          <a:p>
            <a:pPr marL="457200" lvl="1" indent="0">
              <a:buNone/>
            </a:pPr>
            <a:r>
              <a:rPr lang="en-US" altLang="zh-CN" sz="1400" dirty="0"/>
              <a:t>ADD_EXECUTABLE( hello ${</a:t>
            </a:r>
            <a:r>
              <a:rPr lang="en-US" altLang="zh-CN" sz="1400" dirty="0" err="1"/>
              <a:t>hello_SRCS</a:t>
            </a:r>
            <a:r>
              <a:rPr lang="en-US" altLang="zh-CN" sz="1400" dirty="0"/>
              <a:t>} )</a:t>
            </a:r>
          </a:p>
          <a:p>
            <a:pPr marL="457200" lvl="1" indent="0">
              <a:buNone/>
            </a:pP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PROJECT</a:t>
            </a:r>
            <a:r>
              <a:rPr lang="zh-CN" altLang="en-US" sz="1400" dirty="0"/>
              <a:t>不是必须的但是我们应该加上</a:t>
            </a: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ADD_EXECUTABLE</a:t>
            </a:r>
            <a:r>
              <a:rPr lang="zh-CN" altLang="en-US" sz="1400" dirty="0"/>
              <a:t>从列出的源创建可执行文件</a:t>
            </a: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Tips</a:t>
            </a:r>
            <a:r>
              <a:rPr lang="zh-CN" altLang="en-US" sz="1400" dirty="0"/>
              <a:t>：用变量的方式将源添加到列表（</a:t>
            </a:r>
            <a:r>
              <a:rPr lang="en-US" altLang="zh-CN" sz="1400" dirty="0" err="1"/>
              <a:t>hello_SRCS</a:t>
            </a:r>
            <a:r>
              <a:rPr lang="zh-CN" altLang="en-US" sz="1400" dirty="0"/>
              <a:t>），不要在</a:t>
            </a:r>
            <a:r>
              <a:rPr lang="en-US" altLang="zh-CN" sz="1400" dirty="0"/>
              <a:t>ADD_EXECUTABLE</a:t>
            </a:r>
            <a:r>
              <a:rPr lang="zh-CN" altLang="en-US" sz="1400" dirty="0"/>
              <a:t>中列出它们</a:t>
            </a:r>
            <a:endParaRPr lang="en-US" altLang="zh-CN" sz="1400" dirty="0"/>
          </a:p>
          <a:p>
            <a:pPr marL="457200" lvl="1" indent="0">
              <a:buNone/>
            </a:pPr>
            <a:endParaRPr lang="en-US" altLang="zh-CN" sz="1200" dirty="0"/>
          </a:p>
          <a:p>
            <a:r>
              <a:rPr lang="zh-CN" altLang="en-US" sz="1600" dirty="0"/>
              <a:t>制作简单库文件</a:t>
            </a:r>
            <a:endParaRPr lang="en-US" altLang="zh-CN" sz="1600" dirty="0"/>
          </a:p>
          <a:p>
            <a:pPr marL="457200" lvl="1" indent="0">
              <a:buNone/>
            </a:pPr>
            <a:r>
              <a:rPr lang="en-US" altLang="zh-CN" sz="1400" dirty="0"/>
              <a:t>PROJECT( </a:t>
            </a:r>
            <a:r>
              <a:rPr lang="en-US" altLang="zh-CN" sz="1400" dirty="0" err="1"/>
              <a:t>mylibrary</a:t>
            </a:r>
            <a:r>
              <a:rPr lang="en-US" altLang="zh-CN" sz="1400" dirty="0"/>
              <a:t> )  </a:t>
            </a:r>
          </a:p>
          <a:p>
            <a:pPr marL="457200" lvl="1" indent="0">
              <a:buNone/>
            </a:pPr>
            <a:r>
              <a:rPr lang="en-US" altLang="zh-CN" sz="1400" dirty="0"/>
              <a:t>SET( </a:t>
            </a:r>
            <a:r>
              <a:rPr lang="en-US" altLang="zh-CN" sz="1400" dirty="0" err="1"/>
              <a:t>mylib_SRCS</a:t>
            </a:r>
            <a:r>
              <a:rPr lang="en-US" altLang="zh-CN" sz="1400" dirty="0"/>
              <a:t> library.cpp )  </a:t>
            </a:r>
          </a:p>
          <a:p>
            <a:pPr marL="457200" lvl="1" indent="0">
              <a:buNone/>
            </a:pPr>
            <a:r>
              <a:rPr lang="en-US" altLang="zh-CN" sz="1400" dirty="0"/>
              <a:t>ADD_LIBRARY( my SHARED ${</a:t>
            </a:r>
            <a:r>
              <a:rPr lang="en-US" altLang="zh-CN" sz="1400" dirty="0" err="1"/>
              <a:t>mylib_SRCS</a:t>
            </a:r>
            <a:r>
              <a:rPr lang="en-US" altLang="zh-CN" sz="1400" dirty="0"/>
              <a:t>} )</a:t>
            </a:r>
          </a:p>
          <a:p>
            <a:pPr marL="457200" lvl="1" indent="0">
              <a:buNone/>
            </a:pP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ADD_LIBRARY</a:t>
            </a:r>
            <a:r>
              <a:rPr lang="zh-CN" altLang="en-US" sz="1400" dirty="0"/>
              <a:t>从列出的源创建一个静态库</a:t>
            </a:r>
            <a:r>
              <a:rPr lang="en-US" altLang="zh-CN" sz="1400" dirty="0"/>
              <a:t>(static)</a:t>
            </a:r>
            <a:r>
              <a:rPr lang="zh-CN" altLang="en-US" sz="1400" dirty="0"/>
              <a:t>或者动态库</a:t>
            </a:r>
            <a:r>
              <a:rPr lang="en-US" altLang="zh-CN" sz="1400" dirty="0"/>
              <a:t>(shared)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400" dirty="0"/>
              <a:t>静态库：在链接时，将使用过的代码添加到可执行文件中</a:t>
            </a: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400" dirty="0"/>
              <a:t>共享</a:t>
            </a:r>
            <a:r>
              <a:rPr lang="en-US" altLang="zh-CN" sz="1400" dirty="0"/>
              <a:t>/</a:t>
            </a:r>
            <a:r>
              <a:rPr lang="zh-CN" altLang="en-US" sz="1400" dirty="0"/>
              <a:t>动态库：在链接时，告诉可执行文件在哪里找到它需要的代码</a:t>
            </a:r>
          </a:p>
        </p:txBody>
      </p:sp>
    </p:spTree>
    <p:extLst>
      <p:ext uri="{BB962C8B-B14F-4D97-AF65-F5344CB8AC3E}">
        <p14:creationId xmlns:p14="http://schemas.microsoft.com/office/powerpoint/2010/main" val="3528195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4F5D-B6BB-41ED-A4A6-66C45CE4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Real world </a:t>
            </a:r>
            <a:r>
              <a:rPr lang="en-US" altLang="zh-CN" b="1" dirty="0" err="1"/>
              <a:t>CMake</a:t>
            </a:r>
            <a:r>
              <a:rPr lang="en-US" altLang="zh-CN" b="1" dirty="0"/>
              <a:t>: dependencies between targets</a:t>
            </a:r>
            <a:endParaRPr lang="zh-CN" alt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7FC65-263F-4DE9-A631-5DF944E02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547" y="1470883"/>
            <a:ext cx="618481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A1CE09-3C38-4735-A18A-FF2099A3E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8010"/>
            <a:ext cx="6007448" cy="405153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5DEEE7D-B2E5-45EC-A7FA-7F9B8A7080E8}"/>
              </a:ext>
            </a:extLst>
          </p:cNvPr>
          <p:cNvSpPr/>
          <p:nvPr/>
        </p:nvSpPr>
        <p:spPr>
          <a:xfrm>
            <a:off x="5861612" y="4204769"/>
            <a:ext cx="846281" cy="23265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277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49B9-E4DA-4E79-86B5-667B8305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/>
              <a:t>Adding other sources</a:t>
            </a:r>
            <a:endParaRPr lang="zh-CN" alt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DEDBE-3C63-47FE-A314-6FBA71B9C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85" y="1559294"/>
            <a:ext cx="6921318" cy="4351338"/>
          </a:xfrm>
        </p:spPr>
      </p:pic>
    </p:spTree>
    <p:extLst>
      <p:ext uri="{BB962C8B-B14F-4D97-AF65-F5344CB8AC3E}">
        <p14:creationId xmlns:p14="http://schemas.microsoft.com/office/powerpoint/2010/main" val="2862939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1A4F46-0A91-457C-BFE2-C43FA780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1737"/>
            <a:ext cx="10515600" cy="5385226"/>
          </a:xfrm>
        </p:spPr>
        <p:txBody>
          <a:bodyPr>
            <a:normAutofit/>
          </a:bodyPr>
          <a:lstStyle/>
          <a:p>
            <a:r>
              <a:rPr lang="en-US" altLang="zh-CN" dirty="0"/>
              <a:t>Changing build parameters</a:t>
            </a:r>
          </a:p>
          <a:p>
            <a:pPr lvl="1"/>
            <a:r>
              <a:rPr lang="en-US" altLang="zh-CN" sz="2800" dirty="0" err="1"/>
              <a:t>Cmake</a:t>
            </a:r>
            <a:r>
              <a:rPr lang="zh-CN" altLang="en-US" sz="2800" dirty="0"/>
              <a:t>为预处理器，编译器和链接器使用通用的，合理的默认值</a:t>
            </a:r>
            <a:endParaRPr lang="en-US" altLang="zh-CN" sz="2800" dirty="0"/>
          </a:p>
          <a:p>
            <a:pPr lvl="1"/>
            <a:r>
              <a:rPr lang="zh-CN" altLang="en-US" sz="2800" dirty="0"/>
              <a:t>使用</a:t>
            </a:r>
            <a:r>
              <a:rPr lang="en-US" altLang="zh-CN" sz="2800" dirty="0"/>
              <a:t>ADD_DEFINITIONS</a:t>
            </a:r>
            <a:r>
              <a:rPr lang="zh-CN" altLang="en-US" sz="2800" dirty="0"/>
              <a:t>和</a:t>
            </a:r>
            <a:r>
              <a:rPr lang="en-US" altLang="zh-CN" sz="2800" dirty="0"/>
              <a:t>REMOVE_DEFINITIONS</a:t>
            </a:r>
            <a:r>
              <a:rPr lang="zh-CN" altLang="en-US" sz="2800" dirty="0"/>
              <a:t>修改预处理器设置</a:t>
            </a:r>
            <a:endParaRPr lang="en-US" altLang="zh-CN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sz="2800" dirty="0"/>
              <a:t>Tips</a:t>
            </a:r>
            <a:r>
              <a:rPr lang="zh-CN" altLang="en-US" sz="2800" dirty="0"/>
              <a:t>：一些内部变量（</a:t>
            </a:r>
            <a:r>
              <a:rPr lang="en-US" altLang="zh-CN" sz="2800" dirty="0"/>
              <a:t>CMAKE_ *</a:t>
            </a:r>
            <a:r>
              <a:rPr lang="zh-CN" altLang="en-US" sz="2800" dirty="0"/>
              <a:t>）是只读的，必须在执行命令时更改</a:t>
            </a:r>
            <a:endParaRPr lang="en-US" altLang="zh-CN" sz="2800" dirty="0"/>
          </a:p>
          <a:p>
            <a:pPr lvl="1"/>
            <a:r>
              <a:rPr lang="en-US" altLang="zh-CN" sz="2800" dirty="0"/>
              <a:t>Cmake</a:t>
            </a:r>
            <a:r>
              <a:rPr lang="zh-CN" altLang="en-US" sz="2800" dirty="0"/>
              <a:t>中的变量：</a:t>
            </a:r>
            <a:endParaRPr lang="en-US" altLang="zh-CN" sz="2800" dirty="0"/>
          </a:p>
          <a:p>
            <a:pPr lvl="2"/>
            <a:r>
              <a:rPr lang="zh-CN" altLang="en-US" sz="2800" dirty="0"/>
              <a:t>无需声明，也无需指定类型</a:t>
            </a:r>
            <a:endParaRPr lang="en-US" altLang="zh-CN" sz="2800" dirty="0"/>
          </a:p>
          <a:p>
            <a:pPr lvl="2"/>
            <a:r>
              <a:rPr lang="en-US" altLang="zh-CN" sz="2800" dirty="0"/>
              <a:t>SET</a:t>
            </a:r>
            <a:r>
              <a:rPr lang="zh-CN" altLang="en-US" sz="2800" dirty="0"/>
              <a:t>创建和修改变量</a:t>
            </a:r>
            <a:endParaRPr lang="en-US" altLang="zh-CN" sz="2800" dirty="0"/>
          </a:p>
          <a:p>
            <a:pPr lvl="2"/>
            <a:r>
              <a:rPr lang="en-US" altLang="zh-CN" sz="2800" dirty="0"/>
              <a:t>SET</a:t>
            </a:r>
            <a:r>
              <a:rPr lang="zh-CN" altLang="en-US" sz="2800" dirty="0"/>
              <a:t>可以做任何事情但</a:t>
            </a:r>
            <a:r>
              <a:rPr lang="en-US" altLang="zh-CN" sz="2800" dirty="0"/>
              <a:t>LIST</a:t>
            </a:r>
            <a:r>
              <a:rPr lang="zh-CN" altLang="en-US" sz="2800" dirty="0"/>
              <a:t>使一些操作更容易</a:t>
            </a:r>
          </a:p>
        </p:txBody>
      </p:sp>
    </p:spTree>
    <p:extLst>
      <p:ext uri="{BB962C8B-B14F-4D97-AF65-F5344CB8AC3E}">
        <p14:creationId xmlns:p14="http://schemas.microsoft.com/office/powerpoint/2010/main" val="883044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28A3-3CFC-43AF-AAF6-AD12A1FC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Flow control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F3694-74DA-40D3-8C55-877B813EE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   </a:t>
            </a:r>
            <a:r>
              <a:rPr lang="en-US" altLang="zh-CN" sz="2600" dirty="0"/>
              <a:t>IF(expression) </a:t>
            </a:r>
          </a:p>
          <a:p>
            <a:pPr marL="457200" lvl="1" indent="0">
              <a:buNone/>
            </a:pPr>
            <a:r>
              <a:rPr lang="en-US" altLang="zh-CN" dirty="0"/>
              <a:t>... </a:t>
            </a:r>
          </a:p>
          <a:p>
            <a:pPr marL="457200" lvl="1" indent="0">
              <a:buNone/>
            </a:pPr>
            <a:r>
              <a:rPr lang="en-US" altLang="zh-CN" dirty="0"/>
              <a:t>ELSE(expression)</a:t>
            </a:r>
          </a:p>
          <a:p>
            <a:pPr marL="457200" lvl="1" indent="0">
              <a:buNone/>
            </a:pPr>
            <a:r>
              <a:rPr lang="en-US" altLang="zh-CN" dirty="0"/>
              <a:t> ... </a:t>
            </a:r>
          </a:p>
          <a:p>
            <a:pPr marL="457200" lvl="1" indent="0">
              <a:buNone/>
            </a:pPr>
            <a:r>
              <a:rPr lang="en-US" altLang="zh-CN" dirty="0"/>
              <a:t>ENDIF(expression)</a:t>
            </a:r>
          </a:p>
          <a:p>
            <a:r>
              <a:rPr lang="zh-CN" altLang="en-US" dirty="0"/>
              <a:t>处理</a:t>
            </a:r>
            <a:r>
              <a:rPr lang="en-US" altLang="zh-CN" dirty="0"/>
              <a:t>list:</a:t>
            </a:r>
          </a:p>
          <a:p>
            <a:pPr marL="457200" lvl="1" indent="0">
              <a:buNone/>
            </a:pPr>
            <a:r>
              <a:rPr lang="en-US" altLang="zh-CN" dirty="0"/>
              <a:t>FOREACH(</a:t>
            </a:r>
            <a:r>
              <a:rPr lang="en-US" altLang="zh-CN" dirty="0" err="1"/>
              <a:t>loop_var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 ... </a:t>
            </a:r>
          </a:p>
          <a:p>
            <a:pPr marL="457200" lvl="1" indent="0">
              <a:buNone/>
            </a:pPr>
            <a:r>
              <a:rPr lang="en-US" altLang="zh-CN" dirty="0"/>
              <a:t>ENDFOREACH(</a:t>
            </a:r>
            <a:r>
              <a:rPr lang="en-US" altLang="zh-CN" dirty="0" err="1"/>
              <a:t>loop_var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</a:t>
            </a:r>
            <a:r>
              <a:rPr lang="en-US" altLang="zh-CN" sz="2600" dirty="0"/>
              <a:t>WHILE(condition) </a:t>
            </a:r>
          </a:p>
          <a:p>
            <a:pPr marL="457200" lvl="1" indent="0">
              <a:buNone/>
            </a:pPr>
            <a:r>
              <a:rPr lang="en-US" altLang="zh-CN" dirty="0"/>
              <a:t>... </a:t>
            </a:r>
          </a:p>
          <a:p>
            <a:pPr marL="457200" lvl="1" indent="0">
              <a:buNone/>
            </a:pPr>
            <a:r>
              <a:rPr lang="en-US" altLang="zh-CN" dirty="0"/>
              <a:t>ENDWHILE(condition)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04689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CD57B-8D29-4281-BAB4-73B5AA21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561" y="238570"/>
            <a:ext cx="10515600" cy="5415098"/>
          </a:xfrm>
        </p:spPr>
        <p:txBody>
          <a:bodyPr>
            <a:normAutofit/>
          </a:bodyPr>
          <a:lstStyle/>
          <a:p>
            <a:r>
              <a:rPr lang="en-US" altLang="zh-CN" dirty="0"/>
              <a:t>Visual Studio special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要在</a:t>
            </a:r>
            <a:r>
              <a:rPr lang="en-US" altLang="zh-CN" dirty="0"/>
              <a:t>Visual Studio</a:t>
            </a:r>
            <a:r>
              <a:rPr lang="zh-CN" altLang="en-US" dirty="0"/>
              <a:t>中显示</a:t>
            </a:r>
            <a:r>
              <a:rPr lang="en-US" altLang="zh-CN" dirty="0"/>
              <a:t>.h</a:t>
            </a:r>
            <a:r>
              <a:rPr lang="zh-CN" altLang="en-US" dirty="0"/>
              <a:t>文件，将它们添加到</a:t>
            </a:r>
            <a:r>
              <a:rPr lang="en-US" altLang="zh-CN" dirty="0"/>
              <a:t>ADD_EXECUTABLE / ADD_LIBRARY</a:t>
            </a:r>
            <a:r>
              <a:rPr lang="zh-CN" altLang="en-US" dirty="0"/>
              <a:t>中的源列表中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CODE:</a:t>
            </a:r>
          </a:p>
          <a:p>
            <a:pPr marL="914400" lvl="2" indent="0">
              <a:buNone/>
            </a:pPr>
            <a:r>
              <a:rPr lang="en-US" altLang="zh-CN" dirty="0"/>
              <a:t>SET(</a:t>
            </a:r>
            <a:r>
              <a:rPr lang="en-US" altLang="zh-CN" dirty="0" err="1"/>
              <a:t>wakeup_SRCS</a:t>
            </a:r>
            <a:r>
              <a:rPr lang="en-US" altLang="zh-CN" dirty="0"/>
              <a:t> wakeup.cpp) </a:t>
            </a:r>
          </a:p>
          <a:p>
            <a:pPr marL="914400" lvl="2" indent="0">
              <a:buNone/>
            </a:pPr>
            <a:r>
              <a:rPr lang="en-US" altLang="zh-CN" dirty="0"/>
              <a:t>IF(MSVC) </a:t>
            </a:r>
          </a:p>
          <a:p>
            <a:pPr marL="914400" lvl="2" indent="0">
              <a:buNone/>
            </a:pPr>
            <a:r>
              <a:rPr lang="en-US" altLang="zh-CN" dirty="0"/>
              <a:t>    SET(</a:t>
            </a:r>
            <a:r>
              <a:rPr lang="en-US" altLang="zh-CN" dirty="0" err="1"/>
              <a:t>wakeup_SRCS</a:t>
            </a:r>
            <a:r>
              <a:rPr lang="en-US" altLang="zh-CN" dirty="0"/>
              <a:t> ${</a:t>
            </a:r>
            <a:r>
              <a:rPr lang="en-US" altLang="zh-CN" dirty="0" err="1"/>
              <a:t>wakeup_SRCS</a:t>
            </a:r>
            <a:r>
              <a:rPr lang="en-US" altLang="zh-CN" dirty="0"/>
              <a:t>}  </a:t>
            </a:r>
            <a:r>
              <a:rPr lang="en-US" altLang="zh-CN" dirty="0" err="1"/>
              <a:t>wakeup.h</a:t>
            </a:r>
            <a:r>
              <a:rPr lang="en-US" altLang="zh-CN" dirty="0"/>
              <a:t>) </a:t>
            </a:r>
          </a:p>
          <a:p>
            <a:pPr marL="914400" lvl="2" indent="0">
              <a:buNone/>
            </a:pPr>
            <a:r>
              <a:rPr lang="en-US" altLang="zh-CN" dirty="0"/>
              <a:t>ENDIF(MSVC) </a:t>
            </a:r>
          </a:p>
          <a:p>
            <a:pPr marL="914400" lvl="2" indent="0">
              <a:buNone/>
            </a:pPr>
            <a:r>
              <a:rPr lang="en-US" altLang="zh-CN" dirty="0"/>
              <a:t>ADD_LIBRARY(wakeup SHARED ${</a:t>
            </a:r>
            <a:r>
              <a:rPr lang="en-US" altLang="zh-CN" dirty="0" err="1"/>
              <a:t>wakeup_SRCS</a:t>
            </a:r>
            <a:r>
              <a:rPr lang="en-US" altLang="zh-CN" dirty="0"/>
              <a:t>})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如果所有源都在同一目录中，请使用</a:t>
            </a:r>
            <a:r>
              <a:rPr lang="en-US" altLang="zh-CN" dirty="0"/>
              <a:t>SOURCE_GROUP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29A11-F1AB-44DB-B18C-270D6ADC6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974" y="3855766"/>
            <a:ext cx="70770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472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F3662-4DB1-4C77-ADDC-23DC2C967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Managing debug and release  builds</a:t>
            </a:r>
          </a:p>
          <a:p>
            <a:pPr lvl="1"/>
            <a:r>
              <a:rPr lang="en-US" altLang="zh-CN" dirty="0"/>
              <a:t>SET(CMAKE_BUILD_TYPE Debug)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与任何其他变量一样，它可以从命令行设置：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cmake ­DCMAKE_BUILD_TYPE=Release ../trunk</a:t>
            </a:r>
          </a:p>
          <a:p>
            <a:pPr marL="914400" lvl="2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指定</a:t>
            </a:r>
            <a:r>
              <a:rPr lang="en-US" altLang="zh-CN" dirty="0" err="1"/>
              <a:t>Dubg</a:t>
            </a:r>
            <a:r>
              <a:rPr lang="zh-CN" altLang="en-US" dirty="0"/>
              <a:t>和</a:t>
            </a:r>
            <a:r>
              <a:rPr lang="en-US" altLang="zh-CN" dirty="0"/>
              <a:t>release</a:t>
            </a:r>
            <a:r>
              <a:rPr lang="zh-CN" altLang="en-US" dirty="0"/>
              <a:t>目标以及第三方库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TARGET_LINK_LIBRARIES(wakeup OPTIMIZED $ {</a:t>
            </a:r>
            <a:r>
              <a:rPr lang="en-US" altLang="zh-CN" dirty="0" err="1"/>
              <a:t>wakeup_SRCS</a:t>
            </a:r>
            <a:r>
              <a:rPr lang="en-US" altLang="zh-CN" dirty="0"/>
              <a:t>}) TARGET_LINK_LIBRARIES(</a:t>
            </a:r>
            <a:r>
              <a:rPr lang="en-US" altLang="zh-CN" dirty="0" err="1"/>
              <a:t>wakeupd</a:t>
            </a:r>
            <a:r>
              <a:rPr lang="en-US" altLang="zh-CN" dirty="0"/>
              <a:t> DEBUG $ {</a:t>
            </a:r>
            <a:r>
              <a:rPr lang="en-US" altLang="zh-CN" dirty="0" err="1"/>
              <a:t>wakeup_SRCS</a:t>
            </a:r>
            <a:r>
              <a:rPr lang="en-US" altLang="zh-CN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7214734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B1958-5F87-4FC7-B7CE-E6AFF28F9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CN" dirty="0"/>
              <a:t>Standard directories... not!</a:t>
            </a:r>
          </a:p>
          <a:p>
            <a:pPr lvl="1"/>
            <a:r>
              <a:rPr lang="zh-CN" altLang="en-US" dirty="0"/>
              <a:t>项目中构建的库（即使在不同的</a:t>
            </a:r>
            <a:r>
              <a:rPr lang="en-US" altLang="zh-CN" dirty="0"/>
              <a:t>CmakeLists.txt</a:t>
            </a:r>
            <a:r>
              <a:rPr lang="zh-CN" altLang="en-US" dirty="0"/>
              <a:t>中）是自动的</a:t>
            </a:r>
            <a:endParaRPr lang="en-US" altLang="zh-CN" dirty="0"/>
          </a:p>
          <a:p>
            <a:pPr lvl="1"/>
            <a:r>
              <a:rPr lang="zh-CN" altLang="en-US" dirty="0"/>
              <a:t>如果第三方库或</a:t>
            </a:r>
            <a:r>
              <a:rPr lang="en-US" altLang="zh-CN" dirty="0"/>
              <a:t>.h</a:t>
            </a:r>
            <a:r>
              <a:rPr lang="zh-CN" altLang="en-US" dirty="0"/>
              <a:t>位于“标准”目录（</a:t>
            </a:r>
            <a:r>
              <a:rPr lang="en-US" altLang="zh-CN" dirty="0"/>
              <a:t>PATH</a:t>
            </a:r>
            <a:r>
              <a:rPr lang="zh-CN" altLang="en-US" dirty="0"/>
              <a:t>和</a:t>
            </a:r>
            <a:r>
              <a:rPr lang="en-US" altLang="zh-CN" dirty="0"/>
              <a:t>/</a:t>
            </a:r>
            <a:r>
              <a:rPr lang="zh-CN" altLang="en-US" dirty="0"/>
              <a:t>或</a:t>
            </a:r>
            <a:r>
              <a:rPr lang="en-US" altLang="zh-CN" dirty="0"/>
              <a:t>LD_LIBRARY_PATH</a:t>
            </a:r>
            <a:r>
              <a:rPr lang="zh-CN" altLang="en-US" dirty="0"/>
              <a:t>）是自动的</a:t>
            </a:r>
            <a:endParaRPr lang="en-US" altLang="zh-CN" dirty="0"/>
          </a:p>
          <a:p>
            <a:pPr lvl="1"/>
            <a:r>
              <a:rPr lang="zh-CN" altLang="en-US" dirty="0"/>
              <a:t>如果在非标准目录中：</a:t>
            </a:r>
            <a:endParaRPr lang="en-US" altLang="zh-CN" dirty="0"/>
          </a:p>
          <a:p>
            <a:pPr lvl="2"/>
            <a:r>
              <a:rPr lang="zh-CN" altLang="en-US" dirty="0"/>
              <a:t>头文件：使用</a:t>
            </a:r>
            <a:r>
              <a:rPr lang="en-US" altLang="zh-CN" dirty="0"/>
              <a:t>INCLUDE_DIRECTORIES</a:t>
            </a:r>
          </a:p>
          <a:p>
            <a:pPr lvl="2"/>
            <a:r>
              <a:rPr lang="zh-CN" altLang="en-US" dirty="0"/>
              <a:t>库文件：使用</a:t>
            </a:r>
            <a:r>
              <a:rPr lang="en-US" altLang="zh-CN" dirty="0"/>
              <a:t>FIND_LIBRARY</a:t>
            </a:r>
            <a:r>
              <a:rPr lang="zh-CN" altLang="en-US" dirty="0"/>
              <a:t>并链接其结果（尽量避免</a:t>
            </a:r>
            <a:r>
              <a:rPr lang="en-US" altLang="zh-CN" dirty="0"/>
              <a:t>LINK_DIRECTORIES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8206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6EAE-C21D-422B-91FF-DBFCDF2F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b="1" dirty="0"/>
              <a:t>Platform checks and external </a:t>
            </a:r>
            <a:br>
              <a:rPr lang="en-US" altLang="zh-CN" b="1" dirty="0"/>
            </a:br>
            <a:r>
              <a:rPr lang="en-US" altLang="zh-CN" b="1" dirty="0"/>
              <a:t>dependencies</a:t>
            </a:r>
            <a:endParaRPr lang="zh-CN" alt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7E663-D040-4762-BA0A-7495FF2C1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008" y="1690688"/>
            <a:ext cx="6451983" cy="4351338"/>
          </a:xfrm>
        </p:spPr>
      </p:pic>
    </p:spTree>
    <p:extLst>
      <p:ext uri="{BB962C8B-B14F-4D97-AF65-F5344CB8AC3E}">
        <p14:creationId xmlns:p14="http://schemas.microsoft.com/office/powerpoint/2010/main" val="3301987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F460-F307-4A9C-857E-FB7C205D1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8923"/>
            <a:ext cx="10515600" cy="4351338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Finding installed software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FIND_PACKAGE( Qt4 REQUIRED 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err="1"/>
              <a:t>Cmake</a:t>
            </a:r>
            <a:r>
              <a:rPr lang="zh-CN" altLang="en-US" dirty="0"/>
              <a:t>包的查找程序能找到许多个软件包，而且在互联网上</a:t>
            </a:r>
            <a:r>
              <a:rPr lang="en-US" altLang="zh-CN" dirty="0"/>
              <a:t>More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某些时候，需要通过设置</a:t>
            </a:r>
            <a:r>
              <a:rPr lang="en-US" altLang="zh-CN" dirty="0"/>
              <a:t>CMAKE_MODULE_PATH</a:t>
            </a:r>
            <a:r>
              <a:rPr lang="zh-CN" altLang="en-US" dirty="0"/>
              <a:t>变量告诉</a:t>
            </a:r>
            <a:r>
              <a:rPr lang="en-US" altLang="zh-CN" dirty="0" err="1"/>
              <a:t>Cmake</a:t>
            </a:r>
            <a:r>
              <a:rPr lang="zh-CN" altLang="en-US" dirty="0"/>
              <a:t>在哪里找到它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将</a:t>
            </a:r>
            <a:r>
              <a:rPr lang="en-US" altLang="zh-CN" dirty="0"/>
              <a:t>FIND_PACKAGE</a:t>
            </a:r>
            <a:r>
              <a:rPr lang="zh-CN" altLang="en-US" dirty="0"/>
              <a:t>视为</a:t>
            </a:r>
            <a:r>
              <a:rPr lang="en-US" altLang="zh-CN" dirty="0"/>
              <a:t>#include</a:t>
            </a:r>
          </a:p>
          <a:p>
            <a:r>
              <a:rPr lang="en-US" altLang="zh-CN" dirty="0"/>
              <a:t>Qt with </a:t>
            </a:r>
            <a:r>
              <a:rPr lang="en-US" altLang="zh-CN" dirty="0" err="1"/>
              <a:t>CMake</a:t>
            </a:r>
            <a:r>
              <a:rPr lang="en-US" altLang="zh-CN" dirty="0"/>
              <a:t> (</a:t>
            </a:r>
            <a:r>
              <a:rPr lang="zh-CN" altLang="en-US" dirty="0"/>
              <a:t>图右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095B2-45B5-4167-AB2F-CF1705E9D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20" y="3429000"/>
            <a:ext cx="5348360" cy="29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90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BCB0D-E8A5-4173-B2A2-79FAD1F04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117"/>
            <a:ext cx="10515600" cy="6314765"/>
          </a:xfrm>
        </p:spPr>
        <p:txBody>
          <a:bodyPr>
            <a:normAutofit/>
          </a:bodyPr>
          <a:lstStyle/>
          <a:p>
            <a:r>
              <a:rPr lang="en-US" altLang="zh-CN" dirty="0"/>
              <a:t>Platform includes</a:t>
            </a:r>
          </a:p>
          <a:p>
            <a:pPr marL="457200" lvl="1" indent="0">
              <a:buNone/>
            </a:pPr>
            <a:r>
              <a:rPr lang="en-US" altLang="zh-CN" dirty="0"/>
              <a:t>CONFIGURE_FILE(</a:t>
            </a:r>
            <a:r>
              <a:rPr lang="en-US" altLang="zh-CN" dirty="0" err="1"/>
              <a:t>InputFile</a:t>
            </a:r>
            <a:r>
              <a:rPr lang="en-US" altLang="zh-CN" dirty="0"/>
              <a:t> </a:t>
            </a:r>
            <a:r>
              <a:rPr lang="en-US" altLang="zh-CN" dirty="0" err="1"/>
              <a:t>OutputFile</a:t>
            </a:r>
            <a:r>
              <a:rPr lang="en-US" altLang="zh-CN" dirty="0"/>
              <a:t>    [COPYONLY] [ESCAPE_QUOTES] [@ONLY]) </a:t>
            </a:r>
          </a:p>
          <a:p>
            <a:pPr lvl="2"/>
            <a:r>
              <a:rPr lang="zh-CN" altLang="en-US" dirty="0"/>
              <a:t>源文件可能需要设置一些选项取决于平台，构建类型等</a:t>
            </a:r>
            <a:endParaRPr lang="en-US" altLang="zh-CN" dirty="0"/>
          </a:p>
          <a:p>
            <a:pPr lvl="2"/>
            <a:r>
              <a:rPr lang="zh-CN" altLang="en-US" dirty="0"/>
              <a:t>创建一个</a:t>
            </a:r>
            <a:r>
              <a:rPr lang="en-US" altLang="zh-CN" dirty="0" err="1"/>
              <a:t>wakeup.h.cmake</a:t>
            </a:r>
            <a:r>
              <a:rPr lang="zh-CN" altLang="en-US" dirty="0"/>
              <a:t>或者</a:t>
            </a:r>
            <a:r>
              <a:rPr lang="en-US" altLang="zh-CN" dirty="0"/>
              <a:t>wakeup.h.in</a:t>
            </a:r>
          </a:p>
          <a:p>
            <a:pPr lvl="2"/>
            <a:r>
              <a:rPr lang="zh-CN" altLang="en-US" dirty="0"/>
              <a:t>对</a:t>
            </a:r>
            <a:r>
              <a:rPr lang="en-US" altLang="zh-CN" dirty="0"/>
              <a:t>.conf</a:t>
            </a:r>
            <a:r>
              <a:rPr lang="zh-CN" altLang="en-US" dirty="0"/>
              <a:t>文件也很有用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CHECK_TYPE_SIZE (needs  INCLUDE(</a:t>
            </a:r>
            <a:r>
              <a:rPr lang="en-US" altLang="zh-CN" dirty="0" err="1"/>
              <a:t>CheckTypeSize</a:t>
            </a:r>
            <a:r>
              <a:rPr lang="en-US" altLang="zh-CN" dirty="0"/>
              <a:t>) )  TEST_BIG_ENDIAN (needs  INCLUDE(</a:t>
            </a:r>
            <a:r>
              <a:rPr lang="en-US" altLang="zh-CN" dirty="0" err="1"/>
              <a:t>CheckBigEndian</a:t>
            </a:r>
            <a:r>
              <a:rPr lang="en-US" altLang="zh-CN" dirty="0"/>
              <a:t>) )  CHECK_INCLUDE_FILES (needs  INCLUDE( </a:t>
            </a:r>
            <a:r>
              <a:rPr lang="en-US" altLang="zh-CN" dirty="0" err="1"/>
              <a:t>CheckIncludeFiles</a:t>
            </a:r>
            <a:r>
              <a:rPr lang="en-US" altLang="zh-CN" dirty="0"/>
              <a:t> ) 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790EA-154C-451B-A837-21BD9353D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56" y="2755724"/>
            <a:ext cx="5400675" cy="1933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A8F7F-95E6-42E0-8711-DC9C7B997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75" y="2917648"/>
            <a:ext cx="60293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9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2527</TotalTime>
  <Words>2458</Words>
  <Application>Microsoft Office PowerPoint</Application>
  <PresentationFormat>Widescreen</PresentationFormat>
  <Paragraphs>407</Paragraphs>
  <Slides>54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Museo</vt:lpstr>
      <vt:lpstr>等线</vt:lpstr>
      <vt:lpstr>等线 Light</vt:lpstr>
      <vt:lpstr>Arial</vt:lpstr>
      <vt:lpstr>Times New Roman</vt:lpstr>
      <vt:lpstr>Wingdings</vt:lpstr>
      <vt:lpstr>Office Theme</vt:lpstr>
      <vt:lpstr>新人串讲 CI和CMAKE</vt:lpstr>
      <vt:lpstr>PADDLE开发流程</vt:lpstr>
      <vt:lpstr>CI</vt:lpstr>
      <vt:lpstr>背景介绍</vt:lpstr>
      <vt:lpstr>PowerPoint Presentation</vt:lpstr>
      <vt:lpstr>CI过程</vt:lpstr>
      <vt:lpstr>PowerPoint Presentation</vt:lpstr>
      <vt:lpstr>PowerPoint Presentation</vt:lpstr>
      <vt:lpstr>PowerPoint Presentation</vt:lpstr>
      <vt:lpstr>CI任务</vt:lpstr>
      <vt:lpstr>PowerPoint Presentation</vt:lpstr>
      <vt:lpstr>Cla 介绍</vt:lpstr>
      <vt:lpstr>Travis CI 介绍</vt:lpstr>
      <vt:lpstr>Teamcity CI介绍</vt:lpstr>
      <vt:lpstr>PowerPoint Presentation</vt:lpstr>
      <vt:lpstr>PowerPoint Presentation</vt:lpstr>
      <vt:lpstr>PowerPoint Presentation</vt:lpstr>
      <vt:lpstr>CI管理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出错分析</vt:lpstr>
      <vt:lpstr>Return</vt:lpstr>
      <vt:lpstr>分析日志</vt:lpstr>
      <vt:lpstr>分析日志</vt:lpstr>
      <vt:lpstr>分析Exit code</vt:lpstr>
      <vt:lpstr>CMAKE</vt:lpstr>
      <vt:lpstr>WHY?</vt:lpstr>
      <vt:lpstr>PowerPoint Presentation</vt:lpstr>
      <vt:lpstr>PowerPoint Presentation</vt:lpstr>
      <vt:lpstr>Meeting CMAKE</vt:lpstr>
      <vt:lpstr>PowerPoint Presentation</vt:lpstr>
      <vt:lpstr>PowerPoint Presentation</vt:lpstr>
      <vt:lpstr>Build Flow</vt:lpstr>
      <vt:lpstr>PowerPoint Presentation</vt:lpstr>
      <vt:lpstr>PowerPoint Presentation</vt:lpstr>
      <vt:lpstr>Example</vt:lpstr>
      <vt:lpstr>Real world CMake: dependencies between targets</vt:lpstr>
      <vt:lpstr>Adding other sources</vt:lpstr>
      <vt:lpstr>PowerPoint Presentation</vt:lpstr>
      <vt:lpstr>Flow control</vt:lpstr>
      <vt:lpstr>PowerPoint Presentation</vt:lpstr>
      <vt:lpstr>PowerPoint Presentation</vt:lpstr>
      <vt:lpstr>PowerPoint Presentation</vt:lpstr>
      <vt:lpstr>Platform checks and external  dependencies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CI和CMAKE的理解</dc:title>
  <dc:creator>司 灵通</dc:creator>
  <cp:lastModifiedBy>司 灵通</cp:lastModifiedBy>
  <cp:revision>134</cp:revision>
  <dcterms:created xsi:type="dcterms:W3CDTF">2019-08-21T08:08:53Z</dcterms:created>
  <dcterms:modified xsi:type="dcterms:W3CDTF">2019-08-23T13:40:20Z</dcterms:modified>
</cp:coreProperties>
</file>