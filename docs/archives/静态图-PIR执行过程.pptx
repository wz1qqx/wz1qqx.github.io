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257" r:id="rId3"/>
    <p:sldId id="258" r:id="rId4"/>
    <p:sldId id="261" r:id="rId5"/>
    <p:sldId id="263" r:id="rId6"/>
    <p:sldId id="281" r:id="rId7"/>
    <p:sldId id="265" r:id="rId8"/>
    <p:sldId id="267" r:id="rId9"/>
    <p:sldId id="268" r:id="rId10"/>
    <p:sldId id="269" r:id="rId11"/>
    <p:sldId id="270" r:id="rId12"/>
    <p:sldId id="280" r:id="rId13"/>
    <p:sldId id="273" r:id="rId14"/>
    <p:sldId id="276" r:id="rId15"/>
    <p:sldId id="310" r:id="rId16"/>
    <p:sldId id="283" r:id="rId17"/>
    <p:sldId id="284" r:id="rId18"/>
    <p:sldId id="286" r:id="rId19"/>
    <p:sldId id="292" r:id="rId20"/>
    <p:sldId id="303" r:id="rId21"/>
    <p:sldId id="305" r:id="rId22"/>
    <p:sldId id="311" r:id="rId23"/>
    <p:sldId id="312" r:id="rId24"/>
    <p:sldId id="307" r:id="rId25"/>
    <p:sldId id="313" r:id="rId26"/>
    <p:sldId id="315" r:id="rId27"/>
    <p:sldId id="317" r:id="rId28"/>
    <p:sldId id="318" r:id="rId29"/>
    <p:sldId id="316" r:id="rId30"/>
    <p:sldId id="320" r:id="rId31"/>
    <p:sldId id="321" r:id="rId32"/>
    <p:sldId id="322" r:id="rId33"/>
    <p:sldId id="323" r:id="rId34"/>
    <p:sldId id="274" r:id="rId35"/>
    <p:sldId id="298" r:id="rId36"/>
    <p:sldId id="314" r:id="rId37"/>
    <p:sldId id="287" r:id="rId38"/>
    <p:sldId id="285" r:id="rId39"/>
    <p:sldId id="288" r:id="rId40"/>
    <p:sldId id="289" r:id="rId41"/>
    <p:sldId id="291" r:id="rId42"/>
    <p:sldId id="293" r:id="rId43"/>
    <p:sldId id="290" r:id="rId44"/>
    <p:sldId id="295" r:id="rId45"/>
    <p:sldId id="296" r:id="rId46"/>
    <p:sldId id="324" r:id="rId47"/>
    <p:sldId id="325" r:id="rId48"/>
    <p:sldId id="327" r:id="rId49"/>
    <p:sldId id="301" r:id="rId50"/>
    <p:sldId id="328" r:id="rId51"/>
    <p:sldId id="299" r:id="rId5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9A1936D4-A09D-EA46-B8E5-B05310DB9A1C}">
          <p14:sldIdLst>
            <p14:sldId id="256"/>
          </p14:sldIdLst>
        </p14:section>
        <p14:section name="outlines" id="{C38FED68-5099-CB47-9FB2-2F47AFB640F1}">
          <p14:sldIdLst>
            <p14:sldId id="257"/>
            <p14:sldId id="258"/>
            <p14:sldId id="261"/>
            <p14:sldId id="263"/>
            <p14:sldId id="281"/>
            <p14:sldId id="265"/>
            <p14:sldId id="267"/>
          </p14:sldIdLst>
        </p14:section>
        <p14:section name="数据存储" id="{036EFE7F-BC85-8E40-8807-C1D93D6DB541}">
          <p14:sldIdLst>
            <p14:sldId id="268"/>
            <p14:sldId id="269"/>
            <p14:sldId id="270"/>
            <p14:sldId id="280"/>
          </p14:sldIdLst>
        </p14:section>
        <p14:section name="组网" id="{B76BD5F6-61DA-B345-A4E3-EA9690E2B290}">
          <p14:sldIdLst>
            <p14:sldId id="273"/>
            <p14:sldId id="276"/>
            <p14:sldId id="310"/>
          </p14:sldIdLst>
        </p14:section>
        <p14:section name="执行" id="{B100F61F-9243-BD4A-8D9C-45A24E98CDE3}">
          <p14:sldIdLst>
            <p14:sldId id="283"/>
            <p14:sldId id="284"/>
            <p14:sldId id="286"/>
          </p14:sldIdLst>
        </p14:section>
        <p14:section name="新IR" id="{73E3190C-9BA8-B744-9895-36AD080A8C31}">
          <p14:sldIdLst>
            <p14:sldId id="292"/>
            <p14:sldId id="303"/>
            <p14:sldId id="305"/>
            <p14:sldId id="311"/>
            <p14:sldId id="312"/>
            <p14:sldId id="307"/>
            <p14:sldId id="313"/>
            <p14:sldId id="315"/>
            <p14:sldId id="317"/>
            <p14:sldId id="318"/>
          </p14:sldIdLst>
        </p14:section>
        <p14:section name="dialect" id="{7D407171-0DAC-474B-AB5C-06594997F198}">
          <p14:sldIdLst>
            <p14:sldId id="316"/>
            <p14:sldId id="320"/>
            <p14:sldId id="321"/>
            <p14:sldId id="322"/>
            <p14:sldId id="323"/>
            <p14:sldId id="274"/>
            <p14:sldId id="298"/>
            <p14:sldId id="314"/>
          </p14:sldIdLst>
        </p14:section>
        <p14:section name="Instruction" id="{BA914D32-1549-4D46-95FC-7EEA8E7577C5}">
          <p14:sldIdLst>
            <p14:sldId id="287"/>
            <p14:sldId id="285"/>
            <p14:sldId id="288"/>
            <p14:sldId id="289"/>
            <p14:sldId id="291"/>
            <p14:sldId id="293"/>
            <p14:sldId id="290"/>
            <p14:sldId id="295"/>
            <p14:sldId id="296"/>
            <p14:sldId id="324"/>
            <p14:sldId id="325"/>
          </p14:sldIdLst>
        </p14:section>
        <p14:section name="IR+PASS" id="{92FBB5F9-D655-6449-878C-12C0F84AC80B}">
          <p14:sldIdLst>
            <p14:sldId id="327"/>
            <p14:sldId id="301"/>
            <p14:sldId id="328"/>
            <p14:sldId id="29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39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257"/>
    <p:restoredTop sz="85752"/>
  </p:normalViewPr>
  <p:slideViewPr>
    <p:cSldViewPr snapToGrid="0">
      <p:cViewPr varScale="1">
        <p:scale>
          <a:sx n="100" d="100"/>
          <a:sy n="100" d="100"/>
        </p:scale>
        <p:origin x="184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EF2C6-0123-5346-9B15-49D5B6A0ECEB}" type="datetimeFigureOut">
              <a:rPr kumimoji="1" lang="zh-CN" altLang="en-US" smtClean="0"/>
              <a:t>2023/11/3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DE4A17-BCFF-DB4A-A924-29EE6EC7AC8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80800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44578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目录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1556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首先概述</a:t>
            </a:r>
            <a:endParaRPr kumimoji="1" lang="en-US" altLang="zh-CN" dirty="0"/>
          </a:p>
          <a:p>
            <a:r>
              <a:rPr kumimoji="1" lang="en-US" altLang="zh-CN" dirty="0"/>
              <a:t>1.</a:t>
            </a:r>
            <a:r>
              <a:rPr kumimoji="1" lang="zh-CN" altLang="en-US" dirty="0"/>
              <a:t>核心框架在业务中的位置</a:t>
            </a:r>
            <a:endParaRPr kumimoji="1" lang="en-US" altLang="zh-CN" dirty="0"/>
          </a:p>
          <a:p>
            <a:r>
              <a:rPr kumimoji="1" lang="en-US" altLang="zh-CN" dirty="0"/>
              <a:t>2.</a:t>
            </a:r>
            <a:r>
              <a:rPr kumimoji="1" lang="zh-CN" altLang="en-US" dirty="0"/>
              <a:t>框架的基础功能</a:t>
            </a:r>
            <a:endParaRPr kumimoji="1" lang="en-US" altLang="zh-CN" dirty="0"/>
          </a:p>
          <a:p>
            <a:r>
              <a:rPr kumimoji="1" lang="en-US" altLang="zh-CN" dirty="0"/>
              <a:t>3.</a:t>
            </a:r>
            <a:r>
              <a:rPr kumimoji="1" lang="zh-CN" altLang="en-US" dirty="0"/>
              <a:t>串讲逻辑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993166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入口：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t</a:t>
            </a:r>
            <a:r>
              <a:rPr lang="en" altLang="zh-CN" b="0" i="0" dirty="0" err="1">
                <a:solidFill>
                  <a:srgbClr val="121212"/>
                </a:solidFill>
                <a:effectLst/>
                <a:latin typeface="-apple-system"/>
              </a:rPr>
              <a:t>est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_</a:t>
            </a:r>
            <a:r>
              <a:rPr lang="en-US" altLang="zh-CN" b="0" i="0" dirty="0" err="1">
                <a:solidFill>
                  <a:srgbClr val="121212"/>
                </a:solidFill>
                <a:effectLst/>
                <a:latin typeface="-apple-system"/>
              </a:rPr>
              <a:t>standalone_new_ir.py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单测的一个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case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串联相关内容，便于理解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b="0" i="0" dirty="0">
                <a:solidFill>
                  <a:srgbClr val="121212"/>
                </a:solidFill>
                <a:effectLst/>
                <a:latin typeface="-apple-system"/>
              </a:rPr>
              <a:t>TF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基于</a:t>
            </a:r>
            <a:r>
              <a:rPr lang="en" altLang="zh-CN" b="0" i="0" dirty="0">
                <a:solidFill>
                  <a:srgbClr val="121212"/>
                </a:solidFill>
                <a:effectLst/>
                <a:latin typeface="-apple-system"/>
              </a:rPr>
              <a:t>Graph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的模型可以通过</a:t>
            </a:r>
            <a:r>
              <a:rPr lang="en" altLang="zh-CN" b="0" i="0" dirty="0">
                <a:solidFill>
                  <a:srgbClr val="121212"/>
                </a:solidFill>
                <a:effectLst/>
                <a:latin typeface="-apple-system"/>
              </a:rPr>
              <a:t>feed/fetch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选择性的执行任意一部分子图，更加灵活。</a:t>
            </a:r>
            <a:r>
              <a:rPr lang="en-US" altLang="zh-CN" b="0" i="0" dirty="0">
                <a:solidFill>
                  <a:srgbClr val="121212"/>
                </a:solidFill>
                <a:effectLst/>
                <a:latin typeface="-apple-system"/>
              </a:rPr>
              <a:t>paddle</a:t>
            </a:r>
            <a:r>
              <a:rPr kumimoji="1" lang="zh-CN" altLang="en-US" dirty="0"/>
              <a:t>可以通过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在</a:t>
            </a:r>
            <a:r>
              <a:rPr lang="en" altLang="zh-CN" b="0" i="0" dirty="0">
                <a:solidFill>
                  <a:srgbClr val="121212"/>
                </a:solidFill>
                <a:effectLst/>
                <a:latin typeface="-apple-system"/>
              </a:rPr>
              <a:t>Python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层构造多个</a:t>
            </a:r>
            <a:r>
              <a:rPr lang="en" altLang="zh-CN" b="0" i="0" dirty="0">
                <a:solidFill>
                  <a:srgbClr val="121212"/>
                </a:solidFill>
                <a:effectLst/>
                <a:latin typeface="-apple-system"/>
              </a:rPr>
              <a:t>Program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的方式补全这部分灵活性的缺失</a:t>
            </a:r>
            <a:endParaRPr kumimoji="1" lang="zh-CN" altLang="en-US" dirty="0"/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62772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开启静态图模式，切换全局变量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选择运行位置，并在初始化执行器的时候指定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初始化</a:t>
            </a:r>
            <a:r>
              <a:rPr kumimoji="1" lang="en-US" altLang="zh-CN" dirty="0"/>
              <a:t>……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program</a:t>
            </a:r>
            <a:r>
              <a:rPr kumimoji="1" lang="zh-CN" altLang="en-US" dirty="0"/>
              <a:t>：执行对象，描述整个网络的计算过程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dirty="0"/>
              <a:t>scope</a:t>
            </a:r>
            <a:r>
              <a:rPr kumimoji="1" lang="zh-CN" altLang="en-US" dirty="0"/>
              <a:t>：一般作用域的概念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95473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scope_guard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：</a:t>
            </a:r>
            <a:r>
              <a:rPr lang="zh-CN" altLang="en-US" sz="1200" dirty="0">
                <a:solidFill>
                  <a:srgbClr val="2339DA"/>
                </a:solidFill>
                <a:effectLst/>
              </a:rPr>
              <a:t>通过 </a:t>
            </a:r>
            <a:r>
              <a:rPr lang="en" altLang="zh-CN" sz="1200" dirty="0">
                <a:solidFill>
                  <a:srgbClr val="2339DA"/>
                </a:solidFill>
                <a:effectLst/>
              </a:rPr>
              <a:t>with </a:t>
            </a:r>
            <a:r>
              <a:rPr lang="zh-CN" altLang="en-US" sz="1200" dirty="0">
                <a:solidFill>
                  <a:srgbClr val="2339DA"/>
                </a:solidFill>
                <a:effectLst/>
              </a:rPr>
              <a:t>语句切换后，</a:t>
            </a:r>
            <a:r>
              <a:rPr lang="en" altLang="zh-CN" sz="1200" dirty="0">
                <a:solidFill>
                  <a:srgbClr val="2339DA"/>
                </a:solidFill>
                <a:effectLst/>
              </a:rPr>
              <a:t>with </a:t>
            </a:r>
            <a:r>
              <a:rPr lang="zh-CN" altLang="en-US" sz="1200" dirty="0">
                <a:solidFill>
                  <a:srgbClr val="2339DA"/>
                </a:solidFill>
                <a:effectLst/>
              </a:rPr>
              <a:t>语句块中所有创建的变量都将分配给新的作用域。</a:t>
            </a:r>
            <a:endParaRPr lang="en-US" altLang="zh-CN" sz="1200" dirty="0">
              <a:solidFill>
                <a:srgbClr val="2339DA"/>
              </a:solidFill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dirty="0">
              <a:solidFill>
                <a:srgbClr val="2339DA"/>
              </a:solidFill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 err="1">
                <a:solidFill>
                  <a:srgbClr val="2339DA"/>
                </a:solidFill>
                <a:effectLst/>
              </a:rPr>
              <a:t>program_guard</a:t>
            </a:r>
            <a:r>
              <a:rPr lang="zh-CN" altLang="en-US" sz="1200" dirty="0">
                <a:solidFill>
                  <a:srgbClr val="2339DA"/>
                </a:solidFill>
                <a:effectLst/>
              </a:rPr>
              <a:t>：将</a:t>
            </a:r>
            <a:r>
              <a:rPr lang="en-US" altLang="zh-CN" sz="1200" dirty="0" err="1">
                <a:solidFill>
                  <a:srgbClr val="2339DA"/>
                </a:solidFill>
                <a:effectLst/>
              </a:rPr>
              <a:t>default_program</a:t>
            </a:r>
            <a:r>
              <a:rPr lang="zh-CN" altLang="en-US" sz="1200" dirty="0">
                <a:solidFill>
                  <a:srgbClr val="2339DA"/>
                </a:solidFill>
                <a:effectLst/>
              </a:rPr>
              <a:t>设置为用户指定的</a:t>
            </a:r>
            <a:r>
              <a:rPr lang="en-US" altLang="zh-CN" sz="1200" dirty="0">
                <a:solidFill>
                  <a:srgbClr val="2339DA"/>
                </a:solidFill>
                <a:effectLst/>
              </a:rPr>
              <a:t>program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dirty="0">
              <a:solidFill>
                <a:srgbClr val="2339DA"/>
              </a:solidFill>
              <a:effectLst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sz="1200" b="0" dirty="0">
              <a:solidFill>
                <a:srgbClr val="2339DA"/>
              </a:solidFill>
              <a:effectLst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zh-CN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scope_guard</a:t>
            </a:r>
            <a:r>
              <a:rPr lang="zh-CN" altLang="en-US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：</a:t>
            </a:r>
            <a:r>
              <a:rPr lang="zh-CN" altLang="en-US" sz="1200" dirty="0">
                <a:solidFill>
                  <a:srgbClr val="2339DA"/>
                </a:solidFill>
                <a:effectLst/>
              </a:rPr>
              <a:t>如果未调用此接口，所有的变量和变量名都会被记录在默认的全局作用域中。 当用户需要创建同名的变量时，如果不希望同名的变量映射关系被覆盖，则需要通过该接口切换作用域。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313271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59874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517362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CN" dirty="0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program</a:t>
            </a:r>
            <a:r>
              <a:rPr lang="zh-CN" altLang="en-US" dirty="0"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描述了整个网络的计算过程</a:t>
            </a:r>
            <a:endParaRPr lang="en-US" altLang="zh-CN" dirty="0"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r>
              <a:rPr kumimoji="1" lang="zh-CN" altLang="en-US" sz="1200" b="0" dirty="0">
                <a:solidFill>
                  <a:srgbClr val="2339DA"/>
                </a:solidFill>
              </a:rPr>
              <a:t>一般当</a:t>
            </a:r>
            <a:r>
              <a:rPr kumimoji="1" lang="en" altLang="zh-CN" sz="1200" b="0" dirty="0">
                <a:solidFill>
                  <a:srgbClr val="2339DA"/>
                </a:solidFill>
              </a:rPr>
              <a:t>Program</a:t>
            </a:r>
            <a:r>
              <a:rPr kumimoji="1" lang="zh-CN" altLang="en-US" sz="1200" b="0" dirty="0">
                <a:solidFill>
                  <a:srgbClr val="2339DA"/>
                </a:solidFill>
              </a:rPr>
              <a:t>中包含控制流</a:t>
            </a:r>
            <a:r>
              <a:rPr kumimoji="1" lang="en" altLang="zh-CN" sz="1200" b="0" dirty="0">
                <a:solidFill>
                  <a:srgbClr val="2339DA"/>
                </a:solidFill>
              </a:rPr>
              <a:t>Op</a:t>
            </a:r>
            <a:r>
              <a:rPr kumimoji="1" lang="zh-CN" altLang="en-US" sz="1200" b="0" dirty="0">
                <a:solidFill>
                  <a:srgbClr val="2339DA"/>
                </a:solidFill>
              </a:rPr>
              <a:t>的时候，才会含有多个</a:t>
            </a:r>
            <a:r>
              <a:rPr kumimoji="1" lang="en" altLang="zh-CN" sz="1200" b="0" dirty="0">
                <a:solidFill>
                  <a:srgbClr val="2339DA"/>
                </a:solidFill>
              </a:rPr>
              <a:t>Block</a:t>
            </a:r>
            <a:r>
              <a:rPr kumimoji="1" lang="zh-CN" altLang="en" sz="1200" b="0" dirty="0">
                <a:solidFill>
                  <a:srgbClr val="2339DA"/>
                </a:solidFill>
              </a:rPr>
              <a:t>。</a:t>
            </a:r>
            <a:endParaRPr kumimoji="1" lang="en-US" altLang="zh-CN" sz="1200" b="0" dirty="0">
              <a:solidFill>
                <a:srgbClr val="2339DA"/>
              </a:solidFill>
            </a:endParaRPr>
          </a:p>
          <a:p>
            <a:endParaRPr kumimoji="1" lang="en-US" altLang="zh-CN" sz="1200" b="0" dirty="0">
              <a:solidFill>
                <a:srgbClr val="2339DA"/>
              </a:solidFill>
            </a:endParaRPr>
          </a:p>
          <a:p>
            <a:r>
              <a:rPr kumimoji="1" lang="en-US" altLang="zh-CN" sz="1200" b="0" dirty="0">
                <a:solidFill>
                  <a:srgbClr val="2339DA"/>
                </a:solidFill>
              </a:rPr>
              <a:t>Block:</a:t>
            </a:r>
            <a:r>
              <a:rPr kumimoji="1" lang="zh-CN" altLang="en-US" sz="1200" b="0" dirty="0">
                <a:solidFill>
                  <a:srgbClr val="2339DA"/>
                </a:solidFill>
              </a:rPr>
              <a:t>描述符、</a:t>
            </a:r>
            <a:r>
              <a:rPr kumimoji="1" lang="en-US" altLang="zh-CN" sz="1200" b="0" dirty="0">
                <a:solidFill>
                  <a:srgbClr val="2339DA"/>
                </a:solidFill>
              </a:rPr>
              <a:t>var</a:t>
            </a:r>
            <a:r>
              <a:rPr kumimoji="1" lang="zh-CN" altLang="en-US" sz="1200" b="0" dirty="0">
                <a:solidFill>
                  <a:srgbClr val="2339DA"/>
                </a:solidFill>
              </a:rPr>
              <a:t> </a:t>
            </a:r>
            <a:r>
              <a:rPr kumimoji="1" lang="en-US" altLang="zh-CN" sz="1200" b="0" dirty="0">
                <a:solidFill>
                  <a:srgbClr val="2339DA"/>
                </a:solidFill>
              </a:rPr>
              <a:t>op</a:t>
            </a:r>
            <a:endParaRPr kumimoji="1"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5789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在</a:t>
            </a:r>
            <a:r>
              <a:rPr kumimoji="1" lang="en-US" altLang="zh-CN" dirty="0" err="1"/>
              <a:t>c++</a:t>
            </a:r>
            <a:r>
              <a:rPr kumimoji="1" lang="zh-CN" altLang="en-US" dirty="0"/>
              <a:t>侧的</a:t>
            </a:r>
            <a:r>
              <a:rPr kumimoji="1" lang="en-US" altLang="zh-CN" dirty="0" err="1"/>
              <a:t>ProgramDesc</a:t>
            </a:r>
            <a:r>
              <a:rPr kumimoji="1" lang="zh-CN" altLang="en-US" dirty="0"/>
              <a:t>对象：</a:t>
            </a:r>
            <a:endParaRPr kumimoji="1" lang="en-US" altLang="zh-CN" dirty="0"/>
          </a:p>
          <a:p>
            <a:r>
              <a:rPr kumimoji="1" lang="en-US" altLang="zh-CN" dirty="0"/>
              <a:t>proto</a:t>
            </a:r>
            <a:r>
              <a:rPr kumimoji="1" lang="zh-CN" altLang="en-US" dirty="0"/>
              <a:t>定义的</a:t>
            </a:r>
            <a:r>
              <a:rPr kumimoji="1" lang="en-US" altLang="zh-CN" dirty="0"/>
              <a:t>……</a:t>
            </a:r>
            <a:r>
              <a:rPr kumimoji="1" lang="zh-CN" altLang="en-US" dirty="0"/>
              <a:t>对象、</a:t>
            </a:r>
            <a:r>
              <a:rPr kumimoji="1" lang="en-US" altLang="zh-CN" dirty="0" err="1"/>
              <a:t>blockDesc</a:t>
            </a:r>
            <a:r>
              <a:rPr kumimoji="1" lang="zh-CN" altLang="en-US" dirty="0"/>
              <a:t>列表</a:t>
            </a:r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en-US" altLang="zh-CN" dirty="0"/>
              <a:t>proto</a:t>
            </a:r>
            <a:r>
              <a:rPr kumimoji="1" lang="zh-CN" altLang="en-US" dirty="0"/>
              <a:t>中最重要的参数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10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33654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program</a:t>
            </a:r>
            <a:r>
              <a:rPr kumimoji="1" lang="zh-CN" altLang="en-US" dirty="0"/>
              <a:t>、</a:t>
            </a:r>
            <a:r>
              <a:rPr kumimoji="1" lang="en-US" altLang="zh-CN" dirty="0"/>
              <a:t>block</a:t>
            </a:r>
            <a:r>
              <a:rPr kumimoji="1" lang="zh-CN" altLang="en-US" dirty="0"/>
              <a:t>、</a:t>
            </a:r>
            <a:r>
              <a:rPr kumimoji="1" lang="en-US" altLang="zh-CN" dirty="0"/>
              <a:t>op</a:t>
            </a:r>
            <a:r>
              <a:rPr kumimoji="1" lang="zh-CN" altLang="en-US" dirty="0"/>
              <a:t>、</a:t>
            </a:r>
            <a:r>
              <a:rPr kumimoji="1" lang="en-US" altLang="zh-CN" dirty="0"/>
              <a:t>var</a:t>
            </a:r>
            <a:r>
              <a:rPr kumimoji="1" lang="zh-CN" altLang="en-US" dirty="0"/>
              <a:t>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65734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具体到语句：</a:t>
            </a: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/>
              <a:t>调用栈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>
              <a:effectLst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err="1">
                <a:effectLst/>
              </a:rPr>
              <a:t>Helper.append_op</a:t>
            </a:r>
            <a:r>
              <a:rPr lang="en-US" altLang="zh-CN" dirty="0">
                <a:effectLst/>
              </a:rPr>
              <a:t>:</a:t>
            </a:r>
            <a:r>
              <a:rPr lang="zh-CN" altLang="en-US" dirty="0">
                <a:effectLst/>
              </a:rPr>
              <a:t>添加</a:t>
            </a:r>
            <a:r>
              <a:rPr lang="en" altLang="zh-CN" dirty="0" err="1">
                <a:effectLst/>
              </a:rPr>
              <a:t>op_desc</a:t>
            </a:r>
            <a:r>
              <a:rPr lang="en" altLang="zh-CN" dirty="0">
                <a:effectLst/>
              </a:rPr>
              <a:t> -&gt; </a:t>
            </a:r>
            <a:r>
              <a:rPr lang="zh-CN" altLang="en-US" dirty="0">
                <a:effectLst/>
              </a:rPr>
              <a:t>初始化</a:t>
            </a:r>
            <a:r>
              <a:rPr lang="en" altLang="zh-CN" dirty="0">
                <a:effectLst/>
              </a:rPr>
              <a:t>op -&gt; </a:t>
            </a:r>
            <a:r>
              <a:rPr lang="zh-CN" altLang="en-US" dirty="0">
                <a:effectLst/>
              </a:rPr>
              <a:t>将</a:t>
            </a:r>
            <a:r>
              <a:rPr lang="en" altLang="zh-CN" dirty="0">
                <a:effectLst/>
              </a:rPr>
              <a:t>op</a:t>
            </a:r>
            <a:r>
              <a:rPr lang="zh-CN" altLang="en-US" dirty="0">
                <a:effectLst/>
              </a:rPr>
              <a:t>添加进</a:t>
            </a:r>
            <a:r>
              <a:rPr lang="en" altLang="zh-CN" dirty="0">
                <a:effectLst/>
              </a:rPr>
              <a:t>block</a:t>
            </a:r>
            <a:r>
              <a:rPr lang="zh-CN" altLang="en" dirty="0">
                <a:effectLst/>
              </a:rPr>
              <a:t>。</a:t>
            </a:r>
          </a:p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14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397209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15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489229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初始化执行器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16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075354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place</a:t>
            </a:r>
            <a:r>
              <a:rPr kumimoji="1" lang="zh-CN" altLang="en-US" dirty="0"/>
              <a:t>父类有多个子类</a:t>
            </a:r>
            <a:endParaRPr kumimoji="1" lang="en-US" altLang="zh-CN" dirty="0"/>
          </a:p>
          <a:p>
            <a:r>
              <a:rPr kumimoji="1" lang="zh-CN" altLang="en-US" dirty="0"/>
              <a:t>多个</a:t>
            </a:r>
            <a:r>
              <a:rPr kumimoji="1" lang="en-US" altLang="zh-CN" dirty="0"/>
              <a:t>place</a:t>
            </a:r>
            <a:r>
              <a:rPr kumimoji="1" lang="zh-CN" altLang="en-US" dirty="0"/>
              <a:t>子类，记录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AllocationType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17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5617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指定新</a:t>
            </a:r>
            <a:r>
              <a:rPr kumimoji="1" lang="en-US" altLang="zh-CN" dirty="0"/>
              <a:t>IR</a:t>
            </a:r>
          </a:p>
          <a:p>
            <a:r>
              <a:rPr kumimoji="1" lang="en-US" altLang="zh-CN" dirty="0"/>
              <a:t>(</a:t>
            </a:r>
            <a:r>
              <a:rPr kumimoji="1" lang="zh-CN" altLang="en-US" dirty="0"/>
              <a:t>现在</a:t>
            </a:r>
            <a:r>
              <a:rPr lang="en" altLang="zh-CN" b="0" i="0" dirty="0">
                <a:solidFill>
                  <a:srgbClr val="1F2328"/>
                </a:solidFill>
                <a:effectLst/>
                <a:latin typeface="-apple-system"/>
              </a:rPr>
              <a:t>PIR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-apple-system"/>
              </a:rPr>
              <a:t>的翻译已经从 </a:t>
            </a:r>
            <a:r>
              <a:rPr lang="en" altLang="zh-CN" b="0" i="0" dirty="0" err="1">
                <a:solidFill>
                  <a:srgbClr val="1F2328"/>
                </a:solidFill>
                <a:effectLst/>
                <a:latin typeface="-apple-system"/>
              </a:rPr>
              <a:t>c++</a:t>
            </a:r>
            <a:r>
              <a:rPr lang="en" altLang="zh-CN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-apple-system"/>
              </a:rPr>
              <a:t>端挪到 </a:t>
            </a:r>
            <a:r>
              <a:rPr lang="en" altLang="zh-CN" b="0" i="0" dirty="0">
                <a:solidFill>
                  <a:srgbClr val="1F2328"/>
                </a:solidFill>
                <a:effectLst/>
                <a:latin typeface="-apple-system"/>
              </a:rPr>
              <a:t>python </a:t>
            </a:r>
            <a:r>
              <a:rPr lang="zh-CN" altLang="en-US" b="0" i="0" dirty="0">
                <a:solidFill>
                  <a:srgbClr val="1F2328"/>
                </a:solidFill>
                <a:effectLst/>
                <a:latin typeface="-apple-system"/>
              </a:rPr>
              <a:t>端）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19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54564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调用栈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20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349529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21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6086512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22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1455431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23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713343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抽象概念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24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009354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类图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25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9789651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" altLang="zh-CN" dirty="0" err="1">
                <a:effectLst/>
              </a:rPr>
              <a:t>OpResult</a:t>
            </a:r>
            <a:r>
              <a:rPr lang="en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表示算子的输出，算子（</a:t>
            </a:r>
            <a:r>
              <a:rPr lang="en" altLang="zh-CN" dirty="0">
                <a:effectLst/>
              </a:rPr>
              <a:t>Op</a:t>
            </a:r>
            <a:r>
              <a:rPr lang="zh-CN" altLang="en" dirty="0">
                <a:effectLst/>
              </a:rPr>
              <a:t>）</a:t>
            </a:r>
            <a:r>
              <a:rPr lang="zh-CN" altLang="en-US" dirty="0">
                <a:effectLst/>
              </a:rPr>
              <a:t>对变量（</a:t>
            </a:r>
            <a:r>
              <a:rPr lang="en" altLang="zh-CN" dirty="0">
                <a:effectLst/>
              </a:rPr>
              <a:t>Value</a:t>
            </a:r>
            <a:r>
              <a:rPr lang="zh-CN" altLang="en" dirty="0">
                <a:effectLst/>
              </a:rPr>
              <a:t>）</a:t>
            </a:r>
            <a:r>
              <a:rPr lang="zh-CN" altLang="en-US" dirty="0">
                <a:effectLst/>
              </a:rPr>
              <a:t>进行定义得到输出（</a:t>
            </a:r>
            <a:r>
              <a:rPr lang="en" altLang="zh-CN" dirty="0" err="1">
                <a:effectLst/>
              </a:rPr>
              <a:t>OpResult</a:t>
            </a:r>
            <a:r>
              <a:rPr lang="zh-CN" altLang="en" dirty="0">
                <a:effectLst/>
              </a:rPr>
              <a:t>），</a:t>
            </a:r>
            <a:r>
              <a:rPr lang="zh-CN" altLang="en-US" dirty="0">
                <a:effectLst/>
              </a:rPr>
              <a:t>因此 </a:t>
            </a:r>
            <a:r>
              <a:rPr lang="en" altLang="zh-CN" dirty="0" err="1">
                <a:effectLst/>
              </a:rPr>
              <a:t>OpResult</a:t>
            </a:r>
            <a:r>
              <a:rPr lang="en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持有所定义变量的信息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26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4019945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zh-CN" altLang="en-US" dirty="0">
              <a:effectLst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27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66897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29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87213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基础数据结构 类图</a:t>
            </a:r>
            <a:endParaRPr kumimoji="1" lang="en-US" altLang="zh-CN" dirty="0"/>
          </a:p>
          <a:p>
            <a:r>
              <a:rPr kumimoji="1" lang="zh-CN" altLang="en-US" dirty="0"/>
              <a:t>设计</a:t>
            </a:r>
            <a:r>
              <a:rPr kumimoji="1" lang="en-US" altLang="zh-CN" dirty="0"/>
              <a:t>-&gt;</a:t>
            </a:r>
            <a:r>
              <a:rPr kumimoji="1" lang="zh-CN" altLang="en-US" dirty="0"/>
              <a:t>使用（结合</a:t>
            </a:r>
            <a:r>
              <a:rPr kumimoji="1" lang="en-US" altLang="zh-CN" dirty="0"/>
              <a:t>case</a:t>
            </a:r>
            <a:r>
              <a:rPr kumimoji="1" lang="zh-CN" altLang="en-US" dirty="0"/>
              <a:t>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36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1539158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38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250946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39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25169383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40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874473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41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1357457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42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344614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43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466361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44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27683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顺序</a:t>
            </a:r>
            <a:endParaRPr kumimoji="1" lang="en-US" altLang="zh-CN" dirty="0"/>
          </a:p>
          <a:p>
            <a:r>
              <a:rPr kumimoji="1" lang="zh-CN" altLang="en-US" dirty="0"/>
              <a:t>每一类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Instruction</a:t>
            </a:r>
            <a:r>
              <a:rPr lang="zh-CN" altLang="e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内容</a:t>
            </a:r>
            <a:endParaRPr lang="en-US" altLang="zh-CN" b="0" dirty="0">
              <a:solidFill>
                <a:srgbClr val="795E26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en-US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GC</a:t>
            </a:r>
            <a:r>
              <a:rPr kumimoji="1" lang="zh-CN" altLang="en-US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具体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DE4A17-BCFF-DB4A-A924-29EE6EC7AC85}" type="slidenum">
              <a:rPr kumimoji="1" lang="zh-CN" altLang="en-US" smtClean="0"/>
              <a:t>45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453954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C25516-7F99-8582-A8A8-1729A5316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91C31FB-0F22-4401-9447-6D805AE48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24B5F9-FE5F-313B-933D-030C9A52B5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BE33-DDBB-FA42-A91C-E2FFE995C195}" type="datetimeFigureOut">
              <a:rPr kumimoji="1" lang="zh-CN" altLang="en-US" smtClean="0"/>
              <a:t>2023/11/3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78279C-AFB5-FBCF-263E-0420B610E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69A85F-09AC-8D87-65C8-D14B0E2CB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C21D-0DB9-874F-9C2B-B7A4E212E5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9901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DB636A-02D8-1F79-4402-882263754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316"/>
            <a:ext cx="8476129" cy="263525"/>
          </a:xfrm>
        </p:spPr>
        <p:txBody>
          <a:bodyPr>
            <a:noAutofit/>
          </a:bodyPr>
          <a:lstStyle>
            <a:lvl1pPr>
              <a:defRPr sz="2400" b="1" i="0" baseline="0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1BBD47C-1FC6-681A-E346-BE2FEB2E5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0"/>
            <a:ext cx="10515600" cy="5160963"/>
          </a:xfrm>
        </p:spPr>
        <p:txBody>
          <a:bodyPr/>
          <a:lstStyle>
            <a:lvl1pPr>
              <a:defRPr sz="2000" baseline="0">
                <a:latin typeface="Courier New" panose="02070309020205020404" pitchFamily="49" charset="0"/>
                <a:ea typeface="等线" panose="02010600030101010101" pitchFamily="2" charset="-122"/>
              </a:defRPr>
            </a:lvl1pPr>
            <a:lvl2pPr>
              <a:defRPr sz="1800" baseline="0">
                <a:latin typeface="Courier New" panose="02070309020205020404" pitchFamily="49" charset="0"/>
                <a:ea typeface="等线" panose="02010600030101010101" pitchFamily="2" charset="-122"/>
              </a:defRPr>
            </a:lvl2pPr>
            <a:lvl3pPr>
              <a:defRPr sz="1600" baseline="0">
                <a:latin typeface="Courier New" panose="02070309020205020404" pitchFamily="49" charset="0"/>
                <a:ea typeface="等线" panose="02010600030101010101" pitchFamily="2" charset="-122"/>
              </a:defRPr>
            </a:lvl3pPr>
          </a:lstStyle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CDB2C8-F938-FDFD-06B4-A99744A4D03F}"/>
              </a:ext>
            </a:extLst>
          </p:cNvPr>
          <p:cNvSpPr/>
          <p:nvPr userDrawn="1"/>
        </p:nvSpPr>
        <p:spPr>
          <a:xfrm>
            <a:off x="345774" y="287908"/>
            <a:ext cx="340742" cy="340742"/>
          </a:xfrm>
          <a:prstGeom prst="rect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8EEA18-8F39-F49D-36EC-4E974876D0E8}"/>
              </a:ext>
            </a:extLst>
          </p:cNvPr>
          <p:cNvSpPr/>
          <p:nvPr userDrawn="1"/>
        </p:nvSpPr>
        <p:spPr>
          <a:xfrm>
            <a:off x="203292" y="287908"/>
            <a:ext cx="85332" cy="340742"/>
          </a:xfrm>
          <a:prstGeom prst="rect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2EC5DD4-DD40-7A46-FF0D-4E839509C305}"/>
              </a:ext>
            </a:extLst>
          </p:cNvPr>
          <p:cNvSpPr/>
          <p:nvPr userDrawn="1"/>
        </p:nvSpPr>
        <p:spPr>
          <a:xfrm>
            <a:off x="11441832" y="6346116"/>
            <a:ext cx="340742" cy="340742"/>
          </a:xfrm>
          <a:prstGeom prst="rect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A592A5-C4D1-763C-CFC7-407DCCF8F558}"/>
              </a:ext>
            </a:extLst>
          </p:cNvPr>
          <p:cNvSpPr/>
          <p:nvPr userDrawn="1"/>
        </p:nvSpPr>
        <p:spPr>
          <a:xfrm>
            <a:off x="11840370" y="6346116"/>
            <a:ext cx="85332" cy="340742"/>
          </a:xfrm>
          <a:prstGeom prst="rect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" name="灯片编号占位符 3">
            <a:extLst>
              <a:ext uri="{FF2B5EF4-FFF2-40B4-BE49-F238E27FC236}">
                <a16:creationId xmlns:a16="http://schemas.microsoft.com/office/drawing/2014/main" id="{FE2B86F3-B7B4-7CEC-E86B-AFDE6E9CF83D}"/>
              </a:ext>
            </a:extLst>
          </p:cNvPr>
          <p:cNvSpPr txBox="1">
            <a:spLocks/>
          </p:cNvSpPr>
          <p:nvPr userDrawn="1"/>
        </p:nvSpPr>
        <p:spPr>
          <a:xfrm>
            <a:off x="11364553" y="6333924"/>
            <a:ext cx="49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CC9FD4-7953-474F-BDDD-03B89B9227C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BCCA034-C853-99D6-5851-389C516A94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7318" b="29133"/>
          <a:stretch/>
        </p:blipFill>
        <p:spPr>
          <a:xfrm>
            <a:off x="10336744" y="170630"/>
            <a:ext cx="1616623" cy="70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02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BFF1127-A7F2-8380-5CED-6C333AB7DD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079384"/>
            <a:ext cx="5157787" cy="514954"/>
          </a:xfrm>
        </p:spPr>
        <p:txBody>
          <a:bodyPr anchor="b">
            <a:normAutofit/>
          </a:bodyPr>
          <a:lstStyle>
            <a:lvl1pPr marL="0" indent="0">
              <a:buNone/>
              <a:defRPr sz="20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8EA55-FA15-8D69-C394-BA5134623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594338"/>
            <a:ext cx="5157787" cy="4681416"/>
          </a:xfrm>
        </p:spPr>
        <p:txBody>
          <a:bodyPr/>
          <a:lstStyle>
            <a:lvl1pPr>
              <a:defRPr sz="2000" baseline="0"/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EE1172D-7ADE-131D-3242-D4208B226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79384"/>
            <a:ext cx="5183188" cy="514954"/>
          </a:xfrm>
        </p:spPr>
        <p:txBody>
          <a:bodyPr anchor="b">
            <a:normAutofit/>
          </a:bodyPr>
          <a:lstStyle>
            <a:lvl1pPr marL="0" indent="0">
              <a:buNone/>
              <a:defRPr sz="20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F42F1A0-31A9-10DC-665F-890D627A91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594338"/>
            <a:ext cx="5183188" cy="4681416"/>
          </a:xfrm>
        </p:spPr>
        <p:txBody>
          <a:bodyPr>
            <a:normAutofit/>
          </a:bodyPr>
          <a:lstStyle>
            <a:lvl1pPr>
              <a:defRPr sz="2000" baseline="0"/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</a:p>
        </p:txBody>
      </p:sp>
      <p:sp>
        <p:nvSpPr>
          <p:cNvPr id="10" name="标题 1">
            <a:extLst>
              <a:ext uri="{FF2B5EF4-FFF2-40B4-BE49-F238E27FC236}">
                <a16:creationId xmlns:a16="http://schemas.microsoft.com/office/drawing/2014/main" id="{B3EDFA39-3C4A-39F7-C6BC-56BF22445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48316"/>
            <a:ext cx="8476129" cy="263525"/>
          </a:xfrm>
        </p:spPr>
        <p:txBody>
          <a:bodyPr>
            <a:noAutofit/>
          </a:bodyPr>
          <a:lstStyle>
            <a:lvl1pPr>
              <a:defRPr sz="2400" b="1" i="0" baseline="0"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5880A4B-3156-AD1F-8C6A-914E61EB629D}"/>
              </a:ext>
            </a:extLst>
          </p:cNvPr>
          <p:cNvSpPr/>
          <p:nvPr userDrawn="1"/>
        </p:nvSpPr>
        <p:spPr>
          <a:xfrm>
            <a:off x="345774" y="287908"/>
            <a:ext cx="340742" cy="340742"/>
          </a:xfrm>
          <a:prstGeom prst="rect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43713EA-232C-10E5-2E6F-47A3874F2CF5}"/>
              </a:ext>
            </a:extLst>
          </p:cNvPr>
          <p:cNvSpPr/>
          <p:nvPr userDrawn="1"/>
        </p:nvSpPr>
        <p:spPr>
          <a:xfrm>
            <a:off x="203292" y="287908"/>
            <a:ext cx="85332" cy="340742"/>
          </a:xfrm>
          <a:prstGeom prst="rect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4D5DB5E-C7DB-A64E-259A-314EB813F1CB}"/>
              </a:ext>
            </a:extLst>
          </p:cNvPr>
          <p:cNvSpPr/>
          <p:nvPr userDrawn="1"/>
        </p:nvSpPr>
        <p:spPr>
          <a:xfrm>
            <a:off x="11441832" y="6346116"/>
            <a:ext cx="340742" cy="340742"/>
          </a:xfrm>
          <a:prstGeom prst="rect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5C7D3C-902E-A9F8-DB95-31B423D55C6C}"/>
              </a:ext>
            </a:extLst>
          </p:cNvPr>
          <p:cNvSpPr/>
          <p:nvPr userDrawn="1"/>
        </p:nvSpPr>
        <p:spPr>
          <a:xfrm>
            <a:off x="11840370" y="6346116"/>
            <a:ext cx="85332" cy="340742"/>
          </a:xfrm>
          <a:prstGeom prst="rect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inpin heiti" panose="00000500000000000000" pitchFamily="2" charset="-122"/>
              <a:ea typeface="inpin heiti" panose="00000500000000000000" pitchFamily="2" charset="-122"/>
              <a:sym typeface="inpin heiti" panose="00000500000000000000" pitchFamily="2" charset="-122"/>
            </a:endParaRPr>
          </a:p>
        </p:txBody>
      </p:sp>
      <p:sp>
        <p:nvSpPr>
          <p:cNvPr id="15" name="灯片编号占位符 3">
            <a:extLst>
              <a:ext uri="{FF2B5EF4-FFF2-40B4-BE49-F238E27FC236}">
                <a16:creationId xmlns:a16="http://schemas.microsoft.com/office/drawing/2014/main" id="{EDEFED19-933F-7AE3-A22F-EE5FAD6604F4}"/>
              </a:ext>
            </a:extLst>
          </p:cNvPr>
          <p:cNvSpPr txBox="1">
            <a:spLocks/>
          </p:cNvSpPr>
          <p:nvPr userDrawn="1"/>
        </p:nvSpPr>
        <p:spPr>
          <a:xfrm>
            <a:off x="11364553" y="6333924"/>
            <a:ext cx="495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4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CC9FD4-7953-474F-BDDD-03B89B9227C0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2B1112D5-A878-0A4F-C0D5-2122AD21BE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7318" b="29133"/>
          <a:stretch/>
        </p:blipFill>
        <p:spPr>
          <a:xfrm>
            <a:off x="10336744" y="170630"/>
            <a:ext cx="1616623" cy="70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2315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D47F39-8A72-B48E-95ED-313DC10BA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F70BA2-3DF2-0949-5DF4-094750C3B4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B1CA8A-9BFD-0052-CF23-BD5BC0571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BE33-DDBB-FA42-A91C-E2FFE995C195}" type="datetimeFigureOut">
              <a:rPr kumimoji="1" lang="zh-CN" altLang="en-US" smtClean="0"/>
              <a:t>2023/11/3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BA959F-4DF5-77D7-E70C-C43F00D0E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EDB92E-3283-1036-89E3-B0152AEDC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C21D-0DB9-874F-9C2B-B7A4E212E5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40448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C47286-FE5B-CF2D-821D-B37A496583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595FC7-A416-625B-D282-3D802D713C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883401A-1D62-C577-5F98-4D3D5D337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B85066-7894-F823-27AB-166BE6E07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BE33-DDBB-FA42-A91C-E2FFE995C195}" type="datetimeFigureOut">
              <a:rPr kumimoji="1" lang="zh-CN" altLang="en-US" smtClean="0"/>
              <a:t>2023/11/3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5DAF2EA-4136-FDB1-18EB-3DCDB598A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0C551A-D044-171E-8B8C-AB0BD60F4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C21D-0DB9-874F-9C2B-B7A4E212E5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23299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CCF51E0-139C-277A-BD81-B94C63D5C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BE33-DDBB-FA42-A91C-E2FFE995C195}" type="datetimeFigureOut">
              <a:rPr kumimoji="1" lang="zh-CN" altLang="en-US" smtClean="0"/>
              <a:t>2023/11/3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7F0EB14-3D0E-F690-86B8-536B013C1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F4E92F5-73F8-B253-7464-3BAF0D95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C21D-0DB9-874F-9C2B-B7A4E212E5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249198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86D87E-794F-F3EF-2746-C1A203FCB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FA332D-7948-1A24-1E58-92133A2B3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253DAC-5380-2572-FAFC-2E43E8BC4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74D9705-55BF-BE66-0BDF-FD5914067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BE33-DDBB-FA42-A91C-E2FFE995C195}" type="datetimeFigureOut">
              <a:rPr kumimoji="1" lang="zh-CN" altLang="en-US" smtClean="0"/>
              <a:t>2023/11/3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8983C96-5BDF-331D-A39B-89337C18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C8DEA06-7594-4E5E-BFF0-0CDA99BDB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C21D-0DB9-874F-9C2B-B7A4E212E5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04772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F67D07-3320-DEB9-C817-168678A7F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221692E-F40A-6161-FFCB-15A4F2ABC7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4846F6B-2999-F40A-2590-734AA1216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A13E42-0EDE-96D5-A899-95E4DFF57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BE33-DDBB-FA42-A91C-E2FFE995C195}" type="datetimeFigureOut">
              <a:rPr kumimoji="1" lang="zh-CN" altLang="en-US" smtClean="0"/>
              <a:t>2023/11/3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7D3BE3C-7D17-BEA6-4FC6-B50156FD4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7F0D23-06F2-8B6A-E68E-643F60D7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C21D-0DB9-874F-9C2B-B7A4E212E5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057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DD0421-CF6D-25BC-60D8-04D0B0E22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2DF496E-79AE-B033-E870-9350FDF57E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680C14-7464-16DB-BA22-D6E536A4C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BE33-DDBB-FA42-A91C-E2FFE995C195}" type="datetimeFigureOut">
              <a:rPr kumimoji="1" lang="zh-CN" altLang="en-US" smtClean="0"/>
              <a:t>2023/11/3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0CC42A-DF54-3B1D-500B-0D7D39854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2A2E83-8FCC-5BA9-490A-75B5CF80E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C21D-0DB9-874F-9C2B-B7A4E212E5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27588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EE84299-CBF6-4760-D6C5-C11B508215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67556DE-DD19-A0FE-AB20-F2F84B72F8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75B2D8A-2C1C-8067-9AAA-2E4FDC521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9BE33-DDBB-FA42-A91C-E2FFE995C195}" type="datetimeFigureOut">
              <a:rPr kumimoji="1" lang="zh-CN" altLang="en-US" smtClean="0"/>
              <a:t>2023/11/3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FED6D6-FD7D-DEB5-7B45-5343B77DC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DB22FD-A8F0-F3C1-64C0-3BB3077C4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1BC21D-0DB9-874F-9C2B-B7A4E212E5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11491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E36BBD0-E5A8-589E-B501-3725B5ED5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6FE093-DAD2-F53C-6842-67893D004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511C879-1A54-0C41-47CB-03E090EDEC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9BE33-DDBB-FA42-A91C-E2FFE995C195}" type="datetimeFigureOut">
              <a:rPr kumimoji="1" lang="zh-CN" altLang="en-US" smtClean="0"/>
              <a:t>2023/11/3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114EC17-1CE1-7564-4A16-129F9B5D97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99B009-13B0-BE91-7A1B-C6EEC5E2BC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1BC21D-0DB9-874F-9C2B-B7A4E212E54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46481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1" r:id="rId4"/>
    <p:sldLayoutId id="2147483652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hyperlink" Target="https://ku.baidu-int.com/knowledge/HFVrC7hq1Q/pKzJfZczuc/u_9kKv-MwC/Qgj9VhI42m5221" TargetMode="External"/><Relationship Id="rId3" Type="http://schemas.openxmlformats.org/officeDocument/2006/relationships/hyperlink" Target="https://github.com/PaddlePaddle/Paddle/pull/56357" TargetMode="External"/><Relationship Id="rId7" Type="http://schemas.openxmlformats.org/officeDocument/2006/relationships/hyperlink" Target="https://github.com/PaddlePaddle/Paddle/pull/56818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PaddlePaddle/Paddle/pull/56674" TargetMode="External"/><Relationship Id="rId5" Type="http://schemas.openxmlformats.org/officeDocument/2006/relationships/hyperlink" Target="https://github.com/PaddlePaddle/Paddle/pull/56588" TargetMode="External"/><Relationship Id="rId4" Type="http://schemas.openxmlformats.org/officeDocument/2006/relationships/hyperlink" Target="https://github.com/PaddlePaddle/Paddle/pull/56680" TargetMode="External"/><Relationship Id="rId9" Type="http://schemas.openxmlformats.org/officeDocument/2006/relationships/hyperlink" Target="https://ku.baidu-int.com/knowledge/HFVrC7hq1Q/pKzJfZczuc/u_9kKv-MwC/RPGrJpwtH8AgJ0" TargetMode="Externa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806C020D-3233-1C9E-99D5-475FA0BA964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7318" b="29133"/>
          <a:stretch/>
        </p:blipFill>
        <p:spPr>
          <a:xfrm>
            <a:off x="3782626" y="1571740"/>
            <a:ext cx="2569349" cy="1118909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E8E06D1-DB92-C234-0B5B-9AE2EEE6215B}"/>
              </a:ext>
            </a:extLst>
          </p:cNvPr>
          <p:cNvSpPr txBox="1"/>
          <p:nvPr/>
        </p:nvSpPr>
        <p:spPr>
          <a:xfrm>
            <a:off x="1602618" y="2865708"/>
            <a:ext cx="89867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 err="1"/>
              <a:t>PaddlePaddle</a:t>
            </a:r>
            <a:r>
              <a:rPr kumimoji="1" lang="zh-CN" altLang="en-US" sz="3600" b="1" dirty="0"/>
              <a:t> 静态图</a:t>
            </a:r>
            <a:r>
              <a:rPr kumimoji="1" lang="en-US" altLang="zh-CN" sz="3600" b="1" dirty="0"/>
              <a:t>PIR</a:t>
            </a:r>
            <a:r>
              <a:rPr kumimoji="1" lang="zh-CN" altLang="en-US" sz="3600" b="1" dirty="0"/>
              <a:t>执行过程代码串讲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8E8FA1-E40C-A997-E3BD-400ECAF8726A}"/>
              </a:ext>
            </a:extLst>
          </p:cNvPr>
          <p:cNvSpPr txBox="1"/>
          <p:nvPr/>
        </p:nvSpPr>
        <p:spPr>
          <a:xfrm>
            <a:off x="4855780" y="3668166"/>
            <a:ext cx="2480441" cy="1144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kumimoji="1" lang="zh-CN" altLang="en-US" sz="2400" b="1" dirty="0"/>
              <a:t>陈曦</a:t>
            </a:r>
            <a:endParaRPr kumimoji="1" lang="en-US" altLang="zh-CN" sz="2400" b="1" dirty="0"/>
          </a:p>
          <a:p>
            <a:pPr algn="ctr">
              <a:lnSpc>
                <a:spcPct val="150000"/>
              </a:lnSpc>
            </a:pPr>
            <a:r>
              <a:rPr kumimoji="1" lang="en-US" altLang="zh-CN" sz="2400" b="1" dirty="0"/>
              <a:t>2023</a:t>
            </a:r>
            <a:r>
              <a:rPr kumimoji="1" lang="zh-CN" altLang="en-US" sz="2400" b="1" dirty="0"/>
              <a:t>年</a:t>
            </a:r>
            <a:r>
              <a:rPr kumimoji="1" lang="en-US" altLang="zh-CN" sz="2400" b="1" dirty="0"/>
              <a:t>11</a:t>
            </a:r>
            <a:r>
              <a:rPr kumimoji="1" lang="zh-CN" altLang="en-US" sz="2400" b="1" dirty="0"/>
              <a:t>月</a:t>
            </a:r>
            <a:r>
              <a:rPr kumimoji="1" lang="en-US" altLang="zh-CN" sz="2400" b="1" dirty="0"/>
              <a:t>3</a:t>
            </a:r>
            <a:r>
              <a:rPr kumimoji="1" lang="zh-CN" altLang="en-US" sz="2400" b="1" dirty="0"/>
              <a:t>日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CD93592-466A-1765-A483-270B83C2EFC9}"/>
              </a:ext>
            </a:extLst>
          </p:cNvPr>
          <p:cNvSpPr txBox="1"/>
          <p:nvPr/>
        </p:nvSpPr>
        <p:spPr>
          <a:xfrm>
            <a:off x="6351975" y="1746799"/>
            <a:ext cx="2388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3600" b="1" dirty="0">
                <a:solidFill>
                  <a:srgbClr val="203BD3"/>
                </a:solidFill>
                <a:latin typeface="+mn-ea"/>
              </a:rPr>
              <a:t>新人串讲</a:t>
            </a:r>
          </a:p>
        </p:txBody>
      </p:sp>
    </p:spTree>
    <p:extLst>
      <p:ext uri="{BB962C8B-B14F-4D97-AF65-F5344CB8AC3E}">
        <p14:creationId xmlns:p14="http://schemas.microsoft.com/office/powerpoint/2010/main" val="1715021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E00861-2FC3-D686-8E27-B345A31F9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目录 </a:t>
            </a:r>
            <a:r>
              <a:rPr kumimoji="1"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|</a:t>
            </a:r>
            <a:r>
              <a:rPr kumimoji="1"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 </a:t>
            </a:r>
            <a:r>
              <a:rPr lang="zh-CN" altLang="en-US" i="0" dirty="0">
                <a:solidFill>
                  <a:srgbClr val="1C1D1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静态图</a:t>
            </a:r>
            <a:r>
              <a:rPr lang="en-US" altLang="zh-CN" i="0" dirty="0">
                <a:solidFill>
                  <a:srgbClr val="1C1D1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PIR</a:t>
            </a:r>
            <a:r>
              <a:rPr lang="zh-CN" altLang="en-US" i="0" dirty="0">
                <a:solidFill>
                  <a:srgbClr val="1C1D1F"/>
                </a:solidFill>
                <a:effectLst/>
                <a:latin typeface="DengXian" panose="02010600030101010101" pitchFamily="2" charset="-122"/>
                <a:ea typeface="DengXian" panose="02010600030101010101" pitchFamily="2" charset="-122"/>
              </a:rPr>
              <a:t>执行过程代码串讲</a:t>
            </a:r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6D87C7-44F9-B6A8-5F5D-17393D89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1C1D1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1.</a:t>
            </a:r>
            <a:r>
              <a:rPr lang="zh-CN" altLang="en-US" dirty="0">
                <a:solidFill>
                  <a:srgbClr val="1C1D1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zh-CN" altLang="en-US" i="0" dirty="0">
                <a:solidFill>
                  <a:srgbClr val="1C1D1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概述</a:t>
            </a:r>
            <a:endParaRPr lang="en-US" altLang="zh-CN" i="0" dirty="0">
              <a:solidFill>
                <a:srgbClr val="1C1D1F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lang="en-US" altLang="zh-CN" dirty="0">
                <a:solidFill>
                  <a:srgbClr val="1C1D1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2.</a:t>
            </a:r>
            <a:r>
              <a:rPr lang="zh-CN" altLang="en-US" dirty="0">
                <a:solidFill>
                  <a:srgbClr val="1C1D1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数据存储</a:t>
            </a:r>
            <a:endParaRPr lang="en-US" altLang="zh-CN" dirty="0">
              <a:solidFill>
                <a:srgbClr val="1C1D1F"/>
              </a:solidFill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lang="en-US" altLang="zh-CN" i="0" dirty="0">
                <a:solidFill>
                  <a:srgbClr val="1C1D1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3.</a:t>
            </a:r>
            <a:r>
              <a:rPr lang="zh-CN" altLang="en-US" i="0" dirty="0">
                <a:solidFill>
                  <a:srgbClr val="1C1D1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 组网</a:t>
            </a:r>
            <a:endParaRPr lang="en-US" altLang="zh-CN" i="0" dirty="0">
              <a:solidFill>
                <a:srgbClr val="1C1D1F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lang="en-US" altLang="zh-CN" dirty="0">
                <a:solidFill>
                  <a:srgbClr val="1C1D1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4.</a:t>
            </a:r>
            <a:r>
              <a:rPr lang="zh-CN" altLang="en-US" dirty="0">
                <a:solidFill>
                  <a:srgbClr val="1C1D1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执行： </a:t>
            </a:r>
            <a:r>
              <a:rPr lang="en-US" altLang="zh-CN" dirty="0" err="1">
                <a:solidFill>
                  <a:srgbClr val="1C1D1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StandaloneExecutor</a:t>
            </a:r>
            <a:endParaRPr lang="en-US" altLang="zh-CN" i="0" dirty="0">
              <a:solidFill>
                <a:srgbClr val="1C1D1F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  <a:p>
            <a:r>
              <a:rPr lang="en-US" altLang="zh-CN" dirty="0">
                <a:solidFill>
                  <a:srgbClr val="1C1D1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5.</a:t>
            </a:r>
            <a:r>
              <a:rPr lang="zh-CN" altLang="en-US" dirty="0">
                <a:solidFill>
                  <a:srgbClr val="1C1D1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r>
              <a:rPr lang="en-US" altLang="zh-CN" i="0" dirty="0">
                <a:solidFill>
                  <a:srgbClr val="1C1D1F"/>
                </a:solidFill>
                <a:effectLst/>
                <a:latin typeface="PingFang SC" panose="020B0400000000000000" pitchFamily="34" charset="-122"/>
                <a:ea typeface="PingFang SC" panose="020B0400000000000000" pitchFamily="34" charset="-122"/>
              </a:rPr>
              <a:t>IR+PASS</a:t>
            </a:r>
            <a:r>
              <a:rPr lang="en-US" altLang="zh-CN" dirty="0">
                <a:solidFill>
                  <a:srgbClr val="1C1D1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  <a:endParaRPr lang="en-US" altLang="zh-CN" i="0" dirty="0">
              <a:solidFill>
                <a:srgbClr val="1C1D1F"/>
              </a:solidFill>
              <a:effectLst/>
              <a:latin typeface="PingFang SC" panose="020B0400000000000000" pitchFamily="34" charset="-122"/>
              <a:ea typeface="PingFang SC" panose="020B04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95337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F6B140-950E-0B35-F8DF-9E0EF9A5C1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概述 </a:t>
            </a:r>
            <a:r>
              <a:rPr kumimoji="1" lang="en-US" altLang="zh-CN" dirty="0"/>
              <a:t>|</a:t>
            </a:r>
            <a:r>
              <a:rPr kumimoji="1" lang="zh-CN" altLang="en-US" dirty="0"/>
              <a:t> 总览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039B96-8113-390B-B6BA-B8B6CF2F2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0"/>
            <a:ext cx="9067800" cy="5160963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p"/>
            </a:pPr>
            <a:r>
              <a:rPr kumimoji="1" lang="zh-CN" altLang="en-US" dirty="0"/>
              <a:t>框架位置结构：</a:t>
            </a:r>
            <a:endParaRPr kumimoji="1" lang="en-US" altLang="zh-CN" dirty="0"/>
          </a:p>
          <a:p>
            <a:pPr lvl="1">
              <a:buFont typeface="Wingdings" pitchFamily="2" charset="2"/>
              <a:buChar char="p"/>
            </a:pPr>
            <a:r>
              <a:rPr kumimoji="1" lang="zh-CN" altLang="en-US" dirty="0"/>
              <a:t>飞桨平台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飞桨组件</a:t>
            </a:r>
            <a:r>
              <a:rPr kumimoji="1" lang="zh-CN" altLang="en-US" baseline="-25000" dirty="0"/>
              <a:t>例：</a:t>
            </a:r>
            <a:r>
              <a:rPr kumimoji="1" lang="en-US" altLang="zh-CN" baseline="-25000" dirty="0" err="1"/>
              <a:t>PaddleCloud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飞桨套件</a:t>
            </a:r>
            <a:r>
              <a:rPr kumimoji="1" lang="zh-CN" altLang="en-US" baseline="-25000" dirty="0"/>
              <a:t>例：</a:t>
            </a:r>
            <a:r>
              <a:rPr kumimoji="1" lang="en-US" altLang="zh-CN" baseline="-25000" dirty="0" err="1"/>
              <a:t>PaddleOCR</a:t>
            </a:r>
            <a:r>
              <a:rPr kumimoji="1" lang="en-US" altLang="zh-CN" dirty="0"/>
              <a:t>——</a:t>
            </a:r>
            <a:r>
              <a:rPr kumimoji="1" lang="zh-CN" altLang="en-US" dirty="0"/>
              <a:t>核心框架</a:t>
            </a:r>
            <a:r>
              <a:rPr kumimoji="1" lang="zh-CN" altLang="en-US" baseline="-25000" dirty="0"/>
              <a:t>包括分布式</a:t>
            </a:r>
            <a:endParaRPr kumimoji="1" lang="en-US" altLang="zh-CN" baseline="-25000" dirty="0"/>
          </a:p>
          <a:p>
            <a:pPr lvl="2">
              <a:buFont typeface="Wingdings" pitchFamily="2" charset="2"/>
              <a:buChar char="p"/>
            </a:pPr>
            <a:endParaRPr kumimoji="1" lang="en-US" altLang="zh-CN" dirty="0"/>
          </a:p>
          <a:p>
            <a:pPr>
              <a:buFont typeface="Wingdings" pitchFamily="2" charset="2"/>
              <a:buChar char="p"/>
            </a:pPr>
            <a:r>
              <a:rPr kumimoji="1" lang="zh-CN" altLang="en-US" sz="2000" dirty="0"/>
              <a:t>核心框架功能：</a:t>
            </a:r>
            <a:endParaRPr kumimoji="1" lang="en-US" altLang="zh-CN" sz="2000" dirty="0"/>
          </a:p>
          <a:p>
            <a:pPr lvl="1">
              <a:buFont typeface="Wingdings" pitchFamily="2" charset="2"/>
              <a:buChar char="p"/>
            </a:pPr>
            <a:r>
              <a:rPr kumimoji="1" lang="zh-CN" altLang="en-US" dirty="0"/>
              <a:t>基础组网功能：从深度学习算法到设备代码的映射</a:t>
            </a:r>
            <a:endParaRPr kumimoji="1" lang="en-US" altLang="zh-CN" dirty="0"/>
          </a:p>
          <a:p>
            <a:pPr lvl="1">
              <a:buFont typeface="Wingdings" pitchFamily="2" charset="2"/>
              <a:buChar char="p"/>
            </a:pPr>
            <a:r>
              <a:rPr kumimoji="1" lang="zh-CN" altLang="en-US" dirty="0"/>
              <a:t>核心执行单元：上层套件平台的最简单执行单元</a:t>
            </a:r>
            <a:endParaRPr kumimoji="1" lang="en-US" altLang="zh-CN" dirty="0"/>
          </a:p>
          <a:p>
            <a:pPr>
              <a:buFont typeface="Wingdings" pitchFamily="2" charset="2"/>
              <a:buChar char="p"/>
            </a:pPr>
            <a:endParaRPr kumimoji="1" lang="en-US" altLang="zh-CN" dirty="0"/>
          </a:p>
          <a:p>
            <a:pPr>
              <a:buFont typeface="Wingdings" pitchFamily="2" charset="2"/>
              <a:buChar char="p"/>
            </a:pPr>
            <a:r>
              <a:rPr kumimoji="1" lang="zh-CN" altLang="en-US" dirty="0"/>
              <a:t>串讲逻辑：</a:t>
            </a:r>
            <a:endParaRPr kumimoji="1" lang="en-US" altLang="zh-CN" dirty="0"/>
          </a:p>
          <a:p>
            <a:pPr lvl="1">
              <a:buFont typeface="Wingdings" pitchFamily="2" charset="2"/>
              <a:buChar char="p"/>
            </a:pPr>
            <a:r>
              <a:rPr lang="zh-CN" altLang="en-US" b="0" i="0" dirty="0">
                <a:solidFill>
                  <a:srgbClr val="121212"/>
                </a:solidFill>
                <a:effectLst/>
                <a:latin typeface="-apple-system"/>
              </a:rPr>
              <a:t>数据存储</a:t>
            </a:r>
            <a:endParaRPr lang="en-US" altLang="zh-CN" b="0" i="0" dirty="0">
              <a:solidFill>
                <a:srgbClr val="121212"/>
              </a:solidFill>
              <a:effectLst/>
              <a:latin typeface="-apple-system"/>
            </a:endParaRPr>
          </a:p>
          <a:p>
            <a:pPr lvl="1">
              <a:buFont typeface="Wingdings" pitchFamily="2" charset="2"/>
              <a:buChar char="p"/>
            </a:pPr>
            <a:r>
              <a:rPr kumimoji="1" lang="zh-CN" altLang="en-US" dirty="0">
                <a:solidFill>
                  <a:srgbClr val="121212"/>
                </a:solidFill>
                <a:latin typeface="-apple-system"/>
              </a:rPr>
              <a:t>组网</a:t>
            </a:r>
            <a:endParaRPr kumimoji="1" lang="en-US" altLang="zh-CN" dirty="0">
              <a:solidFill>
                <a:srgbClr val="121212"/>
              </a:solidFill>
              <a:latin typeface="-apple-system"/>
            </a:endParaRPr>
          </a:p>
          <a:p>
            <a:pPr lvl="1">
              <a:buFont typeface="Wingdings" pitchFamily="2" charset="2"/>
              <a:buChar char="p"/>
            </a:pPr>
            <a:r>
              <a:rPr lang="zh-CN" altLang="en-US" dirty="0">
                <a:solidFill>
                  <a:srgbClr val="1C1D1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执行：</a:t>
            </a:r>
            <a:r>
              <a:rPr lang="en-US" altLang="zh-CN" dirty="0" err="1">
                <a:solidFill>
                  <a:srgbClr val="1C1D1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StandaloneExecutor</a:t>
            </a:r>
            <a:r>
              <a:rPr lang="en-US" altLang="zh-CN" dirty="0">
                <a:solidFill>
                  <a:srgbClr val="1C1D1F"/>
                </a:solidFill>
                <a:latin typeface="PingFang SC" panose="020B0400000000000000" pitchFamily="34" charset="-122"/>
                <a:ea typeface="PingFang SC" panose="020B0400000000000000" pitchFamily="34" charset="-122"/>
              </a:rPr>
              <a:t> </a:t>
            </a:r>
          </a:p>
          <a:p>
            <a:pPr lvl="1">
              <a:buFont typeface="Wingdings" pitchFamily="2" charset="2"/>
              <a:buChar char="p"/>
            </a:pPr>
            <a:r>
              <a:rPr kumimoji="1" lang="en-US" altLang="zh-CN" dirty="0">
                <a:solidFill>
                  <a:srgbClr val="121212"/>
                </a:solidFill>
                <a:latin typeface="-apple-system"/>
              </a:rPr>
              <a:t>IR+PASS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52313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6F374-6C0D-155E-5DA6-CDB5D25C9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概述 </a:t>
            </a:r>
            <a:r>
              <a:rPr kumimoji="1" lang="en-US" altLang="zh-CN" dirty="0"/>
              <a:t>|</a:t>
            </a:r>
            <a:r>
              <a:rPr kumimoji="1" lang="zh-CN" altLang="en-US" dirty="0"/>
              <a:t> 代码样例简述</a:t>
            </a:r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A97F98-D292-A88B-FAA7-1E4FEF998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lang="en" altLang="zh-CN" sz="1800" b="0" dirty="0" err="1">
                <a:solidFill>
                  <a:srgbClr val="74531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enable_static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place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(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paddle.CUDAPlace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8F08C4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if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lang="en" altLang="zh-CN" b="0" dirty="0" err="1">
                <a:solidFill>
                  <a:srgbClr val="74531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is_compiled_with_cuda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8F08C4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else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paddle.CPUPlace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paddle.static.Executor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place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</a:br>
            <a:r>
              <a:rPr lang="en" altLang="zh-CN" sz="1800" b="0" dirty="0" err="1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paddle.static.Program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 err="1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new_scope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paddle.static.Scope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8F08C4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with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paddle.static.scope_guard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 err="1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new_scope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8F08C4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with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paddle.static.program_guard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):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x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lang="en" altLang="zh-CN" sz="1800" b="0" dirty="0" err="1">
                <a:solidFill>
                  <a:srgbClr val="74531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ones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([</a:t>
            </a:r>
            <a:r>
              <a:rPr lang="en" altLang="zh-CN" sz="18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" altLang="zh-CN" sz="18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], </a:t>
            </a:r>
            <a:r>
              <a:rPr lang="en" altLang="zh-CN" sz="1800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dtype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" altLang="zh-CN" sz="1800" b="0" dirty="0">
                <a:solidFill>
                  <a:srgbClr val="E21F1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" altLang="zh-CN" sz="18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float32</a:t>
            </a:r>
            <a:r>
              <a:rPr lang="en" altLang="zh-CN" sz="1800" b="0" dirty="0">
                <a:solidFill>
                  <a:srgbClr val="E21F1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y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lang="en" altLang="zh-CN" sz="1800" b="0" dirty="0" err="1">
                <a:solidFill>
                  <a:srgbClr val="74531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ones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([</a:t>
            </a:r>
            <a:r>
              <a:rPr lang="en" altLang="zh-CN" sz="18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" altLang="zh-CN" sz="18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], </a:t>
            </a:r>
            <a:r>
              <a:rPr lang="en" altLang="zh-CN" sz="1800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dtype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" altLang="zh-CN" sz="1800" b="0" dirty="0">
                <a:solidFill>
                  <a:srgbClr val="E21F1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" altLang="zh-CN" sz="18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float32</a:t>
            </a:r>
            <a:r>
              <a:rPr lang="en" altLang="zh-CN" sz="1800" b="0" dirty="0">
                <a:solidFill>
                  <a:srgbClr val="E21F1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spcBef>
                <a:spcPts val="0"/>
              </a:spcBef>
              <a:buNone/>
            </a:pPr>
            <a:b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</a:b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x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+ </a:t>
            </a: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y</a:t>
            </a:r>
            <a:endParaRPr lang="en" altLang="zh-CN" sz="18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.run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b="0" dirty="0" err="1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.name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3E5AF72-C4B1-2ECA-74D2-39D884548D5F}"/>
              </a:ext>
            </a:extLst>
          </p:cNvPr>
          <p:cNvSpPr txBox="1"/>
          <p:nvPr/>
        </p:nvSpPr>
        <p:spPr>
          <a:xfrm>
            <a:off x="9314329" y="1002130"/>
            <a:ext cx="19285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2339DA"/>
                </a:solidFill>
              </a:rPr>
              <a:t>环境准备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37A00F8-148B-4DBB-69FD-B7A42DD8B69E}"/>
              </a:ext>
            </a:extLst>
          </p:cNvPr>
          <p:cNvSpPr txBox="1"/>
          <p:nvPr/>
        </p:nvSpPr>
        <p:spPr>
          <a:xfrm>
            <a:off x="9314328" y="4135102"/>
            <a:ext cx="2457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2339DA"/>
                </a:solidFill>
              </a:rPr>
              <a:t>参数初始化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3EAEB1-CBF7-7BE4-8131-FAF5E71C388E}"/>
              </a:ext>
            </a:extLst>
          </p:cNvPr>
          <p:cNvSpPr txBox="1"/>
          <p:nvPr/>
        </p:nvSpPr>
        <p:spPr>
          <a:xfrm>
            <a:off x="9314329" y="3637150"/>
            <a:ext cx="2457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2339DA"/>
                </a:solidFill>
              </a:rPr>
              <a:t>前向网络搭建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FFBC06C-D7F7-9775-43FA-311DB101FE98}"/>
              </a:ext>
            </a:extLst>
          </p:cNvPr>
          <p:cNvSpPr txBox="1"/>
          <p:nvPr/>
        </p:nvSpPr>
        <p:spPr>
          <a:xfrm>
            <a:off x="9314329" y="2390885"/>
            <a:ext cx="24577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2339DA"/>
                </a:solidFill>
              </a:rPr>
              <a:t>构建执行器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98B8CD-56A6-8E27-8575-63C16D9AA9C5}"/>
              </a:ext>
            </a:extLst>
          </p:cNvPr>
          <p:cNvSpPr txBox="1"/>
          <p:nvPr/>
        </p:nvSpPr>
        <p:spPr>
          <a:xfrm>
            <a:off x="9314328" y="4932514"/>
            <a:ext cx="33860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2339DA"/>
                </a:solidFill>
              </a:rPr>
              <a:t>执行并获取输出</a:t>
            </a:r>
          </a:p>
        </p:txBody>
      </p:sp>
    </p:spTree>
    <p:extLst>
      <p:ext uri="{BB962C8B-B14F-4D97-AF65-F5344CB8AC3E}">
        <p14:creationId xmlns:p14="http://schemas.microsoft.com/office/powerpoint/2010/main" val="18395815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6F374-6C0D-155E-5DA6-CDB5D25C9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概述 </a:t>
            </a:r>
            <a:r>
              <a:rPr kumimoji="1" lang="en-US" altLang="zh-CN" dirty="0"/>
              <a:t>|</a:t>
            </a:r>
            <a:r>
              <a:rPr kumimoji="1" lang="zh-CN" altLang="en-US" dirty="0"/>
              <a:t> 代码样例简述</a:t>
            </a:r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A97F98-D292-A88B-FAA7-1E4FEF998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1"/>
            <a:ext cx="6570785" cy="266504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lang="en" altLang="zh-CN" sz="1800" b="0" dirty="0" err="1">
                <a:solidFill>
                  <a:srgbClr val="74531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enable_static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place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(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paddle.CUDAPlace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8F08C4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if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lang="en" altLang="zh-CN" b="0" dirty="0" err="1">
                <a:solidFill>
                  <a:srgbClr val="74531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is_compiled_with_cuda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8F08C4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else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paddle.CPUPlace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paddle.static.Executor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place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</a:br>
            <a:r>
              <a:rPr lang="en" altLang="zh-CN" sz="1800" b="0" dirty="0" err="1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paddle.static.Program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 err="1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new_scope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paddle.static.Scope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559BE09-5DA3-4745-2241-A5F10ACACE6C}"/>
              </a:ext>
            </a:extLst>
          </p:cNvPr>
          <p:cNvSpPr txBox="1"/>
          <p:nvPr/>
        </p:nvSpPr>
        <p:spPr>
          <a:xfrm>
            <a:off x="7408985" y="1196605"/>
            <a:ext cx="3905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全局变量上下文切换：</a:t>
            </a:r>
            <a:r>
              <a:rPr lang="en" altLang="zh-CN" b="0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default_main_program</a:t>
            </a:r>
            <a:r>
              <a:rPr lang="zh-CN" altLang="en-US" dirty="0">
                <a:solidFill>
                  <a:srgbClr val="A31515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" altLang="zh-CN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default_startup_program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zh-CN" altLang="en-US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tracer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F01D8E61-39EA-B9A6-4090-A586DFC60B66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4044462" y="1196605"/>
            <a:ext cx="3364523" cy="600165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1E943DEC-ECDB-DD1E-32B4-21D753E1E99C}"/>
              </a:ext>
            </a:extLst>
          </p:cNvPr>
          <p:cNvSpPr txBox="1"/>
          <p:nvPr/>
        </p:nvSpPr>
        <p:spPr>
          <a:xfrm>
            <a:off x="7408985" y="3059668"/>
            <a:ext cx="390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指定硬件设备</a:t>
            </a:r>
            <a:r>
              <a:rPr kumimoji="1" lang="zh-CN" altLang="en-US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CPU/GPU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F011D87-630F-6800-0F9D-7FD8AF40BBDC}"/>
              </a:ext>
            </a:extLst>
          </p:cNvPr>
          <p:cNvSpPr txBox="1"/>
          <p:nvPr/>
        </p:nvSpPr>
        <p:spPr>
          <a:xfrm>
            <a:off x="838200" y="4561316"/>
            <a:ext cx="84761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初始化</a:t>
            </a:r>
            <a:r>
              <a:rPr lang="en" altLang="zh-CN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Program</a:t>
            </a:r>
            <a:r>
              <a:rPr lang="zh-CN" altLang="en" b="1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实例</a:t>
            </a:r>
            <a:endParaRPr lang="en-US" altLang="zh-CN" b="1" dirty="0">
              <a:solidFill>
                <a:srgbClr val="2339DA"/>
              </a:solidFill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r>
              <a:rPr lang="en" altLang="zh-CN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Program</a:t>
            </a:r>
            <a:r>
              <a:rPr lang="zh-CN" altLang="en-US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描述了整个网络的计算过程。一个</a:t>
            </a:r>
            <a:r>
              <a:rPr lang="en" altLang="zh-CN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Program</a:t>
            </a:r>
            <a:r>
              <a:rPr lang="zh-CN" altLang="en-US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的集合通常包含初始化程序（</a:t>
            </a:r>
            <a:r>
              <a:rPr lang="en" altLang="zh-CN" dirty="0" err="1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startup_program</a:t>
            </a:r>
            <a:r>
              <a:rPr lang="zh-CN" altLang="en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）</a:t>
            </a:r>
            <a:r>
              <a:rPr lang="zh-CN" altLang="en-US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与主程序</a:t>
            </a:r>
            <a:r>
              <a:rPr lang="en-US" altLang="zh-CN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dirty="0" err="1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 </a:t>
            </a:r>
            <a:r>
              <a:rPr lang="zh-CN" altLang="en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。</a:t>
            </a:r>
            <a:endParaRPr lang="en-US" altLang="zh-CN" dirty="0">
              <a:solidFill>
                <a:srgbClr val="2339DA"/>
              </a:solidFill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r>
              <a:rPr lang="en" altLang="zh-CN" dirty="0" err="1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startup_program</a:t>
            </a:r>
            <a:r>
              <a:rPr lang="zh-CN" altLang="en-US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用于初始化，一般只运行一次来初始化参数；</a:t>
            </a:r>
            <a:r>
              <a:rPr lang="en" altLang="zh-CN" dirty="0" err="1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zh-CN" altLang="en-US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将会包含用来训练的网络结构和变量。在每个</a:t>
            </a:r>
            <a:r>
              <a:rPr lang="en" altLang="zh-CN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mini batch</a:t>
            </a:r>
            <a:r>
              <a:rPr lang="zh-CN" altLang="en-US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中运行并更新权重。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DDFFCEA-8133-70DD-F2D6-40DC42F92B47}"/>
              </a:ext>
            </a:extLst>
          </p:cNvPr>
          <p:cNvSpPr txBox="1"/>
          <p:nvPr/>
        </p:nvSpPr>
        <p:spPr>
          <a:xfrm>
            <a:off x="6951785" y="4159114"/>
            <a:ext cx="3905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初始化</a:t>
            </a:r>
            <a:r>
              <a:rPr kumimoji="1" lang="en-US" altLang="zh-CN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Scope</a:t>
            </a:r>
            <a:r>
              <a:rPr kumimoji="1" lang="zh-CN" altLang="en-US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实例</a:t>
            </a:r>
          </a:p>
        </p:txBody>
      </p: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FE0AE1B6-3858-B166-ED71-6A75A690B6C4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5744308" y="2717284"/>
            <a:ext cx="1664677" cy="527050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BCFC2456-5F2C-FF6F-0E28-213AC9773A21}"/>
              </a:ext>
            </a:extLst>
          </p:cNvPr>
          <p:cNvCxnSpPr>
            <a:cxnSpLocks/>
          </p:cNvCxnSpPr>
          <p:nvPr/>
        </p:nvCxnSpPr>
        <p:spPr>
          <a:xfrm>
            <a:off x="1822938" y="3244334"/>
            <a:ext cx="0" cy="1316982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3970798F-FD1C-8E08-24FD-1B0ADDAB084B}"/>
              </a:ext>
            </a:extLst>
          </p:cNvPr>
          <p:cNvCxnSpPr>
            <a:cxnSpLocks/>
            <a:endCxn id="12" idx="1"/>
          </p:cNvCxnSpPr>
          <p:nvPr/>
        </p:nvCxnSpPr>
        <p:spPr>
          <a:xfrm>
            <a:off x="5421923" y="3556771"/>
            <a:ext cx="1529862" cy="787009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2156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6F374-6C0D-155E-5DA6-CDB5D25C9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概述 </a:t>
            </a:r>
            <a:r>
              <a:rPr kumimoji="1" lang="en-US" altLang="zh-CN" dirty="0"/>
              <a:t>|</a:t>
            </a:r>
            <a:r>
              <a:rPr kumimoji="1" lang="zh-CN" altLang="en-US" dirty="0"/>
              <a:t> 代码样例简述</a:t>
            </a:r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A97F98-D292-A88B-FAA7-1E4FEF998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8F08C4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with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paddle.static.scope_guard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 err="1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new_scope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8F08C4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with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paddle.static.program_guard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1" dirty="0" err="1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):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x = </a:t>
            </a:r>
            <a:r>
              <a:rPr lang="en" altLang="zh-CN" sz="1800" b="0" dirty="0" err="1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paddle.ones</a:t>
            </a:r>
            <a:r>
              <a:rPr lang="en" altLang="zh-CN" sz="1800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([2, 2], </a:t>
            </a:r>
            <a:r>
              <a:rPr lang="en" altLang="zh-CN" sz="1800" b="0" dirty="0" err="1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dtype</a:t>
            </a:r>
            <a:r>
              <a:rPr lang="en" altLang="zh-CN" sz="1800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="float32")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y = </a:t>
            </a:r>
            <a:r>
              <a:rPr lang="en" altLang="zh-CN" sz="1800" b="0" dirty="0" err="1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paddle.ones</a:t>
            </a:r>
            <a:r>
              <a:rPr lang="en" altLang="zh-CN" sz="1800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([2, 2], </a:t>
            </a:r>
            <a:r>
              <a:rPr lang="en" altLang="zh-CN" sz="1800" b="0" dirty="0" err="1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dtype</a:t>
            </a:r>
            <a:r>
              <a:rPr lang="en" altLang="zh-CN" sz="1800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="float32")</a:t>
            </a:r>
          </a:p>
          <a:p>
            <a:pPr marL="914400" lvl="2" indent="0">
              <a:spcBef>
                <a:spcPts val="0"/>
              </a:spcBef>
              <a:buNone/>
            </a:pPr>
            <a:br>
              <a:rPr lang="en" altLang="zh-CN" sz="1800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</a:br>
            <a:r>
              <a:rPr lang="en" altLang="zh-CN" sz="1800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z = x + y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out = </a:t>
            </a:r>
            <a:r>
              <a:rPr lang="en" altLang="zh-CN" b="0" dirty="0" err="1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exe.run</a:t>
            </a:r>
            <a:r>
              <a:rPr lang="en" altLang="zh-CN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b="0" dirty="0" err="1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b="0" dirty="0" err="1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z.name</a:t>
            </a:r>
            <a:r>
              <a:rPr lang="en" altLang="zh-CN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C4E9A7-B4A1-1FF8-E66A-E81DB685953E}"/>
              </a:ext>
            </a:extLst>
          </p:cNvPr>
          <p:cNvSpPr txBox="1"/>
          <p:nvPr/>
        </p:nvSpPr>
        <p:spPr>
          <a:xfrm>
            <a:off x="929184" y="3854844"/>
            <a:ext cx="997260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" altLang="zh-CN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" altLang="zh-CN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dirty="0" err="1">
                <a:solidFill>
                  <a:srgbClr val="7453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program_guard</a:t>
            </a:r>
            <a:r>
              <a:rPr lang="en" altLang="zh-CN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main_program</a:t>
            </a:r>
            <a:r>
              <a:rPr lang="en" altLang="zh-CN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startup_program</a:t>
            </a:r>
            <a:r>
              <a:rPr lang="en" altLang="zh-CN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None</a:t>
            </a:r>
            <a:r>
              <a:rPr lang="en" altLang="zh-CN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r>
              <a:rPr lang="en-US" altLang="zh-CN" b="0" dirty="0">
                <a:solidFill>
                  <a:srgbClr val="E21F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"""</a:t>
            </a:r>
            <a:endParaRPr lang="zh-CN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startup_program</a:t>
            </a:r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(Program, optional): New startup program inside ``with``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statement. :</a:t>
            </a:r>
            <a:r>
              <a:rPr lang="en" altLang="zh-CN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code:`None</a:t>
            </a:r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` means </a:t>
            </a:r>
            <a:r>
              <a:rPr lang="en" altLang="zh-CN" b="1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not changing startup program</a:t>
            </a:r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default_startup_program</a:t>
            </a:r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is still used.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b="0" dirty="0">
                <a:solidFill>
                  <a:srgbClr val="E21F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"""</a:t>
            </a:r>
            <a:endParaRPr lang="zh-CN" altLang="en-US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5C0B60B-18A6-76ED-BD96-A7A0BB00C668}"/>
              </a:ext>
            </a:extLst>
          </p:cNvPr>
          <p:cNvSpPr txBox="1"/>
          <p:nvPr/>
        </p:nvSpPr>
        <p:spPr>
          <a:xfrm>
            <a:off x="6765699" y="3006433"/>
            <a:ext cx="44975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通过</a:t>
            </a:r>
            <a:r>
              <a:rPr lang="en" altLang="zh-CN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with </a:t>
            </a:r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语句切换作用域（</a:t>
            </a:r>
            <a:r>
              <a:rPr lang="en" altLang="zh-CN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scope</a:t>
            </a:r>
            <a:r>
              <a:rPr lang="zh-CN" altLang="en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）。</a:t>
            </a:r>
            <a:endParaRPr lang="en-US" altLang="zh-CN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pPr algn="l"/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作用域：变量名和变量之间的映射关系</a:t>
            </a:r>
            <a:endParaRPr lang="en-US" altLang="zh-CN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E2A41E13-A897-7139-47AE-4FF3CCFC9B9C}"/>
              </a:ext>
            </a:extLst>
          </p:cNvPr>
          <p:cNvCxnSpPr>
            <a:cxnSpLocks/>
            <a:stCxn id="12" idx="0"/>
          </p:cNvCxnSpPr>
          <p:nvPr/>
        </p:nvCxnSpPr>
        <p:spPr>
          <a:xfrm flipH="1" flipV="1">
            <a:off x="6476104" y="1250119"/>
            <a:ext cx="2538391" cy="1756314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DE56D582-353A-3414-2B60-EE0F1AC14640}"/>
              </a:ext>
            </a:extLst>
          </p:cNvPr>
          <p:cNvCxnSpPr>
            <a:cxnSpLocks/>
          </p:cNvCxnSpPr>
          <p:nvPr/>
        </p:nvCxnSpPr>
        <p:spPr>
          <a:xfrm flipV="1">
            <a:off x="2818504" y="1549101"/>
            <a:ext cx="1779087" cy="2388198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35B4C83C-3956-38FD-52B1-FD25A22F0D7A}"/>
              </a:ext>
            </a:extLst>
          </p:cNvPr>
          <p:cNvSpPr txBox="1"/>
          <p:nvPr/>
        </p:nvSpPr>
        <p:spPr>
          <a:xfrm>
            <a:off x="929184" y="5607881"/>
            <a:ext cx="78275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zh-CN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</a:t>
            </a:r>
            <a:r>
              <a:rPr lang="en" altLang="zh-CN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tartup</a:t>
            </a:r>
            <a:r>
              <a:rPr lang="en-US" altLang="zh-CN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zh-CN" altLang="en-US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缺省，调用</a:t>
            </a:r>
            <a:r>
              <a:rPr lang="en-US" altLang="zh-CN" dirty="0" err="1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default_startup_program</a:t>
            </a:r>
            <a:r>
              <a:rPr lang="zh-CN" altLang="en-US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不变</a:t>
            </a:r>
            <a:endParaRPr lang="en-US" altLang="zh-CN" dirty="0">
              <a:solidFill>
                <a:srgbClr val="2339D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27279AA-2247-7386-BD0B-D41B6DF7D100}"/>
              </a:ext>
            </a:extLst>
          </p:cNvPr>
          <p:cNvSpPr txBox="1"/>
          <p:nvPr/>
        </p:nvSpPr>
        <p:spPr>
          <a:xfrm>
            <a:off x="7996493" y="760473"/>
            <a:ext cx="4195507" cy="1563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>
              <a:lnSpc>
                <a:spcPct val="135000"/>
              </a:lnSpc>
            </a:pPr>
            <a:r>
              <a:rPr kumimoji="1" lang="en" altLang="zh-CN" sz="1800" dirty="0" err="1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main_program</a:t>
            </a:r>
            <a:r>
              <a:rPr kumimoji="1" lang="zh-CN" altLang="en-US" sz="1800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kumimoji="1" lang="en" altLang="zh-CN" sz="1800" dirty="0" err="1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startup_program</a:t>
            </a:r>
            <a:r>
              <a:rPr kumimoji="1" lang="zh-CN" altLang="en-US" sz="1800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在不特殊设置的情况下是两个全局变量，一般通过</a:t>
            </a:r>
            <a:r>
              <a:rPr kumimoji="1" lang="en" altLang="zh-CN" sz="1800" dirty="0" err="1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program_guard</a:t>
            </a:r>
            <a:r>
              <a:rPr kumimoji="1" lang="zh-CN" altLang="en-US" sz="1800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包裹使用用户指定的</a:t>
            </a:r>
            <a:r>
              <a:rPr kumimoji="1" lang="en" altLang="zh-CN" sz="1800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kumimoji="1" lang="zh-CN" altLang="en-US" sz="1800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）</a:t>
            </a:r>
            <a:endParaRPr kumimoji="1" lang="en" altLang="zh-CN" sz="1800" dirty="0">
              <a:solidFill>
                <a:srgbClr val="2339D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19985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6F374-6C0D-155E-5DA6-CDB5D25C9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概述 </a:t>
            </a:r>
            <a:r>
              <a:rPr kumimoji="1" lang="en-US" altLang="zh-CN" dirty="0"/>
              <a:t>|</a:t>
            </a:r>
            <a:r>
              <a:rPr kumimoji="1" lang="zh-CN" altLang="en-US" dirty="0"/>
              <a:t> 代码样例简述</a:t>
            </a:r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A97F98-D292-A88B-FAA7-1E4FEF998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with </a:t>
            </a:r>
            <a:r>
              <a:rPr lang="en" altLang="zh-CN" sz="1800" b="0" dirty="0" err="1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paddle.static.scope_guard</a:t>
            </a:r>
            <a:r>
              <a:rPr lang="en" altLang="zh-CN" sz="1800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 err="1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new_scope</a:t>
            </a:r>
            <a:r>
              <a:rPr lang="en" altLang="zh-CN" sz="1800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with </a:t>
            </a:r>
            <a:r>
              <a:rPr lang="en" altLang="zh-CN" b="0" dirty="0" err="1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paddle.static.program_guard</a:t>
            </a:r>
            <a:r>
              <a:rPr lang="en" altLang="zh-CN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):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x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lang="en" altLang="zh-CN" sz="1800" b="0" dirty="0" err="1">
                <a:solidFill>
                  <a:srgbClr val="7453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ones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([</a:t>
            </a:r>
            <a:r>
              <a:rPr lang="en" altLang="zh-CN" sz="1800" b="0" dirty="0">
                <a:solidFill>
                  <a:srgbClr val="098658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" altLang="zh-CN" sz="1800" b="0" dirty="0">
                <a:solidFill>
                  <a:srgbClr val="098658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], </a:t>
            </a:r>
            <a:r>
              <a:rPr lang="en" altLang="zh-CN" sz="1800" b="0" dirty="0" err="1">
                <a:solidFill>
                  <a:srgbClr val="80808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dtype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" altLang="zh-CN" sz="1800" b="0" dirty="0">
                <a:solidFill>
                  <a:srgbClr val="E21F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" altLang="zh-CN" sz="1800" b="0" dirty="0">
                <a:solidFill>
                  <a:srgbClr val="A31515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float32</a:t>
            </a:r>
            <a:r>
              <a:rPr lang="en" altLang="zh-CN" sz="1800" b="0" dirty="0">
                <a:solidFill>
                  <a:srgbClr val="E21F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y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lang="en" altLang="zh-CN" sz="1800" b="0" dirty="0" err="1">
                <a:solidFill>
                  <a:srgbClr val="7453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ones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([</a:t>
            </a:r>
            <a:r>
              <a:rPr lang="en" altLang="zh-CN" sz="1800" b="0" dirty="0">
                <a:solidFill>
                  <a:srgbClr val="098658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" altLang="zh-CN" sz="1800" b="0" dirty="0">
                <a:solidFill>
                  <a:srgbClr val="098658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], </a:t>
            </a:r>
            <a:r>
              <a:rPr lang="en" altLang="zh-CN" sz="1800" b="0" dirty="0" err="1">
                <a:solidFill>
                  <a:srgbClr val="80808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dtype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" altLang="zh-CN" sz="1800" b="0" dirty="0">
                <a:solidFill>
                  <a:srgbClr val="E21F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" altLang="zh-CN" sz="1800" b="0" dirty="0">
                <a:solidFill>
                  <a:srgbClr val="A31515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float32</a:t>
            </a:r>
            <a:r>
              <a:rPr lang="en" altLang="zh-CN" sz="1800" b="0" dirty="0">
                <a:solidFill>
                  <a:srgbClr val="E21F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spcBef>
                <a:spcPts val="0"/>
              </a:spcBef>
              <a:buNone/>
            </a:pPr>
            <a:br>
              <a:rPr lang="en" altLang="zh-CN" sz="1800" b="0" dirty="0">
                <a:solidFill>
                  <a:schemeClr val="bg1">
                    <a:lumMod val="85000"/>
                  </a:schemeClr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</a:br>
            <a:r>
              <a:rPr lang="en" altLang="zh-CN" sz="1800" b="0" dirty="0"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z = x + y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exe</a:t>
            </a:r>
            <a:r>
              <a:rPr lang="en" altLang="zh-CN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.run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b="0" dirty="0" err="1">
                <a:solidFill>
                  <a:srgbClr val="80808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b="0" dirty="0" err="1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z</a:t>
            </a:r>
            <a:r>
              <a:rPr lang="en" altLang="zh-CN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.name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19299D4-25D3-AAFC-FDE2-715AB0A63B5E}"/>
              </a:ext>
            </a:extLst>
          </p:cNvPr>
          <p:cNvSpPr txBox="1"/>
          <p:nvPr/>
        </p:nvSpPr>
        <p:spPr>
          <a:xfrm>
            <a:off x="1155096" y="3353696"/>
            <a:ext cx="49409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声明变量（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Variable</a:t>
            </a:r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）</a:t>
            </a:r>
            <a:endParaRPr lang="en-US" altLang="zh-CN" b="1" dirty="0">
              <a:solidFill>
                <a:srgbClr val="2339D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b="1" dirty="0">
              <a:solidFill>
                <a:srgbClr val="2339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运算</a:t>
            </a:r>
            <a:r>
              <a:rPr lang="en-US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插入</a:t>
            </a:r>
            <a:r>
              <a:rPr lang="en-US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op)</a:t>
            </a:r>
          </a:p>
          <a:p>
            <a:endParaRPr lang="en-US" altLang="zh-CN" b="1" dirty="0">
              <a:solidFill>
                <a:srgbClr val="2339D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执行（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StandaloneExecutor.run</a:t>
            </a:r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2432149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6F374-6C0D-155E-5DA6-CDB5D25C9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1.</a:t>
            </a:r>
            <a:r>
              <a:rPr kumimoji="1" lang="zh-CN" altLang="en-US" dirty="0"/>
              <a:t> 概述 </a:t>
            </a:r>
            <a:r>
              <a:rPr kumimoji="1" lang="en-US" altLang="zh-CN" dirty="0"/>
              <a:t>|</a:t>
            </a:r>
            <a:r>
              <a:rPr kumimoji="1" lang="zh-CN" altLang="en-US" dirty="0"/>
              <a:t> 问题</a:t>
            </a:r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A97F98-D292-A88B-FAA7-1E4FEF998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lang="en" altLang="zh-CN" sz="1800" b="0" dirty="0" err="1">
                <a:solidFill>
                  <a:srgbClr val="7453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enable_static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place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= (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paddle.CUDAPlace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98658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0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8F08C4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if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lang="en" altLang="zh-CN" b="0" dirty="0" err="1">
                <a:solidFill>
                  <a:srgbClr val="7453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is_compiled_with_cuda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8F08C4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else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paddle.CPUPlace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exe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paddle.static.Executor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place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0" indent="0">
              <a:spcBef>
                <a:spcPts val="0"/>
              </a:spcBef>
              <a:buNone/>
            </a:pPr>
            <a:b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</a:br>
            <a:r>
              <a:rPr lang="en" altLang="zh-CN" sz="1800" b="0" dirty="0" err="1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paddle.static.Program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 err="1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new_scope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paddle.static.Scope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8F08C4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with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paddle.static.scope_guard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 err="1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new_scope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):</a:t>
            </a: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8F08C4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with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paddle.static.program_guard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):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x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lang="en" altLang="zh-CN" sz="1800" b="0" dirty="0" err="1">
                <a:solidFill>
                  <a:srgbClr val="7453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ones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([</a:t>
            </a:r>
            <a:r>
              <a:rPr lang="en" altLang="zh-CN" sz="1800" b="0" dirty="0">
                <a:solidFill>
                  <a:srgbClr val="098658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" altLang="zh-CN" sz="1800" b="0" dirty="0">
                <a:solidFill>
                  <a:srgbClr val="098658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], </a:t>
            </a:r>
            <a:r>
              <a:rPr lang="en" altLang="zh-CN" sz="1800" b="0" dirty="0" err="1">
                <a:solidFill>
                  <a:srgbClr val="80808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dtype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" altLang="zh-CN" sz="1800" b="0" dirty="0">
                <a:solidFill>
                  <a:srgbClr val="E21F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" altLang="zh-CN" sz="1800" b="0" dirty="0">
                <a:solidFill>
                  <a:srgbClr val="A31515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float32</a:t>
            </a:r>
            <a:r>
              <a:rPr lang="en" altLang="zh-CN" sz="1800" b="0" dirty="0">
                <a:solidFill>
                  <a:srgbClr val="E21F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y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lang="en" altLang="zh-CN" sz="1800" b="0" dirty="0" err="1">
                <a:solidFill>
                  <a:srgbClr val="7453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ones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([</a:t>
            </a:r>
            <a:r>
              <a:rPr lang="en" altLang="zh-CN" sz="1800" b="0" dirty="0">
                <a:solidFill>
                  <a:srgbClr val="098658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lang="en" altLang="zh-CN" sz="1800" b="0" dirty="0">
                <a:solidFill>
                  <a:srgbClr val="098658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], </a:t>
            </a:r>
            <a:r>
              <a:rPr lang="en" altLang="zh-CN" sz="1800" b="0" dirty="0" err="1">
                <a:solidFill>
                  <a:srgbClr val="80808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dtype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=</a:t>
            </a:r>
            <a:r>
              <a:rPr lang="en" altLang="zh-CN" sz="1800" b="0" dirty="0">
                <a:solidFill>
                  <a:srgbClr val="E21F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" altLang="zh-CN" sz="1800" b="0" dirty="0">
                <a:solidFill>
                  <a:srgbClr val="A31515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float32</a:t>
            </a:r>
            <a:r>
              <a:rPr lang="en" altLang="zh-CN" sz="1800" b="0" dirty="0">
                <a:solidFill>
                  <a:srgbClr val="E21F1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 marL="914400" lvl="2" indent="0">
              <a:spcBef>
                <a:spcPts val="0"/>
              </a:spcBef>
              <a:buNone/>
            </a:pPr>
            <a:b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</a:br>
            <a:r>
              <a:rPr lang="en" altLang="zh-CN" sz="1800" b="0" dirty="0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z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x</a:t>
            </a:r>
            <a:r>
              <a:rPr lang="en" altLang="zh-CN" sz="1800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+ </a:t>
            </a:r>
            <a:r>
              <a:rPr lang="en" altLang="zh-CN" sz="1800" b="0" dirty="0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y</a:t>
            </a:r>
            <a:endParaRPr lang="en" altLang="zh-CN" sz="1800" b="0" dirty="0">
              <a:solidFill>
                <a:srgbClr val="000000"/>
              </a:solidFill>
              <a:effectLst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" altLang="zh-CN" b="0" dirty="0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exe</a:t>
            </a:r>
            <a:r>
              <a:rPr lang="en" altLang="zh-CN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.run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b="0" dirty="0" err="1">
                <a:solidFill>
                  <a:srgbClr val="80808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b="0" dirty="0" err="1">
                <a:solidFill>
                  <a:srgbClr val="1F377F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z</a:t>
            </a:r>
            <a:r>
              <a:rPr lang="en" altLang="zh-CN" b="0" dirty="0" err="1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.name</a:t>
            </a:r>
            <a:r>
              <a:rPr lang="en" altLang="zh-CN" b="0" dirty="0">
                <a:solidFill>
                  <a:srgbClr val="000000"/>
                </a:solidFill>
                <a:effectLst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BC831FA-406C-33BB-BE81-178401AAD8E9}"/>
              </a:ext>
            </a:extLst>
          </p:cNvPr>
          <p:cNvSpPr txBox="1"/>
          <p:nvPr/>
        </p:nvSpPr>
        <p:spPr>
          <a:xfrm>
            <a:off x="9111729" y="4007055"/>
            <a:ext cx="2649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什么形式的数据？</a:t>
            </a:r>
            <a:endParaRPr kumimoji="1" lang="en-US" altLang="zh-CN" b="1" dirty="0">
              <a:solidFill>
                <a:srgbClr val="2339D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如何存储？</a:t>
            </a:r>
            <a:endParaRPr kumimoji="1" lang="en-US" altLang="zh-CN" b="1" dirty="0">
              <a:solidFill>
                <a:srgbClr val="2339D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710D7D37-7146-DDA4-3D90-CD72B586C488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7362092" y="4330221"/>
            <a:ext cx="1749637" cy="0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19CC3110-4F72-7BE9-3DEE-C18DA187AFF3}"/>
              </a:ext>
            </a:extLst>
          </p:cNvPr>
          <p:cNvSpPr txBox="1"/>
          <p:nvPr/>
        </p:nvSpPr>
        <p:spPr>
          <a:xfrm>
            <a:off x="7362092" y="2782669"/>
            <a:ext cx="2649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kumimoji="1"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如何组？组出什么样的网络结构？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19E4505E-DE1F-BC86-C4DD-B86BF15C769E}"/>
              </a:ext>
            </a:extLst>
          </p:cNvPr>
          <p:cNvCxnSpPr>
            <a:cxnSpLocks/>
            <a:stCxn id="11" idx="1"/>
          </p:cNvCxnSpPr>
          <p:nvPr/>
        </p:nvCxnSpPr>
        <p:spPr>
          <a:xfrm flipH="1">
            <a:off x="6224954" y="3105835"/>
            <a:ext cx="1137138" cy="0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0AB59CA5-44CB-5FF1-4559-029F7D19FA72}"/>
              </a:ext>
            </a:extLst>
          </p:cNvPr>
          <p:cNvSpPr txBox="1"/>
          <p:nvPr/>
        </p:nvSpPr>
        <p:spPr>
          <a:xfrm>
            <a:off x="7209692" y="1493969"/>
            <a:ext cx="2649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运行时</a:t>
            </a:r>
            <a:r>
              <a:rPr kumimoji="1"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kumimoji="1"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如何选择？</a:t>
            </a: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159252E4-560E-AD40-9F89-7ED5AE04F27B}"/>
              </a:ext>
            </a:extLst>
          </p:cNvPr>
          <p:cNvCxnSpPr>
            <a:cxnSpLocks/>
            <a:stCxn id="17" idx="1"/>
          </p:cNvCxnSpPr>
          <p:nvPr/>
        </p:nvCxnSpPr>
        <p:spPr>
          <a:xfrm flipH="1">
            <a:off x="6072554" y="1678635"/>
            <a:ext cx="1137138" cy="138500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614F511-B641-BD26-1C99-CD98CE2AF640}"/>
              </a:ext>
            </a:extLst>
          </p:cNvPr>
          <p:cNvSpPr txBox="1"/>
          <p:nvPr/>
        </p:nvSpPr>
        <p:spPr>
          <a:xfrm>
            <a:off x="3856892" y="5610938"/>
            <a:ext cx="2649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怎么</a:t>
            </a:r>
            <a:r>
              <a:rPr kumimoji="1"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kumimoji="1"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？</a:t>
            </a:r>
            <a:endParaRPr kumimoji="1" lang="en-US" altLang="zh-CN" b="1" dirty="0">
              <a:solidFill>
                <a:srgbClr val="2339D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如何优化？</a:t>
            </a:r>
          </a:p>
        </p:txBody>
      </p:sp>
      <p:cxnSp>
        <p:nvCxnSpPr>
          <p:cNvPr id="20" name="直线箭头连接符 19">
            <a:extLst>
              <a:ext uri="{FF2B5EF4-FFF2-40B4-BE49-F238E27FC236}">
                <a16:creationId xmlns:a16="http://schemas.microsoft.com/office/drawing/2014/main" id="{01BD5D9A-5477-823D-E19B-3F657CA9121E}"/>
              </a:ext>
            </a:extLst>
          </p:cNvPr>
          <p:cNvCxnSpPr>
            <a:cxnSpLocks/>
            <a:stCxn id="19" idx="1"/>
          </p:cNvCxnSpPr>
          <p:nvPr/>
        </p:nvCxnSpPr>
        <p:spPr>
          <a:xfrm flipH="1" flipV="1">
            <a:off x="3001108" y="5206779"/>
            <a:ext cx="855784" cy="727325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309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6F374-6C0D-155E-5DA6-CDB5D25C9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数据存储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Python</a:t>
            </a:r>
            <a:r>
              <a:rPr kumimoji="1" lang="zh-CN" altLang="en-US" dirty="0"/>
              <a:t>侧</a:t>
            </a:r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ADED706-3951-F6C2-3C5A-3F9C84981A2E}"/>
              </a:ext>
            </a:extLst>
          </p:cNvPr>
          <p:cNvSpPr txBox="1"/>
          <p:nvPr/>
        </p:nvSpPr>
        <p:spPr>
          <a:xfrm>
            <a:off x="5452533" y="1096652"/>
            <a:ext cx="568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class Program:</a:t>
            </a:r>
          </a:p>
          <a:p>
            <a:pPr lvl="1"/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def __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__(self):</a:t>
            </a:r>
          </a:p>
          <a:p>
            <a:pPr lvl="2"/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self.desc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core.ProgramDesc</a:t>
            </a:r>
            <a:r>
              <a:rPr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self.blocks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[</a:t>
            </a:r>
            <a:r>
              <a:rPr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(self, 0)] </a:t>
            </a:r>
          </a:p>
          <a:p>
            <a:pPr lvl="2"/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self.current_block_idx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0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97D34EA2-B2F6-3A23-8880-48BD51428CB9}"/>
              </a:ext>
            </a:extLst>
          </p:cNvPr>
          <p:cNvGrpSpPr/>
          <p:nvPr/>
        </p:nvGrpSpPr>
        <p:grpSpPr>
          <a:xfrm>
            <a:off x="956884" y="1003587"/>
            <a:ext cx="3497252" cy="3287059"/>
            <a:chOff x="956884" y="1003587"/>
            <a:chExt cx="3497252" cy="3287059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99F6EB46-1738-9116-BD9C-156623773D7E}"/>
                </a:ext>
              </a:extLst>
            </p:cNvPr>
            <p:cNvGrpSpPr/>
            <p:nvPr/>
          </p:nvGrpSpPr>
          <p:grpSpPr>
            <a:xfrm>
              <a:off x="956884" y="1003587"/>
              <a:ext cx="3497252" cy="3287059"/>
              <a:chOff x="943112" y="2646400"/>
              <a:chExt cx="3929736" cy="3342717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FAF185C8-90C2-C486-B69B-8F4700629A55}"/>
                  </a:ext>
                </a:extLst>
              </p:cNvPr>
              <p:cNvSpPr/>
              <p:nvPr/>
            </p:nvSpPr>
            <p:spPr>
              <a:xfrm>
                <a:off x="943112" y="2646400"/>
                <a:ext cx="3929736" cy="3342717"/>
              </a:xfrm>
              <a:prstGeom prst="rect">
                <a:avLst/>
              </a:prstGeom>
              <a:noFill/>
              <a:ln w="28575">
                <a:solidFill>
                  <a:srgbClr val="2339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b="1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1979248-20D2-3F27-DBD1-779EA0A3E9BD}"/>
                  </a:ext>
                </a:extLst>
              </p:cNvPr>
              <p:cNvSpPr txBox="1"/>
              <p:nvPr/>
            </p:nvSpPr>
            <p:spPr>
              <a:xfrm>
                <a:off x="1098093" y="2671115"/>
                <a:ext cx="28420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/>
                  <a:t>program</a:t>
                </a:r>
                <a:endParaRPr kumimoji="1" lang="zh-CN" altLang="en-US" b="1" dirty="0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F40BBA94-86D9-2768-6F5F-590DAD840DB3}"/>
                  </a:ext>
                </a:extLst>
              </p:cNvPr>
              <p:cNvSpPr/>
              <p:nvPr/>
            </p:nvSpPr>
            <p:spPr>
              <a:xfrm>
                <a:off x="1159356" y="3178476"/>
                <a:ext cx="3497252" cy="832167"/>
              </a:xfrm>
              <a:prstGeom prst="rect">
                <a:avLst/>
              </a:prstGeom>
              <a:noFill/>
              <a:ln w="28575">
                <a:solidFill>
                  <a:srgbClr val="2339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 b="1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23FEB68-F9DF-75D9-B230-B4886884D42D}"/>
                  </a:ext>
                </a:extLst>
              </p:cNvPr>
              <p:cNvSpPr txBox="1"/>
              <p:nvPr/>
            </p:nvSpPr>
            <p:spPr>
              <a:xfrm>
                <a:off x="1228491" y="3207699"/>
                <a:ext cx="10688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/>
                  <a:t>block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0</a:t>
                </a:r>
                <a:endParaRPr kumimoji="1" lang="zh-CN" altLang="en-US" b="1" dirty="0"/>
              </a:p>
            </p:txBody>
          </p:sp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95E1394-5DD1-8749-EAE9-E235B35B5720}"/>
                </a:ext>
              </a:extLst>
            </p:cNvPr>
            <p:cNvSpPr/>
            <p:nvPr/>
          </p:nvSpPr>
          <p:spPr>
            <a:xfrm>
              <a:off x="1173127" y="3202698"/>
              <a:ext cx="3088567" cy="818311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b="1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41B74801-18C2-B78E-CAE6-359A2B40F7C5}"/>
                </a:ext>
              </a:extLst>
            </p:cNvPr>
            <p:cNvSpPr txBox="1"/>
            <p:nvPr/>
          </p:nvSpPr>
          <p:spPr>
            <a:xfrm>
              <a:off x="1242263" y="3231920"/>
              <a:ext cx="1068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/>
                <a:t>block</a:t>
              </a:r>
              <a:r>
                <a:rPr kumimoji="1" lang="zh-CN" altLang="en-US" b="1" dirty="0"/>
                <a:t> </a:t>
              </a:r>
              <a:r>
                <a:rPr kumimoji="1" lang="en-US" altLang="zh-CN" b="1" dirty="0"/>
                <a:t>n</a:t>
              </a:r>
              <a:endParaRPr kumimoji="1" lang="zh-CN" altLang="en-US" b="1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25ACF21-935C-B9A0-4DE7-DE7F5B59C072}"/>
                </a:ext>
              </a:extLst>
            </p:cNvPr>
            <p:cNvSpPr txBox="1"/>
            <p:nvPr/>
          </p:nvSpPr>
          <p:spPr>
            <a:xfrm>
              <a:off x="2687291" y="2286000"/>
              <a:ext cx="461665" cy="91669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kumimoji="1" lang="en-US" altLang="zh-CN" sz="4000" dirty="0"/>
                <a:t>…</a:t>
              </a:r>
              <a:endParaRPr kumimoji="1" lang="zh-CN" altLang="en-US" sz="4000" dirty="0"/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1E2F8A23-C091-82A9-E918-AAD4B3B84C35}"/>
              </a:ext>
            </a:extLst>
          </p:cNvPr>
          <p:cNvSpPr txBox="1"/>
          <p:nvPr/>
        </p:nvSpPr>
        <p:spPr>
          <a:xfrm>
            <a:off x="669518" y="4733395"/>
            <a:ext cx="64073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class Block:</a:t>
            </a:r>
          </a:p>
          <a:p>
            <a:pPr lvl="1"/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def __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__(self, program, 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lvl="2"/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self.desc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program.desc.block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self.vars</a:t>
            </a:r>
            <a:r>
              <a:rPr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collections.OrderedDict</a:t>
            </a:r>
            <a:r>
              <a:rPr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" altLang="zh-CN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self.ops</a:t>
            </a:r>
            <a:r>
              <a:rPr lang="en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 = list()</a:t>
            </a:r>
          </a:p>
          <a:p>
            <a:pPr lvl="2"/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self.program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program</a:t>
            </a:r>
          </a:p>
        </p:txBody>
      </p: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E95F7272-1815-5D17-9313-8FC20E9C7ED9}"/>
              </a:ext>
            </a:extLst>
          </p:cNvPr>
          <p:cNvGrpSpPr/>
          <p:nvPr/>
        </p:nvGrpSpPr>
        <p:grpSpPr>
          <a:xfrm>
            <a:off x="7807617" y="3046865"/>
            <a:ext cx="3497252" cy="3287059"/>
            <a:chOff x="956884" y="1003587"/>
            <a:chExt cx="3497252" cy="3287059"/>
          </a:xfrm>
        </p:grpSpPr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id="{37428FA9-E26F-46D6-0E56-0F4255338A73}"/>
                </a:ext>
              </a:extLst>
            </p:cNvPr>
            <p:cNvGrpSpPr/>
            <p:nvPr/>
          </p:nvGrpSpPr>
          <p:grpSpPr>
            <a:xfrm>
              <a:off x="956884" y="1003587"/>
              <a:ext cx="3497252" cy="3287059"/>
              <a:chOff x="943112" y="2646400"/>
              <a:chExt cx="3929736" cy="3342717"/>
            </a:xfrm>
          </p:grpSpPr>
          <p:sp>
            <p:nvSpPr>
              <p:cNvPr id="57" name="矩形 56">
                <a:extLst>
                  <a:ext uri="{FF2B5EF4-FFF2-40B4-BE49-F238E27FC236}">
                    <a16:creationId xmlns:a16="http://schemas.microsoft.com/office/drawing/2014/main" id="{7E33F170-7705-FAC5-B88B-5B7577ED576D}"/>
                  </a:ext>
                </a:extLst>
              </p:cNvPr>
              <p:cNvSpPr/>
              <p:nvPr/>
            </p:nvSpPr>
            <p:spPr>
              <a:xfrm>
                <a:off x="943112" y="2646400"/>
                <a:ext cx="3929736" cy="3342717"/>
              </a:xfrm>
              <a:prstGeom prst="rect">
                <a:avLst/>
              </a:prstGeom>
              <a:noFill/>
              <a:ln w="28575">
                <a:solidFill>
                  <a:srgbClr val="2339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b="1"/>
              </a:p>
            </p:txBody>
          </p:sp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22AB9341-0455-12F9-EEEF-C4595D76ABA0}"/>
                  </a:ext>
                </a:extLst>
              </p:cNvPr>
              <p:cNvSpPr txBox="1"/>
              <p:nvPr/>
            </p:nvSpPr>
            <p:spPr>
              <a:xfrm>
                <a:off x="1098093" y="2671115"/>
                <a:ext cx="2842054" cy="375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/>
                  <a:t>block</a:t>
                </a:r>
                <a:endParaRPr kumimoji="1" lang="zh-CN" altLang="en-US" b="1" dirty="0"/>
              </a:p>
            </p:txBody>
          </p:sp>
          <p:sp>
            <p:nvSpPr>
              <p:cNvPr id="59" name="矩形 58">
                <a:extLst>
                  <a:ext uri="{FF2B5EF4-FFF2-40B4-BE49-F238E27FC236}">
                    <a16:creationId xmlns:a16="http://schemas.microsoft.com/office/drawing/2014/main" id="{13E6F634-A43D-1E3D-9951-B83952AD2661}"/>
                  </a:ext>
                </a:extLst>
              </p:cNvPr>
              <p:cNvSpPr/>
              <p:nvPr/>
            </p:nvSpPr>
            <p:spPr>
              <a:xfrm>
                <a:off x="1159356" y="3210174"/>
                <a:ext cx="1626457" cy="2504740"/>
              </a:xfrm>
              <a:prstGeom prst="rect">
                <a:avLst/>
              </a:prstGeom>
              <a:noFill/>
              <a:ln w="28575">
                <a:solidFill>
                  <a:srgbClr val="2339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 b="1"/>
              </a:p>
            </p:txBody>
          </p:sp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12D81366-662B-B13B-345C-D683A8D11642}"/>
                  </a:ext>
                </a:extLst>
              </p:cNvPr>
              <p:cNvSpPr txBox="1"/>
              <p:nvPr/>
            </p:nvSpPr>
            <p:spPr>
              <a:xfrm>
                <a:off x="1228491" y="3221240"/>
                <a:ext cx="1068861" cy="375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" altLang="zh-CN" b="1" dirty="0"/>
                  <a:t>vars</a:t>
                </a:r>
                <a:endParaRPr kumimoji="1" lang="zh-CN" altLang="en-US" b="1" dirty="0"/>
              </a:p>
            </p:txBody>
          </p:sp>
        </p:grp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1BDFD67B-A9D2-B54E-1C20-B5FA80F0735C}"/>
                </a:ext>
              </a:extLst>
            </p:cNvPr>
            <p:cNvSpPr/>
            <p:nvPr/>
          </p:nvSpPr>
          <p:spPr>
            <a:xfrm>
              <a:off x="2813031" y="1557974"/>
              <a:ext cx="1448663" cy="246303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b="1"/>
            </a:p>
          </p:txBody>
        </p: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E1DC992F-FC02-5217-B4C5-A5D31D630981}"/>
                </a:ext>
              </a:extLst>
            </p:cNvPr>
            <p:cNvSpPr txBox="1"/>
            <p:nvPr/>
          </p:nvSpPr>
          <p:spPr>
            <a:xfrm>
              <a:off x="2870345" y="1580595"/>
              <a:ext cx="1068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/>
                <a:t>ops</a:t>
              </a:r>
              <a:endParaRPr kumimoji="1" lang="zh-CN" altLang="en-US" b="1" dirty="0"/>
            </a:p>
          </p:txBody>
        </p:sp>
      </p:grpSp>
      <p:sp>
        <p:nvSpPr>
          <p:cNvPr id="61" name="文本框 60">
            <a:extLst>
              <a:ext uri="{FF2B5EF4-FFF2-40B4-BE49-F238E27FC236}">
                <a16:creationId xmlns:a16="http://schemas.microsoft.com/office/drawing/2014/main" id="{EE5E0A49-A3BC-6C8E-B5D6-BC51B5021B7D}"/>
              </a:ext>
            </a:extLst>
          </p:cNvPr>
          <p:cNvSpPr txBox="1"/>
          <p:nvPr/>
        </p:nvSpPr>
        <p:spPr>
          <a:xfrm>
            <a:off x="4755088" y="2647397"/>
            <a:ext cx="2649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b="1" dirty="0" err="1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Pybind</a:t>
            </a:r>
            <a:r>
              <a:rPr kumimoji="1"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调用</a:t>
            </a:r>
            <a:r>
              <a:rPr kumimoji="1"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kumimoji="1"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接口</a:t>
            </a:r>
          </a:p>
        </p:txBody>
      </p:sp>
      <p:cxnSp>
        <p:nvCxnSpPr>
          <p:cNvPr id="62" name="直线箭头连接符 61">
            <a:extLst>
              <a:ext uri="{FF2B5EF4-FFF2-40B4-BE49-F238E27FC236}">
                <a16:creationId xmlns:a16="http://schemas.microsoft.com/office/drawing/2014/main" id="{6A351553-5C21-D144-50E1-9F64AC354196}"/>
              </a:ext>
            </a:extLst>
          </p:cNvPr>
          <p:cNvCxnSpPr>
            <a:cxnSpLocks/>
          </p:cNvCxnSpPr>
          <p:nvPr/>
        </p:nvCxnSpPr>
        <p:spPr>
          <a:xfrm flipV="1">
            <a:off x="7076838" y="1918722"/>
            <a:ext cx="1271096" cy="882809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AC9A6CE0-4F3C-8B56-55B6-82ACA2FCC059}"/>
              </a:ext>
            </a:extLst>
          </p:cNvPr>
          <p:cNvSpPr txBox="1"/>
          <p:nvPr/>
        </p:nvSpPr>
        <p:spPr>
          <a:xfrm>
            <a:off x="4755088" y="3300135"/>
            <a:ext cx="26494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一个</a:t>
            </a:r>
            <a:r>
              <a:rPr kumimoji="1" lang="en-US" altLang="zh-CN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kumimoji="1" lang="en" altLang="zh-CN" sz="1400" b="1" dirty="0" err="1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rogram</a:t>
            </a:r>
            <a:r>
              <a:rPr kumimoji="1" lang="zh-CN" altLang="en-US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可以有</a:t>
            </a:r>
            <a:r>
              <a:rPr kumimoji="1" lang="en-US" altLang="zh-CN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&gt;=1</a:t>
            </a:r>
            <a:r>
              <a:rPr kumimoji="1" lang="zh-CN" altLang="en-US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个</a:t>
            </a:r>
            <a:r>
              <a:rPr kumimoji="1" lang="en-US" altLang="zh-CN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kumimoji="1" lang="en" altLang="zh-CN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kumimoji="1" lang="zh-CN" altLang="en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kumimoji="1" lang="zh-CN" altLang="en-US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第一个就是在</a:t>
            </a:r>
            <a:r>
              <a:rPr kumimoji="1" lang="en" altLang="zh-CN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r>
              <a:rPr kumimoji="1" lang="zh-CN" altLang="en-US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侧</a:t>
            </a:r>
            <a:r>
              <a:rPr kumimoji="1" lang="en" altLang="zh-CN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kumimoji="1" lang="zh-CN" altLang="en-US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初始化的时候加入的</a:t>
            </a:r>
            <a:r>
              <a:rPr kumimoji="1" lang="en-US" altLang="zh-CN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</a:t>
            </a:r>
            <a:r>
              <a:rPr kumimoji="1" lang="en" altLang="zh-CN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lock</a:t>
            </a:r>
            <a:r>
              <a:rPr kumimoji="1" lang="zh-CN" altLang="en-US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" altLang="zh-CN" sz="14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kumimoji="1" lang="zh-CN" altLang="en" sz="1400" b="1" dirty="0">
              <a:solidFill>
                <a:srgbClr val="2339D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66" name="直线箭头连接符 65">
            <a:extLst>
              <a:ext uri="{FF2B5EF4-FFF2-40B4-BE49-F238E27FC236}">
                <a16:creationId xmlns:a16="http://schemas.microsoft.com/office/drawing/2014/main" id="{2FD5EA8C-24BA-EA2C-1374-827B609A82B4}"/>
              </a:ext>
            </a:extLst>
          </p:cNvPr>
          <p:cNvCxnSpPr>
            <a:cxnSpLocks/>
          </p:cNvCxnSpPr>
          <p:nvPr/>
        </p:nvCxnSpPr>
        <p:spPr>
          <a:xfrm flipV="1">
            <a:off x="7017154" y="2131904"/>
            <a:ext cx="1964325" cy="1399646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线箭头连接符 67">
            <a:extLst>
              <a:ext uri="{FF2B5EF4-FFF2-40B4-BE49-F238E27FC236}">
                <a16:creationId xmlns:a16="http://schemas.microsoft.com/office/drawing/2014/main" id="{946E49DF-5F57-4594-233D-06D9E13A0597}"/>
              </a:ext>
            </a:extLst>
          </p:cNvPr>
          <p:cNvCxnSpPr>
            <a:cxnSpLocks/>
          </p:cNvCxnSpPr>
          <p:nvPr/>
        </p:nvCxnSpPr>
        <p:spPr>
          <a:xfrm flipH="1">
            <a:off x="2452744" y="4232786"/>
            <a:ext cx="2753957" cy="734015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890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6F374-6C0D-155E-5DA6-CDB5D25C9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数据存储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C++</a:t>
            </a:r>
            <a:r>
              <a:rPr kumimoji="1" lang="zh-CN" altLang="en-US" dirty="0"/>
              <a:t>侧数据结构</a:t>
            </a:r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0ADED706-3951-F6C2-3C5A-3F9C84981A2E}"/>
              </a:ext>
            </a:extLst>
          </p:cNvPr>
          <p:cNvSpPr txBox="1"/>
          <p:nvPr/>
        </p:nvSpPr>
        <p:spPr>
          <a:xfrm>
            <a:off x="5452533" y="1096652"/>
            <a:ext cx="5689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latin typeface="Courier" pitchFamily="2" charset="0"/>
              </a:rPr>
              <a:t>class Program:</a:t>
            </a:r>
          </a:p>
          <a:p>
            <a:pPr lvl="1"/>
            <a:r>
              <a:rPr lang="en" altLang="zh-CN" dirty="0">
                <a:latin typeface="Courier" pitchFamily="2" charset="0"/>
              </a:rPr>
              <a:t>def __</a:t>
            </a:r>
            <a:r>
              <a:rPr lang="en" altLang="zh-CN" dirty="0" err="1">
                <a:latin typeface="Courier" pitchFamily="2" charset="0"/>
              </a:rPr>
              <a:t>init</a:t>
            </a:r>
            <a:r>
              <a:rPr lang="en" altLang="zh-CN" dirty="0">
                <a:latin typeface="Courier" pitchFamily="2" charset="0"/>
              </a:rPr>
              <a:t>__(self):</a:t>
            </a:r>
          </a:p>
          <a:p>
            <a:pPr lvl="2"/>
            <a:r>
              <a:rPr lang="en" altLang="zh-CN" dirty="0" err="1">
                <a:latin typeface="Courier" pitchFamily="2" charset="0"/>
              </a:rPr>
              <a:t>self.desc</a:t>
            </a:r>
            <a:r>
              <a:rPr lang="en" altLang="zh-CN" dirty="0">
                <a:latin typeface="Courier" pitchFamily="2" charset="0"/>
              </a:rPr>
              <a:t> = </a:t>
            </a:r>
            <a:r>
              <a:rPr lang="en" altLang="zh-CN" b="1" dirty="0" err="1">
                <a:latin typeface="Courier" pitchFamily="2" charset="0"/>
              </a:rPr>
              <a:t>core.ProgramDesc</a:t>
            </a:r>
            <a:r>
              <a:rPr lang="en" altLang="zh-CN" b="1" dirty="0">
                <a:latin typeface="Courier" pitchFamily="2" charset="0"/>
              </a:rPr>
              <a:t>()</a:t>
            </a:r>
          </a:p>
          <a:p>
            <a:pPr lvl="2"/>
            <a:r>
              <a:rPr lang="en" altLang="zh-CN" dirty="0" err="1">
                <a:latin typeface="Courier" pitchFamily="2" charset="0"/>
              </a:rPr>
              <a:t>self.blocks</a:t>
            </a:r>
            <a:r>
              <a:rPr lang="en" altLang="zh-CN" dirty="0">
                <a:latin typeface="Courier" pitchFamily="2" charset="0"/>
              </a:rPr>
              <a:t> = [</a:t>
            </a:r>
            <a:r>
              <a:rPr lang="en" altLang="zh-CN" b="1" dirty="0">
                <a:latin typeface="Courier" pitchFamily="2" charset="0"/>
              </a:rPr>
              <a:t>Block</a:t>
            </a:r>
            <a:r>
              <a:rPr lang="en" altLang="zh-CN" dirty="0">
                <a:latin typeface="Courier" pitchFamily="2" charset="0"/>
              </a:rPr>
              <a:t>(self, 0)] </a:t>
            </a:r>
          </a:p>
          <a:p>
            <a:pPr lvl="2"/>
            <a:r>
              <a:rPr lang="en" altLang="zh-CN" dirty="0" err="1">
                <a:latin typeface="Courier" pitchFamily="2" charset="0"/>
              </a:rPr>
              <a:t>self.current_block_idx</a:t>
            </a:r>
            <a:r>
              <a:rPr lang="en" altLang="zh-CN" dirty="0">
                <a:latin typeface="Courier" pitchFamily="2" charset="0"/>
              </a:rPr>
              <a:t> = 0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97D34EA2-B2F6-3A23-8880-48BD51428CB9}"/>
              </a:ext>
            </a:extLst>
          </p:cNvPr>
          <p:cNvGrpSpPr/>
          <p:nvPr/>
        </p:nvGrpSpPr>
        <p:grpSpPr>
          <a:xfrm>
            <a:off x="956884" y="1003587"/>
            <a:ext cx="3497252" cy="3287059"/>
            <a:chOff x="956884" y="1003587"/>
            <a:chExt cx="3497252" cy="3287059"/>
          </a:xfrm>
        </p:grpSpPr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id="{99F6EB46-1738-9116-BD9C-156623773D7E}"/>
                </a:ext>
              </a:extLst>
            </p:cNvPr>
            <p:cNvGrpSpPr/>
            <p:nvPr/>
          </p:nvGrpSpPr>
          <p:grpSpPr>
            <a:xfrm>
              <a:off x="956884" y="1003587"/>
              <a:ext cx="3497252" cy="3287059"/>
              <a:chOff x="943112" y="2646400"/>
              <a:chExt cx="3929736" cy="3342717"/>
            </a:xfrm>
          </p:grpSpPr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FAF185C8-90C2-C486-B69B-8F4700629A55}"/>
                  </a:ext>
                </a:extLst>
              </p:cNvPr>
              <p:cNvSpPr/>
              <p:nvPr/>
            </p:nvSpPr>
            <p:spPr>
              <a:xfrm>
                <a:off x="943112" y="2646400"/>
                <a:ext cx="3929736" cy="3342717"/>
              </a:xfrm>
              <a:prstGeom prst="rect">
                <a:avLst/>
              </a:prstGeom>
              <a:noFill/>
              <a:ln w="28575">
                <a:solidFill>
                  <a:srgbClr val="2339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b="1"/>
              </a:p>
            </p:txBody>
          </p:sp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1979248-20D2-3F27-DBD1-779EA0A3E9BD}"/>
                  </a:ext>
                </a:extLst>
              </p:cNvPr>
              <p:cNvSpPr txBox="1"/>
              <p:nvPr/>
            </p:nvSpPr>
            <p:spPr>
              <a:xfrm>
                <a:off x="1098093" y="2671115"/>
                <a:ext cx="28420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/>
                  <a:t>program</a:t>
                </a:r>
                <a:endParaRPr kumimoji="1" lang="zh-CN" altLang="en-US" b="1" dirty="0"/>
              </a:p>
            </p:txBody>
          </p:sp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F40BBA94-86D9-2768-6F5F-590DAD840DB3}"/>
                  </a:ext>
                </a:extLst>
              </p:cNvPr>
              <p:cNvSpPr/>
              <p:nvPr/>
            </p:nvSpPr>
            <p:spPr>
              <a:xfrm>
                <a:off x="1159356" y="3178476"/>
                <a:ext cx="3497252" cy="832167"/>
              </a:xfrm>
              <a:prstGeom prst="rect">
                <a:avLst/>
              </a:prstGeom>
              <a:noFill/>
              <a:ln w="28575">
                <a:solidFill>
                  <a:srgbClr val="2339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 b="1"/>
              </a:p>
            </p:txBody>
          </p:sp>
          <p:sp>
            <p:nvSpPr>
              <p:cNvPr id="36" name="文本框 35">
                <a:extLst>
                  <a:ext uri="{FF2B5EF4-FFF2-40B4-BE49-F238E27FC236}">
                    <a16:creationId xmlns:a16="http://schemas.microsoft.com/office/drawing/2014/main" id="{023FEB68-F9DF-75D9-B230-B4886884D42D}"/>
                  </a:ext>
                </a:extLst>
              </p:cNvPr>
              <p:cNvSpPr txBox="1"/>
              <p:nvPr/>
            </p:nvSpPr>
            <p:spPr>
              <a:xfrm>
                <a:off x="1228491" y="3207699"/>
                <a:ext cx="10688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/>
                  <a:t>block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0</a:t>
                </a:r>
                <a:endParaRPr kumimoji="1" lang="zh-CN" altLang="en-US" b="1" dirty="0"/>
              </a:p>
            </p:txBody>
          </p:sp>
        </p:grp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495E1394-5DD1-8749-EAE9-E235B35B5720}"/>
                </a:ext>
              </a:extLst>
            </p:cNvPr>
            <p:cNvSpPr/>
            <p:nvPr/>
          </p:nvSpPr>
          <p:spPr>
            <a:xfrm>
              <a:off x="1173127" y="3202698"/>
              <a:ext cx="3088567" cy="818311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 b="1"/>
            </a:p>
          </p:txBody>
        </p:sp>
        <p:sp>
          <p:nvSpPr>
            <p:cNvPr id="47" name="文本框 46">
              <a:extLst>
                <a:ext uri="{FF2B5EF4-FFF2-40B4-BE49-F238E27FC236}">
                  <a16:creationId xmlns:a16="http://schemas.microsoft.com/office/drawing/2014/main" id="{41B74801-18C2-B78E-CAE6-359A2B40F7C5}"/>
                </a:ext>
              </a:extLst>
            </p:cNvPr>
            <p:cNvSpPr txBox="1"/>
            <p:nvPr/>
          </p:nvSpPr>
          <p:spPr>
            <a:xfrm>
              <a:off x="1242263" y="3231920"/>
              <a:ext cx="1068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/>
                <a:t>block</a:t>
              </a:r>
              <a:r>
                <a:rPr kumimoji="1" lang="zh-CN" altLang="en-US" b="1" dirty="0"/>
                <a:t> </a:t>
              </a:r>
              <a:r>
                <a:rPr kumimoji="1" lang="en-US" altLang="zh-CN" b="1" dirty="0"/>
                <a:t>n</a:t>
              </a:r>
              <a:endParaRPr kumimoji="1" lang="zh-CN" altLang="en-US" b="1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F25ACF21-935C-B9A0-4DE7-DE7F5B59C072}"/>
                </a:ext>
              </a:extLst>
            </p:cNvPr>
            <p:cNvSpPr txBox="1"/>
            <p:nvPr/>
          </p:nvSpPr>
          <p:spPr>
            <a:xfrm>
              <a:off x="2687291" y="2286000"/>
              <a:ext cx="461665" cy="916698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algn="ctr"/>
              <a:r>
                <a:rPr kumimoji="1" lang="en-US" altLang="zh-CN" sz="4000" dirty="0"/>
                <a:t>…</a:t>
              </a:r>
              <a:endParaRPr kumimoji="1" lang="zh-CN" altLang="en-US" sz="4000" dirty="0"/>
            </a:p>
          </p:txBody>
        </p:sp>
      </p:grpSp>
      <p:sp>
        <p:nvSpPr>
          <p:cNvPr id="4" name="文本框 3">
            <a:extLst>
              <a:ext uri="{FF2B5EF4-FFF2-40B4-BE49-F238E27FC236}">
                <a16:creationId xmlns:a16="http://schemas.microsoft.com/office/drawing/2014/main" id="{D77A87D8-8ECC-FD09-1061-8001C8FC7A92}"/>
              </a:ext>
            </a:extLst>
          </p:cNvPr>
          <p:cNvSpPr txBox="1"/>
          <p:nvPr/>
        </p:nvSpPr>
        <p:spPr>
          <a:xfrm>
            <a:off x="4670379" y="2815616"/>
            <a:ext cx="784273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Courier" pitchFamily="2" charset="0"/>
              </a:rPr>
              <a:t>class </a:t>
            </a:r>
            <a:r>
              <a:rPr lang="en" altLang="zh-CN" dirty="0" err="1">
                <a:latin typeface="Courier" pitchFamily="2" charset="0"/>
              </a:rPr>
              <a:t>ProgramDesc</a:t>
            </a:r>
            <a:r>
              <a:rPr lang="en" altLang="zh-CN" dirty="0">
                <a:latin typeface="Courier" pitchFamily="2" charset="0"/>
              </a:rPr>
              <a:t> {</a:t>
            </a:r>
          </a:p>
          <a:p>
            <a:r>
              <a:rPr lang="zh-CN" altLang="en-US" dirty="0">
                <a:latin typeface="Courier" pitchFamily="2" charset="0"/>
              </a:rPr>
              <a:t>    </a:t>
            </a:r>
            <a:r>
              <a:rPr lang="en" altLang="zh-CN" dirty="0">
                <a:latin typeface="Courier" pitchFamily="2" charset="0"/>
              </a:rPr>
              <a:t>void </a:t>
            </a:r>
            <a:r>
              <a:rPr lang="en" altLang="zh-CN" dirty="0" err="1">
                <a:latin typeface="Courier" pitchFamily="2" charset="0"/>
              </a:rPr>
              <a:t>InitFrom</a:t>
            </a:r>
            <a:r>
              <a:rPr lang="en" altLang="zh-CN" b="1" dirty="0" err="1">
                <a:latin typeface="Courier" pitchFamily="2" charset="0"/>
              </a:rPr>
              <a:t>Proto</a:t>
            </a:r>
            <a:r>
              <a:rPr lang="en" altLang="zh-CN" dirty="0">
                <a:latin typeface="Courier" pitchFamily="2" charset="0"/>
              </a:rPr>
              <a:t>();</a:t>
            </a:r>
          </a:p>
          <a:p>
            <a:r>
              <a:rPr lang="zh-CN" altLang="en-US" dirty="0">
                <a:latin typeface="Courier" pitchFamily="2" charset="0"/>
              </a:rPr>
              <a:t>    </a:t>
            </a:r>
            <a:r>
              <a:rPr lang="en" altLang="zh-CN" b="1" dirty="0">
                <a:latin typeface="Courier" pitchFamily="2" charset="0"/>
              </a:rPr>
              <a:t>proto::</a:t>
            </a:r>
            <a:r>
              <a:rPr lang="en" altLang="zh-CN" b="1" dirty="0" err="1">
                <a:latin typeface="Courier" pitchFamily="2" charset="0"/>
              </a:rPr>
              <a:t>ProgramDesc</a:t>
            </a:r>
            <a:r>
              <a:rPr lang="en" altLang="zh-CN" b="1" dirty="0">
                <a:latin typeface="Courier" pitchFamily="2" charset="0"/>
              </a:rPr>
              <a:t> desc_;</a:t>
            </a:r>
          </a:p>
          <a:p>
            <a:r>
              <a:rPr lang="zh-CN" altLang="en-US" dirty="0">
                <a:latin typeface="Courier" pitchFamily="2" charset="0"/>
              </a:rPr>
              <a:t>    </a:t>
            </a:r>
            <a:r>
              <a:rPr lang="en" altLang="zh-CN" b="1" dirty="0">
                <a:latin typeface="Courier" pitchFamily="2" charset="0"/>
              </a:rPr>
              <a:t>std::vector&lt;std::</a:t>
            </a:r>
            <a:r>
              <a:rPr lang="en" altLang="zh-CN" b="1" dirty="0" err="1">
                <a:latin typeface="Courier" pitchFamily="2" charset="0"/>
              </a:rPr>
              <a:t>unique_ptr</a:t>
            </a:r>
            <a:r>
              <a:rPr lang="en" altLang="zh-CN" b="1" dirty="0">
                <a:latin typeface="Courier" pitchFamily="2" charset="0"/>
              </a:rPr>
              <a:t>&lt;</a:t>
            </a:r>
            <a:r>
              <a:rPr lang="en" altLang="zh-CN" b="1" dirty="0" err="1">
                <a:latin typeface="Courier" pitchFamily="2" charset="0"/>
              </a:rPr>
              <a:t>BlockDesc</a:t>
            </a:r>
            <a:r>
              <a:rPr lang="en" altLang="zh-CN" b="1" dirty="0">
                <a:latin typeface="Courier" pitchFamily="2" charset="0"/>
              </a:rPr>
              <a:t>&gt;&gt; blocks_</a:t>
            </a:r>
            <a:r>
              <a:rPr lang="en" altLang="zh-CN" dirty="0">
                <a:latin typeface="Courier" pitchFamily="2" charset="0"/>
              </a:rPr>
              <a:t>;</a:t>
            </a:r>
          </a:p>
          <a:p>
            <a:r>
              <a:rPr lang="en" altLang="zh-CN" dirty="0">
                <a:latin typeface="Courier" pitchFamily="2" charset="0"/>
              </a:rPr>
              <a:t>};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E57EAAF-3B02-05E4-16CB-26C75B1C9921}"/>
              </a:ext>
            </a:extLst>
          </p:cNvPr>
          <p:cNvSpPr txBox="1"/>
          <p:nvPr/>
        </p:nvSpPr>
        <p:spPr>
          <a:xfrm>
            <a:off x="846376" y="4653399"/>
            <a:ext cx="764800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dirty="0">
                <a:latin typeface="Courier" pitchFamily="2" charset="0"/>
              </a:rPr>
              <a:t>message </a:t>
            </a:r>
            <a:r>
              <a:rPr lang="en" altLang="zh-CN" dirty="0" err="1">
                <a:latin typeface="Courier" pitchFamily="2" charset="0"/>
              </a:rPr>
              <a:t>ProgramDesc</a:t>
            </a:r>
            <a:r>
              <a:rPr lang="en" altLang="zh-CN" dirty="0">
                <a:latin typeface="Courier" pitchFamily="2" charset="0"/>
              </a:rPr>
              <a:t> {</a:t>
            </a:r>
          </a:p>
          <a:p>
            <a:pPr lvl="1"/>
            <a:r>
              <a:rPr lang="en" altLang="zh-CN" dirty="0">
                <a:latin typeface="Courier" pitchFamily="2" charset="0"/>
              </a:rPr>
              <a:t>reserved 2; // For backward compatibility.</a:t>
            </a:r>
          </a:p>
          <a:p>
            <a:pPr lvl="1"/>
            <a:r>
              <a:rPr lang="en" altLang="zh-CN" b="1" dirty="0">
                <a:latin typeface="Courier" pitchFamily="2" charset="0"/>
              </a:rPr>
              <a:t>repeated </a:t>
            </a:r>
            <a:r>
              <a:rPr lang="en" altLang="zh-CN" b="1" dirty="0" err="1">
                <a:latin typeface="Courier" pitchFamily="2" charset="0"/>
              </a:rPr>
              <a:t>BlockDesc</a:t>
            </a:r>
            <a:r>
              <a:rPr lang="en" altLang="zh-CN" b="1" dirty="0">
                <a:latin typeface="Courier" pitchFamily="2" charset="0"/>
              </a:rPr>
              <a:t> blocks </a:t>
            </a:r>
            <a:r>
              <a:rPr lang="en" altLang="zh-CN" dirty="0">
                <a:latin typeface="Courier" pitchFamily="2" charset="0"/>
              </a:rPr>
              <a:t>= 1;</a:t>
            </a:r>
          </a:p>
          <a:p>
            <a:pPr lvl="1"/>
            <a:r>
              <a:rPr lang="en" altLang="zh-CN" dirty="0">
                <a:latin typeface="Courier" pitchFamily="2" charset="0"/>
              </a:rPr>
              <a:t>optional Version version = 4;</a:t>
            </a:r>
          </a:p>
          <a:p>
            <a:pPr lvl="1"/>
            <a:r>
              <a:rPr lang="en" altLang="zh-CN" dirty="0">
                <a:latin typeface="Courier" pitchFamily="2" charset="0"/>
              </a:rPr>
              <a:t>optional </a:t>
            </a:r>
            <a:r>
              <a:rPr lang="en" altLang="zh-CN" dirty="0" err="1">
                <a:latin typeface="Courier" pitchFamily="2" charset="0"/>
              </a:rPr>
              <a:t>OpCompatibleMap</a:t>
            </a:r>
            <a:r>
              <a:rPr lang="en" altLang="zh-CN" dirty="0">
                <a:latin typeface="Courier" pitchFamily="2" charset="0"/>
              </a:rPr>
              <a:t> </a:t>
            </a:r>
            <a:r>
              <a:rPr lang="en" altLang="zh-CN" dirty="0" err="1">
                <a:latin typeface="Courier" pitchFamily="2" charset="0"/>
              </a:rPr>
              <a:t>op_compatible_map</a:t>
            </a:r>
            <a:r>
              <a:rPr lang="en" altLang="zh-CN" dirty="0">
                <a:latin typeface="Courier" pitchFamily="2" charset="0"/>
              </a:rPr>
              <a:t> = 3;</a:t>
            </a:r>
          </a:p>
          <a:p>
            <a:r>
              <a:rPr lang="en" altLang="zh-CN" dirty="0">
                <a:latin typeface="Courier" pitchFamily="2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4BE9BC-8A85-4A78-112A-4E5195C70C67}"/>
              </a:ext>
            </a:extLst>
          </p:cNvPr>
          <p:cNvSpPr txBox="1"/>
          <p:nvPr/>
        </p:nvSpPr>
        <p:spPr>
          <a:xfrm>
            <a:off x="7737866" y="4290646"/>
            <a:ext cx="36791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proto::</a:t>
            </a:r>
            <a:r>
              <a:rPr lang="en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ProgramDesc</a:t>
            </a:r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是</a:t>
            </a:r>
            <a:r>
              <a:rPr lang="en" altLang="zh-CN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Program</a:t>
            </a:r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的</a:t>
            </a:r>
            <a:r>
              <a:rPr lang="en" altLang="zh-CN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protobuf</a:t>
            </a:r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对象，</a:t>
            </a:r>
            <a:r>
              <a:rPr lang="zh-CN" altLang="en-US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是</a:t>
            </a:r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一种</a:t>
            </a:r>
            <a:r>
              <a:rPr lang="en" altLang="zh-CN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program</a:t>
            </a:r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的二进制存储</a:t>
            </a:r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5BA37F09-3943-E716-7891-B27FB755667D}"/>
              </a:ext>
            </a:extLst>
          </p:cNvPr>
          <p:cNvCxnSpPr>
            <a:cxnSpLocks/>
          </p:cNvCxnSpPr>
          <p:nvPr/>
        </p:nvCxnSpPr>
        <p:spPr>
          <a:xfrm flipH="1" flipV="1">
            <a:off x="7545424" y="3662472"/>
            <a:ext cx="855784" cy="727325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8DEE1EEC-3ED0-AC26-7024-432F4EEA6670}"/>
              </a:ext>
            </a:extLst>
          </p:cNvPr>
          <p:cNvCxnSpPr>
            <a:cxnSpLocks/>
          </p:cNvCxnSpPr>
          <p:nvPr/>
        </p:nvCxnSpPr>
        <p:spPr>
          <a:xfrm flipH="1">
            <a:off x="7230242" y="5139800"/>
            <a:ext cx="902539" cy="628174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1132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F6F374-6C0D-155E-5DA6-CDB5D25C9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数据存储 </a:t>
            </a:r>
            <a:r>
              <a:rPr kumimoji="1" lang="en-US" altLang="zh-CN" dirty="0"/>
              <a:t>|</a:t>
            </a:r>
            <a:r>
              <a:rPr kumimoji="1" lang="zh-CN" altLang="en-US" dirty="0"/>
              <a:t> 总体数据结构</a:t>
            </a:r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D76D011-E616-2519-B72A-B0C09301F9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2818"/>
            <a:ext cx="10421077" cy="5546231"/>
          </a:xfrm>
          <a:prstGeom prst="rect">
            <a:avLst/>
          </a:prstGeom>
        </p:spPr>
      </p:pic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2F4C8497-F194-062E-7160-2D47272B591D}"/>
              </a:ext>
            </a:extLst>
          </p:cNvPr>
          <p:cNvCxnSpPr>
            <a:cxnSpLocks/>
          </p:cNvCxnSpPr>
          <p:nvPr/>
        </p:nvCxnSpPr>
        <p:spPr>
          <a:xfrm flipH="1">
            <a:off x="481453" y="4864331"/>
            <a:ext cx="11378400" cy="0"/>
          </a:xfrm>
          <a:prstGeom prst="straightConnector1">
            <a:avLst/>
          </a:prstGeom>
          <a:ln w="28575">
            <a:solidFill>
              <a:srgbClr val="2339DA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EE4E8D78-E62B-548C-59AA-5C8BC5848457}"/>
              </a:ext>
            </a:extLst>
          </p:cNvPr>
          <p:cNvSpPr txBox="1"/>
          <p:nvPr/>
        </p:nvSpPr>
        <p:spPr>
          <a:xfrm>
            <a:off x="8180738" y="1738823"/>
            <a:ext cx="367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侧封装接口</a:t>
            </a:r>
            <a:endParaRPr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D457F7C-FFAE-E0DB-859F-16081FD1E186}"/>
              </a:ext>
            </a:extLst>
          </p:cNvPr>
          <p:cNvSpPr txBox="1"/>
          <p:nvPr/>
        </p:nvSpPr>
        <p:spPr>
          <a:xfrm>
            <a:off x="481453" y="4821299"/>
            <a:ext cx="1216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类</a:t>
            </a:r>
            <a:endParaRPr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5D26229-0D33-0867-BA00-B14D82E067D7}"/>
              </a:ext>
            </a:extLst>
          </p:cNvPr>
          <p:cNvSpPr txBox="1"/>
          <p:nvPr/>
        </p:nvSpPr>
        <p:spPr>
          <a:xfrm>
            <a:off x="10566400" y="4821299"/>
            <a:ext cx="1439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Proto</a:t>
            </a:r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定义</a:t>
            </a:r>
            <a:endParaRPr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888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4C9F5D79-8F6D-805A-D4F0-7F047B4DA1D8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78966" y="829041"/>
            <a:ext cx="10785504" cy="586746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1F6F374-6C0D-155E-5DA6-CDB5D25C9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2.</a:t>
            </a:r>
            <a:r>
              <a:rPr kumimoji="1" lang="zh-CN" altLang="en-US" dirty="0"/>
              <a:t> 数据存储</a:t>
            </a:r>
            <a:endParaRPr kumimoji="1"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D50AA2-14D9-0C6B-1B1C-4A9AEEDAF5A4}"/>
              </a:ext>
            </a:extLst>
          </p:cNvPr>
          <p:cNvSpPr txBox="1"/>
          <p:nvPr/>
        </p:nvSpPr>
        <p:spPr>
          <a:xfrm>
            <a:off x="3010800" y="480965"/>
            <a:ext cx="1328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C++</a:t>
            </a:r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类</a:t>
            </a:r>
            <a:endParaRPr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8A631EC-91A1-3C84-452F-43E6966E9440}"/>
              </a:ext>
            </a:extLst>
          </p:cNvPr>
          <p:cNvSpPr txBox="1"/>
          <p:nvPr/>
        </p:nvSpPr>
        <p:spPr>
          <a:xfrm>
            <a:off x="8857128" y="794060"/>
            <a:ext cx="1328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Proto</a:t>
            </a:r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定义</a:t>
            </a:r>
            <a:endParaRPr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5E6377DE-D1E9-C1EF-72AD-9829087BC20B}"/>
              </a:ext>
            </a:extLst>
          </p:cNvPr>
          <p:cNvCxnSpPr>
            <a:cxnSpLocks/>
          </p:cNvCxnSpPr>
          <p:nvPr/>
        </p:nvCxnSpPr>
        <p:spPr>
          <a:xfrm flipV="1">
            <a:off x="6874136" y="480965"/>
            <a:ext cx="0" cy="6218084"/>
          </a:xfrm>
          <a:prstGeom prst="straightConnector1">
            <a:avLst/>
          </a:prstGeom>
          <a:ln w="28575">
            <a:solidFill>
              <a:srgbClr val="2339DA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B02F292-06A4-CCAD-D46B-B4D9B17367EB}"/>
              </a:ext>
            </a:extLst>
          </p:cNvPr>
          <p:cNvSpPr txBox="1"/>
          <p:nvPr/>
        </p:nvSpPr>
        <p:spPr>
          <a:xfrm>
            <a:off x="2013754" y="4980791"/>
            <a:ext cx="37742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1" dirty="0" err="1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VarDesc</a:t>
            </a:r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用于描述网络中的变量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629B1A8-408C-105B-8077-81AAC8341CBB}"/>
              </a:ext>
            </a:extLst>
          </p:cNvPr>
          <p:cNvSpPr txBox="1"/>
          <p:nvPr/>
        </p:nvSpPr>
        <p:spPr>
          <a:xfrm>
            <a:off x="7710156" y="2792930"/>
            <a:ext cx="3832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成员包括输入、输出、</a:t>
            </a:r>
            <a:r>
              <a:rPr lang="en" altLang="zh-CN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属性等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6EDC6C5-3678-BB15-B29D-F2112C22429B}"/>
              </a:ext>
            </a:extLst>
          </p:cNvPr>
          <p:cNvSpPr txBox="1"/>
          <p:nvPr/>
        </p:nvSpPr>
        <p:spPr>
          <a:xfrm>
            <a:off x="7805175" y="5104895"/>
            <a:ext cx="3476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成员包括变量名、变量类型等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D6EEEFD-A765-03CD-D2D9-55CFABCABB69}"/>
              </a:ext>
            </a:extLst>
          </p:cNvPr>
          <p:cNvSpPr txBox="1"/>
          <p:nvPr/>
        </p:nvSpPr>
        <p:spPr>
          <a:xfrm>
            <a:off x="2505664" y="3151393"/>
            <a:ext cx="3606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" altLang="zh-CN" b="1" dirty="0" err="1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OpDesc</a:t>
            </a:r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用于描述网络中的运算</a:t>
            </a:r>
          </a:p>
        </p:txBody>
      </p:sp>
    </p:spTree>
    <p:extLst>
      <p:ext uri="{BB962C8B-B14F-4D97-AF65-F5344CB8AC3E}">
        <p14:creationId xmlns:p14="http://schemas.microsoft.com/office/powerpoint/2010/main" val="17064822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3.</a:t>
            </a:r>
            <a:r>
              <a:rPr kumimoji="1" lang="zh-CN" altLang="en-US" dirty="0"/>
              <a:t> 组网 </a:t>
            </a:r>
            <a:r>
              <a:rPr kumimoji="1" lang="en-US" altLang="zh-CN" dirty="0"/>
              <a:t>|</a:t>
            </a:r>
            <a:r>
              <a:rPr kumimoji="1" lang="zh-CN" altLang="en-US" dirty="0"/>
              <a:t> 前向</a:t>
            </a:r>
          </a:p>
        </p:txBody>
      </p:sp>
      <p:sp>
        <p:nvSpPr>
          <p:cNvPr id="8" name="内容占位符 7">
            <a:extLst>
              <a:ext uri="{FF2B5EF4-FFF2-40B4-BE49-F238E27FC236}">
                <a16:creationId xmlns:a16="http://schemas.microsoft.com/office/drawing/2014/main" id="{DA174253-62CB-761A-98FC-5B973D2E5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262"/>
            <a:ext cx="4938656" cy="4442437"/>
          </a:xfrm>
        </p:spPr>
        <p:txBody>
          <a:bodyPr>
            <a:normAutofit/>
          </a:bodyPr>
          <a:lstStyle/>
          <a:p>
            <a:pPr marL="0" indent="0">
              <a:lnSpc>
                <a:spcPct val="135000"/>
              </a:lnSpc>
              <a:buNone/>
            </a:pPr>
            <a:r>
              <a:rPr kumimoji="1" lang="en" altLang="zh-CN" sz="1900" b="1" dirty="0">
                <a:solidFill>
                  <a:srgbClr val="2339DA"/>
                </a:solidFill>
                <a:cs typeface="Courier New" panose="02070309020205020404" pitchFamily="49" charset="0"/>
              </a:rPr>
              <a:t>Python</a:t>
            </a:r>
            <a:r>
              <a:rPr kumimoji="1" lang="zh-CN" altLang="en-US" sz="1900" b="1" dirty="0">
                <a:solidFill>
                  <a:srgbClr val="2339DA"/>
                </a:solidFill>
                <a:cs typeface="Courier New" panose="02070309020205020404" pitchFamily="49" charset="0"/>
              </a:rPr>
              <a:t>侧的静态图组网过程：</a:t>
            </a:r>
          </a:p>
          <a:p>
            <a:pPr marL="0">
              <a:lnSpc>
                <a:spcPct val="135000"/>
              </a:lnSpc>
            </a:pPr>
            <a:r>
              <a:rPr kumimoji="1" lang="zh-CN" altLang="en-US" sz="1800" dirty="0">
                <a:cs typeface="Courier New" panose="02070309020205020404" pitchFamily="49" charset="0"/>
              </a:rPr>
              <a:t>用户声明语句，调用组建网络相关接口，如</a:t>
            </a:r>
            <a:r>
              <a:rPr kumimoji="1" lang="en" altLang="zh-CN" sz="1800" dirty="0" err="1">
                <a:cs typeface="Courier New" panose="02070309020205020404" pitchFamily="49" charset="0"/>
              </a:rPr>
              <a:t>paddle.ones</a:t>
            </a:r>
            <a:endParaRPr kumimoji="1" lang="en" altLang="zh-CN" sz="1800" dirty="0">
              <a:cs typeface="Courier New" panose="02070309020205020404" pitchFamily="49" charset="0"/>
            </a:endParaRPr>
          </a:p>
          <a:p>
            <a:pPr marL="0">
              <a:lnSpc>
                <a:spcPct val="135000"/>
              </a:lnSpc>
            </a:pPr>
            <a:endParaRPr kumimoji="1" lang="en" altLang="zh-CN" sz="1800" dirty="0">
              <a:cs typeface="Courier New" panose="02070309020205020404" pitchFamily="49" charset="0"/>
            </a:endParaRPr>
          </a:p>
          <a:p>
            <a:pPr marL="0">
              <a:lnSpc>
                <a:spcPct val="135000"/>
              </a:lnSpc>
            </a:pPr>
            <a:r>
              <a:rPr kumimoji="1" lang="zh-CN" altLang="en-US" sz="1800" dirty="0">
                <a:cs typeface="Courier New" panose="02070309020205020404" pitchFamily="49" charset="0"/>
              </a:rPr>
              <a:t>框架将</a:t>
            </a:r>
            <a:r>
              <a:rPr kumimoji="1" lang="en" altLang="zh-CN" sz="1800" dirty="0">
                <a:cs typeface="Courier New" panose="02070309020205020404" pitchFamily="49" charset="0"/>
              </a:rPr>
              <a:t>paddle.</a:t>
            </a:r>
            <a:r>
              <a:rPr kumimoji="1" lang="en-US" altLang="zh-CN" sz="1800" dirty="0">
                <a:cs typeface="Courier New" panose="02070309020205020404" pitchFamily="49" charset="0"/>
              </a:rPr>
              <a:t>o</a:t>
            </a:r>
            <a:r>
              <a:rPr kumimoji="1" lang="en" altLang="zh-CN" sz="1800" dirty="0" err="1">
                <a:cs typeface="Courier New" panose="02070309020205020404" pitchFamily="49" charset="0"/>
              </a:rPr>
              <a:t>nes</a:t>
            </a:r>
            <a:r>
              <a:rPr kumimoji="1" lang="zh-CN" altLang="en-US" sz="1800" dirty="0">
                <a:cs typeface="Courier New" panose="02070309020205020404" pitchFamily="49" charset="0"/>
              </a:rPr>
              <a:t>对应的</a:t>
            </a:r>
            <a:r>
              <a:rPr kumimoji="1" lang="en-US" altLang="zh-CN" sz="1800" dirty="0" err="1">
                <a:cs typeface="Courier New" panose="02070309020205020404" pitchFamily="49" charset="0"/>
              </a:rPr>
              <a:t>fill_constant</a:t>
            </a:r>
            <a:r>
              <a:rPr kumimoji="1" lang="zh-CN" altLang="en-US" sz="1800" dirty="0">
                <a:cs typeface="Courier New" panose="02070309020205020404" pitchFamily="49" charset="0"/>
              </a:rPr>
              <a:t> </a:t>
            </a:r>
            <a:r>
              <a:rPr kumimoji="1" lang="en-US" altLang="zh-CN" sz="1800" dirty="0">
                <a:cs typeface="Courier New" panose="02070309020205020404" pitchFamily="49" charset="0"/>
              </a:rPr>
              <a:t>o</a:t>
            </a:r>
            <a:r>
              <a:rPr kumimoji="1" lang="en" altLang="zh-CN" sz="1800" dirty="0">
                <a:cs typeface="Courier New" panose="02070309020205020404" pitchFamily="49" charset="0"/>
              </a:rPr>
              <a:t>p</a:t>
            </a:r>
            <a:r>
              <a:rPr kumimoji="1" lang="zh-CN" altLang="en-US" sz="1800" dirty="0">
                <a:cs typeface="Courier New" panose="02070309020205020404" pitchFamily="49" charset="0"/>
              </a:rPr>
              <a:t>和变量添加到</a:t>
            </a:r>
            <a:r>
              <a:rPr kumimoji="1" lang="en" altLang="zh-CN" sz="1800" dirty="0" err="1">
                <a:cs typeface="Courier New" panose="02070309020205020404" pitchFamily="49" charset="0"/>
              </a:rPr>
              <a:t>main_program</a:t>
            </a:r>
            <a:r>
              <a:rPr kumimoji="1" lang="zh-CN" altLang="en-US" sz="1800" dirty="0">
                <a:cs typeface="Courier New" panose="02070309020205020404" pitchFamily="49" charset="0"/>
              </a:rPr>
              <a:t>和</a:t>
            </a:r>
            <a:r>
              <a:rPr kumimoji="1" lang="en" altLang="zh-CN" sz="1800" dirty="0" err="1">
                <a:cs typeface="Courier New" panose="02070309020205020404" pitchFamily="49" charset="0"/>
              </a:rPr>
              <a:t>startup_program</a:t>
            </a:r>
            <a:r>
              <a:rPr kumimoji="1" lang="zh-CN" altLang="en-US" sz="1800" dirty="0">
                <a:cs typeface="Courier New" panose="02070309020205020404" pitchFamily="49" charset="0"/>
              </a:rPr>
              <a:t>中</a:t>
            </a:r>
            <a:endParaRPr kumimoji="1" lang="en-US" altLang="zh-CN" sz="1800" dirty="0">
              <a:cs typeface="Courier New" panose="02070309020205020404" pitchFamily="49" charset="0"/>
            </a:endParaRPr>
          </a:p>
          <a:p>
            <a:pPr marL="0">
              <a:lnSpc>
                <a:spcPct val="135000"/>
              </a:lnSpc>
            </a:pPr>
            <a:endParaRPr kumimoji="1" lang="en" altLang="zh-CN" sz="1800" dirty="0">
              <a:cs typeface="Courier New" panose="02070309020205020404" pitchFamily="49" charset="0"/>
            </a:endParaRPr>
          </a:p>
          <a:p>
            <a:pPr marL="0">
              <a:lnSpc>
                <a:spcPct val="135000"/>
              </a:lnSpc>
            </a:pPr>
            <a:r>
              <a:rPr kumimoji="1" lang="zh-CN" altLang="en-US" sz="1800" dirty="0">
                <a:cs typeface="Courier New" panose="02070309020205020404" pitchFamily="49" charset="0"/>
              </a:rPr>
              <a:t>执行器执行</a:t>
            </a:r>
            <a:r>
              <a:rPr kumimoji="1" lang="en" altLang="zh-CN" sz="1800" dirty="0">
                <a:cs typeface="Courier New" panose="02070309020205020404" pitchFamily="49" charset="0"/>
              </a:rPr>
              <a:t>program</a:t>
            </a:r>
          </a:p>
          <a:p>
            <a:endParaRPr kumimoji="1" lang="zh-CN" altLang="en-US" dirty="0">
              <a:solidFill>
                <a:srgbClr val="2339DA"/>
              </a:solidFill>
              <a:cs typeface="Courier New" panose="02070309020205020404" pitchFamily="49" charset="0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20F2FFD-78D0-0072-DF63-253A47B73B56}"/>
              </a:ext>
            </a:extLst>
          </p:cNvPr>
          <p:cNvGrpSpPr/>
          <p:nvPr/>
        </p:nvGrpSpPr>
        <p:grpSpPr>
          <a:xfrm>
            <a:off x="7516879" y="3616012"/>
            <a:ext cx="3929736" cy="2391485"/>
            <a:chOff x="1903207" y="3989107"/>
            <a:chExt cx="3929736" cy="2391485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CB4F3F3-49D9-84EB-8875-9A7D7684D23C}"/>
                </a:ext>
              </a:extLst>
            </p:cNvPr>
            <p:cNvSpPr/>
            <p:nvPr/>
          </p:nvSpPr>
          <p:spPr>
            <a:xfrm>
              <a:off x="1903207" y="3989107"/>
              <a:ext cx="3929736" cy="23914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AA6414A0-8347-A30F-1CA6-6DB402B9AA91}"/>
                </a:ext>
              </a:extLst>
            </p:cNvPr>
            <p:cNvSpPr txBox="1"/>
            <p:nvPr/>
          </p:nvSpPr>
          <p:spPr>
            <a:xfrm>
              <a:off x="2058188" y="4013822"/>
              <a:ext cx="2842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 err="1"/>
                <a:t>default_main_program</a:t>
              </a:r>
              <a:endParaRPr kumimoji="1" lang="zh-CN" altLang="en-US" b="1" dirty="0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FE00B372-2780-987F-9AC8-51868A04570C}"/>
                </a:ext>
              </a:extLst>
            </p:cNvPr>
            <p:cNvSpPr/>
            <p:nvPr/>
          </p:nvSpPr>
          <p:spPr>
            <a:xfrm>
              <a:off x="2119450" y="4439353"/>
              <a:ext cx="3497252" cy="1696504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BC470222-CD0E-C283-41C2-C52944407CA8}"/>
                </a:ext>
              </a:extLst>
            </p:cNvPr>
            <p:cNvSpPr txBox="1"/>
            <p:nvPr/>
          </p:nvSpPr>
          <p:spPr>
            <a:xfrm>
              <a:off x="2188586" y="4468575"/>
              <a:ext cx="1068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/>
                <a:t>block</a:t>
              </a:r>
              <a:r>
                <a:rPr kumimoji="1" lang="zh-CN" altLang="en-US" b="1" dirty="0"/>
                <a:t> </a:t>
              </a:r>
              <a:r>
                <a:rPr kumimoji="1" lang="en-US" altLang="zh-CN" b="1" dirty="0"/>
                <a:t>0</a:t>
              </a:r>
              <a:endParaRPr kumimoji="1" lang="zh-CN" altLang="en-US" b="1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A7588D21-E4AE-2303-310D-6F8A8545023D}"/>
                </a:ext>
              </a:extLst>
            </p:cNvPr>
            <p:cNvSpPr/>
            <p:nvPr/>
          </p:nvSpPr>
          <p:spPr>
            <a:xfrm>
              <a:off x="2280089" y="4867129"/>
              <a:ext cx="1350231" cy="9997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2D25E3E6-0660-CE81-BC8B-9B1CDC91BE9C}"/>
                </a:ext>
              </a:extLst>
            </p:cNvPr>
            <p:cNvSpPr/>
            <p:nvPr/>
          </p:nvSpPr>
          <p:spPr>
            <a:xfrm>
              <a:off x="3714986" y="4867129"/>
              <a:ext cx="1772203" cy="9997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0CF5B75F-3C68-7887-59FD-978CD5F92B55}"/>
                </a:ext>
              </a:extLst>
            </p:cNvPr>
            <p:cNvSpPr txBox="1"/>
            <p:nvPr/>
          </p:nvSpPr>
          <p:spPr>
            <a:xfrm>
              <a:off x="2549401" y="4867129"/>
              <a:ext cx="757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 err="1"/>
                <a:t>vars</a:t>
              </a:r>
              <a:endParaRPr kumimoji="1" lang="zh-CN" altLang="en-US" b="1" dirty="0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2B2B247-41D9-D570-485E-1BCCB1EFD8A8}"/>
                </a:ext>
              </a:extLst>
            </p:cNvPr>
            <p:cNvSpPr txBox="1"/>
            <p:nvPr/>
          </p:nvSpPr>
          <p:spPr>
            <a:xfrm>
              <a:off x="4149660" y="4867129"/>
              <a:ext cx="757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ops</a:t>
              </a:r>
              <a:endParaRPr kumimoji="1" lang="zh-CN" altLang="en-US" b="1" dirty="0"/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C5E28B89-1CFD-471A-2D33-3054EAFA0A3B}"/>
              </a:ext>
            </a:extLst>
          </p:cNvPr>
          <p:cNvGrpSpPr/>
          <p:nvPr/>
        </p:nvGrpSpPr>
        <p:grpSpPr>
          <a:xfrm>
            <a:off x="6096000" y="1009806"/>
            <a:ext cx="1238051" cy="4997691"/>
            <a:chOff x="6650698" y="1165881"/>
            <a:chExt cx="3929736" cy="1197367"/>
          </a:xfrm>
        </p:grpSpPr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774A58D0-CBF6-2CB4-700A-D08457846B54}"/>
                </a:ext>
              </a:extLst>
            </p:cNvPr>
            <p:cNvSpPr/>
            <p:nvPr/>
          </p:nvSpPr>
          <p:spPr>
            <a:xfrm>
              <a:off x="6650698" y="1165881"/>
              <a:ext cx="3929736" cy="1197367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FDDF904F-C26C-1BED-757B-5BD596AD9C2B}"/>
                </a:ext>
              </a:extLst>
            </p:cNvPr>
            <p:cNvSpPr txBox="1"/>
            <p:nvPr/>
          </p:nvSpPr>
          <p:spPr>
            <a:xfrm>
              <a:off x="6738536" y="1190596"/>
              <a:ext cx="2842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/>
                <a:t>scope</a:t>
              </a:r>
              <a:endParaRPr kumimoji="1" lang="zh-CN" altLang="en-US" b="1" dirty="0"/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9355A262-0439-ADBB-F485-2FEFD52E815B}"/>
              </a:ext>
            </a:extLst>
          </p:cNvPr>
          <p:cNvGrpSpPr/>
          <p:nvPr/>
        </p:nvGrpSpPr>
        <p:grpSpPr>
          <a:xfrm>
            <a:off x="7516879" y="1009806"/>
            <a:ext cx="3929736" cy="2391485"/>
            <a:chOff x="1903207" y="3989107"/>
            <a:chExt cx="3929736" cy="2391485"/>
          </a:xfrm>
        </p:grpSpPr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09029692-2DE7-2768-096E-8F588C3803E3}"/>
                </a:ext>
              </a:extLst>
            </p:cNvPr>
            <p:cNvSpPr/>
            <p:nvPr/>
          </p:nvSpPr>
          <p:spPr>
            <a:xfrm>
              <a:off x="1903207" y="3989107"/>
              <a:ext cx="3929736" cy="23914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8A0512C6-F62C-3651-9C91-E91DD078A706}"/>
                </a:ext>
              </a:extLst>
            </p:cNvPr>
            <p:cNvSpPr txBox="1"/>
            <p:nvPr/>
          </p:nvSpPr>
          <p:spPr>
            <a:xfrm>
              <a:off x="2058188" y="4013822"/>
              <a:ext cx="2842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 err="1"/>
                <a:t>default_startup_program</a:t>
              </a:r>
              <a:endParaRPr kumimoji="1" lang="zh-CN" altLang="en-US" b="1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D9EA526-A07B-DC28-D825-31A76BE65190}"/>
                </a:ext>
              </a:extLst>
            </p:cNvPr>
            <p:cNvSpPr/>
            <p:nvPr/>
          </p:nvSpPr>
          <p:spPr>
            <a:xfrm>
              <a:off x="2119450" y="4439353"/>
              <a:ext cx="3497252" cy="1696504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C24F1A15-C391-C36D-E5D0-AC39DF82154D}"/>
                </a:ext>
              </a:extLst>
            </p:cNvPr>
            <p:cNvSpPr txBox="1"/>
            <p:nvPr/>
          </p:nvSpPr>
          <p:spPr>
            <a:xfrm>
              <a:off x="2188586" y="4468575"/>
              <a:ext cx="1068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/>
                <a:t>block</a:t>
              </a:r>
              <a:r>
                <a:rPr kumimoji="1" lang="zh-CN" altLang="en-US" b="1" dirty="0"/>
                <a:t> </a:t>
              </a:r>
              <a:r>
                <a:rPr kumimoji="1" lang="en-US" altLang="zh-CN" b="1" dirty="0"/>
                <a:t>0</a:t>
              </a:r>
              <a:endParaRPr kumimoji="1" lang="zh-CN" altLang="en-US" b="1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9686735-D30D-8587-12ED-421E2D614F03}"/>
                </a:ext>
              </a:extLst>
            </p:cNvPr>
            <p:cNvSpPr/>
            <p:nvPr/>
          </p:nvSpPr>
          <p:spPr>
            <a:xfrm>
              <a:off x="2280089" y="4867129"/>
              <a:ext cx="1350231" cy="9997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67238E71-29D3-5918-1A40-535FADF419F8}"/>
                </a:ext>
              </a:extLst>
            </p:cNvPr>
            <p:cNvSpPr/>
            <p:nvPr/>
          </p:nvSpPr>
          <p:spPr>
            <a:xfrm>
              <a:off x="3714986" y="4867129"/>
              <a:ext cx="1772203" cy="9997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4CFC33CD-6501-094F-5552-EF58F23AF81D}"/>
                </a:ext>
              </a:extLst>
            </p:cNvPr>
            <p:cNvSpPr txBox="1"/>
            <p:nvPr/>
          </p:nvSpPr>
          <p:spPr>
            <a:xfrm>
              <a:off x="2549401" y="4867129"/>
              <a:ext cx="757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 err="1"/>
                <a:t>vars</a:t>
              </a:r>
              <a:endParaRPr kumimoji="1" lang="zh-CN" altLang="en-US" b="1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7C3BB47-C0D1-73D7-B20B-A988E55D11A5}"/>
                </a:ext>
              </a:extLst>
            </p:cNvPr>
            <p:cNvSpPr txBox="1"/>
            <p:nvPr/>
          </p:nvSpPr>
          <p:spPr>
            <a:xfrm>
              <a:off x="4149660" y="4867129"/>
              <a:ext cx="757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ops</a:t>
              </a:r>
              <a:endParaRPr kumimoji="1"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88931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DB177-D2B4-37A4-E932-E4DF46AA9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3.</a:t>
            </a:r>
            <a:r>
              <a:rPr kumimoji="1" lang="zh-CN" altLang="en-US" dirty="0"/>
              <a:t> 组网 </a:t>
            </a:r>
            <a:r>
              <a:rPr kumimoji="1" lang="en-US" altLang="zh-CN" dirty="0"/>
              <a:t>|</a:t>
            </a:r>
            <a:r>
              <a:rPr kumimoji="1" lang="zh-CN" altLang="en-US" dirty="0"/>
              <a:t> 前向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5999CFD-F792-1B50-9358-06A187FFD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653119" y="246064"/>
            <a:ext cx="3407086" cy="6365872"/>
          </a:xfrm>
        </p:spPr>
      </p:pic>
      <p:grpSp>
        <p:nvGrpSpPr>
          <p:cNvPr id="68" name="组合 67">
            <a:extLst>
              <a:ext uri="{FF2B5EF4-FFF2-40B4-BE49-F238E27FC236}">
                <a16:creationId xmlns:a16="http://schemas.microsoft.com/office/drawing/2014/main" id="{B1915994-44C5-CD7B-40B4-DFADA2DEAAED}"/>
              </a:ext>
            </a:extLst>
          </p:cNvPr>
          <p:cNvGrpSpPr/>
          <p:nvPr/>
        </p:nvGrpSpPr>
        <p:grpSpPr>
          <a:xfrm>
            <a:off x="1903207" y="3989107"/>
            <a:ext cx="3929736" cy="2391485"/>
            <a:chOff x="1903207" y="3989107"/>
            <a:chExt cx="3929736" cy="2391485"/>
          </a:xfrm>
        </p:grpSpPr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D689C33C-AE26-3BA7-C951-6441BEC6A7E1}"/>
                </a:ext>
              </a:extLst>
            </p:cNvPr>
            <p:cNvSpPr/>
            <p:nvPr/>
          </p:nvSpPr>
          <p:spPr>
            <a:xfrm>
              <a:off x="1903207" y="3989107"/>
              <a:ext cx="3929736" cy="23914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8C67950C-93C7-2FF6-5EB3-D15BD29DEAC0}"/>
                </a:ext>
              </a:extLst>
            </p:cNvPr>
            <p:cNvSpPr txBox="1"/>
            <p:nvPr/>
          </p:nvSpPr>
          <p:spPr>
            <a:xfrm>
              <a:off x="2058188" y="4013822"/>
              <a:ext cx="2842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 err="1"/>
                <a:t>default_main_program</a:t>
              </a:r>
              <a:endParaRPr kumimoji="1" lang="zh-CN" altLang="en-US" b="1" dirty="0"/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1CE7128A-F0F5-E3E2-B162-BAB45F6319B1}"/>
                </a:ext>
              </a:extLst>
            </p:cNvPr>
            <p:cNvSpPr/>
            <p:nvPr/>
          </p:nvSpPr>
          <p:spPr>
            <a:xfrm>
              <a:off x="2119450" y="4439353"/>
              <a:ext cx="3497252" cy="1696504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BF42974A-49D3-06C8-51A9-619C72A3FEEA}"/>
                </a:ext>
              </a:extLst>
            </p:cNvPr>
            <p:cNvSpPr txBox="1"/>
            <p:nvPr/>
          </p:nvSpPr>
          <p:spPr>
            <a:xfrm>
              <a:off x="2188586" y="4468575"/>
              <a:ext cx="1068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/>
                <a:t>block</a:t>
              </a:r>
              <a:r>
                <a:rPr kumimoji="1" lang="zh-CN" altLang="en-US" b="1" dirty="0"/>
                <a:t> </a:t>
              </a:r>
              <a:r>
                <a:rPr kumimoji="1" lang="en-US" altLang="zh-CN" b="1" dirty="0"/>
                <a:t>0</a:t>
              </a:r>
              <a:endParaRPr kumimoji="1" lang="zh-CN" altLang="en-US" b="1" dirty="0"/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C9B2027B-D530-0E75-26E1-50AB19A6A3F3}"/>
                </a:ext>
              </a:extLst>
            </p:cNvPr>
            <p:cNvSpPr/>
            <p:nvPr/>
          </p:nvSpPr>
          <p:spPr>
            <a:xfrm>
              <a:off x="2280089" y="4867129"/>
              <a:ext cx="1350231" cy="9997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322FEAB5-F7A1-23A8-5413-966964F5C112}"/>
                </a:ext>
              </a:extLst>
            </p:cNvPr>
            <p:cNvSpPr/>
            <p:nvPr/>
          </p:nvSpPr>
          <p:spPr>
            <a:xfrm>
              <a:off x="3714986" y="4867129"/>
              <a:ext cx="1772203" cy="9997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6C0A5D12-7DF7-60D1-767B-CE099BC4FB0B}"/>
                </a:ext>
              </a:extLst>
            </p:cNvPr>
            <p:cNvSpPr txBox="1"/>
            <p:nvPr/>
          </p:nvSpPr>
          <p:spPr>
            <a:xfrm>
              <a:off x="2549401" y="4867129"/>
              <a:ext cx="757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 err="1"/>
                <a:t>vars</a:t>
              </a:r>
              <a:endParaRPr kumimoji="1" lang="zh-CN" altLang="en-US" b="1" dirty="0"/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B1EF5359-32EB-B2DF-46E5-A7D8CD98B24E}"/>
                </a:ext>
              </a:extLst>
            </p:cNvPr>
            <p:cNvSpPr txBox="1"/>
            <p:nvPr/>
          </p:nvSpPr>
          <p:spPr>
            <a:xfrm>
              <a:off x="4149660" y="4867129"/>
              <a:ext cx="757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ops</a:t>
              </a:r>
              <a:endParaRPr kumimoji="1" lang="zh-CN" altLang="en-US" b="1" dirty="0"/>
            </a:p>
          </p:txBody>
        </p:sp>
        <p:sp>
          <p:nvSpPr>
            <p:cNvPr id="50" name="文本框 49">
              <a:extLst>
                <a:ext uri="{FF2B5EF4-FFF2-40B4-BE49-F238E27FC236}">
                  <a16:creationId xmlns:a16="http://schemas.microsoft.com/office/drawing/2014/main" id="{279DA5FA-37F8-3C02-A30E-6837931B5D4F}"/>
                </a:ext>
              </a:extLst>
            </p:cNvPr>
            <p:cNvSpPr txBox="1"/>
            <p:nvPr/>
          </p:nvSpPr>
          <p:spPr>
            <a:xfrm>
              <a:off x="2352533" y="5240852"/>
              <a:ext cx="1205341" cy="46166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200" b="1" i="0" dirty="0"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fill_constant_1.tmp_0</a:t>
              </a:r>
              <a:endParaRPr kumimoji="1" lang="zh-CN" altLang="en-US" sz="1200" b="1" dirty="0"/>
            </a:p>
          </p:txBody>
        </p:sp>
        <p:sp>
          <p:nvSpPr>
            <p:cNvPr id="52" name="文本框 51">
              <a:extLst>
                <a:ext uri="{FF2B5EF4-FFF2-40B4-BE49-F238E27FC236}">
                  <a16:creationId xmlns:a16="http://schemas.microsoft.com/office/drawing/2014/main" id="{0265AAE1-AC3A-C3B5-561F-30BA32EA9FFE}"/>
                </a:ext>
              </a:extLst>
            </p:cNvPr>
            <p:cNvSpPr txBox="1"/>
            <p:nvPr/>
          </p:nvSpPr>
          <p:spPr>
            <a:xfrm>
              <a:off x="3798986" y="5294906"/>
              <a:ext cx="1602686" cy="369332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 err="1"/>
                <a:t>fill_constant</a:t>
              </a:r>
              <a:endParaRPr kumimoji="1" lang="zh-CN" altLang="en-US" b="1" dirty="0"/>
            </a:p>
          </p:txBody>
        </p: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051CB34-C7B9-0CA5-5588-ED6F243517CA}"/>
              </a:ext>
            </a:extLst>
          </p:cNvPr>
          <p:cNvSpPr txBox="1"/>
          <p:nvPr/>
        </p:nvSpPr>
        <p:spPr>
          <a:xfrm>
            <a:off x="1091631" y="2876720"/>
            <a:ext cx="5041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LayerHelper</a:t>
            </a:r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辅助类，用于创建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输出变量、向静态图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中添加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</a:p>
        </p:txBody>
      </p:sp>
      <p:cxnSp>
        <p:nvCxnSpPr>
          <p:cNvPr id="55" name="直线箭头连接符 54">
            <a:extLst>
              <a:ext uri="{FF2B5EF4-FFF2-40B4-BE49-F238E27FC236}">
                <a16:creationId xmlns:a16="http://schemas.microsoft.com/office/drawing/2014/main" id="{09F667C9-31BC-26A3-2227-D4F06B078EFE}"/>
              </a:ext>
            </a:extLst>
          </p:cNvPr>
          <p:cNvCxnSpPr>
            <a:cxnSpLocks/>
          </p:cNvCxnSpPr>
          <p:nvPr/>
        </p:nvCxnSpPr>
        <p:spPr>
          <a:xfrm flipV="1">
            <a:off x="3257447" y="4232786"/>
            <a:ext cx="4294421" cy="1003675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线箭头连接符 57">
            <a:extLst>
              <a:ext uri="{FF2B5EF4-FFF2-40B4-BE49-F238E27FC236}">
                <a16:creationId xmlns:a16="http://schemas.microsoft.com/office/drawing/2014/main" id="{92A2D41C-306F-B3D9-B6A2-5C9C9FBE0581}"/>
              </a:ext>
            </a:extLst>
          </p:cNvPr>
          <p:cNvCxnSpPr>
            <a:cxnSpLocks/>
          </p:cNvCxnSpPr>
          <p:nvPr/>
        </p:nvCxnSpPr>
        <p:spPr>
          <a:xfrm>
            <a:off x="5404657" y="5499548"/>
            <a:ext cx="2248462" cy="0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文本框 60">
            <a:extLst>
              <a:ext uri="{FF2B5EF4-FFF2-40B4-BE49-F238E27FC236}">
                <a16:creationId xmlns:a16="http://schemas.microsoft.com/office/drawing/2014/main" id="{EE8EDFFA-1F33-C07C-2B33-CBD56E3F49EB}"/>
              </a:ext>
            </a:extLst>
          </p:cNvPr>
          <p:cNvSpPr txBox="1"/>
          <p:nvPr/>
        </p:nvSpPr>
        <p:spPr>
          <a:xfrm>
            <a:off x="971443" y="836466"/>
            <a:ext cx="5793263" cy="10964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1F377F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x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kumimoji="0" lang="en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kumimoji="0" lang="en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74531F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ones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([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], </a:t>
            </a:r>
            <a:r>
              <a:rPr kumimoji="0" lang="en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dtype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E21F1F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float32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E21F1F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defRPr/>
            </a:pP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y = </a:t>
            </a:r>
            <a:r>
              <a:rPr kumimoji="0" lang="en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paddle.ones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([2, 2], </a:t>
            </a:r>
            <a:r>
              <a:rPr kumimoji="0" lang="en" altLang="zh-CN" b="0" i="0" u="none" strike="noStrike" kern="1200" cap="none" spc="0" normalizeH="0" baseline="0" noProof="0" dirty="0" err="1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dtype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="float32")</a:t>
            </a:r>
          </a:p>
          <a:p>
            <a:pPr>
              <a:lnSpc>
                <a:spcPct val="90000"/>
              </a:lnSpc>
              <a:defRPr/>
            </a:pPr>
            <a:b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</a:b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 = x + y</a:t>
            </a: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3BFD3D91-C195-76A5-82DA-3C7F646450A5}"/>
              </a:ext>
            </a:extLst>
          </p:cNvPr>
          <p:cNvSpPr txBox="1"/>
          <p:nvPr/>
        </p:nvSpPr>
        <p:spPr>
          <a:xfrm>
            <a:off x="971443" y="2153706"/>
            <a:ext cx="5041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sz="1800" b="0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paddle.ones</a:t>
            </a:r>
            <a:r>
              <a:rPr lang="en-US" altLang="zh-CN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()</a:t>
            </a:r>
            <a:r>
              <a:rPr lang="zh-CN" altLang="en-US" sz="1800" b="0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：</a:t>
            </a:r>
            <a:r>
              <a:rPr lang="zh-CN" altLang="en-US" sz="1800" b="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调用</a:t>
            </a:r>
            <a:r>
              <a:rPr lang="en-US" altLang="zh-CN" sz="1800" b="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op</a:t>
            </a:r>
            <a:r>
              <a:rPr lang="zh-CN" altLang="en-US" sz="1800" b="0" dirty="0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800" b="0" dirty="0" err="1"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fill_constant</a:t>
            </a:r>
            <a:endParaRPr lang="en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4977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7DB177-D2B4-37A4-E932-E4DF46AA9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3.</a:t>
            </a:r>
            <a:r>
              <a:rPr kumimoji="1" lang="zh-CN" altLang="en-US" dirty="0"/>
              <a:t> 组网 </a:t>
            </a:r>
            <a:r>
              <a:rPr kumimoji="1" lang="en-US" altLang="zh-CN" dirty="0"/>
              <a:t>|</a:t>
            </a:r>
            <a:r>
              <a:rPr kumimoji="1" lang="zh-CN" altLang="en-US" dirty="0"/>
              <a:t> 前向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EE8EDFFA-1F33-C07C-2B33-CBD56E3F49EB}"/>
              </a:ext>
            </a:extLst>
          </p:cNvPr>
          <p:cNvSpPr txBox="1"/>
          <p:nvPr/>
        </p:nvSpPr>
        <p:spPr>
          <a:xfrm>
            <a:off x="754309" y="1297630"/>
            <a:ext cx="5623285" cy="1345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defRPr/>
            </a:pP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1F377F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x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kumimoji="0" lang="en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kumimoji="0" lang="en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74531F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ones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([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], </a:t>
            </a:r>
            <a:r>
              <a:rPr kumimoji="0" lang="en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dtype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E21F1F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float32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E21F1F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90000"/>
              </a:lnSpc>
              <a:defRPr/>
            </a:pPr>
            <a:endParaRPr kumimoji="0" lang="en" altLang="zh-CN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defRPr/>
            </a:pP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1F377F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y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kumimoji="0" lang="en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</a:t>
            </a:r>
            <a:r>
              <a:rPr kumimoji="0" lang="en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74531F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ones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([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98658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2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], </a:t>
            </a:r>
            <a:r>
              <a:rPr kumimoji="0" lang="en" altLang="zh-CN" b="0" i="0" u="none" strike="noStrike" kern="1200" cap="none" spc="0" normalizeH="0" baseline="0" noProof="0" dirty="0" err="1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dtype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E21F1F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A31515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float32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E21F1F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"</a:t>
            </a: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  <a:b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85000"/>
                  </a:prstClr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</a:br>
            <a:endParaRPr kumimoji="0" lang="en" altLang="zh-CN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>
              <a:lnSpc>
                <a:spcPct val="90000"/>
              </a:lnSpc>
              <a:defRPr/>
            </a:pPr>
            <a:r>
              <a:rPr kumimoji="0" lang="en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 = x + y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54C6E177-DFA1-751E-CCBC-89FDE6FD4412}"/>
              </a:ext>
            </a:extLst>
          </p:cNvPr>
          <p:cNvGrpSpPr/>
          <p:nvPr/>
        </p:nvGrpSpPr>
        <p:grpSpPr>
          <a:xfrm>
            <a:off x="7516879" y="1009807"/>
            <a:ext cx="3929736" cy="1841628"/>
            <a:chOff x="1903207" y="3989107"/>
            <a:chExt cx="3929736" cy="2391485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CCCE3613-3B41-FE03-FA06-BB7B76071619}"/>
                </a:ext>
              </a:extLst>
            </p:cNvPr>
            <p:cNvSpPr/>
            <p:nvPr/>
          </p:nvSpPr>
          <p:spPr>
            <a:xfrm>
              <a:off x="1903207" y="3989107"/>
              <a:ext cx="3929736" cy="23914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D9EC73D1-B550-745F-F90F-DDC24F9B198F}"/>
                </a:ext>
              </a:extLst>
            </p:cNvPr>
            <p:cNvSpPr txBox="1"/>
            <p:nvPr/>
          </p:nvSpPr>
          <p:spPr>
            <a:xfrm>
              <a:off x="2058188" y="4013822"/>
              <a:ext cx="284205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 err="1"/>
                <a:t>default_startup_program</a:t>
              </a:r>
              <a:endParaRPr kumimoji="1" lang="zh-CN" altLang="en-US" b="1" dirty="0"/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71A866C6-F813-932E-FF05-A48D4C436D6C}"/>
              </a:ext>
            </a:extLst>
          </p:cNvPr>
          <p:cNvGrpSpPr/>
          <p:nvPr/>
        </p:nvGrpSpPr>
        <p:grpSpPr>
          <a:xfrm>
            <a:off x="7516879" y="3013560"/>
            <a:ext cx="3929736" cy="2993938"/>
            <a:chOff x="7516879" y="3616012"/>
            <a:chExt cx="3929736" cy="2391485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2BF3B2CC-A5FC-0AFF-08DE-8A8DCAE655AC}"/>
                </a:ext>
              </a:extLst>
            </p:cNvPr>
            <p:cNvGrpSpPr/>
            <p:nvPr/>
          </p:nvGrpSpPr>
          <p:grpSpPr>
            <a:xfrm>
              <a:off x="7516879" y="3616012"/>
              <a:ext cx="3929736" cy="2391485"/>
              <a:chOff x="1903207" y="3989107"/>
              <a:chExt cx="3929736" cy="2391485"/>
            </a:xfrm>
          </p:grpSpPr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2DA2676-9CDC-AB19-AD37-4C2CC4B9D3F4}"/>
                  </a:ext>
                </a:extLst>
              </p:cNvPr>
              <p:cNvSpPr/>
              <p:nvPr/>
            </p:nvSpPr>
            <p:spPr>
              <a:xfrm>
                <a:off x="1903207" y="3989107"/>
                <a:ext cx="3929736" cy="2391485"/>
              </a:xfrm>
              <a:prstGeom prst="rect">
                <a:avLst/>
              </a:prstGeom>
              <a:noFill/>
              <a:ln w="28575">
                <a:solidFill>
                  <a:srgbClr val="2339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0D9795AA-FE8C-E91E-5144-8E4320454EE3}"/>
                  </a:ext>
                </a:extLst>
              </p:cNvPr>
              <p:cNvSpPr txBox="1"/>
              <p:nvPr/>
            </p:nvSpPr>
            <p:spPr>
              <a:xfrm>
                <a:off x="2058188" y="4013822"/>
                <a:ext cx="284205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 err="1"/>
                  <a:t>default_main_program</a:t>
                </a:r>
                <a:endParaRPr kumimoji="1" lang="zh-CN" altLang="en-US" b="1" dirty="0"/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FFC99BB0-3FCD-4A09-EEC7-BD92F0C41A13}"/>
                  </a:ext>
                </a:extLst>
              </p:cNvPr>
              <p:cNvSpPr/>
              <p:nvPr/>
            </p:nvSpPr>
            <p:spPr>
              <a:xfrm>
                <a:off x="2119450" y="4439353"/>
                <a:ext cx="3497252" cy="1696504"/>
              </a:xfrm>
              <a:prstGeom prst="rect">
                <a:avLst/>
              </a:prstGeom>
              <a:noFill/>
              <a:ln w="28575">
                <a:solidFill>
                  <a:srgbClr val="2339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E88735EF-F127-E3EE-7478-F5C6040F9987}"/>
                  </a:ext>
                </a:extLst>
              </p:cNvPr>
              <p:cNvSpPr txBox="1"/>
              <p:nvPr/>
            </p:nvSpPr>
            <p:spPr>
              <a:xfrm>
                <a:off x="2188586" y="4468575"/>
                <a:ext cx="106886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b="1" dirty="0"/>
                  <a:t>block</a:t>
                </a:r>
                <a:r>
                  <a:rPr kumimoji="1" lang="zh-CN" altLang="en-US" b="1" dirty="0"/>
                  <a:t> </a:t>
                </a:r>
                <a:r>
                  <a:rPr kumimoji="1" lang="en-US" altLang="zh-CN" b="1" dirty="0"/>
                  <a:t>0</a:t>
                </a:r>
                <a:endParaRPr kumimoji="1" lang="zh-CN" altLang="en-US" b="1" dirty="0"/>
              </a:p>
            </p:txBody>
          </p:sp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0F3332D4-74DB-DDC2-0883-F76BFD18FC1E}"/>
                  </a:ext>
                </a:extLst>
              </p:cNvPr>
              <p:cNvSpPr/>
              <p:nvPr/>
            </p:nvSpPr>
            <p:spPr>
              <a:xfrm>
                <a:off x="2280089" y="4784003"/>
                <a:ext cx="1350231" cy="1268728"/>
              </a:xfrm>
              <a:prstGeom prst="rect">
                <a:avLst/>
              </a:prstGeom>
              <a:noFill/>
              <a:ln w="28575">
                <a:solidFill>
                  <a:srgbClr val="2339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65C04DA0-92EC-DC02-F6D5-87AE0DE7D449}"/>
                  </a:ext>
                </a:extLst>
              </p:cNvPr>
              <p:cNvSpPr/>
              <p:nvPr/>
            </p:nvSpPr>
            <p:spPr>
              <a:xfrm>
                <a:off x="3714986" y="4784003"/>
                <a:ext cx="1772203" cy="1268728"/>
              </a:xfrm>
              <a:prstGeom prst="rect">
                <a:avLst/>
              </a:prstGeom>
              <a:noFill/>
              <a:ln w="28575">
                <a:solidFill>
                  <a:srgbClr val="2339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A54CFEA7-9096-38B5-435F-4880A680F991}"/>
                  </a:ext>
                </a:extLst>
              </p:cNvPr>
              <p:cNvSpPr txBox="1"/>
              <p:nvPr/>
            </p:nvSpPr>
            <p:spPr>
              <a:xfrm>
                <a:off x="2549401" y="4737823"/>
                <a:ext cx="7578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b="1" dirty="0" err="1"/>
                  <a:t>vars</a:t>
                </a:r>
                <a:endParaRPr kumimoji="1" lang="zh-CN" altLang="en-US" b="1" dirty="0"/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FE86BE2C-F7F6-9FDA-CD9F-0805AB589366}"/>
                  </a:ext>
                </a:extLst>
              </p:cNvPr>
              <p:cNvSpPr txBox="1"/>
              <p:nvPr/>
            </p:nvSpPr>
            <p:spPr>
              <a:xfrm>
                <a:off x="4149660" y="4737823"/>
                <a:ext cx="75782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b="1" dirty="0"/>
                  <a:t>ops</a:t>
                </a:r>
                <a:endParaRPr kumimoji="1" lang="zh-CN" altLang="en-US" b="1" dirty="0"/>
              </a:p>
            </p:txBody>
          </p:sp>
        </p:grp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9423BCC-CFC5-9EFD-C752-1796B50BB7EB}"/>
                </a:ext>
              </a:extLst>
            </p:cNvPr>
            <p:cNvSpPr txBox="1"/>
            <p:nvPr/>
          </p:nvSpPr>
          <p:spPr>
            <a:xfrm>
              <a:off x="7953990" y="4651131"/>
              <a:ext cx="1221881" cy="31959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000" b="1" i="0" dirty="0"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fill_constant_1.tmp_0</a:t>
              </a:r>
              <a:endParaRPr kumimoji="1" lang="zh-CN" altLang="en-US" sz="1000" b="1" dirty="0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E5D4E54F-6EBA-F48C-5FC3-0899171CF68B}"/>
                </a:ext>
              </a:extLst>
            </p:cNvPr>
            <p:cNvSpPr txBox="1"/>
            <p:nvPr/>
          </p:nvSpPr>
          <p:spPr>
            <a:xfrm>
              <a:off x="9634232" y="4718880"/>
              <a:ext cx="1155833" cy="2458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b="1" dirty="0" err="1"/>
                <a:t>fill_constant</a:t>
              </a:r>
              <a:endParaRPr kumimoji="1" lang="zh-CN" altLang="en-US" sz="1400" b="1" dirty="0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5AABF7E-CF05-76D1-0EEE-11A419E31820}"/>
                </a:ext>
              </a:extLst>
            </p:cNvPr>
            <p:cNvSpPr txBox="1"/>
            <p:nvPr/>
          </p:nvSpPr>
          <p:spPr>
            <a:xfrm>
              <a:off x="9635339" y="5024753"/>
              <a:ext cx="1155833" cy="2458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b="1" dirty="0" err="1"/>
                <a:t>fill_constant</a:t>
              </a:r>
              <a:endParaRPr kumimoji="1" lang="zh-CN" altLang="en-US" sz="1400" b="1" dirty="0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C47CDC85-0BAC-2674-02BD-277EC7F1FA6C}"/>
                </a:ext>
              </a:extLst>
            </p:cNvPr>
            <p:cNvSpPr txBox="1"/>
            <p:nvPr/>
          </p:nvSpPr>
          <p:spPr>
            <a:xfrm>
              <a:off x="9404631" y="5334941"/>
              <a:ext cx="1586642" cy="24584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b="1" dirty="0" err="1"/>
                <a:t>elementwise_add</a:t>
              </a:r>
              <a:endParaRPr kumimoji="1" lang="zh-CN" altLang="en-US" sz="1400" b="1" dirty="0"/>
            </a:p>
          </p:txBody>
        </p:sp>
      </p:grpSp>
      <p:grpSp>
        <p:nvGrpSpPr>
          <p:cNvPr id="56" name="组合 55">
            <a:extLst>
              <a:ext uri="{FF2B5EF4-FFF2-40B4-BE49-F238E27FC236}">
                <a16:creationId xmlns:a16="http://schemas.microsoft.com/office/drawing/2014/main" id="{E48240F7-039E-82AE-4851-E31C645C1ED1}"/>
              </a:ext>
            </a:extLst>
          </p:cNvPr>
          <p:cNvGrpSpPr/>
          <p:nvPr/>
        </p:nvGrpSpPr>
        <p:grpSpPr>
          <a:xfrm>
            <a:off x="7711609" y="1475377"/>
            <a:ext cx="3497252" cy="1179142"/>
            <a:chOff x="1799948" y="4783748"/>
            <a:chExt cx="3497252" cy="1179142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FED5099E-9173-8BD2-54E9-1D9A90FB2DFD}"/>
                </a:ext>
              </a:extLst>
            </p:cNvPr>
            <p:cNvSpPr/>
            <p:nvPr/>
          </p:nvSpPr>
          <p:spPr>
            <a:xfrm>
              <a:off x="1799948" y="4783748"/>
              <a:ext cx="3497252" cy="1179142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2D9B6EF1-D358-321C-7BDF-EFF90791EDD1}"/>
                </a:ext>
              </a:extLst>
            </p:cNvPr>
            <p:cNvSpPr txBox="1"/>
            <p:nvPr/>
          </p:nvSpPr>
          <p:spPr>
            <a:xfrm>
              <a:off x="1869084" y="4812970"/>
              <a:ext cx="1068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/>
                <a:t>block</a:t>
              </a:r>
              <a:r>
                <a:rPr kumimoji="1" lang="zh-CN" altLang="en-US" b="1" dirty="0"/>
                <a:t> </a:t>
              </a:r>
              <a:r>
                <a:rPr kumimoji="1" lang="en-US" altLang="zh-CN" b="1" dirty="0"/>
                <a:t>0</a:t>
              </a:r>
              <a:endParaRPr kumimoji="1" lang="zh-CN" altLang="en-US" b="1" dirty="0"/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B592D8B-81CB-DBF4-61CF-E24ADA8572FC}"/>
                </a:ext>
              </a:extLst>
            </p:cNvPr>
            <p:cNvSpPr/>
            <p:nvPr/>
          </p:nvSpPr>
          <p:spPr>
            <a:xfrm>
              <a:off x="1960587" y="5128398"/>
              <a:ext cx="1350231" cy="577220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58F5D165-DA92-880C-6059-4ECFEBAA98E4}"/>
                </a:ext>
              </a:extLst>
            </p:cNvPr>
            <p:cNvSpPr/>
            <p:nvPr/>
          </p:nvSpPr>
          <p:spPr>
            <a:xfrm>
              <a:off x="3395484" y="5128398"/>
              <a:ext cx="1772203" cy="577220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879BF11A-C6F8-93FE-DEAE-F312A1C4B3F7}"/>
                </a:ext>
              </a:extLst>
            </p:cNvPr>
            <p:cNvSpPr txBox="1"/>
            <p:nvPr/>
          </p:nvSpPr>
          <p:spPr>
            <a:xfrm>
              <a:off x="2229899" y="5082218"/>
              <a:ext cx="757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 err="1"/>
                <a:t>vars</a:t>
              </a:r>
              <a:endParaRPr kumimoji="1" lang="zh-CN" altLang="en-US" b="1" dirty="0"/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ECB2779D-8CE4-C3F7-291C-8599FFD05D89}"/>
                </a:ext>
              </a:extLst>
            </p:cNvPr>
            <p:cNvSpPr txBox="1"/>
            <p:nvPr/>
          </p:nvSpPr>
          <p:spPr>
            <a:xfrm>
              <a:off x="3830158" y="5082218"/>
              <a:ext cx="7578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ops</a:t>
              </a:r>
              <a:endParaRPr kumimoji="1" lang="zh-CN" altLang="en-US" b="1" dirty="0"/>
            </a:p>
          </p:txBody>
        </p:sp>
      </p:grpSp>
      <p:sp>
        <p:nvSpPr>
          <p:cNvPr id="57" name="文本框 56">
            <a:extLst>
              <a:ext uri="{FF2B5EF4-FFF2-40B4-BE49-F238E27FC236}">
                <a16:creationId xmlns:a16="http://schemas.microsoft.com/office/drawing/2014/main" id="{578769B9-0392-2761-715B-29A8AF6F50A3}"/>
              </a:ext>
            </a:extLst>
          </p:cNvPr>
          <p:cNvSpPr txBox="1"/>
          <p:nvPr/>
        </p:nvSpPr>
        <p:spPr>
          <a:xfrm>
            <a:off x="6584805" y="1725184"/>
            <a:ext cx="758737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feed</a:t>
            </a: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10444F1-42B9-4F83-6C31-E58314F57E0C}"/>
              </a:ext>
            </a:extLst>
          </p:cNvPr>
          <p:cNvSpPr txBox="1"/>
          <p:nvPr/>
        </p:nvSpPr>
        <p:spPr>
          <a:xfrm>
            <a:off x="6584805" y="2191646"/>
            <a:ext cx="758737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" altLang="zh-CN" sz="14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</a:t>
            </a: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87798E4E-56CA-B397-95A8-FC7202B585D9}"/>
              </a:ext>
            </a:extLst>
          </p:cNvPr>
          <p:cNvSpPr txBox="1"/>
          <p:nvPr/>
        </p:nvSpPr>
        <p:spPr>
          <a:xfrm>
            <a:off x="8191996" y="5169284"/>
            <a:ext cx="758737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4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tmp_0</a:t>
            </a:r>
            <a:endParaRPr kumimoji="1" lang="zh-CN" altLang="en-US" sz="1400" b="1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C31C100-8F6E-95AA-F5A3-F24CDB6A75AA}"/>
              </a:ext>
            </a:extLst>
          </p:cNvPr>
          <p:cNvSpPr txBox="1"/>
          <p:nvPr/>
        </p:nvSpPr>
        <p:spPr>
          <a:xfrm>
            <a:off x="-22549" y="3084898"/>
            <a:ext cx="7228632" cy="31085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打印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 0 </a:t>
            </a:r>
            <a:endParaRPr lang="en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" altLang="zh-CN" sz="14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fill_constant_1.tmp_0 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LOD_TENSOR.shape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(2,</a:t>
            </a:r>
            <a:r>
              <a:rPr lang="zh-CN" altLang="en-US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2)</a:t>
            </a:r>
          </a:p>
          <a:p>
            <a:pPr lvl="1"/>
            <a:r>
              <a:rPr lang="en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(float32).</a:t>
            </a:r>
            <a:r>
              <a:rPr lang="en" altLang="zh-CN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stop_gradient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</a:p>
          <a:p>
            <a:pPr lvl="1"/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" altLang="zh-CN" sz="14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fill_constant_3.tmp_0 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LOD_TENSOR.shape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(2, 2)</a:t>
            </a:r>
          </a:p>
          <a:p>
            <a:pPr lvl="1"/>
            <a:r>
              <a:rPr lang="en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(float32).</a:t>
            </a:r>
            <a:r>
              <a:rPr lang="en" altLang="zh-CN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stop_gradient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(True)</a:t>
            </a:r>
          </a:p>
          <a:p>
            <a:pPr lvl="1"/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 </a:t>
            </a:r>
            <a:r>
              <a:rPr lang="en" altLang="zh-CN" sz="14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tmp_0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" altLang="zh-CN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LOD_TENSOR.shape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(2, 2).</a:t>
            </a:r>
            <a:r>
              <a:rPr lang="en" altLang="zh-CN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dtype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(float32)</a:t>
            </a:r>
          </a:p>
          <a:p>
            <a:pPr lvl="1"/>
            <a:r>
              <a:rPr lang="en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400" b="0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stop_gradient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(True) </a:t>
            </a:r>
          </a:p>
          <a:p>
            <a:pPr lvl="1"/>
            <a:endParaRPr lang="en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{Out=['fill_constant_1.tmp_0']} = </a:t>
            </a:r>
            <a:r>
              <a:rPr lang="en" altLang="zh-CN" sz="14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fill_constant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{Out=[‘fill_constant_3.tmp_0’]} = </a:t>
            </a:r>
            <a:r>
              <a:rPr lang="en" altLang="zh-CN" sz="14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fill_constant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 lvl="1"/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{Out=['tmp_0']} = 	</a:t>
            </a:r>
            <a:r>
              <a:rPr lang="en" altLang="zh-CN" sz="1400" b="1" i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elementwise_add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(inputs={X=['fill_constant_1.tmp_0'], Y=['fill_constant_3.tmp_0']} </a:t>
            </a:r>
            <a:r>
              <a:rPr lang="en-US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algn="l"/>
            <a:r>
              <a:rPr lang="en" altLang="zh-CN" sz="1400" b="0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kumimoji="1" lang="zh-CN" altLang="en-US" sz="1400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E21033C2-7B7C-905B-0B15-E58631B15786}"/>
              </a:ext>
            </a:extLst>
          </p:cNvPr>
          <p:cNvSpPr txBox="1"/>
          <p:nvPr/>
        </p:nvSpPr>
        <p:spPr>
          <a:xfrm>
            <a:off x="7953436" y="4739363"/>
            <a:ext cx="1221881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000" b="1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fill_constant_3.tmp_0</a:t>
            </a:r>
            <a:endParaRPr kumimoji="1" lang="zh-CN" altLang="en-US" sz="1000" b="1" dirty="0"/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CFF82D36-110D-01E0-153B-FDC0B3A2C661}"/>
              </a:ext>
            </a:extLst>
          </p:cNvPr>
          <p:cNvGrpSpPr/>
          <p:nvPr/>
        </p:nvGrpSpPr>
        <p:grpSpPr>
          <a:xfrm>
            <a:off x="6542285" y="1009808"/>
            <a:ext cx="837945" cy="2253317"/>
            <a:chOff x="6650698" y="1165881"/>
            <a:chExt cx="3929736" cy="1050877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7328380-BEBD-DCA1-E6FA-25855331A556}"/>
                </a:ext>
              </a:extLst>
            </p:cNvPr>
            <p:cNvSpPr/>
            <p:nvPr/>
          </p:nvSpPr>
          <p:spPr>
            <a:xfrm>
              <a:off x="6650698" y="1165881"/>
              <a:ext cx="3929736" cy="1050877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2727F80-0628-8238-3C84-E767F72F37E7}"/>
                </a:ext>
              </a:extLst>
            </p:cNvPr>
            <p:cNvSpPr txBox="1"/>
            <p:nvPr/>
          </p:nvSpPr>
          <p:spPr>
            <a:xfrm>
              <a:off x="6738537" y="1190596"/>
              <a:ext cx="3744900" cy="272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b="1" dirty="0"/>
                <a:t>Global</a:t>
              </a:r>
            </a:p>
            <a:p>
              <a:r>
                <a:rPr kumimoji="1" lang="en-US" altLang="zh-CN" sz="1600" b="1" dirty="0"/>
                <a:t>scope</a:t>
              </a:r>
              <a:endParaRPr kumimoji="1" lang="zh-CN" altLang="en-US" sz="1600" b="1" dirty="0"/>
            </a:p>
          </p:txBody>
        </p:sp>
      </p:grp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8DE74AF9-17EC-7F59-C919-17D443BE5034}"/>
              </a:ext>
            </a:extLst>
          </p:cNvPr>
          <p:cNvGrpSpPr/>
          <p:nvPr/>
        </p:nvGrpSpPr>
        <p:grpSpPr>
          <a:xfrm>
            <a:off x="6540015" y="3444570"/>
            <a:ext cx="837945" cy="2567424"/>
            <a:chOff x="6496105" y="1009807"/>
            <a:chExt cx="837945" cy="2567424"/>
          </a:xfrm>
        </p:grpSpPr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3E224DA5-287F-A78C-CB85-964FED013FFF}"/>
                </a:ext>
              </a:extLst>
            </p:cNvPr>
            <p:cNvSpPr txBox="1"/>
            <p:nvPr/>
          </p:nvSpPr>
          <p:spPr>
            <a:xfrm>
              <a:off x="6540895" y="2374295"/>
              <a:ext cx="758737" cy="55399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000" b="1" i="0" dirty="0" err="1"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fill_constant</a:t>
              </a:r>
              <a:r>
                <a:rPr lang="en" altLang="zh-CN" sz="1000" b="1" i="0" dirty="0"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_</a:t>
              </a:r>
              <a:r>
                <a:rPr lang="en-US" altLang="zh-CN" sz="1000" b="1" i="0" dirty="0"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r>
                <a:rPr lang="en" altLang="zh-CN" sz="1000" b="1" i="0" dirty="0"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.tmp_0</a:t>
              </a:r>
              <a:endParaRPr kumimoji="1" lang="zh-CN" altLang="en-US" sz="1000" b="1" dirty="0"/>
            </a:p>
          </p:txBody>
        </p:sp>
        <p:grpSp>
          <p:nvGrpSpPr>
            <p:cNvPr id="83" name="组合 82">
              <a:extLst>
                <a:ext uri="{FF2B5EF4-FFF2-40B4-BE49-F238E27FC236}">
                  <a16:creationId xmlns:a16="http://schemas.microsoft.com/office/drawing/2014/main" id="{C406578E-A814-6CB5-4ECC-BFEAFDB398FD}"/>
                </a:ext>
              </a:extLst>
            </p:cNvPr>
            <p:cNvGrpSpPr/>
            <p:nvPr/>
          </p:nvGrpSpPr>
          <p:grpSpPr>
            <a:xfrm>
              <a:off x="6496105" y="1009807"/>
              <a:ext cx="837945" cy="2567424"/>
              <a:chOff x="6650698" y="1165881"/>
              <a:chExt cx="3929736" cy="1197367"/>
            </a:xfrm>
          </p:grpSpPr>
          <p:sp>
            <p:nvSpPr>
              <p:cNvPr id="86" name="矩形 85">
                <a:extLst>
                  <a:ext uri="{FF2B5EF4-FFF2-40B4-BE49-F238E27FC236}">
                    <a16:creationId xmlns:a16="http://schemas.microsoft.com/office/drawing/2014/main" id="{BEAD1AA0-0D2C-AD38-B490-0C27B225982C}"/>
                  </a:ext>
                </a:extLst>
              </p:cNvPr>
              <p:cNvSpPr/>
              <p:nvPr/>
            </p:nvSpPr>
            <p:spPr>
              <a:xfrm>
                <a:off x="6650698" y="1165881"/>
                <a:ext cx="3929736" cy="1197367"/>
              </a:xfrm>
              <a:prstGeom prst="rect">
                <a:avLst/>
              </a:prstGeom>
              <a:noFill/>
              <a:ln w="28575">
                <a:solidFill>
                  <a:srgbClr val="2339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/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BE5888F4-627F-6231-F33C-DFB5856EF47E}"/>
                  </a:ext>
                </a:extLst>
              </p:cNvPr>
              <p:cNvSpPr txBox="1"/>
              <p:nvPr/>
            </p:nvSpPr>
            <p:spPr>
              <a:xfrm>
                <a:off x="6738537" y="1190596"/>
                <a:ext cx="3744900" cy="2727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600" b="1" dirty="0"/>
                  <a:t>Local</a:t>
                </a:r>
              </a:p>
              <a:p>
                <a:r>
                  <a:rPr kumimoji="1" lang="en-US" altLang="zh-CN" sz="1600" b="1" dirty="0"/>
                  <a:t>scope</a:t>
                </a:r>
                <a:endParaRPr kumimoji="1" lang="zh-CN" altLang="en-US" sz="1600" b="1" dirty="0"/>
              </a:p>
            </p:txBody>
          </p:sp>
        </p:grpSp>
        <p:sp>
          <p:nvSpPr>
            <p:cNvPr id="84" name="文本框 83">
              <a:extLst>
                <a:ext uri="{FF2B5EF4-FFF2-40B4-BE49-F238E27FC236}">
                  <a16:creationId xmlns:a16="http://schemas.microsoft.com/office/drawing/2014/main" id="{EA5A0516-E6BB-03B7-3364-9AFCEF0A995F}"/>
                </a:ext>
              </a:extLst>
            </p:cNvPr>
            <p:cNvSpPr txBox="1"/>
            <p:nvPr/>
          </p:nvSpPr>
          <p:spPr>
            <a:xfrm>
              <a:off x="6540895" y="1661612"/>
              <a:ext cx="758737" cy="55399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000" b="1" i="0" dirty="0"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fill_constant_1.tmp_0</a:t>
              </a:r>
              <a:endParaRPr kumimoji="1" lang="zh-CN" altLang="en-US" sz="1000" b="1" dirty="0"/>
            </a:p>
          </p:txBody>
        </p: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id="{D2E9ECE5-1947-EABB-D783-372758CAC5BB}"/>
                </a:ext>
              </a:extLst>
            </p:cNvPr>
            <p:cNvSpPr txBox="1"/>
            <p:nvPr/>
          </p:nvSpPr>
          <p:spPr>
            <a:xfrm>
              <a:off x="6540895" y="3086978"/>
              <a:ext cx="758737" cy="30777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400" b="1" i="0" dirty="0"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tmp_0</a:t>
              </a:r>
              <a:endParaRPr kumimoji="1" lang="zh-CN" altLang="en-US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279629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6A5CC340-AB2F-C935-8449-413E6AB3CDC1}"/>
              </a:ext>
            </a:extLst>
          </p:cNvPr>
          <p:cNvCxnSpPr>
            <a:cxnSpLocks/>
          </p:cNvCxnSpPr>
          <p:nvPr/>
        </p:nvCxnSpPr>
        <p:spPr>
          <a:xfrm>
            <a:off x="2780270" y="1350801"/>
            <a:ext cx="0" cy="467241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线箭头连接符 8">
            <a:extLst>
              <a:ext uri="{FF2B5EF4-FFF2-40B4-BE49-F238E27FC236}">
                <a16:creationId xmlns:a16="http://schemas.microsoft.com/office/drawing/2014/main" id="{18B58262-177D-B18A-2FC8-7A26C17A6C68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2947927" y="2560320"/>
            <a:ext cx="1048001" cy="1600810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线箭头连接符 9">
            <a:extLst>
              <a:ext uri="{FF2B5EF4-FFF2-40B4-BE49-F238E27FC236}">
                <a16:creationId xmlns:a16="http://schemas.microsoft.com/office/drawing/2014/main" id="{40F6038C-9518-A633-17F3-14881A116A5B}"/>
              </a:ext>
            </a:extLst>
          </p:cNvPr>
          <p:cNvCxnSpPr>
            <a:cxnSpLocks/>
          </p:cNvCxnSpPr>
          <p:nvPr/>
        </p:nvCxnSpPr>
        <p:spPr>
          <a:xfrm>
            <a:off x="6076953" y="3698273"/>
            <a:ext cx="1225547" cy="314137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174AE672-54A0-5953-0632-EA1AC93A68DD}"/>
              </a:ext>
            </a:extLst>
          </p:cNvPr>
          <p:cNvSpPr/>
          <p:nvPr/>
        </p:nvSpPr>
        <p:spPr>
          <a:xfrm>
            <a:off x="822602" y="1725646"/>
            <a:ext cx="8203388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scope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lvl="2"/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core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lvl="2"/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.set_place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2"/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_plan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plan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_scope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scope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new_exe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create_new_executor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C919DD-1649-6E06-77AB-D01C0AC6B6A6}"/>
              </a:ext>
            </a:extLst>
          </p:cNvPr>
          <p:cNvSpPr/>
          <p:nvPr/>
        </p:nvSpPr>
        <p:spPr>
          <a:xfrm>
            <a:off x="774357" y="4161130"/>
            <a:ext cx="4347140" cy="646331"/>
          </a:xfrm>
          <a:prstGeom prst="rect">
            <a:avLst/>
          </a:prstGeom>
          <a:ln>
            <a:solidFill>
              <a:srgbClr val="2339DA"/>
            </a:solidFill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::class_&lt;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::Place&gt; 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(m, </a:t>
            </a:r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"Place"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DAE0988-5A69-F67B-B66F-8E3CF5BBF919}"/>
              </a:ext>
            </a:extLst>
          </p:cNvPr>
          <p:cNvSpPr/>
          <p:nvPr/>
        </p:nvSpPr>
        <p:spPr>
          <a:xfrm>
            <a:off x="62226" y="5400628"/>
            <a:ext cx="6684913" cy="1200329"/>
          </a:xfrm>
          <a:prstGeom prst="rect">
            <a:avLst/>
          </a:prstGeom>
          <a:ln>
            <a:solidFill>
              <a:srgbClr val="2339DA"/>
            </a:solidFill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class_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framework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&gt;(m, </a:t>
            </a:r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init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::Place &amp;,</a:t>
            </a:r>
            <a:endParaRPr lang="en-US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::Plan &amp;,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Scope *&gt;())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3140D36-2C5B-9A8B-BFEF-F39D05635804}"/>
              </a:ext>
            </a:extLst>
          </p:cNvPr>
          <p:cNvSpPr txBox="1"/>
          <p:nvPr/>
        </p:nvSpPr>
        <p:spPr>
          <a:xfrm>
            <a:off x="6491313" y="2448958"/>
            <a:ext cx="4926330" cy="764825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dirty="0">
                <a:solidFill>
                  <a:srgbClr val="2339DA"/>
                </a:solidFill>
                <a:latin typeface="Courier" pitchFamily="2" charset="0"/>
              </a:rPr>
              <a:t>通过</a:t>
            </a:r>
            <a:r>
              <a:rPr kumimoji="1" lang="en-US" altLang="zh-CN" dirty="0" err="1">
                <a:solidFill>
                  <a:srgbClr val="2339DA"/>
                </a:solidFill>
                <a:latin typeface="Courier" pitchFamily="2" charset="0"/>
              </a:rPr>
              <a:t>pybind</a:t>
            </a:r>
            <a:r>
              <a:rPr kumimoji="1" lang="zh-CN" altLang="en-US" dirty="0">
                <a:solidFill>
                  <a:srgbClr val="2339DA"/>
                </a:solidFill>
                <a:latin typeface="Courier" pitchFamily="2" charset="0"/>
              </a:rPr>
              <a:t>接口调用</a:t>
            </a:r>
            <a:r>
              <a:rPr kumimoji="1" lang="en-US" altLang="zh-CN" dirty="0">
                <a:solidFill>
                  <a:srgbClr val="2339DA"/>
                </a:solidFill>
                <a:latin typeface="Courier" pitchFamily="2" charset="0"/>
              </a:rPr>
              <a:t>C++</a:t>
            </a:r>
            <a:r>
              <a:rPr kumimoji="1" lang="zh-CN" altLang="en-US" dirty="0">
                <a:solidFill>
                  <a:srgbClr val="2339DA"/>
                </a:solidFill>
                <a:latin typeface="Courier" pitchFamily="2" charset="0"/>
              </a:rPr>
              <a:t>端相应类的构造函数</a:t>
            </a:r>
            <a:endParaRPr kumimoji="1" lang="en-US" altLang="zh-CN" dirty="0">
              <a:solidFill>
                <a:srgbClr val="2339DA"/>
              </a:solidFill>
              <a:latin typeface="Courier" pitchFamily="2" charset="0"/>
            </a:endParaRPr>
          </a:p>
          <a:p>
            <a:pPr algn="l">
              <a:lnSpc>
                <a:spcPct val="125000"/>
              </a:lnSpc>
            </a:pPr>
            <a:r>
              <a:rPr kumimoji="1" lang="zh-CN" altLang="en-US" dirty="0">
                <a:solidFill>
                  <a:srgbClr val="2339DA"/>
                </a:solidFill>
                <a:latin typeface="Courier" pitchFamily="2" charset="0"/>
              </a:rPr>
              <a:t>构造</a:t>
            </a:r>
            <a:r>
              <a:rPr kumimoji="1" lang="en-US" altLang="zh-CN" dirty="0">
                <a:solidFill>
                  <a:srgbClr val="2339DA"/>
                </a:solidFill>
                <a:latin typeface="Courier" pitchFamily="2" charset="0"/>
              </a:rPr>
              <a:t>C++</a:t>
            </a:r>
            <a:r>
              <a:rPr kumimoji="1" lang="zh-CN" altLang="en-US" dirty="0">
                <a:solidFill>
                  <a:srgbClr val="2339DA"/>
                </a:solidFill>
                <a:latin typeface="Courier" pitchFamily="2" charset="0"/>
              </a:rPr>
              <a:t>端的</a:t>
            </a:r>
            <a:r>
              <a:rPr kumimoji="1" lang="en-US" altLang="zh-CN" dirty="0">
                <a:solidFill>
                  <a:srgbClr val="2339DA"/>
                </a:solidFill>
                <a:latin typeface="Courier" pitchFamily="2" charset="0"/>
              </a:rPr>
              <a:t>Place</a:t>
            </a:r>
            <a:r>
              <a:rPr kumimoji="1" lang="zh-CN" altLang="en-US" dirty="0">
                <a:solidFill>
                  <a:srgbClr val="2339DA"/>
                </a:solidFill>
                <a:latin typeface="Courier" pitchFamily="2" charset="0"/>
              </a:rPr>
              <a:t>和</a:t>
            </a:r>
            <a:r>
              <a:rPr kumimoji="1" lang="en-US" altLang="zh-CN" dirty="0">
                <a:solidFill>
                  <a:srgbClr val="2339DA"/>
                </a:solidFill>
                <a:latin typeface="Courier" pitchFamily="2" charset="0"/>
              </a:rPr>
              <a:t>Executor</a:t>
            </a:r>
            <a:r>
              <a:rPr kumimoji="1" lang="zh-CN" altLang="en-US" dirty="0">
                <a:solidFill>
                  <a:srgbClr val="2339DA"/>
                </a:solidFill>
                <a:latin typeface="Courier" pitchFamily="2" charset="0"/>
              </a:rPr>
              <a:t>类的实例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33B0B54-2D6B-B09D-E92C-9F070547E342}"/>
              </a:ext>
            </a:extLst>
          </p:cNvPr>
          <p:cNvSpPr txBox="1"/>
          <p:nvPr/>
        </p:nvSpPr>
        <p:spPr>
          <a:xfrm>
            <a:off x="6536360" y="3840135"/>
            <a:ext cx="5415425" cy="1477328"/>
          </a:xfrm>
          <a:prstGeom prst="rect">
            <a:avLst/>
          </a:prstGeom>
          <a:noFill/>
          <a:ln>
            <a:solidFill>
              <a:srgbClr val="2339DA"/>
            </a:solidFill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create_new_executor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lvl="1"/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new_exe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core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.StandaloneExecutor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_plan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_scope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b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b="0" dirty="0">
                <a:solidFill>
                  <a:srgbClr val="AF00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new_exe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C3850130-3067-F22C-D92D-6C01D28FD5C9}"/>
              </a:ext>
            </a:extLst>
          </p:cNvPr>
          <p:cNvCxnSpPr>
            <a:cxnSpLocks/>
          </p:cNvCxnSpPr>
          <p:nvPr/>
        </p:nvCxnSpPr>
        <p:spPr>
          <a:xfrm flipH="1">
            <a:off x="5626249" y="4638762"/>
            <a:ext cx="1444256" cy="697031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DBBD0467-7CB8-9CB8-6EA9-AE84B51BA912}"/>
              </a:ext>
            </a:extLst>
          </p:cNvPr>
          <p:cNvSpPr txBox="1"/>
          <p:nvPr/>
        </p:nvSpPr>
        <p:spPr>
          <a:xfrm>
            <a:off x="774357" y="964056"/>
            <a:ext cx="4989130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paddle.static.Executor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place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963938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BC919DD-1649-6E06-77AB-D01C0AC6B6A6}"/>
              </a:ext>
            </a:extLst>
          </p:cNvPr>
          <p:cNvSpPr/>
          <p:nvPr/>
        </p:nvSpPr>
        <p:spPr>
          <a:xfrm>
            <a:off x="838200" y="1514749"/>
            <a:ext cx="8918986" cy="369332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::class_&lt;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::Place&gt; 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(m, </a:t>
            </a:r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"Place"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206BC49-74B2-F2BC-72D0-AE589637DB53}"/>
              </a:ext>
            </a:extLst>
          </p:cNvPr>
          <p:cNvSpPr txBox="1"/>
          <p:nvPr/>
        </p:nvSpPr>
        <p:spPr>
          <a:xfrm>
            <a:off x="3194124" y="2139382"/>
            <a:ext cx="5153809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namespace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/>
            <a:r>
              <a:rPr lang="en" altLang="zh-CN" b="0" dirty="0">
                <a:solidFill>
                  <a:srgbClr val="AF00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" altLang="zh-CN" b="0" dirty="0">
                <a:solidFill>
                  <a:srgbClr val="AF00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CPUPlace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CPUPlace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9C5FE38-B377-1DF2-D1A8-628CDF5844DB}"/>
              </a:ext>
            </a:extLst>
          </p:cNvPr>
          <p:cNvSpPr txBox="1"/>
          <p:nvPr/>
        </p:nvSpPr>
        <p:spPr>
          <a:xfrm>
            <a:off x="343348" y="3865923"/>
            <a:ext cx="6094206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PADDLE_API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/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AllocationType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alloc_type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_{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AllocationType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::UNDEFINED};</a:t>
            </a:r>
          </a:p>
          <a:p>
            <a:pPr lvl="1"/>
            <a:r>
              <a:rPr lang="en" altLang="zh-CN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device_type_id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_;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DF266EE-0E65-30AB-C1AC-2751056BF314}"/>
              </a:ext>
            </a:extLst>
          </p:cNvPr>
          <p:cNvSpPr txBox="1"/>
          <p:nvPr/>
        </p:nvSpPr>
        <p:spPr>
          <a:xfrm>
            <a:off x="5771028" y="4959170"/>
            <a:ext cx="6285125" cy="120032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CPUPlace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/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CPUPlace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UNUSED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: 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AllocationType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::CPU) {}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94B799E-17CD-377C-4049-89DF8B289027}"/>
              </a:ext>
            </a:extLst>
          </p:cNvPr>
          <p:cNvCxnSpPr>
            <a:cxnSpLocks/>
          </p:cNvCxnSpPr>
          <p:nvPr/>
        </p:nvCxnSpPr>
        <p:spPr>
          <a:xfrm flipH="1">
            <a:off x="4206240" y="1241145"/>
            <a:ext cx="908439" cy="404775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08990DA3-5D27-BB28-B3AA-D5960644E546}"/>
              </a:ext>
            </a:extLst>
          </p:cNvPr>
          <p:cNvCxnSpPr>
            <a:cxnSpLocks/>
          </p:cNvCxnSpPr>
          <p:nvPr/>
        </p:nvCxnSpPr>
        <p:spPr>
          <a:xfrm flipH="1">
            <a:off x="3270325" y="2706278"/>
            <a:ext cx="3167229" cy="1263294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0FC45DAE-BD7E-ADF1-E7B7-0C4C61D81409}"/>
              </a:ext>
            </a:extLst>
          </p:cNvPr>
          <p:cNvCxnSpPr>
            <a:cxnSpLocks/>
          </p:cNvCxnSpPr>
          <p:nvPr/>
        </p:nvCxnSpPr>
        <p:spPr>
          <a:xfrm>
            <a:off x="7089289" y="2988380"/>
            <a:ext cx="268942" cy="2074439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>
            <a:extLst>
              <a:ext uri="{FF2B5EF4-FFF2-40B4-BE49-F238E27FC236}">
                <a16:creationId xmlns:a16="http://schemas.microsoft.com/office/drawing/2014/main" id="{64CD6E4F-8DEC-54BB-5434-948D7515C886}"/>
              </a:ext>
            </a:extLst>
          </p:cNvPr>
          <p:cNvSpPr txBox="1"/>
          <p:nvPr/>
        </p:nvSpPr>
        <p:spPr>
          <a:xfrm>
            <a:off x="774357" y="964056"/>
            <a:ext cx="4989130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paddle.static.Executor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place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93487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cxnSp>
        <p:nvCxnSpPr>
          <p:cNvPr id="19" name="直线箭头连接符 18">
            <a:extLst>
              <a:ext uri="{FF2B5EF4-FFF2-40B4-BE49-F238E27FC236}">
                <a16:creationId xmlns:a16="http://schemas.microsoft.com/office/drawing/2014/main" id="{F94B799E-17CD-377C-4049-89DF8B289027}"/>
              </a:ext>
            </a:extLst>
          </p:cNvPr>
          <p:cNvCxnSpPr>
            <a:cxnSpLocks/>
          </p:cNvCxnSpPr>
          <p:nvPr/>
        </p:nvCxnSpPr>
        <p:spPr>
          <a:xfrm>
            <a:off x="4124976" y="1295518"/>
            <a:ext cx="0" cy="748435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10C91984-8AE4-F897-9603-AC3C609F6DD0}"/>
              </a:ext>
            </a:extLst>
          </p:cNvPr>
          <p:cNvSpPr txBox="1">
            <a:spLocks/>
          </p:cNvSpPr>
          <p:nvPr/>
        </p:nvSpPr>
        <p:spPr>
          <a:xfrm>
            <a:off x="11420158" y="7101432"/>
            <a:ext cx="4953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CC9FD4-7953-474F-BDDD-03B89B9227C0}" type="slidenum">
              <a:rPr lang="zh-CN" altLang="en-US" smtClean="0"/>
              <a:pPr/>
              <a:t>18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F9636A-D67A-0463-8920-D772FD0CF37E}"/>
              </a:ext>
            </a:extLst>
          </p:cNvPr>
          <p:cNvSpPr txBox="1"/>
          <p:nvPr/>
        </p:nvSpPr>
        <p:spPr>
          <a:xfrm>
            <a:off x="878207" y="1955443"/>
            <a:ext cx="9814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new_exe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core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.StandaloneExecutor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_plan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_scope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" altLang="zh-CN" dirty="0">
              <a:solidFill>
                <a:srgbClr val="000000"/>
              </a:solidFill>
              <a:latin typeface="Courier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E9317BE-2157-3551-A67F-4CDE44C62AB2}"/>
              </a:ext>
            </a:extLst>
          </p:cNvPr>
          <p:cNvSpPr/>
          <p:nvPr/>
        </p:nvSpPr>
        <p:spPr>
          <a:xfrm>
            <a:off x="878207" y="3090142"/>
            <a:ext cx="707780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dirty="0" err="1">
                <a:solidFill>
                  <a:srgbClr val="267F99"/>
                </a:solidFill>
                <a:latin typeface="Courier" pitchFamily="2" charset="0"/>
              </a:rPr>
              <a:t>py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::class_&lt;</a:t>
            </a:r>
            <a:r>
              <a:rPr lang="en" altLang="zh-CN" dirty="0">
                <a:solidFill>
                  <a:srgbClr val="267F99"/>
                </a:solidFill>
                <a:latin typeface="Courier" pitchFamily="2" charset="0"/>
              </a:rPr>
              <a:t>framework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::Executor&gt;(m, </a:t>
            </a:r>
            <a:r>
              <a:rPr lang="en" altLang="zh-CN" dirty="0">
                <a:solidFill>
                  <a:srgbClr val="A31515"/>
                </a:solidFill>
                <a:latin typeface="Courier" pitchFamily="2" charset="0"/>
              </a:rPr>
              <a:t>"Executor"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)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urier" pitchFamily="2" charset="0"/>
              </a:rPr>
              <a:t>    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.</a:t>
            </a:r>
            <a:r>
              <a:rPr lang="en" altLang="zh-CN" dirty="0">
                <a:solidFill>
                  <a:srgbClr val="795E26"/>
                </a:solidFill>
                <a:latin typeface="Courier" pitchFamily="2" charset="0"/>
              </a:rPr>
              <a:t>def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(</a:t>
            </a:r>
            <a:r>
              <a:rPr lang="en" altLang="zh-CN" dirty="0" err="1">
                <a:solidFill>
                  <a:srgbClr val="267F99"/>
                </a:solidFill>
                <a:latin typeface="Courier" pitchFamily="2" charset="0"/>
              </a:rPr>
              <a:t>py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::</a:t>
            </a:r>
            <a:r>
              <a:rPr lang="en" altLang="zh-CN" dirty="0" err="1">
                <a:solidFill>
                  <a:srgbClr val="000000"/>
                </a:solidFill>
                <a:latin typeface="Courier" pitchFamily="2" charset="0"/>
              </a:rPr>
              <a:t>init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&lt;</a:t>
            </a:r>
            <a:r>
              <a:rPr lang="en" altLang="zh-CN" dirty="0" err="1">
                <a:solidFill>
                  <a:srgbClr val="0000FF"/>
                </a:solidFill>
                <a:latin typeface="Courier" pitchFamily="2" charset="0"/>
              </a:rPr>
              <a:t>const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 </a:t>
            </a:r>
            <a:r>
              <a:rPr lang="en" altLang="zh-CN" dirty="0">
                <a:solidFill>
                  <a:srgbClr val="267F99"/>
                </a:solidFill>
                <a:latin typeface="Courier" pitchFamily="2" charset="0"/>
              </a:rPr>
              <a:t>platform</a:t>
            </a:r>
            <a:r>
              <a:rPr lang="en" altLang="zh-CN" dirty="0">
                <a:solidFill>
                  <a:srgbClr val="000000"/>
                </a:solidFill>
                <a:latin typeface="Courier" pitchFamily="2" charset="0"/>
              </a:rPr>
              <a:t>::Place &amp;&gt;())</a:t>
            </a:r>
            <a:endParaRPr lang="en" altLang="zh-CN" dirty="0">
              <a:solidFill>
                <a:srgbClr val="000000"/>
              </a:solidFill>
              <a:effectLst/>
              <a:latin typeface="Courier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179766-4FF2-4632-55EF-7EBB9D257FBB}"/>
              </a:ext>
            </a:extLst>
          </p:cNvPr>
          <p:cNvSpPr/>
          <p:nvPr/>
        </p:nvSpPr>
        <p:spPr>
          <a:xfrm>
            <a:off x="838200" y="4170747"/>
            <a:ext cx="105156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::Place&amp; place,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::Plan&amp; plan,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Scope* scope) :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place_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plan_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endParaRPr lang="en-US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scope_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scope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1B4723F-CBD8-3291-26B8-3E960F90EF25}"/>
              </a:ext>
            </a:extLst>
          </p:cNvPr>
          <p:cNvSpPr txBox="1"/>
          <p:nvPr/>
        </p:nvSpPr>
        <p:spPr>
          <a:xfrm>
            <a:off x="6681216" y="4899554"/>
            <a:ext cx="4398387" cy="421269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dirty="0">
                <a:solidFill>
                  <a:srgbClr val="2339DA"/>
                </a:solidFill>
                <a:latin typeface="Courier" pitchFamily="2" charset="0"/>
              </a:rPr>
              <a:t>构造时指定</a:t>
            </a:r>
            <a:r>
              <a:rPr kumimoji="1" lang="en-US" altLang="zh-CN" dirty="0">
                <a:solidFill>
                  <a:srgbClr val="2339DA"/>
                </a:solidFill>
                <a:latin typeface="Courier" pitchFamily="2" charset="0"/>
              </a:rPr>
              <a:t>place</a:t>
            </a:r>
            <a:r>
              <a:rPr kumimoji="1" lang="zh-CN" altLang="en-US" dirty="0">
                <a:solidFill>
                  <a:srgbClr val="2339DA"/>
                </a:solidFill>
                <a:latin typeface="Courier" pitchFamily="2" charset="0"/>
              </a:rPr>
              <a:t>、</a:t>
            </a:r>
            <a:r>
              <a:rPr kumimoji="1" lang="en-US" altLang="zh-CN" b="1" dirty="0">
                <a:solidFill>
                  <a:srgbClr val="2339DA"/>
                </a:solidFill>
                <a:latin typeface="Courier" pitchFamily="2" charset="0"/>
              </a:rPr>
              <a:t>plan</a:t>
            </a:r>
            <a:r>
              <a:rPr kumimoji="1" lang="zh-CN" altLang="en-US" dirty="0">
                <a:solidFill>
                  <a:srgbClr val="2339DA"/>
                </a:solidFill>
                <a:latin typeface="Courier" pitchFamily="2" charset="0"/>
              </a:rPr>
              <a:t>、</a:t>
            </a:r>
            <a:r>
              <a:rPr kumimoji="1" lang="en-US" altLang="zh-CN" dirty="0">
                <a:solidFill>
                  <a:srgbClr val="2339DA"/>
                </a:solidFill>
                <a:latin typeface="Courier" pitchFamily="2" charset="0"/>
              </a:rPr>
              <a:t>scope</a:t>
            </a:r>
            <a:endParaRPr kumimoji="1" lang="zh-CN" altLang="en-US" dirty="0">
              <a:solidFill>
                <a:srgbClr val="2339DA"/>
              </a:solidFill>
              <a:latin typeface="Courier" pitchFamily="2" charset="0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EE175AB4-9F07-F5C0-11FB-66203BDA2E2F}"/>
              </a:ext>
            </a:extLst>
          </p:cNvPr>
          <p:cNvCxnSpPr>
            <a:cxnSpLocks/>
          </p:cNvCxnSpPr>
          <p:nvPr/>
        </p:nvCxnSpPr>
        <p:spPr>
          <a:xfrm>
            <a:off x="4124976" y="2324775"/>
            <a:ext cx="0" cy="748435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线箭头连接符 21">
            <a:extLst>
              <a:ext uri="{FF2B5EF4-FFF2-40B4-BE49-F238E27FC236}">
                <a16:creationId xmlns:a16="http://schemas.microsoft.com/office/drawing/2014/main" id="{AFB51867-541D-2E96-C68C-F50803750376}"/>
              </a:ext>
            </a:extLst>
          </p:cNvPr>
          <p:cNvCxnSpPr>
            <a:cxnSpLocks/>
          </p:cNvCxnSpPr>
          <p:nvPr/>
        </p:nvCxnSpPr>
        <p:spPr>
          <a:xfrm>
            <a:off x="4124976" y="3736473"/>
            <a:ext cx="0" cy="558436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D72F0B2D-5DC0-33B9-BB73-4B0B50DDE4B6}"/>
              </a:ext>
            </a:extLst>
          </p:cNvPr>
          <p:cNvSpPr txBox="1"/>
          <p:nvPr/>
        </p:nvSpPr>
        <p:spPr>
          <a:xfrm>
            <a:off x="878207" y="5499718"/>
            <a:ext cx="9288397" cy="1200329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一个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plan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包含一个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job list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以及一个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job type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到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Program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的映射</a:t>
            </a:r>
          </a:p>
          <a:p>
            <a:pPr algn="l"/>
            <a:endParaRPr lang="en-US" altLang="zh-CN" dirty="0"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  <a:p>
            <a:pPr algn="l"/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执行器直接接收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plan</a:t>
            </a:r>
            <a:r>
              <a:rPr lang="zh-CN" altLang="e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，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非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PP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场景下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plan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中只有一个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job</a:t>
            </a:r>
            <a:r>
              <a:rPr lang="zh-CN" altLang="e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（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对应整图），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PP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场景下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plan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中有多个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job</a:t>
            </a:r>
            <a:r>
              <a:rPr lang="zh-CN" altLang="e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，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每个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job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对应一个</a:t>
            </a:r>
            <a:r>
              <a:rPr lang="zh-CN" altLang="en-US" b="1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切分出的子图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，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job_list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顺序即为子图编排顺序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D9D4E79-A5F6-B5AE-D471-C387EC412EA7}"/>
              </a:ext>
            </a:extLst>
          </p:cNvPr>
          <p:cNvSpPr txBox="1"/>
          <p:nvPr/>
        </p:nvSpPr>
        <p:spPr>
          <a:xfrm>
            <a:off x="878207" y="914310"/>
            <a:ext cx="4989130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sz="18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paddle.static.Executor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place</a:t>
            </a:r>
            <a:r>
              <a:rPr lang="en" altLang="zh-CN" sz="18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99504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8D7CDA-5DDD-1E15-C313-77885576B1D7}"/>
              </a:ext>
            </a:extLst>
          </p:cNvPr>
          <p:cNvSpPr txBox="1"/>
          <p:nvPr/>
        </p:nvSpPr>
        <p:spPr>
          <a:xfrm>
            <a:off x="975359" y="866635"/>
            <a:ext cx="10241280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-US" altLang="zh-CN" dirty="0">
                <a:solidFill>
                  <a:srgbClr val="795E2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b="0" dirty="0">
                <a:solidFill>
                  <a:srgbClr val="AF00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FLAGS_enable_new_ir_in_executor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/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base_program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TranslateLegacyProgramToProgram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auto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kernel_program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dialect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PdOpLowerToKernelPass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BCBF863-9DA8-1FBA-46DC-AC005A74AF66}"/>
              </a:ext>
            </a:extLst>
          </p:cNvPr>
          <p:cNvSpPr txBox="1"/>
          <p:nvPr/>
        </p:nvSpPr>
        <p:spPr>
          <a:xfrm>
            <a:off x="975359" y="2633574"/>
            <a:ext cx="10241279" cy="341632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Imtermediate</a:t>
            </a:r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Representation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(IR)</a:t>
            </a:r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+Pass</a:t>
            </a:r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endParaRPr lang="en-US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在编译器上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：用来解决把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个编程语言中任意一个编译到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个硬件设备中任意一个执行的问题。简单的解决方案是为每个编程语言和硬件单独写一个编译器。这需要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M*N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个编译器。而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IR+Pass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的方法很好的利用了这一点。其基本思想是通过多层</a:t>
            </a:r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Pass (</a:t>
            </a:r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编译改写过程）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，逐渐的把不同语言的表达方式在某个层次上</a:t>
            </a:r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改写成统一的</a:t>
            </a:r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的表达方式。在这个过程中，表达方式逐渐接近底层的硬件。而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Pass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可以很好的被复用，极大的降低了研发的成本。</a:t>
            </a:r>
            <a:endParaRPr lang="en-US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1" i="0" dirty="0">
                <a:solidFill>
                  <a:srgbClr val="12121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深度学习框架</a:t>
            </a:r>
            <a:r>
              <a:rPr lang="zh-CN" altLang="en-US" b="1" dirty="0">
                <a:solidFill>
                  <a:srgbClr val="12121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endParaRPr lang="en-US" altLang="zh-CN" b="1" dirty="0">
              <a:solidFill>
                <a:srgbClr val="12121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+mj-lt"/>
              <a:buAutoNum type="arabicPeriod"/>
            </a:pPr>
            <a:r>
              <a:rPr lang="zh-CN" altLang="en-US" i="0" dirty="0">
                <a:solidFill>
                  <a:srgbClr val="12121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b="0" i="0" dirty="0">
                <a:solidFill>
                  <a:srgbClr val="121212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也有着类似的需求。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用户希望通过高层语言描述模型的执行逻辑，甚至是仅仅声明模型的结构，而不去关心模型如何在硬件上完成训练或者推理。</a:t>
            </a:r>
          </a:p>
          <a:p>
            <a:pPr>
              <a:buFont typeface="+mj-lt"/>
              <a:buAutoNum type="arabicPeriod"/>
            </a:pP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深度学习框架需要解决模型</a:t>
            </a:r>
            <a:r>
              <a:rPr lang="zh-CN" altLang="en-US" dirty="0">
                <a:effectLst/>
              </a:rPr>
              <a:t>在多种硬件上高效执行的问题，其中包括协同多个</a:t>
            </a:r>
            <a:r>
              <a:rPr lang="en" altLang="zh-CN" dirty="0">
                <a:effectLst/>
              </a:rPr>
              <a:t>CPU</a:t>
            </a:r>
            <a:r>
              <a:rPr lang="zh-CN" altLang="en" dirty="0">
                <a:effectLst/>
              </a:rPr>
              <a:t>、</a:t>
            </a:r>
            <a:r>
              <a:rPr lang="en" altLang="zh-CN" dirty="0">
                <a:effectLst/>
              </a:rPr>
              <a:t>GPU</a:t>
            </a:r>
            <a:r>
              <a:rPr lang="zh-CN" altLang="en" dirty="0">
                <a:effectLst/>
              </a:rPr>
              <a:t>、</a:t>
            </a:r>
            <a:r>
              <a:rPr lang="zh-CN" altLang="en-US" dirty="0">
                <a:effectLst/>
              </a:rPr>
              <a:t>甚至大规模分布式集群进行工作的问题。也包括优化内存、显存开销、提高执行速度的问题。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0149EFC-A6F5-4596-5AF2-FB8277EDE789}"/>
              </a:ext>
            </a:extLst>
          </p:cNvPr>
          <p:cNvSpPr txBox="1"/>
          <p:nvPr/>
        </p:nvSpPr>
        <p:spPr>
          <a:xfrm>
            <a:off x="838200" y="6386573"/>
            <a:ext cx="6775524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kumimoji="1" lang="zh-CN" altLang="en-US" sz="1000" dirty="0">
                <a:effectLst/>
                <a:ea typeface="等线" panose="02010600030101010101" pitchFamily="2" charset="-122"/>
              </a:rPr>
              <a:t>* 来源：</a:t>
            </a:r>
            <a:r>
              <a:rPr kumimoji="1" lang="en" altLang="zh-CN" sz="1000" dirty="0">
                <a:effectLst/>
                <a:ea typeface="等线" panose="02010600030101010101" pitchFamily="2" charset="-122"/>
              </a:rPr>
              <a:t>https://</a:t>
            </a:r>
            <a:r>
              <a:rPr kumimoji="1" lang="en" altLang="zh-CN" sz="1000" dirty="0" err="1">
                <a:effectLst/>
                <a:ea typeface="等线" panose="02010600030101010101" pitchFamily="2" charset="-122"/>
              </a:rPr>
              <a:t>zhuanlan.zhihu.com</a:t>
            </a:r>
            <a:r>
              <a:rPr kumimoji="1" lang="en" altLang="zh-CN" sz="1000" dirty="0">
                <a:effectLst/>
                <a:ea typeface="等线" panose="02010600030101010101" pitchFamily="2" charset="-122"/>
              </a:rPr>
              <a:t>/p/363271864?utm_id=0</a:t>
            </a:r>
            <a:endParaRPr kumimoji="1" lang="zh-CN" altLang="en-US" sz="1000" dirty="0">
              <a:effectLst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933410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Translate</a:t>
            </a:r>
            <a:endParaRPr kumimoji="1"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48D7CDA-5DDD-1E15-C313-77885576B1D7}"/>
              </a:ext>
            </a:extLst>
          </p:cNvPr>
          <p:cNvSpPr txBox="1"/>
          <p:nvPr/>
        </p:nvSpPr>
        <p:spPr>
          <a:xfrm>
            <a:off x="838200" y="863043"/>
            <a:ext cx="10241280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endParaRPr lang="en" altLang="zh-CN" b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" altLang="zh-CN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FLAGS_enable_new_ir_in_executor</a:t>
            </a:r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/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base_program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TranslateLegacyProgramToProgram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auto </a:t>
            </a:r>
            <a:r>
              <a:rPr lang="en" altLang="zh-CN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kernel_program</a:t>
            </a:r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zh-CN" altLang="en-US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paddle::dialect::</a:t>
            </a:r>
            <a:r>
              <a:rPr lang="en" altLang="zh-CN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PdOpLowerToKernelPass</a:t>
            </a:r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544C649-FBAD-87B1-81C7-060ED2E347D8}"/>
              </a:ext>
            </a:extLst>
          </p:cNvPr>
          <p:cNvSpPr txBox="1"/>
          <p:nvPr/>
        </p:nvSpPr>
        <p:spPr>
          <a:xfrm>
            <a:off x="7006635" y="2184626"/>
            <a:ext cx="3378798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PdOpLowerToKernelPass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输入：</a:t>
            </a:r>
            <a:r>
              <a:rPr lang="en" altLang="zh-CN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base_program</a:t>
            </a:r>
            <a:endParaRPr lang="en" altLang="zh-CN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输出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en-US" altLang="zh-CN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kernel_program</a:t>
            </a:r>
            <a:endParaRPr lang="en-US" altLang="zh-CN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7F8FA1B-0FF2-05B8-8B08-56792E5BF17E}"/>
              </a:ext>
            </a:extLst>
          </p:cNvPr>
          <p:cNvSpPr txBox="1"/>
          <p:nvPr/>
        </p:nvSpPr>
        <p:spPr>
          <a:xfrm>
            <a:off x="1567479" y="2184626"/>
            <a:ext cx="4709877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TranslateLegacyProgramToProgram</a:t>
            </a:r>
            <a:r>
              <a:rPr lang="en" altLang="zh-CN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输入：</a:t>
            </a:r>
            <a:r>
              <a:rPr lang="zh-CN" altLang="en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旧</a:t>
            </a:r>
            <a:r>
              <a:rPr lang="en" altLang="zh-CN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</a:p>
          <a:p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输出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ir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base_program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CCBB27-8B2C-4109-D309-0C043E37DB8F}"/>
              </a:ext>
            </a:extLst>
          </p:cNvPr>
          <p:cNvSpPr txBox="1"/>
          <p:nvPr/>
        </p:nvSpPr>
        <p:spPr>
          <a:xfrm>
            <a:off x="761399" y="3251100"/>
            <a:ext cx="10669201" cy="181588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" altLang="zh-CN" sz="16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600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unique_ptr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sz="16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TranslateLegacyProgramToProgram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lvl="1"/>
            <a:endParaRPr lang="en" altLang="zh-CN" sz="1600" b="0" dirty="0">
              <a:solidFill>
                <a:srgbClr val="267F99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6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ProgramTranslator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program_translator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legacy_program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6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</a:p>
          <a:p>
            <a:pPr lvl="1"/>
            <a:r>
              <a:rPr lang="en" altLang="zh-CN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program_translator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b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sz="1600" b="0" dirty="0">
                <a:solidFill>
                  <a:srgbClr val="AF00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program;</a:t>
            </a:r>
          </a:p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8AACC6-54A3-5A08-15A1-D5D7D67BB772}"/>
              </a:ext>
            </a:extLst>
          </p:cNvPr>
          <p:cNvSpPr txBox="1"/>
          <p:nvPr/>
        </p:nvSpPr>
        <p:spPr>
          <a:xfrm>
            <a:off x="761399" y="5210127"/>
            <a:ext cx="10538622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ProgramTranslator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lvl="1"/>
            <a:r>
              <a:rPr lang="en" altLang="zh-CN" sz="160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GetParameterForSingleBlock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legacy_program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lvl="1"/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legacy_program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zh-CN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legacy_program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" altLang="zh-CN" sz="16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OpSize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</a:p>
          <a:p>
            <a:pPr lvl="1"/>
            <a:r>
              <a:rPr lang="en" altLang="zh-CN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program_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sz="16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SetParameterFromSingleBlock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legacy_program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sz="16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767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Translate</a:t>
            </a:r>
            <a:endParaRPr kumimoji="1"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48AACC6-54A3-5A08-15A1-D5D7D67BB772}"/>
              </a:ext>
            </a:extLst>
          </p:cNvPr>
          <p:cNvSpPr txBox="1"/>
          <p:nvPr/>
        </p:nvSpPr>
        <p:spPr>
          <a:xfrm>
            <a:off x="551307" y="802719"/>
            <a:ext cx="11089386" cy="156966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ProgramTranslator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lvl="1"/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GetParameterForSingleBlock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legacy_program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lvl="1"/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legacy_program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  <a:r>
              <a:rPr lang="zh-CN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zh-CN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legacy_program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" altLang="zh-CN" sz="1600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OpSize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</a:p>
          <a:p>
            <a:pPr lvl="1"/>
            <a:r>
              <a:rPr lang="en" altLang="zh-CN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program_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b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SetParameterFromSingleBlock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legacy_program</a:t>
            </a:r>
            <a:r>
              <a:rPr lang="en" altLang="zh-CN" sz="1600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sz="16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F417CB2-C99C-A2D7-9986-DC66B8A34C12}"/>
              </a:ext>
            </a:extLst>
          </p:cNvPr>
          <p:cNvSpPr txBox="1"/>
          <p:nvPr/>
        </p:nvSpPr>
        <p:spPr>
          <a:xfrm>
            <a:off x="1435572" y="4309781"/>
            <a:ext cx="8184561" cy="646331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kumimoji="1" lang="zh-CN" altLang="en-US" sz="1800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为什么只</a:t>
            </a:r>
            <a:r>
              <a:rPr kumimoji="1" lang="en-US" altLang="zh-CN" sz="1800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translate</a:t>
            </a:r>
            <a:r>
              <a:rPr kumimoji="1" lang="zh-CN" altLang="en-US" sz="1800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800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kumimoji="1" lang="zh-CN" altLang="en-US" sz="1800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1" lang="en-US" altLang="zh-CN" sz="1800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kumimoji="1" lang="zh-CN" altLang="en-US" sz="1800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？</a:t>
            </a:r>
            <a:endParaRPr kumimoji="1" lang="en-US" altLang="zh-CN" sz="1800" dirty="0">
              <a:solidFill>
                <a:srgbClr val="2339D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kumimoji="1" lang="zh-CN" altLang="en-US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因为控制流的子</a:t>
            </a:r>
            <a:r>
              <a:rPr kumimoji="1" lang="en-US" altLang="zh-CN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kumimoji="1" lang="zh-CN" altLang="en-US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在</a:t>
            </a:r>
            <a:r>
              <a:rPr lang="en" altLang="zh-CN" sz="1800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TranslateBlock</a:t>
            </a:r>
            <a:r>
              <a:rPr lang="zh-CN" altLang="en" sz="1800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中</a:t>
            </a:r>
            <a:r>
              <a:rPr lang="zh-CN" altLang="en-US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进一步递归</a:t>
            </a:r>
            <a:r>
              <a:rPr lang="en" altLang="zh-CN" sz="1800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</a:t>
            </a:r>
            <a:endParaRPr kumimoji="1" lang="zh-CN" altLang="en" sz="1800" dirty="0">
              <a:solidFill>
                <a:srgbClr val="2339D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D99C7FD-BE6E-A1C5-A997-FBF5DD0CBD21}"/>
              </a:ext>
            </a:extLst>
          </p:cNvPr>
          <p:cNvSpPr txBox="1"/>
          <p:nvPr/>
        </p:nvSpPr>
        <p:spPr>
          <a:xfrm>
            <a:off x="675975" y="2690336"/>
            <a:ext cx="6094476" cy="1477328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</a:t>
            </a:r>
            <a:r>
              <a:rPr lang="zh-CN" altLang="en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时</a:t>
            </a:r>
            <a:r>
              <a:rPr lang="zh-CN" alt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，先调用</a:t>
            </a:r>
            <a:r>
              <a:rPr lang="en" altLang="zh-CN" sz="18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GetParameterForSingleBlock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zh-CN" altLang="en-US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遍历块中的所有变量和</a:t>
            </a:r>
            <a:r>
              <a:rPr lang="en-US" altLang="zh-CN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i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决定是否需要插入获取参数的</a:t>
            </a:r>
            <a:r>
              <a:rPr lang="en-US" altLang="zh-CN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i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（一般用于添加权重参数等），</a:t>
            </a:r>
            <a:r>
              <a:rPr kumimoji="1" lang="zh-CN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然后对</a:t>
            </a:r>
            <a:r>
              <a:rPr kumimoji="1"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kumimoji="1" lang="zh-CN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进行</a:t>
            </a:r>
            <a:r>
              <a:rPr lang="en" altLang="zh-CN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</a:t>
            </a:r>
            <a:r>
              <a:rPr lang="zh-CN" alt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，最后调用</a:t>
            </a:r>
            <a:r>
              <a:rPr lang="en" altLang="zh-CN" sz="18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SetParameterFromSingleBlock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zh-CN" altLang="en-US" sz="18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对参数进行更新</a:t>
            </a:r>
            <a:endParaRPr kumimoji="1" lang="zh-CN" altLang="en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8F4C15-C992-27D5-D2D1-89E3103D4BA2}"/>
              </a:ext>
            </a:extLst>
          </p:cNvPr>
          <p:cNvSpPr txBox="1"/>
          <p:nvPr/>
        </p:nvSpPr>
        <p:spPr>
          <a:xfrm>
            <a:off x="838200" y="5142881"/>
            <a:ext cx="9708642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ProgramTranslator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TranslateCondIfOperation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b="0" dirty="0">
                <a:solidFill>
                  <a:srgbClr val="AF00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cond_ops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TrueBlockId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!= -</a:t>
            </a:r>
            <a:r>
              <a:rPr lang="en" altLang="zh-CN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TranslateBlock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true_sub_block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…)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23E30AA-A533-E5B8-0FA0-1B42C7C1A23C}"/>
              </a:ext>
            </a:extLst>
          </p:cNvPr>
          <p:cNvSpPr txBox="1"/>
          <p:nvPr/>
        </p:nvSpPr>
        <p:spPr>
          <a:xfrm>
            <a:off x="8089091" y="2779606"/>
            <a:ext cx="3551602" cy="1200329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" altLang="zh-CN" dirty="0">
                <a:effectLst/>
              </a:rPr>
              <a:t>Variable </a:t>
            </a:r>
            <a:r>
              <a:rPr lang="zh-CN" altLang="en-US" dirty="0">
                <a:effectLst/>
              </a:rPr>
              <a:t>中持有一个 </a:t>
            </a:r>
            <a:r>
              <a:rPr lang="en" altLang="zh-CN" dirty="0" err="1">
                <a:effectLst/>
              </a:rPr>
              <a:t>PlaceHolder</a:t>
            </a:r>
            <a:r>
              <a:rPr lang="zh-CN" altLang="en" dirty="0">
                <a:effectLst/>
              </a:rPr>
              <a:t>，</a:t>
            </a:r>
            <a:r>
              <a:rPr lang="en" altLang="zh-CN" dirty="0" err="1">
                <a:effectLst/>
              </a:rPr>
              <a:t>PlaceHolder</a:t>
            </a:r>
            <a:r>
              <a:rPr lang="en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里面包含一个 </a:t>
            </a:r>
            <a:r>
              <a:rPr lang="en" altLang="zh-CN" dirty="0">
                <a:effectLst/>
              </a:rPr>
              <a:t>void*</a:t>
            </a:r>
            <a:r>
              <a:rPr lang="zh-CN" altLang="en" dirty="0">
                <a:effectLst/>
              </a:rPr>
              <a:t>，</a:t>
            </a:r>
            <a:r>
              <a:rPr lang="en" altLang="zh-CN" dirty="0">
                <a:effectLst/>
              </a:rPr>
              <a:t>Get/</a:t>
            </a:r>
            <a:r>
              <a:rPr lang="en" altLang="zh-CN" dirty="0" err="1">
                <a:effectLst/>
              </a:rPr>
              <a:t>SetParameter</a:t>
            </a:r>
            <a:r>
              <a:rPr lang="zh-CN" altLang="en-US" dirty="0">
                <a:effectLst/>
              </a:rPr>
              <a:t>的功能是将 </a:t>
            </a:r>
            <a:r>
              <a:rPr lang="en" altLang="zh-CN" dirty="0">
                <a:effectLst/>
              </a:rPr>
              <a:t>void*</a:t>
            </a:r>
            <a:r>
              <a:rPr lang="zh-CN" altLang="en-US" dirty="0">
                <a:effectLst/>
              </a:rPr>
              <a:t>拷贝给权重的 </a:t>
            </a:r>
            <a:r>
              <a:rPr lang="en" altLang="zh-CN" dirty="0">
                <a:effectLst/>
              </a:rPr>
              <a:t>void*</a:t>
            </a:r>
            <a:r>
              <a:rPr lang="zh-CN" altLang="en" dirty="0">
                <a:effectLst/>
              </a:rPr>
              <a:t>。</a:t>
            </a:r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B339938E-2761-A33F-8646-8F5E431A787F}"/>
              </a:ext>
            </a:extLst>
          </p:cNvPr>
          <p:cNvCxnSpPr>
            <a:cxnSpLocks/>
          </p:cNvCxnSpPr>
          <p:nvPr/>
        </p:nvCxnSpPr>
        <p:spPr>
          <a:xfrm flipV="1">
            <a:off x="6434066" y="3038764"/>
            <a:ext cx="1655025" cy="875264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9CBB28E9-89CC-CACD-B1F6-32C3AF3CF56F}"/>
              </a:ext>
            </a:extLst>
          </p:cNvPr>
          <p:cNvCxnSpPr>
            <a:cxnSpLocks/>
          </p:cNvCxnSpPr>
          <p:nvPr/>
        </p:nvCxnSpPr>
        <p:spPr>
          <a:xfrm flipH="1">
            <a:off x="5692521" y="4870772"/>
            <a:ext cx="1569057" cy="920428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4783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Translate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D751178-B304-5276-04F7-098D9FDE6F9B}"/>
              </a:ext>
            </a:extLst>
          </p:cNvPr>
          <p:cNvSpPr txBox="1"/>
          <p:nvPr/>
        </p:nvSpPr>
        <p:spPr>
          <a:xfrm>
            <a:off x="-1325880" y="6464808"/>
            <a:ext cx="184731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none" rtlCol="0">
            <a:spAutoFit/>
          </a:bodyPr>
          <a:lstStyle/>
          <a:p>
            <a:pPr algn="l"/>
            <a:endParaRPr kumimoji="1"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BC8EC81-8D05-1ABF-0EAF-A1939B38BBCF}"/>
              </a:ext>
            </a:extLst>
          </p:cNvPr>
          <p:cNvSpPr txBox="1"/>
          <p:nvPr/>
        </p:nvSpPr>
        <p:spPr>
          <a:xfrm>
            <a:off x="1031856" y="4286945"/>
            <a:ext cx="4887137" cy="138499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 Operation *Create(</a:t>
            </a:r>
          </a:p>
          <a:p>
            <a:pPr lvl="1"/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 std::vector&lt;pir::Value&gt; &amp;</a:t>
            </a:r>
            <a:r>
              <a:rPr lang="en" altLang="zh-CN" sz="12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inputs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 </a:t>
            </a:r>
            <a:r>
              <a:rPr lang="en" altLang="zh-CN" sz="1200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AttributeMap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" altLang="zh-CN" sz="12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attributes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 std::vector&lt;pir::Type&gt; &amp;</a:t>
            </a:r>
            <a:r>
              <a:rPr lang="en" altLang="zh-CN" sz="12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output_types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pir::</a:t>
            </a:r>
            <a:r>
              <a:rPr lang="en" altLang="zh-CN" sz="1200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OpInfo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op_info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200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num_regions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0,</a:t>
            </a:r>
          </a:p>
          <a:p>
            <a:pPr lvl="1"/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 std::vector&lt;Block *&gt; &amp;successors = {});</a:t>
            </a: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8236BE89-A2AB-4180-28D8-15979FB46E01}"/>
              </a:ext>
            </a:extLst>
          </p:cNvPr>
          <p:cNvSpPr txBox="1"/>
          <p:nvPr/>
        </p:nvSpPr>
        <p:spPr>
          <a:xfrm>
            <a:off x="6206837" y="4379277"/>
            <a:ext cx="5728064" cy="1200329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OpDesc</a:t>
            </a:r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Inputs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inputs</a:t>
            </a:r>
            <a:endParaRPr lang="zh-CN" alt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OpDesc</a:t>
            </a:r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Attributes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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attributes</a:t>
            </a:r>
            <a:endParaRPr lang="zh-CN" alt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OpDesc</a:t>
            </a:r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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output_types</a:t>
            </a:r>
            <a:endParaRPr lang="zh-CN" alt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ir::</a:t>
            </a:r>
            <a:r>
              <a:rPr lang="en-US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Context</a:t>
            </a:r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通过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opname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</a:t>
            </a:r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op_info</a:t>
            </a:r>
            <a:endParaRPr lang="zh-CN" alt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7CE5D02-5B97-B347-CD64-E3F0C7E8C0CF}"/>
              </a:ext>
            </a:extLst>
          </p:cNvPr>
          <p:cNvSpPr txBox="1"/>
          <p:nvPr/>
        </p:nvSpPr>
        <p:spPr>
          <a:xfrm>
            <a:off x="838200" y="1093385"/>
            <a:ext cx="10049164" cy="258532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ProgramTranslator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TranslateGeneralOperation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lvl="2"/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1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OpDesc</a:t>
            </a:r>
            <a:r>
              <a:rPr lang="en" altLang="zh-CN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" altLang="zh-CN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1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src_op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2"/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TranslationContext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translation_ctx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2"/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pir::</a:t>
            </a:r>
            <a:r>
              <a:rPr lang="en" altLang="zh-CN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dst_block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/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&amp;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op_translator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OpTranslator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::instance();</a:t>
            </a:r>
          </a:p>
          <a:p>
            <a:pPr lvl="1"/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OpTranslateFn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&amp;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op_translator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" altLang="zh-CN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src_op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-&gt;Type()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pir::</a:t>
            </a:r>
            <a:r>
              <a:rPr lang="en" altLang="zh-CN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_, </a:t>
            </a:r>
            <a:r>
              <a:rPr lang="en" altLang="zh-CN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translation_ctx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src_op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dst_block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447DEF8C-5F75-544F-D0A7-8B7A2922D4BA}"/>
              </a:ext>
            </a:extLst>
          </p:cNvPr>
          <p:cNvSpPr txBox="1"/>
          <p:nvPr/>
        </p:nvSpPr>
        <p:spPr>
          <a:xfrm>
            <a:off x="8584518" y="1521198"/>
            <a:ext cx="3210318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kumimoji="1" lang="zh-CN" altLang="en-US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具体到每一个</a:t>
            </a:r>
            <a:r>
              <a:rPr kumimoji="1" lang="en-US" altLang="zh-CN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kumimoji="1" lang="zh-CN" altLang="en-US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的翻译：从</a:t>
            </a:r>
            <a:r>
              <a:rPr lang="en" altLang="zh-CN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OpDesc</a:t>
            </a:r>
            <a:r>
              <a:rPr lang="zh-CN" altLang="en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" altLang="zh-CN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</a:t>
            </a:r>
            <a:r>
              <a:rPr lang="en" altLang="zh-CN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::Context</a:t>
            </a:r>
            <a:r>
              <a:rPr lang="zh-CN" altLang="en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中</a:t>
            </a:r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获取所需变量</a:t>
            </a:r>
            <a:endParaRPr kumimoji="1" lang="zh-CN" altLang="en" sz="1800" dirty="0">
              <a:solidFill>
                <a:srgbClr val="2339DA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75532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Translate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D751178-B304-5276-04F7-098D9FDE6F9B}"/>
              </a:ext>
            </a:extLst>
          </p:cNvPr>
          <p:cNvSpPr txBox="1"/>
          <p:nvPr/>
        </p:nvSpPr>
        <p:spPr>
          <a:xfrm>
            <a:off x="-1325880" y="6464808"/>
            <a:ext cx="184731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none" rtlCol="0">
            <a:spAutoFit/>
          </a:bodyPr>
          <a:lstStyle/>
          <a:p>
            <a:pPr algn="l"/>
            <a:endParaRPr kumimoji="1"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BC8EC81-8D05-1ABF-0EAF-A1939B38BBCF}"/>
              </a:ext>
            </a:extLst>
          </p:cNvPr>
          <p:cNvSpPr txBox="1"/>
          <p:nvPr/>
        </p:nvSpPr>
        <p:spPr>
          <a:xfrm>
            <a:off x="417697" y="1415414"/>
            <a:ext cx="5578006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pir::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" altLang="zh-CN" sz="16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fn</a:t>
            </a:r>
            <a:r>
              <a:rPr lang="en" altLang="zh-CN" sz="1600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_, 	</a:t>
            </a:r>
            <a:r>
              <a:rPr lang="en" altLang="zh-CN" sz="1600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translation_ctx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*</a:t>
            </a:r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src_op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sz="1600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dst_block</a:t>
            </a:r>
            <a:r>
              <a:rPr lang="en" altLang="zh-CN" sz="1600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410D8FA-9BF5-146D-9DF4-35170502703D}"/>
              </a:ext>
            </a:extLst>
          </p:cNvPr>
          <p:cNvSpPr txBox="1"/>
          <p:nvPr/>
        </p:nvSpPr>
        <p:spPr>
          <a:xfrm>
            <a:off x="417697" y="2527433"/>
            <a:ext cx="5666717" cy="2308324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" altLang="zh-CN" sz="1600" b="1" dirty="0">
                <a:solidFill>
                  <a:srgbClr val="000000"/>
                </a:solidFill>
                <a:effectLst/>
                <a:cs typeface="Courier New" panose="02070309020205020404" pitchFamily="49" charset="0"/>
              </a:rPr>
              <a:t> </a:t>
            </a:r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elementwise_add</a:t>
            </a:r>
            <a:r>
              <a:rPr lang="en" altLang="zh-CN" sz="16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" sz="16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算子</a:t>
            </a:r>
            <a:r>
              <a:rPr lang="zh-CN" altLang="en-US" sz="16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翻译日志</a:t>
            </a:r>
            <a:endParaRPr lang="en" altLang="zh-CN" sz="1600" b="1" dirty="0">
              <a:solidFill>
                <a:srgbClr val="2339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=============&gt;start to translate a op: </a:t>
            </a:r>
            <a:r>
              <a:rPr lang="en" altLang="zh-CN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elementwise_add</a:t>
            </a:r>
            <a:endParaRPr lang="en" altLang="zh-CN" sz="1600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12:18:06.257404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op_translator.cc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220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[op name normalizing]: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elementwise_add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to </a:t>
            </a:r>
            <a:r>
              <a:rPr lang="en" altLang="zh-CN" sz="1600" b="1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pd_op.add</a:t>
            </a:r>
            <a:endParaRPr lang="en" altLang="zh-CN" sz="1600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12:18:06.257413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ir_context.cc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117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Found a cached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OpInfo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of: [name=</a:t>
            </a:r>
            <a:r>
              <a:rPr lang="en" altLang="zh-CN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pd_op.add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OpInfo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0x72ef600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BCA8CB0A-C137-3D8A-6347-6CBFD2139AE7}"/>
              </a:ext>
            </a:extLst>
          </p:cNvPr>
          <p:cNvGrpSpPr/>
          <p:nvPr/>
        </p:nvGrpSpPr>
        <p:grpSpPr>
          <a:xfrm>
            <a:off x="6421858" y="221591"/>
            <a:ext cx="3929736" cy="2993938"/>
            <a:chOff x="1725679" y="3272177"/>
            <a:chExt cx="3929736" cy="2993938"/>
          </a:xfrm>
        </p:grpSpPr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DDD30ADD-F8CD-5AC3-A3E8-5DE8310C79FC}"/>
                </a:ext>
              </a:extLst>
            </p:cNvPr>
            <p:cNvGrpSpPr/>
            <p:nvPr/>
          </p:nvGrpSpPr>
          <p:grpSpPr>
            <a:xfrm>
              <a:off x="1725679" y="3272177"/>
              <a:ext cx="3929736" cy="2993938"/>
              <a:chOff x="7516879" y="3616012"/>
              <a:chExt cx="3929736" cy="2391485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1FE39BEF-1749-51FA-9D0C-F45C3AC8E515}"/>
                  </a:ext>
                </a:extLst>
              </p:cNvPr>
              <p:cNvGrpSpPr/>
              <p:nvPr/>
            </p:nvGrpSpPr>
            <p:grpSpPr>
              <a:xfrm>
                <a:off x="7516879" y="3616012"/>
                <a:ext cx="3929736" cy="2391485"/>
                <a:chOff x="1903207" y="3989107"/>
                <a:chExt cx="3929736" cy="2391485"/>
              </a:xfrm>
            </p:grpSpPr>
            <p:sp>
              <p:nvSpPr>
                <p:cNvPr id="28" name="矩形 27">
                  <a:extLst>
                    <a:ext uri="{FF2B5EF4-FFF2-40B4-BE49-F238E27FC236}">
                      <a16:creationId xmlns:a16="http://schemas.microsoft.com/office/drawing/2014/main" id="{7108843D-8091-9D52-CAD8-104C08899BDF}"/>
                    </a:ext>
                  </a:extLst>
                </p:cNvPr>
                <p:cNvSpPr/>
                <p:nvPr/>
              </p:nvSpPr>
              <p:spPr>
                <a:xfrm>
                  <a:off x="1903207" y="3989107"/>
                  <a:ext cx="3929736" cy="2391485"/>
                </a:xfrm>
                <a:prstGeom prst="rect">
                  <a:avLst/>
                </a:prstGeom>
                <a:noFill/>
                <a:ln w="28575">
                  <a:solidFill>
                    <a:srgbClr val="2339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29" name="文本框 28">
                  <a:extLst>
                    <a:ext uri="{FF2B5EF4-FFF2-40B4-BE49-F238E27FC236}">
                      <a16:creationId xmlns:a16="http://schemas.microsoft.com/office/drawing/2014/main" id="{DAB6A3B7-DCFF-10B9-CA3C-DFFF429A4E09}"/>
                    </a:ext>
                  </a:extLst>
                </p:cNvPr>
                <p:cNvSpPr txBox="1"/>
                <p:nvPr/>
              </p:nvSpPr>
              <p:spPr>
                <a:xfrm>
                  <a:off x="2058188" y="4013822"/>
                  <a:ext cx="284205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b="1" dirty="0" err="1"/>
                    <a:t>default_main_program</a:t>
                  </a:r>
                  <a:endParaRPr kumimoji="1" lang="zh-CN" altLang="en-US" b="1" dirty="0"/>
                </a:p>
              </p:txBody>
            </p:sp>
            <p:sp>
              <p:nvSpPr>
                <p:cNvPr id="30" name="矩形 29">
                  <a:extLst>
                    <a:ext uri="{FF2B5EF4-FFF2-40B4-BE49-F238E27FC236}">
                      <a16:creationId xmlns:a16="http://schemas.microsoft.com/office/drawing/2014/main" id="{B28EBB64-85AC-1614-A326-9F4EB26391B9}"/>
                    </a:ext>
                  </a:extLst>
                </p:cNvPr>
                <p:cNvSpPr/>
                <p:nvPr/>
              </p:nvSpPr>
              <p:spPr>
                <a:xfrm>
                  <a:off x="2119450" y="4439353"/>
                  <a:ext cx="3497252" cy="1696504"/>
                </a:xfrm>
                <a:prstGeom prst="rect">
                  <a:avLst/>
                </a:prstGeom>
                <a:noFill/>
                <a:ln w="28575">
                  <a:solidFill>
                    <a:srgbClr val="2339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1F59C34F-2AD9-729C-17FB-0E020E981701}"/>
                    </a:ext>
                  </a:extLst>
                </p:cNvPr>
                <p:cNvSpPr txBox="1"/>
                <p:nvPr/>
              </p:nvSpPr>
              <p:spPr>
                <a:xfrm>
                  <a:off x="2188586" y="4468575"/>
                  <a:ext cx="10688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b="1" dirty="0"/>
                    <a:t>block</a:t>
                  </a:r>
                  <a:r>
                    <a:rPr kumimoji="1" lang="zh-CN" altLang="en-US" b="1" dirty="0"/>
                    <a:t> </a:t>
                  </a:r>
                  <a:r>
                    <a:rPr kumimoji="1" lang="en-US" altLang="zh-CN" b="1" dirty="0"/>
                    <a:t>0</a:t>
                  </a:r>
                  <a:endParaRPr kumimoji="1" lang="zh-CN" altLang="en-US" b="1" dirty="0"/>
                </a:p>
              </p:txBody>
            </p:sp>
            <p:sp>
              <p:nvSpPr>
                <p:cNvPr id="32" name="矩形 31">
                  <a:extLst>
                    <a:ext uri="{FF2B5EF4-FFF2-40B4-BE49-F238E27FC236}">
                      <a16:creationId xmlns:a16="http://schemas.microsoft.com/office/drawing/2014/main" id="{02D28D66-12A6-9031-7E93-AB2EAF4CC34E}"/>
                    </a:ext>
                  </a:extLst>
                </p:cNvPr>
                <p:cNvSpPr/>
                <p:nvPr/>
              </p:nvSpPr>
              <p:spPr>
                <a:xfrm>
                  <a:off x="2280089" y="4784003"/>
                  <a:ext cx="1350231" cy="1268728"/>
                </a:xfrm>
                <a:prstGeom prst="rect">
                  <a:avLst/>
                </a:prstGeom>
                <a:noFill/>
                <a:ln w="28575">
                  <a:solidFill>
                    <a:srgbClr val="2339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5" name="矩形 34">
                  <a:extLst>
                    <a:ext uri="{FF2B5EF4-FFF2-40B4-BE49-F238E27FC236}">
                      <a16:creationId xmlns:a16="http://schemas.microsoft.com/office/drawing/2014/main" id="{AA881C36-6674-9B1D-A744-48E63FFD38AB}"/>
                    </a:ext>
                  </a:extLst>
                </p:cNvPr>
                <p:cNvSpPr/>
                <p:nvPr/>
              </p:nvSpPr>
              <p:spPr>
                <a:xfrm>
                  <a:off x="3714986" y="4784003"/>
                  <a:ext cx="1772203" cy="1268728"/>
                </a:xfrm>
                <a:prstGeom prst="rect">
                  <a:avLst/>
                </a:prstGeom>
                <a:noFill/>
                <a:ln w="28575">
                  <a:solidFill>
                    <a:srgbClr val="2339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36" name="文本框 35">
                  <a:extLst>
                    <a:ext uri="{FF2B5EF4-FFF2-40B4-BE49-F238E27FC236}">
                      <a16:creationId xmlns:a16="http://schemas.microsoft.com/office/drawing/2014/main" id="{14437898-1067-84D9-057E-FBC53A5EE221}"/>
                    </a:ext>
                  </a:extLst>
                </p:cNvPr>
                <p:cNvSpPr txBox="1"/>
                <p:nvPr/>
              </p:nvSpPr>
              <p:spPr>
                <a:xfrm>
                  <a:off x="2549401" y="4737823"/>
                  <a:ext cx="7578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zh-CN" b="1" dirty="0" err="1"/>
                    <a:t>vars</a:t>
                  </a:r>
                  <a:endParaRPr kumimoji="1" lang="zh-CN" altLang="en-US" b="1" dirty="0"/>
                </a:p>
              </p:txBody>
            </p:sp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5C2A3078-4A46-B046-C553-ADEF9C84591C}"/>
                    </a:ext>
                  </a:extLst>
                </p:cNvPr>
                <p:cNvSpPr txBox="1"/>
                <p:nvPr/>
              </p:nvSpPr>
              <p:spPr>
                <a:xfrm>
                  <a:off x="4149660" y="4737823"/>
                  <a:ext cx="757824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zh-CN" b="1" dirty="0"/>
                    <a:t>ops</a:t>
                  </a:r>
                  <a:endParaRPr kumimoji="1" lang="zh-CN" altLang="en-US" b="1" dirty="0"/>
                </a:p>
              </p:txBody>
            </p:sp>
          </p:grp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A890F62B-1E3C-FCCA-B84B-71DBF4847DDC}"/>
                  </a:ext>
                </a:extLst>
              </p:cNvPr>
              <p:cNvSpPr txBox="1"/>
              <p:nvPr/>
            </p:nvSpPr>
            <p:spPr>
              <a:xfrm>
                <a:off x="7953990" y="4651131"/>
                <a:ext cx="1221881" cy="3195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" altLang="zh-CN" sz="1000" b="1" i="0" dirty="0">
                    <a:effectLst/>
                    <a:latin typeface="Courier New" panose="02070309020205020404" pitchFamily="49" charset="0"/>
                    <a:cs typeface="Courier New" panose="02070309020205020404" pitchFamily="49" charset="0"/>
                  </a:rPr>
                  <a:t>fill_constant_1.tmp_0</a:t>
                </a:r>
                <a:endParaRPr kumimoji="1" lang="zh-CN" altLang="en-US" sz="1000" b="1" dirty="0"/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B2673B78-B2F8-57AD-CE78-2031D1997137}"/>
                  </a:ext>
                </a:extLst>
              </p:cNvPr>
              <p:cNvSpPr txBox="1"/>
              <p:nvPr/>
            </p:nvSpPr>
            <p:spPr>
              <a:xfrm>
                <a:off x="9634232" y="4718880"/>
                <a:ext cx="1155833" cy="24584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b="1" dirty="0" err="1"/>
                  <a:t>fill_constant</a:t>
                </a:r>
                <a:endParaRPr kumimoji="1" lang="zh-CN" altLang="en-US" sz="1400" b="1" dirty="0"/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331D292F-29E8-DFE4-207F-C1413F296264}"/>
                  </a:ext>
                </a:extLst>
              </p:cNvPr>
              <p:cNvSpPr txBox="1"/>
              <p:nvPr/>
            </p:nvSpPr>
            <p:spPr>
              <a:xfrm>
                <a:off x="9635339" y="5024753"/>
                <a:ext cx="1155833" cy="24584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b="1" dirty="0" err="1"/>
                  <a:t>fill_constant</a:t>
                </a:r>
                <a:endParaRPr kumimoji="1" lang="zh-CN" altLang="en-US" sz="1400" b="1" dirty="0"/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66ACDC8-656B-0311-6928-E00DE057BA76}"/>
                  </a:ext>
                </a:extLst>
              </p:cNvPr>
              <p:cNvSpPr txBox="1"/>
              <p:nvPr/>
            </p:nvSpPr>
            <p:spPr>
              <a:xfrm>
                <a:off x="9404631" y="5334941"/>
                <a:ext cx="1586642" cy="24584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b="1" dirty="0" err="1"/>
                  <a:t>elementwise_add</a:t>
                </a:r>
                <a:endParaRPr kumimoji="1" lang="zh-CN" altLang="en-US" sz="1400" b="1" dirty="0"/>
              </a:p>
            </p:txBody>
          </p:sp>
        </p:grp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327C6927-E85E-ADD2-B50E-A98EBA328824}"/>
                </a:ext>
              </a:extLst>
            </p:cNvPr>
            <p:cNvSpPr txBox="1"/>
            <p:nvPr/>
          </p:nvSpPr>
          <p:spPr>
            <a:xfrm>
              <a:off x="2400796" y="5427901"/>
              <a:ext cx="758737" cy="30777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400" b="1" i="0" dirty="0"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tmp_0</a:t>
              </a:r>
              <a:endParaRPr kumimoji="1" lang="zh-CN" altLang="en-US" sz="1400" b="1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2C7602E2-8EFC-3C82-63ED-3B5C01D07A11}"/>
                </a:ext>
              </a:extLst>
            </p:cNvPr>
            <p:cNvSpPr txBox="1"/>
            <p:nvPr/>
          </p:nvSpPr>
          <p:spPr>
            <a:xfrm>
              <a:off x="2162236" y="4997980"/>
              <a:ext cx="1221881" cy="40011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000" b="1" i="0" dirty="0"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fill_constant_3.tmp_0</a:t>
              </a:r>
              <a:endParaRPr kumimoji="1" lang="zh-CN" altLang="en-US" sz="1000" b="1" dirty="0"/>
            </a:p>
          </p:txBody>
        </p:sp>
      </p:grpSp>
      <p:sp>
        <p:nvSpPr>
          <p:cNvPr id="59" name="文本框 58">
            <a:extLst>
              <a:ext uri="{FF2B5EF4-FFF2-40B4-BE49-F238E27FC236}">
                <a16:creationId xmlns:a16="http://schemas.microsoft.com/office/drawing/2014/main" id="{B658B2CD-0A4D-5E00-7497-584950F312BB}"/>
              </a:ext>
            </a:extLst>
          </p:cNvPr>
          <p:cNvSpPr txBox="1"/>
          <p:nvPr/>
        </p:nvSpPr>
        <p:spPr>
          <a:xfrm>
            <a:off x="5571189" y="4766012"/>
            <a:ext cx="32266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dirty="0"/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9258DF9E-D987-B2C5-F420-425E1FBB749D}"/>
              </a:ext>
            </a:extLst>
          </p:cNvPr>
          <p:cNvGrpSpPr/>
          <p:nvPr/>
        </p:nvGrpSpPr>
        <p:grpSpPr>
          <a:xfrm>
            <a:off x="6421858" y="3604271"/>
            <a:ext cx="3929736" cy="2993938"/>
            <a:chOff x="6295589" y="3429000"/>
            <a:chExt cx="3929736" cy="2993938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7B268743-D894-9D06-8102-48780DCC58CF}"/>
                </a:ext>
              </a:extLst>
            </p:cNvPr>
            <p:cNvGrpSpPr/>
            <p:nvPr/>
          </p:nvGrpSpPr>
          <p:grpSpPr>
            <a:xfrm>
              <a:off x="6295589" y="3429000"/>
              <a:ext cx="3929736" cy="2993938"/>
              <a:chOff x="6295589" y="3429000"/>
              <a:chExt cx="3929736" cy="2993938"/>
            </a:xfrm>
          </p:grpSpPr>
          <p:grpSp>
            <p:nvGrpSpPr>
              <p:cNvPr id="48" name="组合 47">
                <a:extLst>
                  <a:ext uri="{FF2B5EF4-FFF2-40B4-BE49-F238E27FC236}">
                    <a16:creationId xmlns:a16="http://schemas.microsoft.com/office/drawing/2014/main" id="{7C18101F-C3E5-EE56-38D4-FF9EF7471D80}"/>
                  </a:ext>
                </a:extLst>
              </p:cNvPr>
              <p:cNvGrpSpPr/>
              <p:nvPr/>
            </p:nvGrpSpPr>
            <p:grpSpPr>
              <a:xfrm>
                <a:off x="6295589" y="3429000"/>
                <a:ext cx="3929736" cy="2993938"/>
                <a:chOff x="1903207" y="3989107"/>
                <a:chExt cx="3929736" cy="2391485"/>
              </a:xfrm>
            </p:grpSpPr>
            <p:sp>
              <p:nvSpPr>
                <p:cNvPr id="50" name="矩形 49">
                  <a:extLst>
                    <a:ext uri="{FF2B5EF4-FFF2-40B4-BE49-F238E27FC236}">
                      <a16:creationId xmlns:a16="http://schemas.microsoft.com/office/drawing/2014/main" id="{89D9E3BB-6703-75DA-5D5E-E48D34E2420E}"/>
                    </a:ext>
                  </a:extLst>
                </p:cNvPr>
                <p:cNvSpPr/>
                <p:nvPr/>
              </p:nvSpPr>
              <p:spPr>
                <a:xfrm>
                  <a:off x="1903207" y="3989107"/>
                  <a:ext cx="3929736" cy="2391485"/>
                </a:xfrm>
                <a:prstGeom prst="rect">
                  <a:avLst/>
                </a:prstGeom>
                <a:noFill/>
                <a:ln w="28575">
                  <a:solidFill>
                    <a:srgbClr val="2339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25DF710B-C874-1450-E651-0298C4CE5E45}"/>
                    </a:ext>
                  </a:extLst>
                </p:cNvPr>
                <p:cNvSpPr txBox="1"/>
                <p:nvPr/>
              </p:nvSpPr>
              <p:spPr>
                <a:xfrm>
                  <a:off x="2058188" y="4013822"/>
                  <a:ext cx="2842054" cy="2950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b="1" dirty="0" err="1"/>
                    <a:t>base_program</a:t>
                  </a:r>
                  <a:endParaRPr kumimoji="1" lang="zh-CN" altLang="en-US" b="1" dirty="0"/>
                </a:p>
              </p:txBody>
            </p:sp>
            <p:sp>
              <p:nvSpPr>
                <p:cNvPr id="52" name="矩形 51">
                  <a:extLst>
                    <a:ext uri="{FF2B5EF4-FFF2-40B4-BE49-F238E27FC236}">
                      <a16:creationId xmlns:a16="http://schemas.microsoft.com/office/drawing/2014/main" id="{CCB0ADAA-9D60-D69C-55E0-079DF65F8AFE}"/>
                    </a:ext>
                  </a:extLst>
                </p:cNvPr>
                <p:cNvSpPr/>
                <p:nvPr/>
              </p:nvSpPr>
              <p:spPr>
                <a:xfrm>
                  <a:off x="2119450" y="4439353"/>
                  <a:ext cx="3497252" cy="1696504"/>
                </a:xfrm>
                <a:prstGeom prst="rect">
                  <a:avLst/>
                </a:prstGeom>
                <a:noFill/>
                <a:ln w="28575">
                  <a:solidFill>
                    <a:srgbClr val="2339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3" name="文本框 52">
                  <a:extLst>
                    <a:ext uri="{FF2B5EF4-FFF2-40B4-BE49-F238E27FC236}">
                      <a16:creationId xmlns:a16="http://schemas.microsoft.com/office/drawing/2014/main" id="{73F86816-4281-3489-0344-F69A9C6A692C}"/>
                    </a:ext>
                  </a:extLst>
                </p:cNvPr>
                <p:cNvSpPr txBox="1"/>
                <p:nvPr/>
              </p:nvSpPr>
              <p:spPr>
                <a:xfrm>
                  <a:off x="2188586" y="4468575"/>
                  <a:ext cx="106886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b="1" dirty="0"/>
                    <a:t>block</a:t>
                  </a:r>
                  <a:r>
                    <a:rPr kumimoji="1" lang="zh-CN" altLang="en-US" b="1" dirty="0"/>
                    <a:t> </a:t>
                  </a:r>
                  <a:r>
                    <a:rPr kumimoji="1" lang="en-US" altLang="zh-CN" b="1" dirty="0"/>
                    <a:t>0</a:t>
                  </a:r>
                  <a:endParaRPr kumimoji="1" lang="zh-CN" altLang="en-US" b="1" dirty="0"/>
                </a:p>
              </p:txBody>
            </p:sp>
            <p:sp>
              <p:nvSpPr>
                <p:cNvPr id="56" name="矩形 55">
                  <a:extLst>
                    <a:ext uri="{FF2B5EF4-FFF2-40B4-BE49-F238E27FC236}">
                      <a16:creationId xmlns:a16="http://schemas.microsoft.com/office/drawing/2014/main" id="{176B3B41-6BCB-A920-984C-F46D7A525E4A}"/>
                    </a:ext>
                  </a:extLst>
                </p:cNvPr>
                <p:cNvSpPr/>
                <p:nvPr/>
              </p:nvSpPr>
              <p:spPr>
                <a:xfrm>
                  <a:off x="3714986" y="4784003"/>
                  <a:ext cx="1772203" cy="1268728"/>
                </a:xfrm>
                <a:prstGeom prst="rect">
                  <a:avLst/>
                </a:prstGeom>
                <a:noFill/>
                <a:ln w="28575">
                  <a:solidFill>
                    <a:srgbClr val="2339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CN" altLang="en-US"/>
                </a:p>
              </p:txBody>
            </p:sp>
            <p:sp>
              <p:nvSpPr>
                <p:cNvPr id="58" name="文本框 57">
                  <a:extLst>
                    <a:ext uri="{FF2B5EF4-FFF2-40B4-BE49-F238E27FC236}">
                      <a16:creationId xmlns:a16="http://schemas.microsoft.com/office/drawing/2014/main" id="{9475F43D-61A4-10AC-35E4-291219DECC6D}"/>
                    </a:ext>
                  </a:extLst>
                </p:cNvPr>
                <p:cNvSpPr txBox="1"/>
                <p:nvPr/>
              </p:nvSpPr>
              <p:spPr>
                <a:xfrm>
                  <a:off x="3846563" y="4784002"/>
                  <a:ext cx="1432695" cy="2950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zh-CN" b="1" dirty="0"/>
                    <a:t>Operation</a:t>
                  </a:r>
                  <a:endParaRPr kumimoji="1" lang="zh-CN" altLang="en-US" b="1" dirty="0"/>
                </a:p>
              </p:txBody>
            </p:sp>
          </p:grp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DC60AD59-0FC5-6D64-E02B-CE525B76F285}"/>
                  </a:ext>
                </a:extLst>
              </p:cNvPr>
              <p:cNvSpPr txBox="1"/>
              <p:nvPr/>
            </p:nvSpPr>
            <p:spPr>
              <a:xfrm>
                <a:off x="8453420" y="4805083"/>
                <a:ext cx="1155833" cy="30777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b="1" dirty="0" err="1"/>
                  <a:t>pd_op.full</a:t>
                </a:r>
                <a:endParaRPr kumimoji="1" lang="zh-CN" altLang="en-US" sz="1400" b="1" dirty="0"/>
              </a:p>
            </p:txBody>
          </p:sp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5303736F-DB41-2B46-7C3C-0E109C00A94F}"/>
                  </a:ext>
                </a:extLst>
              </p:cNvPr>
              <p:cNvSpPr txBox="1"/>
              <p:nvPr/>
            </p:nvSpPr>
            <p:spPr>
              <a:xfrm>
                <a:off x="8454527" y="5188010"/>
                <a:ext cx="1155833" cy="30777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b="1" dirty="0" err="1"/>
                  <a:t>pd_op.full</a:t>
                </a:r>
                <a:endParaRPr kumimoji="1" lang="zh-CN" altLang="en-US" sz="1400" b="1" dirty="0"/>
              </a:p>
            </p:txBody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E4C3342A-F3C0-9440-0BA0-9425127EDB69}"/>
                  </a:ext>
                </a:extLst>
              </p:cNvPr>
              <p:cNvSpPr txBox="1"/>
              <p:nvPr/>
            </p:nvSpPr>
            <p:spPr>
              <a:xfrm>
                <a:off x="8223819" y="5576339"/>
                <a:ext cx="1586642" cy="307777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b="1" dirty="0" err="1"/>
                  <a:t>pd_op.add</a:t>
                </a:r>
                <a:endParaRPr kumimoji="1" lang="zh-CN" altLang="en-US" sz="1400" b="1" dirty="0"/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C7CDBB1D-53A0-1B2E-6B5D-C703128864CE}"/>
                  </a:ext>
                </a:extLst>
              </p:cNvPr>
              <p:cNvSpPr txBox="1"/>
              <p:nvPr/>
            </p:nvSpPr>
            <p:spPr>
              <a:xfrm>
                <a:off x="6722928" y="4766012"/>
                <a:ext cx="1189209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rgbClr val="2339DA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数据存储结构？</a:t>
                </a:r>
                <a:endParaRPr lang="en" altLang="zh-CN" sz="1800" b="1" dirty="0">
                  <a:solidFill>
                    <a:srgbClr val="2339DA"/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576B0E77-EF97-006D-5BE8-F8AC3177848E}"/>
                </a:ext>
              </a:extLst>
            </p:cNvPr>
            <p:cNvSpPr/>
            <p:nvPr/>
          </p:nvSpPr>
          <p:spPr>
            <a:xfrm>
              <a:off x="6701679" y="4766012"/>
              <a:ext cx="1116340" cy="61229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80" name="下箭头 79">
            <a:extLst>
              <a:ext uri="{FF2B5EF4-FFF2-40B4-BE49-F238E27FC236}">
                <a16:creationId xmlns:a16="http://schemas.microsoft.com/office/drawing/2014/main" id="{89244A5D-C5C2-0A4F-C991-05B70A9A838F}"/>
              </a:ext>
            </a:extLst>
          </p:cNvPr>
          <p:cNvSpPr/>
          <p:nvPr/>
        </p:nvSpPr>
        <p:spPr>
          <a:xfrm>
            <a:off x="8267369" y="3241988"/>
            <a:ext cx="238714" cy="355190"/>
          </a:xfrm>
          <a:prstGeom prst="downArrow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943644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图片 41">
            <a:extLst>
              <a:ext uri="{FF2B5EF4-FFF2-40B4-BE49-F238E27FC236}">
                <a16:creationId xmlns:a16="http://schemas.microsoft.com/office/drawing/2014/main" id="{3682FBF7-F75D-27CC-6ED9-9078A68FC8F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6235"/>
          <a:stretch/>
        </p:blipFill>
        <p:spPr>
          <a:xfrm>
            <a:off x="356615" y="348316"/>
            <a:ext cx="7317625" cy="349424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PIR</a:t>
            </a:r>
            <a:r>
              <a:rPr kumimoji="1" lang="zh-CN" altLang="en-US" dirty="0"/>
              <a:t>数据结构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B6028CCB-A2FA-4E00-6B20-C6240077B23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90422" y="184150"/>
            <a:ext cx="4826000" cy="6489700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270EDDB2-91EA-58A0-18D3-2B6F6F4C6958}"/>
              </a:ext>
            </a:extLst>
          </p:cNvPr>
          <p:cNvSpPr txBox="1"/>
          <p:nvPr/>
        </p:nvSpPr>
        <p:spPr>
          <a:xfrm>
            <a:off x="595946" y="3545058"/>
            <a:ext cx="6094476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中算子的输入和输出。算子的输出创建 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zh-CN" altLang="e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定义为 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OpResult</a:t>
            </a:r>
            <a:r>
              <a:rPr lang="zh-CN" altLang="e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）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，算子的输入使用 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zh-CN" altLang="e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定义为 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OpOperand</a:t>
            </a:r>
            <a:r>
              <a:rPr lang="zh-CN" altLang="e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）。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C2CBDBA-31C0-63DE-F8B1-755DEA9A1DB4}"/>
              </a:ext>
            </a:extLst>
          </p:cNvPr>
          <p:cNvSpPr txBox="1"/>
          <p:nvPr/>
        </p:nvSpPr>
        <p:spPr>
          <a:xfrm>
            <a:off x="595946" y="4792881"/>
            <a:ext cx="6094476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" altLang="zh-CN" b="1" dirty="0">
                <a:solidFill>
                  <a:srgbClr val="2339DA"/>
                </a:solidFill>
                <a:effectLst/>
              </a:rPr>
              <a:t>Operation</a:t>
            </a:r>
            <a:r>
              <a:rPr lang="en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：用户创建、管理的对象，算子主要的成员包括：输出（</a:t>
            </a:r>
            <a:r>
              <a:rPr lang="en" altLang="zh-CN" dirty="0" err="1">
                <a:effectLst/>
              </a:rPr>
              <a:t>OpResult</a:t>
            </a:r>
            <a:r>
              <a:rPr lang="zh-CN" altLang="en" dirty="0">
                <a:effectLst/>
              </a:rPr>
              <a:t>）、</a:t>
            </a:r>
            <a:r>
              <a:rPr lang="zh-CN" altLang="en-US" dirty="0">
                <a:effectLst/>
              </a:rPr>
              <a:t>输入（</a:t>
            </a:r>
            <a:r>
              <a:rPr lang="en" altLang="zh-CN" dirty="0" err="1">
                <a:effectLst/>
              </a:rPr>
              <a:t>OpOperand</a:t>
            </a:r>
            <a:r>
              <a:rPr lang="zh-CN" altLang="en" dirty="0">
                <a:effectLst/>
              </a:rPr>
              <a:t>）、</a:t>
            </a:r>
            <a:r>
              <a:rPr lang="zh-CN" altLang="en-US" dirty="0">
                <a:effectLst/>
              </a:rPr>
              <a:t>属性（</a:t>
            </a:r>
            <a:r>
              <a:rPr lang="en" altLang="zh-CN" dirty="0">
                <a:effectLst/>
              </a:rPr>
              <a:t>Attribute</a:t>
            </a:r>
            <a:r>
              <a:rPr lang="zh-CN" altLang="en" dirty="0">
                <a:effectLst/>
              </a:rPr>
              <a:t>）、</a:t>
            </a:r>
            <a:r>
              <a:rPr lang="zh-CN" altLang="en-US" dirty="0">
                <a:effectLst/>
              </a:rPr>
              <a:t>算子信息（</a:t>
            </a:r>
            <a:r>
              <a:rPr lang="en" altLang="zh-CN" dirty="0" err="1">
                <a:effectLst/>
              </a:rPr>
              <a:t>OpInfo</a:t>
            </a:r>
            <a:r>
              <a:rPr lang="zh-CN" altLang="en" dirty="0">
                <a:effectLst/>
              </a:rPr>
              <a:t>）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44E2EF29-142F-32A4-B71E-A91C788DC847}"/>
              </a:ext>
            </a:extLst>
          </p:cNvPr>
          <p:cNvSpPr txBox="1"/>
          <p:nvPr/>
        </p:nvSpPr>
        <p:spPr>
          <a:xfrm>
            <a:off x="595946" y="5968155"/>
            <a:ext cx="6094476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effectLst/>
              </a:rPr>
              <a:t>输入、输出的声明周期与创建</a:t>
            </a:r>
            <a:r>
              <a:rPr lang="en-US" altLang="zh-CN" dirty="0">
                <a:effectLst/>
              </a:rPr>
              <a:t>/</a:t>
            </a:r>
            <a:r>
              <a:rPr lang="zh-CN" altLang="en-US" dirty="0">
                <a:effectLst/>
              </a:rPr>
              <a:t>使用它们的算子相绑定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D751178-B304-5276-04F7-098D9FDE6F9B}"/>
              </a:ext>
            </a:extLst>
          </p:cNvPr>
          <p:cNvSpPr txBox="1"/>
          <p:nvPr/>
        </p:nvSpPr>
        <p:spPr>
          <a:xfrm>
            <a:off x="-1325880" y="6464808"/>
            <a:ext cx="184731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none" rtlCol="0">
            <a:spAutoFit/>
          </a:bodyPr>
          <a:lstStyle/>
          <a:p>
            <a:pPr algn="l"/>
            <a:endParaRPr kumimoji="1"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728614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PIR</a:t>
            </a:r>
            <a:r>
              <a:rPr kumimoji="1" lang="zh-CN" altLang="en-US" dirty="0"/>
              <a:t>数据结构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D751178-B304-5276-04F7-098D9FDE6F9B}"/>
              </a:ext>
            </a:extLst>
          </p:cNvPr>
          <p:cNvSpPr txBox="1"/>
          <p:nvPr/>
        </p:nvSpPr>
        <p:spPr>
          <a:xfrm>
            <a:off x="-1325880" y="6464808"/>
            <a:ext cx="184731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none" rtlCol="0">
            <a:spAutoFit/>
          </a:bodyPr>
          <a:lstStyle/>
          <a:p>
            <a:pPr algn="l"/>
            <a:endParaRPr kumimoji="1"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BC8EC81-8D05-1ABF-0EAF-A1939B38BBCF}"/>
              </a:ext>
            </a:extLst>
          </p:cNvPr>
          <p:cNvSpPr txBox="1"/>
          <p:nvPr/>
        </p:nvSpPr>
        <p:spPr>
          <a:xfrm>
            <a:off x="823420" y="863359"/>
            <a:ext cx="6024726" cy="18158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*Create(</a:t>
            </a:r>
          </a:p>
          <a:p>
            <a:pPr lvl="1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std::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&lt;pir::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&amp;</a:t>
            </a:r>
            <a:r>
              <a:rPr lang="en" altLang="zh-CN" sz="16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inputs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AttributeMap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" altLang="zh-CN" sz="16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attributes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std::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&lt;pir::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&amp;</a:t>
            </a:r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output_types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pir::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OpInfo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op_info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num_regions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std::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*&gt; &amp;</a:t>
            </a:r>
            <a:r>
              <a:rPr lang="en" altLang="zh-CN" sz="16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successors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{});</a:t>
            </a:r>
          </a:p>
        </p:txBody>
      </p:sp>
      <p:pic>
        <p:nvPicPr>
          <p:cNvPr id="111" name="图片 110">
            <a:extLst>
              <a:ext uri="{FF2B5EF4-FFF2-40B4-BE49-F238E27FC236}">
                <a16:creationId xmlns:a16="http://schemas.microsoft.com/office/drawing/2014/main" id="{00458F6B-F32D-DD31-556E-4CC42C3820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8478"/>
          <a:stretch/>
        </p:blipFill>
        <p:spPr>
          <a:xfrm>
            <a:off x="823420" y="2930759"/>
            <a:ext cx="9395259" cy="3719423"/>
          </a:xfrm>
          <a:prstGeom prst="rect">
            <a:avLst/>
          </a:prstGeom>
        </p:spPr>
      </p:pic>
      <p:sp>
        <p:nvSpPr>
          <p:cNvPr id="113" name="矩形 112">
            <a:extLst>
              <a:ext uri="{FF2B5EF4-FFF2-40B4-BE49-F238E27FC236}">
                <a16:creationId xmlns:a16="http://schemas.microsoft.com/office/drawing/2014/main" id="{4545B46A-AFC5-B1FD-56A5-72F3E2EB4841}"/>
              </a:ext>
            </a:extLst>
          </p:cNvPr>
          <p:cNvSpPr/>
          <p:nvPr/>
        </p:nvSpPr>
        <p:spPr>
          <a:xfrm>
            <a:off x="2447636" y="3075709"/>
            <a:ext cx="1902691" cy="452582"/>
          </a:xfrm>
          <a:prstGeom prst="rect">
            <a:avLst/>
          </a:prstGeom>
          <a:noFill/>
          <a:ln w="25400">
            <a:solidFill>
              <a:srgbClr val="233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80E41AE6-BC06-3CBD-CB84-2D31203CE76C}"/>
              </a:ext>
            </a:extLst>
          </p:cNvPr>
          <p:cNvSpPr/>
          <p:nvPr/>
        </p:nvSpPr>
        <p:spPr>
          <a:xfrm>
            <a:off x="7001164" y="3121889"/>
            <a:ext cx="2216727" cy="452582"/>
          </a:xfrm>
          <a:prstGeom prst="rect">
            <a:avLst/>
          </a:prstGeom>
          <a:noFill/>
          <a:ln w="25400">
            <a:solidFill>
              <a:srgbClr val="233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5" name="直线箭头连接符 114">
            <a:extLst>
              <a:ext uri="{FF2B5EF4-FFF2-40B4-BE49-F238E27FC236}">
                <a16:creationId xmlns:a16="http://schemas.microsoft.com/office/drawing/2014/main" id="{A7294031-2EB2-800E-C863-02407DAF4B5F}"/>
              </a:ext>
            </a:extLst>
          </p:cNvPr>
          <p:cNvCxnSpPr>
            <a:cxnSpLocks/>
          </p:cNvCxnSpPr>
          <p:nvPr/>
        </p:nvCxnSpPr>
        <p:spPr>
          <a:xfrm flipV="1">
            <a:off x="3421239" y="1366982"/>
            <a:ext cx="1945088" cy="1708727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线箭头连接符 119">
            <a:extLst>
              <a:ext uri="{FF2B5EF4-FFF2-40B4-BE49-F238E27FC236}">
                <a16:creationId xmlns:a16="http://schemas.microsoft.com/office/drawing/2014/main" id="{4A957A9D-F560-80BB-E82C-08ADFBA4BDB0}"/>
              </a:ext>
            </a:extLst>
          </p:cNvPr>
          <p:cNvCxnSpPr>
            <a:cxnSpLocks/>
            <a:stCxn id="114" idx="0"/>
          </p:cNvCxnSpPr>
          <p:nvPr/>
        </p:nvCxnSpPr>
        <p:spPr>
          <a:xfrm flipH="1" flipV="1">
            <a:off x="5883564" y="1902691"/>
            <a:ext cx="2225964" cy="1219198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本框 123">
            <a:extLst>
              <a:ext uri="{FF2B5EF4-FFF2-40B4-BE49-F238E27FC236}">
                <a16:creationId xmlns:a16="http://schemas.microsoft.com/office/drawing/2014/main" id="{12D7735E-5A1F-40EE-5099-C36E1F2D69F0}"/>
              </a:ext>
            </a:extLst>
          </p:cNvPr>
          <p:cNvSpPr txBox="1"/>
          <p:nvPr/>
        </p:nvSpPr>
        <p:spPr>
          <a:xfrm>
            <a:off x="7217178" y="1269998"/>
            <a:ext cx="4457574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ValueImpl</a:t>
            </a:r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：变量</a:t>
            </a:r>
            <a:r>
              <a:rPr lang="en-US" altLang="zh-CN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dirty="0">
                <a:solidFill>
                  <a:srgbClr val="2339DA"/>
                </a:solidFill>
                <a:effectLst/>
              </a:rPr>
              <a:t>对变量的抽象</a:t>
            </a:r>
            <a:r>
              <a:rPr lang="en-US" altLang="zh-CN" dirty="0">
                <a:solidFill>
                  <a:srgbClr val="2339DA"/>
                </a:solidFill>
              </a:rPr>
              <a:t>)</a:t>
            </a:r>
            <a:endParaRPr lang="en-US" altLang="zh-CN" dirty="0">
              <a:solidFill>
                <a:srgbClr val="2339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" altLang="zh-CN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OpResultImpl</a:t>
            </a:r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：输出</a:t>
            </a:r>
            <a:r>
              <a:rPr lang="en-US" altLang="zh-CN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dirty="0">
                <a:solidFill>
                  <a:srgbClr val="2339DA"/>
                </a:solidFill>
                <a:effectLst/>
              </a:rPr>
              <a:t>对变量的</a:t>
            </a:r>
            <a:r>
              <a:rPr lang="zh-CN" altLang="en-US" b="1" dirty="0">
                <a:solidFill>
                  <a:srgbClr val="2339DA"/>
                </a:solidFill>
                <a:effectLst/>
              </a:rPr>
              <a:t>定义</a:t>
            </a:r>
            <a:r>
              <a:rPr lang="en-US" altLang="zh-CN" dirty="0">
                <a:solidFill>
                  <a:srgbClr val="2339DA"/>
                </a:solidFill>
                <a:effectLst/>
              </a:rPr>
              <a:t>)</a:t>
            </a:r>
            <a:endParaRPr lang="en-US" altLang="zh-CN" dirty="0">
              <a:solidFill>
                <a:srgbClr val="2339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" altLang="zh-CN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OpOperandImpl</a:t>
            </a:r>
            <a:r>
              <a:rPr lang="en" altLang="zh-CN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：输入</a:t>
            </a:r>
            <a:r>
              <a:rPr lang="en-US" altLang="zh-CN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zh-CN" altLang="en-US" dirty="0">
                <a:solidFill>
                  <a:srgbClr val="2339DA"/>
                </a:solidFill>
                <a:effectLst/>
              </a:rPr>
              <a:t>对变量的引用</a:t>
            </a:r>
            <a:r>
              <a:rPr lang="en-US" altLang="zh-CN" dirty="0">
                <a:solidFill>
                  <a:srgbClr val="2339DA"/>
                </a:solidFill>
                <a:effectLst/>
              </a:rPr>
              <a:t>)</a:t>
            </a:r>
            <a:endParaRPr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5E5FBA5F-5718-3B4B-0AD2-70559B1CA592}"/>
              </a:ext>
            </a:extLst>
          </p:cNvPr>
          <p:cNvSpPr/>
          <p:nvPr/>
        </p:nvSpPr>
        <p:spPr>
          <a:xfrm>
            <a:off x="7038109" y="5426362"/>
            <a:ext cx="2313164" cy="632692"/>
          </a:xfrm>
          <a:prstGeom prst="rect">
            <a:avLst/>
          </a:prstGeom>
          <a:noFill/>
          <a:ln w="25400">
            <a:solidFill>
              <a:srgbClr val="233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7753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PIR</a:t>
            </a:r>
            <a:r>
              <a:rPr kumimoji="1" lang="zh-CN" altLang="en-US" dirty="0"/>
              <a:t>数据结构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89C4EAD-A4F9-0F9C-B929-863731E88CDF}"/>
              </a:ext>
            </a:extLst>
          </p:cNvPr>
          <p:cNvGrpSpPr/>
          <p:nvPr/>
        </p:nvGrpSpPr>
        <p:grpSpPr>
          <a:xfrm>
            <a:off x="1542248" y="908902"/>
            <a:ext cx="3929736" cy="2993938"/>
            <a:chOff x="1725679" y="3272177"/>
            <a:chExt cx="3929736" cy="2993938"/>
          </a:xfrm>
        </p:grpSpPr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3D124ED4-6183-6580-BAB8-F18708484012}"/>
                </a:ext>
              </a:extLst>
            </p:cNvPr>
            <p:cNvGrpSpPr/>
            <p:nvPr/>
          </p:nvGrpSpPr>
          <p:grpSpPr>
            <a:xfrm>
              <a:off x="1725679" y="3272177"/>
              <a:ext cx="3929736" cy="2993938"/>
              <a:chOff x="7516879" y="3616012"/>
              <a:chExt cx="3929736" cy="2391485"/>
            </a:xfrm>
          </p:grpSpPr>
          <p:grpSp>
            <p:nvGrpSpPr>
              <p:cNvPr id="10" name="组合 9">
                <a:extLst>
                  <a:ext uri="{FF2B5EF4-FFF2-40B4-BE49-F238E27FC236}">
                    <a16:creationId xmlns:a16="http://schemas.microsoft.com/office/drawing/2014/main" id="{CFF9940D-E908-01D5-810C-EE19458F8619}"/>
                  </a:ext>
                </a:extLst>
              </p:cNvPr>
              <p:cNvGrpSpPr/>
              <p:nvPr/>
            </p:nvGrpSpPr>
            <p:grpSpPr>
              <a:xfrm>
                <a:off x="7516879" y="3616012"/>
                <a:ext cx="3929736" cy="2391485"/>
                <a:chOff x="1903207" y="3989107"/>
                <a:chExt cx="3929736" cy="2391485"/>
              </a:xfrm>
            </p:grpSpPr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99CB25AD-049A-165D-9163-5824ABFF518D}"/>
                    </a:ext>
                  </a:extLst>
                </p:cNvPr>
                <p:cNvSpPr/>
                <p:nvPr/>
              </p:nvSpPr>
              <p:spPr>
                <a:xfrm>
                  <a:off x="1903207" y="3989107"/>
                  <a:ext cx="3929736" cy="2391485"/>
                </a:xfrm>
                <a:prstGeom prst="rect">
                  <a:avLst/>
                </a:prstGeom>
                <a:noFill/>
                <a:ln w="28575">
                  <a:solidFill>
                    <a:srgbClr val="2339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kumimoji="1" lang="zh-CN" altLang="en-US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6" name="文本框 15">
                  <a:extLst>
                    <a:ext uri="{FF2B5EF4-FFF2-40B4-BE49-F238E27FC236}">
                      <a16:creationId xmlns:a16="http://schemas.microsoft.com/office/drawing/2014/main" id="{A86CE853-45D3-5385-3EEE-0D45A4B94C46}"/>
                    </a:ext>
                  </a:extLst>
                </p:cNvPr>
                <p:cNvSpPr txBox="1"/>
                <p:nvPr/>
              </p:nvSpPr>
              <p:spPr>
                <a:xfrm>
                  <a:off x="2058188" y="4013822"/>
                  <a:ext cx="2842054" cy="2950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b="1" dirty="0" err="1">
                      <a:solidFill>
                        <a:schemeClr val="bg1">
                          <a:lumMod val="65000"/>
                        </a:schemeClr>
                      </a:solidFill>
                    </a:rPr>
                    <a:t>default_main_program</a:t>
                  </a:r>
                  <a:endParaRPr kumimoji="1" lang="zh-CN" altLang="en-US" b="1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B629F59A-3B18-C013-75E6-2CC0D6081900}"/>
                    </a:ext>
                  </a:extLst>
                </p:cNvPr>
                <p:cNvSpPr/>
                <p:nvPr/>
              </p:nvSpPr>
              <p:spPr>
                <a:xfrm>
                  <a:off x="2119450" y="4439353"/>
                  <a:ext cx="3497252" cy="1696504"/>
                </a:xfrm>
                <a:prstGeom prst="rect">
                  <a:avLst/>
                </a:prstGeom>
                <a:noFill/>
                <a:ln w="28575">
                  <a:solidFill>
                    <a:srgbClr val="2339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CN" altLang="en-US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8" name="文本框 17">
                  <a:extLst>
                    <a:ext uri="{FF2B5EF4-FFF2-40B4-BE49-F238E27FC236}">
                      <a16:creationId xmlns:a16="http://schemas.microsoft.com/office/drawing/2014/main" id="{63DC02F8-F16F-ABB1-8C34-5B7B975BCF5F}"/>
                    </a:ext>
                  </a:extLst>
                </p:cNvPr>
                <p:cNvSpPr txBox="1"/>
                <p:nvPr/>
              </p:nvSpPr>
              <p:spPr>
                <a:xfrm>
                  <a:off x="2188586" y="4468575"/>
                  <a:ext cx="1068861" cy="2950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zh-CN" b="1" dirty="0">
                      <a:solidFill>
                        <a:schemeClr val="bg1">
                          <a:lumMod val="65000"/>
                        </a:schemeClr>
                      </a:solidFill>
                    </a:rPr>
                    <a:t>block</a:t>
                  </a:r>
                  <a:r>
                    <a:rPr kumimoji="1" lang="zh-CN" altLang="en-US" b="1" dirty="0">
                      <a:solidFill>
                        <a:schemeClr val="bg1">
                          <a:lumMod val="65000"/>
                        </a:schemeClr>
                      </a:solidFill>
                    </a:rPr>
                    <a:t> </a:t>
                  </a:r>
                  <a:r>
                    <a:rPr kumimoji="1" lang="en-US" altLang="zh-CN" b="1" dirty="0">
                      <a:solidFill>
                        <a:schemeClr val="bg1">
                          <a:lumMod val="65000"/>
                        </a:schemeClr>
                      </a:solidFill>
                    </a:rPr>
                    <a:t>0</a:t>
                  </a:r>
                  <a:endParaRPr kumimoji="1" lang="zh-CN" altLang="en-US" b="1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19" name="矩形 18">
                  <a:extLst>
                    <a:ext uri="{FF2B5EF4-FFF2-40B4-BE49-F238E27FC236}">
                      <a16:creationId xmlns:a16="http://schemas.microsoft.com/office/drawing/2014/main" id="{C9DF6BC2-B740-A567-F3A2-805F117CA908}"/>
                    </a:ext>
                  </a:extLst>
                </p:cNvPr>
                <p:cNvSpPr/>
                <p:nvPr/>
              </p:nvSpPr>
              <p:spPr>
                <a:xfrm>
                  <a:off x="2280089" y="4784003"/>
                  <a:ext cx="1350231" cy="1268728"/>
                </a:xfrm>
                <a:prstGeom prst="rect">
                  <a:avLst/>
                </a:prstGeom>
                <a:noFill/>
                <a:ln w="28575">
                  <a:solidFill>
                    <a:srgbClr val="2339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CN" altLang="en-US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20" name="矩形 19">
                  <a:extLst>
                    <a:ext uri="{FF2B5EF4-FFF2-40B4-BE49-F238E27FC236}">
                      <a16:creationId xmlns:a16="http://schemas.microsoft.com/office/drawing/2014/main" id="{A4E965D5-EEB2-A6F4-496E-A923DC93EDD3}"/>
                    </a:ext>
                  </a:extLst>
                </p:cNvPr>
                <p:cNvSpPr/>
                <p:nvPr/>
              </p:nvSpPr>
              <p:spPr>
                <a:xfrm>
                  <a:off x="3714986" y="4784003"/>
                  <a:ext cx="1772203" cy="1268728"/>
                </a:xfrm>
                <a:prstGeom prst="rect">
                  <a:avLst/>
                </a:prstGeom>
                <a:noFill/>
                <a:ln w="28575">
                  <a:solidFill>
                    <a:srgbClr val="2339D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:endParaRPr kumimoji="1" lang="zh-CN" altLang="en-US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9E8459D1-EBC0-1613-9399-21117EC08997}"/>
                    </a:ext>
                  </a:extLst>
                </p:cNvPr>
                <p:cNvSpPr txBox="1"/>
                <p:nvPr/>
              </p:nvSpPr>
              <p:spPr>
                <a:xfrm>
                  <a:off x="2549401" y="4737823"/>
                  <a:ext cx="757824" cy="2950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zh-CN" b="1" dirty="0" err="1">
                      <a:solidFill>
                        <a:schemeClr val="bg1">
                          <a:lumMod val="65000"/>
                        </a:schemeClr>
                      </a:solidFill>
                    </a:rPr>
                    <a:t>vars</a:t>
                  </a:r>
                  <a:endParaRPr kumimoji="1" lang="zh-CN" altLang="en-US" b="1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F2924B75-1BB5-0FF3-EEC1-0D548A9C079B}"/>
                    </a:ext>
                  </a:extLst>
                </p:cNvPr>
                <p:cNvSpPr txBox="1"/>
                <p:nvPr/>
              </p:nvSpPr>
              <p:spPr>
                <a:xfrm>
                  <a:off x="4149660" y="4737823"/>
                  <a:ext cx="757824" cy="2950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zh-CN" b="1" dirty="0">
                      <a:solidFill>
                        <a:schemeClr val="bg1">
                          <a:lumMod val="65000"/>
                        </a:schemeClr>
                      </a:solidFill>
                    </a:rPr>
                    <a:t>ops</a:t>
                  </a:r>
                  <a:endParaRPr kumimoji="1" lang="zh-CN" altLang="en-US" b="1" dirty="0">
                    <a:solidFill>
                      <a:schemeClr val="bg1">
                        <a:lumMod val="65000"/>
                      </a:schemeClr>
                    </a:solidFill>
                  </a:endParaRPr>
                </a:p>
              </p:txBody>
            </p:sp>
          </p:grpSp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166BDBE-9FD4-AAED-C711-4AF0D871380D}"/>
                  </a:ext>
                </a:extLst>
              </p:cNvPr>
              <p:cNvSpPr txBox="1"/>
              <p:nvPr/>
            </p:nvSpPr>
            <p:spPr>
              <a:xfrm>
                <a:off x="7953990" y="4651131"/>
                <a:ext cx="1221881" cy="319598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" altLang="zh-CN" sz="1000" b="1" i="0" dirty="0">
                    <a:solidFill>
                      <a:schemeClr val="bg1">
                        <a:lumMod val="65000"/>
                      </a:schemeClr>
                    </a:solidFill>
                    <a:effectLst/>
                    <a:latin typeface="Courier New" panose="02070309020205020404" pitchFamily="49" charset="0"/>
                    <a:cs typeface="Courier New" panose="02070309020205020404" pitchFamily="49" charset="0"/>
                  </a:rPr>
                  <a:t>fill_constant_1.tmp_0</a:t>
                </a:r>
                <a:endParaRPr kumimoji="1" lang="zh-CN" altLang="en-US" sz="100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CB14926D-8090-FD6F-0F5D-58DEE485CEC6}"/>
                  </a:ext>
                </a:extLst>
              </p:cNvPr>
              <p:cNvSpPr txBox="1"/>
              <p:nvPr/>
            </p:nvSpPr>
            <p:spPr>
              <a:xfrm>
                <a:off x="9634232" y="4718880"/>
                <a:ext cx="1155833" cy="24584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b="1" dirty="0" err="1">
                    <a:solidFill>
                      <a:schemeClr val="bg1">
                        <a:lumMod val="65000"/>
                      </a:schemeClr>
                    </a:solidFill>
                  </a:rPr>
                  <a:t>fill_constant</a:t>
                </a:r>
                <a:endParaRPr kumimoji="1" lang="zh-CN" altLang="en-US" sz="140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1C4ACA21-F164-9F1F-07C6-E716845A6947}"/>
                  </a:ext>
                </a:extLst>
              </p:cNvPr>
              <p:cNvSpPr txBox="1"/>
              <p:nvPr/>
            </p:nvSpPr>
            <p:spPr>
              <a:xfrm>
                <a:off x="9635339" y="5024753"/>
                <a:ext cx="1155833" cy="24584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b="1" dirty="0" err="1">
                    <a:solidFill>
                      <a:schemeClr val="bg1">
                        <a:lumMod val="65000"/>
                      </a:schemeClr>
                    </a:solidFill>
                  </a:rPr>
                  <a:t>fill_constant</a:t>
                </a:r>
                <a:endParaRPr kumimoji="1" lang="zh-CN" altLang="en-US" sz="140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B86497E5-EA7E-34F0-33B8-6E2EDD645EAE}"/>
                  </a:ext>
                </a:extLst>
              </p:cNvPr>
              <p:cNvSpPr txBox="1"/>
              <p:nvPr/>
            </p:nvSpPr>
            <p:spPr>
              <a:xfrm>
                <a:off x="9404631" y="5334941"/>
                <a:ext cx="1586642" cy="245845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1400" b="1" dirty="0" err="1">
                    <a:solidFill>
                      <a:schemeClr val="bg1">
                        <a:lumMod val="65000"/>
                      </a:schemeClr>
                    </a:solidFill>
                  </a:rPr>
                  <a:t>elementwise_add</a:t>
                </a:r>
                <a:endParaRPr kumimoji="1" lang="zh-CN" altLang="en-US" sz="140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B67DF929-6AAE-7641-BE59-4CB4C5F676E6}"/>
                </a:ext>
              </a:extLst>
            </p:cNvPr>
            <p:cNvSpPr txBox="1"/>
            <p:nvPr/>
          </p:nvSpPr>
          <p:spPr>
            <a:xfrm>
              <a:off x="2400796" y="5427901"/>
              <a:ext cx="758737" cy="307777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400" b="1" i="0" dirty="0">
                  <a:solidFill>
                    <a:schemeClr val="bg1">
                      <a:lumMod val="65000"/>
                    </a:schemeClr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tmp_0</a:t>
              </a:r>
              <a:endParaRPr kumimoji="1" lang="zh-CN" altLang="en-US" sz="14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1F01098-CD89-9D9B-09A2-A08133CE5B45}"/>
                </a:ext>
              </a:extLst>
            </p:cNvPr>
            <p:cNvSpPr txBox="1"/>
            <p:nvPr/>
          </p:nvSpPr>
          <p:spPr>
            <a:xfrm>
              <a:off x="2162236" y="4997980"/>
              <a:ext cx="1221881" cy="400110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000" b="1" i="0" dirty="0">
                  <a:solidFill>
                    <a:schemeClr val="bg1">
                      <a:lumMod val="65000"/>
                    </a:schemeClr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fill_constant_3.tmp_0</a:t>
              </a:r>
              <a:endParaRPr kumimoji="1" lang="zh-CN" altLang="en-US" sz="10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6C27BD8C-28B8-603B-3585-445A088CA1B7}"/>
              </a:ext>
            </a:extLst>
          </p:cNvPr>
          <p:cNvGrpSpPr/>
          <p:nvPr/>
        </p:nvGrpSpPr>
        <p:grpSpPr>
          <a:xfrm>
            <a:off x="7564080" y="907172"/>
            <a:ext cx="3929736" cy="2993938"/>
            <a:chOff x="1903207" y="3989107"/>
            <a:chExt cx="3929736" cy="2391485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DB7B27F6-E079-08E1-3A1C-B1F2BEFB01E6}"/>
                </a:ext>
              </a:extLst>
            </p:cNvPr>
            <p:cNvSpPr/>
            <p:nvPr/>
          </p:nvSpPr>
          <p:spPr>
            <a:xfrm>
              <a:off x="1903207" y="3989107"/>
              <a:ext cx="3929736" cy="23914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B44BB6A7-DDA1-FDA8-24F9-A1CAA187661E}"/>
                </a:ext>
              </a:extLst>
            </p:cNvPr>
            <p:cNvSpPr txBox="1"/>
            <p:nvPr/>
          </p:nvSpPr>
          <p:spPr>
            <a:xfrm>
              <a:off x="2058188" y="4013822"/>
              <a:ext cx="2842054" cy="29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 err="1"/>
                <a:t>base_program</a:t>
              </a:r>
              <a:endParaRPr kumimoji="1" lang="zh-CN" altLang="en-US" b="1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3A0ABAC2-BEF0-6371-3484-099EA4E0EA26}"/>
                </a:ext>
              </a:extLst>
            </p:cNvPr>
            <p:cNvSpPr/>
            <p:nvPr/>
          </p:nvSpPr>
          <p:spPr>
            <a:xfrm>
              <a:off x="2119450" y="4439353"/>
              <a:ext cx="3497252" cy="1696504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9263710-053D-A094-7160-AA04F0A2D5D1}"/>
                </a:ext>
              </a:extLst>
            </p:cNvPr>
            <p:cNvSpPr txBox="1"/>
            <p:nvPr/>
          </p:nvSpPr>
          <p:spPr>
            <a:xfrm>
              <a:off x="2188586" y="4468575"/>
              <a:ext cx="1068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/>
                <a:t>block</a:t>
              </a:r>
              <a:r>
                <a:rPr kumimoji="1" lang="zh-CN" altLang="en-US" b="1" dirty="0"/>
                <a:t> </a:t>
              </a:r>
              <a:r>
                <a:rPr kumimoji="1" lang="en-US" altLang="zh-CN" b="1" dirty="0"/>
                <a:t>0</a:t>
              </a:r>
              <a:endParaRPr kumimoji="1" lang="zh-CN" altLang="en-US" b="1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733041FD-2DD6-6B33-CC32-DAB322C8BE25}"/>
                </a:ext>
              </a:extLst>
            </p:cNvPr>
            <p:cNvSpPr/>
            <p:nvPr/>
          </p:nvSpPr>
          <p:spPr>
            <a:xfrm>
              <a:off x="2280089" y="4784003"/>
              <a:ext cx="1350231" cy="1268728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97603E27-1811-97C3-AE54-6CCB1914C3E2}"/>
                </a:ext>
              </a:extLst>
            </p:cNvPr>
            <p:cNvSpPr/>
            <p:nvPr/>
          </p:nvSpPr>
          <p:spPr>
            <a:xfrm>
              <a:off x="3714986" y="4784003"/>
              <a:ext cx="1772203" cy="1268728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A0A4DDE1-32D3-39F1-0419-6DA5893E8017}"/>
                </a:ext>
              </a:extLst>
            </p:cNvPr>
            <p:cNvSpPr txBox="1"/>
            <p:nvPr/>
          </p:nvSpPr>
          <p:spPr>
            <a:xfrm>
              <a:off x="2549401" y="4784003"/>
              <a:ext cx="799549" cy="29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Value</a:t>
              </a:r>
              <a:endParaRPr kumimoji="1" lang="zh-CN" altLang="en-US" b="1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6D20AEE-7352-C795-AD50-66C65E65212B}"/>
                </a:ext>
              </a:extLst>
            </p:cNvPr>
            <p:cNvSpPr txBox="1"/>
            <p:nvPr/>
          </p:nvSpPr>
          <p:spPr>
            <a:xfrm>
              <a:off x="3846563" y="4784002"/>
              <a:ext cx="1432695" cy="29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Operation</a:t>
              </a:r>
              <a:endParaRPr kumimoji="1" lang="zh-CN" altLang="en-US" b="1" dirty="0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BD8B23C3-FD3F-736E-4EF3-31BD51399451}"/>
              </a:ext>
            </a:extLst>
          </p:cNvPr>
          <p:cNvGrpSpPr/>
          <p:nvPr/>
        </p:nvGrpSpPr>
        <p:grpSpPr>
          <a:xfrm>
            <a:off x="617346" y="901065"/>
            <a:ext cx="837945" cy="3009280"/>
            <a:chOff x="6496105" y="1009807"/>
            <a:chExt cx="837945" cy="2567424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D71C7E6-294A-3CCB-B076-1B93FAFE0080}"/>
                </a:ext>
              </a:extLst>
            </p:cNvPr>
            <p:cNvSpPr txBox="1"/>
            <p:nvPr/>
          </p:nvSpPr>
          <p:spPr>
            <a:xfrm>
              <a:off x="6540895" y="2374295"/>
              <a:ext cx="758737" cy="47265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000" b="1" i="0" dirty="0" err="1">
                  <a:solidFill>
                    <a:schemeClr val="bg1">
                      <a:lumMod val="65000"/>
                    </a:schemeClr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fill_constant</a:t>
              </a:r>
              <a:r>
                <a:rPr lang="en" altLang="zh-CN" sz="1000" b="1" i="0" dirty="0">
                  <a:solidFill>
                    <a:schemeClr val="bg1">
                      <a:lumMod val="65000"/>
                    </a:schemeClr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_</a:t>
              </a:r>
              <a:r>
                <a:rPr lang="en-US" altLang="zh-CN" sz="1000" b="1" i="0" dirty="0">
                  <a:solidFill>
                    <a:schemeClr val="bg1">
                      <a:lumMod val="65000"/>
                    </a:schemeClr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r>
                <a:rPr lang="en" altLang="zh-CN" sz="1000" b="1" i="0" dirty="0">
                  <a:solidFill>
                    <a:schemeClr val="bg1">
                      <a:lumMod val="65000"/>
                    </a:schemeClr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.tmp_0</a:t>
              </a:r>
              <a:endParaRPr kumimoji="1" lang="zh-CN" altLang="en-US" sz="10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4BEF10C-F26F-81AA-9FBF-C3A3A4582C56}"/>
                </a:ext>
              </a:extLst>
            </p:cNvPr>
            <p:cNvGrpSpPr/>
            <p:nvPr/>
          </p:nvGrpSpPr>
          <p:grpSpPr>
            <a:xfrm>
              <a:off x="6496105" y="1009807"/>
              <a:ext cx="837945" cy="2567424"/>
              <a:chOff x="6650698" y="1165881"/>
              <a:chExt cx="3929736" cy="1197367"/>
            </a:xfrm>
          </p:grpSpPr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F26A02A2-9D44-410E-3EBB-C49237DA3842}"/>
                  </a:ext>
                </a:extLst>
              </p:cNvPr>
              <p:cNvSpPr/>
              <p:nvPr/>
            </p:nvSpPr>
            <p:spPr>
              <a:xfrm>
                <a:off x="6650698" y="1165881"/>
                <a:ext cx="3929736" cy="1197367"/>
              </a:xfrm>
              <a:prstGeom prst="rect">
                <a:avLst/>
              </a:prstGeom>
              <a:noFill/>
              <a:ln w="28575">
                <a:solidFill>
                  <a:srgbClr val="2339D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D64B4251-2B5F-2096-2391-D60D72856E35}"/>
                  </a:ext>
                </a:extLst>
              </p:cNvPr>
              <p:cNvSpPr txBox="1"/>
              <p:nvPr/>
            </p:nvSpPr>
            <p:spPr>
              <a:xfrm>
                <a:off x="6738537" y="1190596"/>
                <a:ext cx="3744900" cy="2326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CN" sz="1600" b="1" dirty="0">
                    <a:solidFill>
                      <a:schemeClr val="bg1">
                        <a:lumMod val="65000"/>
                      </a:schemeClr>
                    </a:solidFill>
                  </a:rPr>
                  <a:t>Local</a:t>
                </a:r>
              </a:p>
              <a:p>
                <a:r>
                  <a:rPr kumimoji="1" lang="en-US" altLang="zh-CN" sz="1600" b="1" dirty="0">
                    <a:solidFill>
                      <a:schemeClr val="bg1">
                        <a:lumMod val="65000"/>
                      </a:schemeClr>
                    </a:solidFill>
                  </a:rPr>
                  <a:t>scope</a:t>
                </a:r>
                <a:endParaRPr kumimoji="1" lang="zh-CN" altLang="en-US" sz="1600" b="1" dirty="0">
                  <a:solidFill>
                    <a:schemeClr val="bg1">
                      <a:lumMod val="65000"/>
                    </a:schemeClr>
                  </a:solidFill>
                </a:endParaRPr>
              </a:p>
            </p:txBody>
          </p:sp>
        </p:grp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C0099D6F-CD41-C26C-ECB0-40AF68748974}"/>
                </a:ext>
              </a:extLst>
            </p:cNvPr>
            <p:cNvSpPr txBox="1"/>
            <p:nvPr/>
          </p:nvSpPr>
          <p:spPr>
            <a:xfrm>
              <a:off x="6540895" y="1661612"/>
              <a:ext cx="758737" cy="472654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000" b="1" i="0" dirty="0">
                  <a:solidFill>
                    <a:schemeClr val="bg1">
                      <a:lumMod val="65000"/>
                    </a:schemeClr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fill_constant_1.tmp_0</a:t>
              </a:r>
              <a:endParaRPr kumimoji="1" lang="zh-CN" altLang="en-US" sz="10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E24D990A-8F53-3903-3CBC-BCBFFE4B71C0}"/>
                </a:ext>
              </a:extLst>
            </p:cNvPr>
            <p:cNvSpPr txBox="1"/>
            <p:nvPr/>
          </p:nvSpPr>
          <p:spPr>
            <a:xfrm>
              <a:off x="6540895" y="3086978"/>
              <a:ext cx="758737" cy="262586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1400" b="1" i="0" dirty="0">
                  <a:solidFill>
                    <a:schemeClr val="bg1">
                      <a:lumMod val="65000"/>
                    </a:schemeClr>
                  </a:solidFill>
                  <a:effectLst/>
                  <a:latin typeface="Courier New" panose="02070309020205020404" pitchFamily="49" charset="0"/>
                  <a:cs typeface="Courier New" panose="02070309020205020404" pitchFamily="49" charset="0"/>
                </a:rPr>
                <a:t>tmp_0</a:t>
              </a:r>
              <a:endParaRPr kumimoji="1" lang="zh-CN" altLang="en-US" sz="1400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D4E11EC6-462E-B5B8-DF8D-D598157A7E67}"/>
              </a:ext>
            </a:extLst>
          </p:cNvPr>
          <p:cNvGrpSpPr/>
          <p:nvPr/>
        </p:nvGrpSpPr>
        <p:grpSpPr>
          <a:xfrm>
            <a:off x="6019516" y="901065"/>
            <a:ext cx="1465271" cy="2993938"/>
            <a:chOff x="6650698" y="1165881"/>
            <a:chExt cx="3929736" cy="1197367"/>
          </a:xfrm>
        </p:grpSpPr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7863ACCA-82AC-723D-F468-CF5630D3FE46}"/>
                </a:ext>
              </a:extLst>
            </p:cNvPr>
            <p:cNvSpPr/>
            <p:nvPr/>
          </p:nvSpPr>
          <p:spPr>
            <a:xfrm>
              <a:off x="6650698" y="1165881"/>
              <a:ext cx="3929736" cy="1197367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D8D985EE-E417-DCF9-36F2-B9AAFBD14F15}"/>
                </a:ext>
              </a:extLst>
            </p:cNvPr>
            <p:cNvSpPr txBox="1"/>
            <p:nvPr/>
          </p:nvSpPr>
          <p:spPr>
            <a:xfrm>
              <a:off x="6738537" y="1190596"/>
              <a:ext cx="3744900" cy="272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1600" b="1" dirty="0"/>
                <a:t>Local</a:t>
              </a:r>
            </a:p>
            <a:p>
              <a:r>
                <a:rPr kumimoji="1" lang="en-US" altLang="zh-CN" sz="1600" b="1" dirty="0"/>
                <a:t>scope</a:t>
              </a:r>
              <a:endParaRPr kumimoji="1" lang="zh-CN" altLang="en-US" sz="1600" b="1" dirty="0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A747F588-CB87-64BF-F8DE-6F3B18AD73C5}"/>
              </a:ext>
            </a:extLst>
          </p:cNvPr>
          <p:cNvSpPr txBox="1"/>
          <p:nvPr/>
        </p:nvSpPr>
        <p:spPr>
          <a:xfrm>
            <a:off x="5545540" y="2249874"/>
            <a:ext cx="32266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5875BF65-9FA6-895E-077D-72E9C9AF255F}"/>
              </a:ext>
            </a:extLst>
          </p:cNvPr>
          <p:cNvSpPr txBox="1"/>
          <p:nvPr/>
        </p:nvSpPr>
        <p:spPr>
          <a:xfrm>
            <a:off x="9681433" y="2256686"/>
            <a:ext cx="1155833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 err="1"/>
              <a:t>pd_op.full</a:t>
            </a:r>
            <a:endParaRPr kumimoji="1" lang="zh-CN" altLang="en-US" sz="1400" b="1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B5C89497-DDA7-7DBB-C0FF-7DDC7C3DB95D}"/>
              </a:ext>
            </a:extLst>
          </p:cNvPr>
          <p:cNvSpPr txBox="1"/>
          <p:nvPr/>
        </p:nvSpPr>
        <p:spPr>
          <a:xfrm>
            <a:off x="9682540" y="2639613"/>
            <a:ext cx="1155833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 err="1"/>
              <a:t>pd_op.full</a:t>
            </a:r>
            <a:endParaRPr kumimoji="1" lang="zh-CN" altLang="en-US" sz="1400" b="1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E7289837-8DDA-E314-9C9F-93A83D01DCF3}"/>
              </a:ext>
            </a:extLst>
          </p:cNvPr>
          <p:cNvSpPr txBox="1"/>
          <p:nvPr/>
        </p:nvSpPr>
        <p:spPr>
          <a:xfrm>
            <a:off x="9451832" y="3027942"/>
            <a:ext cx="1586642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 err="1"/>
              <a:t>pd_op.add</a:t>
            </a:r>
            <a:endParaRPr kumimoji="1" lang="zh-CN" altLang="en-US" sz="1400" b="1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CCBC3FA5-82C8-E038-707D-2D2D9B2F7B0F}"/>
              </a:ext>
            </a:extLst>
          </p:cNvPr>
          <p:cNvSpPr txBox="1"/>
          <p:nvPr/>
        </p:nvSpPr>
        <p:spPr>
          <a:xfrm>
            <a:off x="7977591" y="2260328"/>
            <a:ext cx="128722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2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ValueImp</a:t>
            </a:r>
            <a:endParaRPr lang="en" altLang="zh-CN" sz="12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82567D8B-B4F1-9C36-C175-A0C5EC8376A2}"/>
              </a:ext>
            </a:extLst>
          </p:cNvPr>
          <p:cNvSpPr txBox="1"/>
          <p:nvPr/>
        </p:nvSpPr>
        <p:spPr>
          <a:xfrm>
            <a:off x="7977591" y="2650362"/>
            <a:ext cx="128722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2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ValueImp</a:t>
            </a:r>
            <a:endParaRPr lang="en" altLang="zh-CN" sz="12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0BE6D9FA-AB01-4B07-ABD3-6D13423B44E0}"/>
              </a:ext>
            </a:extLst>
          </p:cNvPr>
          <p:cNvSpPr txBox="1"/>
          <p:nvPr/>
        </p:nvSpPr>
        <p:spPr>
          <a:xfrm>
            <a:off x="7974907" y="3060856"/>
            <a:ext cx="128722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2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ValueImp</a:t>
            </a:r>
            <a:endParaRPr lang="en" altLang="zh-CN" sz="12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14A6CD8E-E67D-2388-EEC7-C673A3DCCC1A}"/>
              </a:ext>
            </a:extLst>
          </p:cNvPr>
          <p:cNvSpPr txBox="1"/>
          <p:nvPr/>
        </p:nvSpPr>
        <p:spPr>
          <a:xfrm>
            <a:off x="6106453" y="1707932"/>
            <a:ext cx="128722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zh-CN" alt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endParaRPr lang="en" altLang="zh-CN" sz="12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8C6A9684-3CD3-E749-DACD-59D0F92E935C}"/>
              </a:ext>
            </a:extLst>
          </p:cNvPr>
          <p:cNvSpPr txBox="1"/>
          <p:nvPr/>
        </p:nvSpPr>
        <p:spPr>
          <a:xfrm>
            <a:off x="6106453" y="2097966"/>
            <a:ext cx="128722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zh-CN" alt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" altLang="zh-CN" sz="12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20CCF3C6-053B-8D4D-E42A-95A4E699DF62}"/>
              </a:ext>
            </a:extLst>
          </p:cNvPr>
          <p:cNvSpPr txBox="1"/>
          <p:nvPr/>
        </p:nvSpPr>
        <p:spPr>
          <a:xfrm>
            <a:off x="6103769" y="2508460"/>
            <a:ext cx="128722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zh-CN" altLang="en-US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200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" altLang="zh-CN" sz="12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CDA6079A-4280-9000-68F6-9C83B18E082C}"/>
              </a:ext>
            </a:extLst>
          </p:cNvPr>
          <p:cNvSpPr txBox="1"/>
          <p:nvPr/>
        </p:nvSpPr>
        <p:spPr>
          <a:xfrm>
            <a:off x="275623" y="3954135"/>
            <a:ext cx="11656291" cy="276998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LOG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12:18:06.260236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1245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(%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= 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"full(</a:t>
            </a:r>
            <a:r>
              <a:rPr lang="en" altLang="zh-CN" sz="12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phi_kernel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)"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()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12:18:06.260293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1351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" altLang="zh-CN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: ( [</a:t>
            </a:r>
            <a:r>
              <a:rPr lang="en" altLang="zh-CN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0x7364950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 = </a:t>
            </a:r>
            <a:r>
              <a:rPr lang="en" altLang="zh-CN" sz="12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pd_op.full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12:18:06.260298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1352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Variable: (out[</a:t>
            </a:r>
            <a:r>
              <a:rPr lang="en" altLang="zh-CN" sz="120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0x7331fa0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 = </a:t>
            </a:r>
            <a:r>
              <a:rPr lang="en" altLang="zh-CN" sz="1200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pd_op.full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" altLang="zh-CN" sz="12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12:18:06.260303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1243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-----------------------------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12:18:06.260322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1245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(%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= 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"full(</a:t>
            </a:r>
            <a:r>
              <a:rPr lang="en" altLang="zh-CN" sz="12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phi_kernel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)"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()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12:18:06.260366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1351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" altLang="zh-CN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: ( [</a:t>
            </a:r>
            <a:r>
              <a:rPr lang="en" altLang="zh-CN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0x73f0260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 = </a:t>
            </a:r>
            <a:r>
              <a:rPr lang="en" altLang="zh-CN" sz="12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pd_op.full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12:18:06.260370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1352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Variable: (out[</a:t>
            </a:r>
            <a:r>
              <a:rPr lang="en" altLang="zh-CN" sz="120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0x731d830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 = </a:t>
            </a:r>
            <a:r>
              <a:rPr lang="en" altLang="zh-CN" sz="1200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pd_op.full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" altLang="zh-CN" sz="12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12:18:06.260375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1243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-----------------------------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12:18:06.260396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1245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(%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= 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"add_(</a:t>
            </a:r>
            <a:r>
              <a:rPr lang="en" altLang="zh-CN" sz="12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phi_kernel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)"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(%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" altLang="zh-CN" sz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12:18:06.260432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1351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" altLang="zh-CN" sz="1200" b="1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: ( [</a:t>
            </a:r>
            <a:r>
              <a:rPr lang="en" altLang="zh-CN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0x6a5b790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 = </a:t>
            </a:r>
            <a:r>
              <a:rPr lang="en" altLang="zh-CN" sz="12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pd_op.add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 [</a:t>
            </a:r>
            <a:r>
              <a:rPr lang="en" altLang="zh-CN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0x7364950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[</a:t>
            </a:r>
            <a:r>
              <a:rPr lang="en" altLang="zh-CN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0x73f0260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12:18:06.260437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1352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Variable: (out[0x7331fa0]) = </a:t>
            </a:r>
            <a:r>
              <a:rPr lang="en" altLang="zh-CN" sz="1200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pd_op.add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_(x[</a:t>
            </a:r>
            <a:r>
              <a:rPr lang="en" altLang="zh-CN" sz="120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0x7331fa0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y[</a:t>
            </a:r>
            <a:r>
              <a:rPr lang="en" altLang="zh-CN" sz="120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0x731d830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11523808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PIR</a:t>
            </a:r>
            <a:r>
              <a:rPr kumimoji="1" lang="zh-CN" altLang="en-US" dirty="0"/>
              <a:t>数据结构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C2B33E4-C6C6-6DB1-AA85-3BE502319E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6484" y="3913363"/>
            <a:ext cx="12192000" cy="817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圆角矩形 39">
            <a:extLst>
              <a:ext uri="{FF2B5EF4-FFF2-40B4-BE49-F238E27FC236}">
                <a16:creationId xmlns:a16="http://schemas.microsoft.com/office/drawing/2014/main" id="{7305C937-065B-F8A0-300B-2BB2A94EF463}"/>
              </a:ext>
            </a:extLst>
          </p:cNvPr>
          <p:cNvSpPr/>
          <p:nvPr/>
        </p:nvSpPr>
        <p:spPr>
          <a:xfrm>
            <a:off x="3325144" y="4956420"/>
            <a:ext cx="1365685" cy="42457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 err="1"/>
              <a:t>pd_op.full</a:t>
            </a:r>
            <a:endParaRPr kumimoji="1" lang="zh-CN" altLang="en-US" sz="1800" dirty="0"/>
          </a:p>
        </p:txBody>
      </p:sp>
      <p:sp>
        <p:nvSpPr>
          <p:cNvPr id="41" name="圆角矩形 40">
            <a:extLst>
              <a:ext uri="{FF2B5EF4-FFF2-40B4-BE49-F238E27FC236}">
                <a16:creationId xmlns:a16="http://schemas.microsoft.com/office/drawing/2014/main" id="{3C4DB331-BC92-D7BF-7BC2-C2276147E614}"/>
              </a:ext>
            </a:extLst>
          </p:cNvPr>
          <p:cNvSpPr/>
          <p:nvPr/>
        </p:nvSpPr>
        <p:spPr>
          <a:xfrm>
            <a:off x="4692735" y="4956420"/>
            <a:ext cx="1365685" cy="4245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42" name="圆角矩形 41">
            <a:extLst>
              <a:ext uri="{FF2B5EF4-FFF2-40B4-BE49-F238E27FC236}">
                <a16:creationId xmlns:a16="http://schemas.microsoft.com/office/drawing/2014/main" id="{EC48333C-5AA3-6A9C-81BB-A396D9E9C158}"/>
              </a:ext>
            </a:extLst>
          </p:cNvPr>
          <p:cNvSpPr/>
          <p:nvPr/>
        </p:nvSpPr>
        <p:spPr>
          <a:xfrm>
            <a:off x="1247383" y="4956420"/>
            <a:ext cx="2070376" cy="4245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OpResultImp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46" name="圆角矩形 45">
            <a:extLst>
              <a:ext uri="{FF2B5EF4-FFF2-40B4-BE49-F238E27FC236}">
                <a16:creationId xmlns:a16="http://schemas.microsoft.com/office/drawing/2014/main" id="{A96EF8FA-2FD9-B987-3716-D5777568EF15}"/>
              </a:ext>
            </a:extLst>
          </p:cNvPr>
          <p:cNvSpPr/>
          <p:nvPr/>
        </p:nvSpPr>
        <p:spPr>
          <a:xfrm>
            <a:off x="3332529" y="5493585"/>
            <a:ext cx="1365685" cy="42457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 err="1"/>
              <a:t>pd_op.full</a:t>
            </a:r>
            <a:endParaRPr kumimoji="1" lang="zh-CN" altLang="en-US" sz="1800" dirty="0"/>
          </a:p>
        </p:txBody>
      </p:sp>
      <p:sp>
        <p:nvSpPr>
          <p:cNvPr id="47" name="圆角矩形 46">
            <a:extLst>
              <a:ext uri="{FF2B5EF4-FFF2-40B4-BE49-F238E27FC236}">
                <a16:creationId xmlns:a16="http://schemas.microsoft.com/office/drawing/2014/main" id="{82493BB2-CB50-382E-080A-CC6AE29DE1B9}"/>
              </a:ext>
            </a:extLst>
          </p:cNvPr>
          <p:cNvSpPr/>
          <p:nvPr/>
        </p:nvSpPr>
        <p:spPr>
          <a:xfrm>
            <a:off x="4700120" y="5493585"/>
            <a:ext cx="1365685" cy="4245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48" name="圆角矩形 47">
            <a:extLst>
              <a:ext uri="{FF2B5EF4-FFF2-40B4-BE49-F238E27FC236}">
                <a16:creationId xmlns:a16="http://schemas.microsoft.com/office/drawing/2014/main" id="{34B12587-F0B2-52A6-9233-4FDC91D9B64F}"/>
              </a:ext>
            </a:extLst>
          </p:cNvPr>
          <p:cNvSpPr/>
          <p:nvPr/>
        </p:nvSpPr>
        <p:spPr>
          <a:xfrm>
            <a:off x="1254768" y="5493585"/>
            <a:ext cx="2070376" cy="4245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OpResultImp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50" name="圆角矩形 49">
            <a:extLst>
              <a:ext uri="{FF2B5EF4-FFF2-40B4-BE49-F238E27FC236}">
                <a16:creationId xmlns:a16="http://schemas.microsoft.com/office/drawing/2014/main" id="{CB081FD0-C2E3-595E-E8DA-7AA90E4E0F96}"/>
              </a:ext>
            </a:extLst>
          </p:cNvPr>
          <p:cNvSpPr/>
          <p:nvPr/>
        </p:nvSpPr>
        <p:spPr>
          <a:xfrm>
            <a:off x="3332529" y="6025083"/>
            <a:ext cx="1365685" cy="42457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 err="1"/>
              <a:t>pd_op.add</a:t>
            </a:r>
            <a:endParaRPr kumimoji="1" lang="zh-CN" altLang="en-US" sz="1800" dirty="0"/>
          </a:p>
        </p:txBody>
      </p:sp>
      <p:sp>
        <p:nvSpPr>
          <p:cNvPr id="51" name="圆角矩形 50">
            <a:extLst>
              <a:ext uri="{FF2B5EF4-FFF2-40B4-BE49-F238E27FC236}">
                <a16:creationId xmlns:a16="http://schemas.microsoft.com/office/drawing/2014/main" id="{B3AB978A-D66A-EEEA-0A65-1698BA11D929}"/>
              </a:ext>
            </a:extLst>
          </p:cNvPr>
          <p:cNvSpPr/>
          <p:nvPr/>
        </p:nvSpPr>
        <p:spPr>
          <a:xfrm>
            <a:off x="8846351" y="6016597"/>
            <a:ext cx="1365685" cy="4245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52" name="圆角矩形 51">
            <a:extLst>
              <a:ext uri="{FF2B5EF4-FFF2-40B4-BE49-F238E27FC236}">
                <a16:creationId xmlns:a16="http://schemas.microsoft.com/office/drawing/2014/main" id="{CEF2497A-58C2-9241-F133-AA12CEBC4855}"/>
              </a:ext>
            </a:extLst>
          </p:cNvPr>
          <p:cNvSpPr/>
          <p:nvPr/>
        </p:nvSpPr>
        <p:spPr>
          <a:xfrm>
            <a:off x="1254768" y="6025083"/>
            <a:ext cx="2070376" cy="4245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OpResultImp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53" name="圆角矩形 52">
            <a:extLst>
              <a:ext uri="{FF2B5EF4-FFF2-40B4-BE49-F238E27FC236}">
                <a16:creationId xmlns:a16="http://schemas.microsoft.com/office/drawing/2014/main" id="{37ADCD56-D09C-55AE-DDCA-BEDCACEA76D6}"/>
              </a:ext>
            </a:extLst>
          </p:cNvPr>
          <p:cNvSpPr/>
          <p:nvPr/>
        </p:nvSpPr>
        <p:spPr>
          <a:xfrm>
            <a:off x="4705599" y="6025083"/>
            <a:ext cx="2070376" cy="4245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Op</a:t>
            </a:r>
            <a:r>
              <a:rPr lang="en" altLang="zh-CN" dirty="0">
                <a:effectLst/>
              </a:rPr>
              <a:t>Operand</a:t>
            </a:r>
            <a:r>
              <a:rPr kumimoji="1" lang="en-US" altLang="zh-CN" dirty="0"/>
              <a:t>Imp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54" name="圆角矩形 53">
            <a:extLst>
              <a:ext uri="{FF2B5EF4-FFF2-40B4-BE49-F238E27FC236}">
                <a16:creationId xmlns:a16="http://schemas.microsoft.com/office/drawing/2014/main" id="{BE9FCA1A-1E84-EFF3-B157-7781F7D293C6}"/>
              </a:ext>
            </a:extLst>
          </p:cNvPr>
          <p:cNvSpPr/>
          <p:nvPr/>
        </p:nvSpPr>
        <p:spPr>
          <a:xfrm>
            <a:off x="6775975" y="6016597"/>
            <a:ext cx="2070376" cy="4245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Op</a:t>
            </a:r>
            <a:r>
              <a:rPr lang="en" altLang="zh-CN" dirty="0">
                <a:effectLst/>
              </a:rPr>
              <a:t>Operand</a:t>
            </a:r>
            <a:r>
              <a:rPr kumimoji="1" lang="en-US" altLang="zh-CN" dirty="0"/>
              <a:t>Imp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5ED9C701-C883-ED71-84E4-0F5FD24034DA}"/>
              </a:ext>
            </a:extLst>
          </p:cNvPr>
          <p:cNvSpPr txBox="1"/>
          <p:nvPr/>
        </p:nvSpPr>
        <p:spPr>
          <a:xfrm>
            <a:off x="7940962" y="4707605"/>
            <a:ext cx="3900056" cy="1200329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" altLang="zh-CN" dirty="0" err="1">
                <a:effectLst/>
              </a:rPr>
              <a:t>OpOperandImpl</a:t>
            </a:r>
            <a:r>
              <a:rPr lang="en" altLang="zh-CN" dirty="0">
                <a:effectLst/>
              </a:rPr>
              <a:t> </a:t>
            </a:r>
            <a:r>
              <a:rPr lang="zh-CN" altLang="en-US" dirty="0">
                <a:effectLst/>
              </a:rPr>
              <a:t>通过双链表的方式记录使用链</a:t>
            </a:r>
            <a:endParaRPr lang="en-US" altLang="zh-CN" dirty="0">
              <a:effectLst/>
            </a:endParaRPr>
          </a:p>
          <a:p>
            <a:pPr algn="l"/>
            <a:r>
              <a:rPr lang="en" altLang="zh-CN" dirty="0"/>
              <a:t>*</a:t>
            </a:r>
            <a:r>
              <a:rPr lang="en" altLang="zh-CN" dirty="0" err="1"/>
              <a:t>next_use</a:t>
            </a:r>
            <a:r>
              <a:rPr lang="en" altLang="zh-CN" dirty="0"/>
              <a:t>_</a:t>
            </a:r>
            <a:br>
              <a:rPr lang="en" altLang="zh-CN" dirty="0"/>
            </a:br>
            <a:r>
              <a:rPr lang="en" altLang="zh-CN" dirty="0"/>
              <a:t>**</a:t>
            </a:r>
            <a:r>
              <a:rPr lang="en" altLang="zh-CN" dirty="0" err="1"/>
              <a:t>prev_use_addr</a:t>
            </a:r>
            <a:r>
              <a:rPr lang="en" altLang="zh-CN" dirty="0"/>
              <a:t>_</a:t>
            </a:r>
          </a:p>
        </p:txBody>
      </p:sp>
      <p:cxnSp>
        <p:nvCxnSpPr>
          <p:cNvPr id="68" name="曲线连接符 67">
            <a:extLst>
              <a:ext uri="{FF2B5EF4-FFF2-40B4-BE49-F238E27FC236}">
                <a16:creationId xmlns:a16="http://schemas.microsoft.com/office/drawing/2014/main" id="{923FB3AE-EF07-E064-E20D-98884DFE8C05}"/>
              </a:ext>
            </a:extLst>
          </p:cNvPr>
          <p:cNvCxnSpPr>
            <a:stCxn id="53" idx="0"/>
            <a:endCxn id="42" idx="0"/>
          </p:cNvCxnSpPr>
          <p:nvPr/>
        </p:nvCxnSpPr>
        <p:spPr>
          <a:xfrm rot="16200000" flipV="1">
            <a:off x="3477348" y="3761644"/>
            <a:ext cx="1068663" cy="3458216"/>
          </a:xfrm>
          <a:prstGeom prst="curvedConnector3">
            <a:avLst>
              <a:gd name="adj1" fmla="val 121391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曲线连接符 71">
            <a:extLst>
              <a:ext uri="{FF2B5EF4-FFF2-40B4-BE49-F238E27FC236}">
                <a16:creationId xmlns:a16="http://schemas.microsoft.com/office/drawing/2014/main" id="{188DE292-1F80-E797-7345-61623D9A080E}"/>
              </a:ext>
            </a:extLst>
          </p:cNvPr>
          <p:cNvCxnSpPr>
            <a:stCxn id="54" idx="0"/>
            <a:endCxn id="48" idx="0"/>
          </p:cNvCxnSpPr>
          <p:nvPr/>
        </p:nvCxnSpPr>
        <p:spPr>
          <a:xfrm rot="16200000" flipV="1">
            <a:off x="4789054" y="2994487"/>
            <a:ext cx="523012" cy="5521207"/>
          </a:xfrm>
          <a:prstGeom prst="curvedConnector3">
            <a:avLst>
              <a:gd name="adj1" fmla="val 143708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曲线连接符 73">
            <a:extLst>
              <a:ext uri="{FF2B5EF4-FFF2-40B4-BE49-F238E27FC236}">
                <a16:creationId xmlns:a16="http://schemas.microsoft.com/office/drawing/2014/main" id="{70F0F3A6-1359-A967-737A-9A8F5D609918}"/>
              </a:ext>
            </a:extLst>
          </p:cNvPr>
          <p:cNvCxnSpPr>
            <a:cxnSpLocks/>
            <a:stCxn id="42" idx="2"/>
            <a:endCxn id="53" idx="2"/>
          </p:cNvCxnSpPr>
          <p:nvPr/>
        </p:nvCxnSpPr>
        <p:spPr>
          <a:xfrm rot="16200000" flipH="1">
            <a:off x="3477348" y="4186215"/>
            <a:ext cx="1068663" cy="3458216"/>
          </a:xfrm>
          <a:prstGeom prst="curvedConnector3">
            <a:avLst>
              <a:gd name="adj1" fmla="val 121391"/>
            </a:avLst>
          </a:prstGeom>
          <a:ln w="127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文本框 74">
            <a:extLst>
              <a:ext uri="{FF2B5EF4-FFF2-40B4-BE49-F238E27FC236}">
                <a16:creationId xmlns:a16="http://schemas.microsoft.com/office/drawing/2014/main" id="{E32AE703-17B6-0B4D-889B-062BA0346334}"/>
              </a:ext>
            </a:extLst>
          </p:cNvPr>
          <p:cNvSpPr txBox="1"/>
          <p:nvPr/>
        </p:nvSpPr>
        <p:spPr>
          <a:xfrm>
            <a:off x="3764950" y="6563811"/>
            <a:ext cx="853231" cy="215444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kumimoji="1" lang="en-US" altLang="zh-CN" sz="800" dirty="0">
                <a:solidFill>
                  <a:schemeClr val="tx1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f</a:t>
            </a:r>
            <a:r>
              <a:rPr kumimoji="1" lang="en-US" altLang="zh-CN" sz="8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irst</a:t>
            </a:r>
            <a:r>
              <a:rPr kumimoji="1" lang="zh-CN" altLang="en-US" sz="8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 </a:t>
            </a:r>
            <a:r>
              <a:rPr kumimoji="1" lang="en-US" altLang="zh-CN" sz="800" dirty="0">
                <a:solidFill>
                  <a:schemeClr val="tx1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user</a:t>
            </a:r>
            <a:endParaRPr kumimoji="1" lang="zh-CN" altLang="en-US" sz="800" dirty="0">
              <a:solidFill>
                <a:schemeClr val="tx1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  <p:cxnSp>
        <p:nvCxnSpPr>
          <p:cNvPr id="78" name="曲线连接符 77">
            <a:extLst>
              <a:ext uri="{FF2B5EF4-FFF2-40B4-BE49-F238E27FC236}">
                <a16:creationId xmlns:a16="http://schemas.microsoft.com/office/drawing/2014/main" id="{BE93A8F3-844B-59D4-9F85-0219945870F7}"/>
              </a:ext>
            </a:extLst>
          </p:cNvPr>
          <p:cNvCxnSpPr>
            <a:cxnSpLocks/>
            <a:stCxn id="53" idx="2"/>
          </p:cNvCxnSpPr>
          <p:nvPr/>
        </p:nvCxnSpPr>
        <p:spPr>
          <a:xfrm rot="16200000" flipH="1">
            <a:off x="6097273" y="6093168"/>
            <a:ext cx="329602" cy="104257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9" name="文本框 78">
            <a:extLst>
              <a:ext uri="{FF2B5EF4-FFF2-40B4-BE49-F238E27FC236}">
                <a16:creationId xmlns:a16="http://schemas.microsoft.com/office/drawing/2014/main" id="{B20E4943-047B-B39C-547B-78589842A179}"/>
              </a:ext>
            </a:extLst>
          </p:cNvPr>
          <p:cNvSpPr txBox="1"/>
          <p:nvPr/>
        </p:nvSpPr>
        <p:spPr>
          <a:xfrm>
            <a:off x="5868202" y="6563811"/>
            <a:ext cx="620038" cy="215444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" altLang="zh-CN" sz="800" dirty="0" err="1"/>
              <a:t>next_use</a:t>
            </a:r>
            <a:r>
              <a:rPr lang="en" altLang="zh-CN" sz="800" dirty="0"/>
              <a:t>_</a:t>
            </a:r>
            <a:endParaRPr kumimoji="1" lang="zh-CN" altLang="en-US" sz="800" dirty="0">
              <a:solidFill>
                <a:schemeClr val="tx1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67BA6AF9-66AB-A2BC-5898-B0E9FF666A46}"/>
              </a:ext>
            </a:extLst>
          </p:cNvPr>
          <p:cNvSpPr txBox="1"/>
          <p:nvPr/>
        </p:nvSpPr>
        <p:spPr>
          <a:xfrm>
            <a:off x="6795696" y="6642556"/>
            <a:ext cx="476254" cy="215444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 sz="800" dirty="0" err="1">
                <a:solidFill>
                  <a:srgbClr val="2339DA"/>
                </a:solidFill>
              </a:rPr>
              <a:t>nullptr</a:t>
            </a:r>
            <a:endParaRPr lang="en-US" altLang="zh-CN" sz="800" dirty="0">
              <a:solidFill>
                <a:srgbClr val="2339DA"/>
              </a:solidFill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7112D52-8C70-5AE2-E169-1CCF24BF9503}"/>
              </a:ext>
            </a:extLst>
          </p:cNvPr>
          <p:cNvSpPr txBox="1"/>
          <p:nvPr/>
        </p:nvSpPr>
        <p:spPr>
          <a:xfrm>
            <a:off x="254061" y="836812"/>
            <a:ext cx="11608717" cy="31393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Operation *Operation::Create()</a:t>
            </a: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根据个数计算所需内存</a:t>
            </a:r>
            <a:endParaRPr lang="en-US" altLang="zh-CN" b="0" dirty="0">
              <a:solidFill>
                <a:srgbClr val="008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result_mem_size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(detail::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OpInlineResultImpl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*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num_results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" altLang="zh-CN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op_mem_size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(Operation);</a:t>
            </a:r>
          </a:p>
          <a:p>
            <a:r>
              <a:rPr lang="en" altLang="zh-CN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operand_mem_size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(detail::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OpOperandImpl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*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num_operands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分配内存</a:t>
            </a:r>
            <a:r>
              <a:rPr lang="zh-CN" altLang="en-US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lang="en-US" altLang="zh-CN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zh-CN" altLang="en-US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字节对齐）</a:t>
            </a:r>
            <a:endParaRPr lang="en" altLang="zh-CN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base_ptr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reinterpret_cast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*&gt;(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aligned_malloc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base_size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altLang="zh-CN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创建</a:t>
            </a:r>
            <a:r>
              <a:rPr lang="en" altLang="zh-CN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OpResults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" altLang="zh-CN" b="0" dirty="0" err="1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OpOperands</a:t>
            </a:r>
            <a:r>
              <a:rPr lang="en-US" altLang="zh-CN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……</a:t>
            </a:r>
          </a:p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base_ptr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detail::</a:t>
            </a: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OpOutlineResultImpl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output_types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" altLang="zh-CN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 </a:t>
            </a:r>
            <a:r>
              <a:rPr lang="en" altLang="zh-CN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</a:p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base_ptr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" altLang="zh-CN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base_ptr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detail::</a:t>
            </a: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OpOperandImpl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inputs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op);</a:t>
            </a:r>
            <a:r>
              <a:rPr lang="en-US" altLang="zh-CN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</a:t>
            </a:r>
            <a:r>
              <a:rPr lang="en" altLang="zh-CN" b="1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altLang="zh-CN" b="1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</a:t>
            </a:r>
            <a:endParaRPr lang="en" altLang="zh-CN" b="1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16658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11941B-7AFD-2083-BD4A-14A4B960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PIR</a:t>
            </a:r>
            <a:r>
              <a:rPr kumimoji="1" lang="zh-CN" altLang="en-US" dirty="0"/>
              <a:t>数据结构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9C7CED2-3B90-7E34-946D-E72D876FD370}"/>
              </a:ext>
            </a:extLst>
          </p:cNvPr>
          <p:cNvSpPr txBox="1"/>
          <p:nvPr/>
        </p:nvSpPr>
        <p:spPr>
          <a:xfrm>
            <a:off x="267854" y="3146519"/>
            <a:ext cx="11656291" cy="2769989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LOG</a:t>
            </a:r>
            <a:r>
              <a:rPr lang="en-US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kernel</a:t>
            </a:r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program</a:t>
            </a:r>
            <a:r>
              <a:rPr lang="en-US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" altLang="zh-CN" b="1" dirty="0">
              <a:solidFill>
                <a:srgbClr val="2339DA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12:18:06.260236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1245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(%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= 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"full(</a:t>
            </a:r>
            <a:r>
              <a:rPr lang="en" altLang="zh-CN" sz="12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phi_kernel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)"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()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12:18:06.260293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1351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Value : ( [</a:t>
            </a:r>
            <a:r>
              <a:rPr lang="en" altLang="zh-CN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0x7364950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 = </a:t>
            </a:r>
            <a:r>
              <a:rPr lang="en" altLang="zh-CN" sz="12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pd_op.full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12:18:06.260298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1352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Variable: (out[</a:t>
            </a:r>
            <a:r>
              <a:rPr lang="en" altLang="zh-CN" sz="120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0x7331fa0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 = </a:t>
            </a:r>
            <a:r>
              <a:rPr lang="en" altLang="zh-CN" sz="1200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pd_op.full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" altLang="zh-CN" sz="12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12:18:06.260303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1243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-----------------------------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12:18:06.260322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1245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(%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= 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"full(</a:t>
            </a:r>
            <a:r>
              <a:rPr lang="en" altLang="zh-CN" sz="12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phi_kernel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)"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()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12:18:06.260366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1351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Value : ( [</a:t>
            </a:r>
            <a:r>
              <a:rPr lang="en" altLang="zh-CN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0x73f0260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 = </a:t>
            </a:r>
            <a:r>
              <a:rPr lang="en" altLang="zh-CN" sz="12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pd_op.full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12:18:06.260370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1352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Variable: (out[</a:t>
            </a:r>
            <a:r>
              <a:rPr lang="en" altLang="zh-CN" sz="120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0x731d830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 = </a:t>
            </a:r>
            <a:r>
              <a:rPr lang="en" altLang="zh-CN" sz="1200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pd_op.full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endParaRPr lang="en" altLang="zh-CN" sz="12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12:18:06.260375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1243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-----------------------------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12:18:06.260396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1245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(%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= 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"add_(</a:t>
            </a:r>
            <a:r>
              <a:rPr lang="en" altLang="zh-CN" sz="12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phi_kernel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)"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(%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%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" altLang="zh-CN" sz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12:18:06.260432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1351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Value : ( [</a:t>
            </a:r>
            <a:r>
              <a:rPr lang="en" altLang="zh-CN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0x6a5b790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 = </a:t>
            </a:r>
            <a:r>
              <a:rPr lang="en" altLang="zh-CN" sz="12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pd_op.add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 [</a:t>
            </a:r>
            <a:r>
              <a:rPr lang="en" altLang="zh-CN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0x7364950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[</a:t>
            </a:r>
            <a:r>
              <a:rPr lang="en" altLang="zh-CN" sz="1200" b="1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0x73f0260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I1031 </a:t>
            </a:r>
            <a:r>
              <a:rPr lang="en" altLang="zh-CN" sz="12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12:18:06.260437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2457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interpreter_util.cc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1352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 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Variable: (out[0x7331fa0]) = </a:t>
            </a:r>
            <a:r>
              <a:rPr lang="en" altLang="zh-CN" sz="1200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pd_op.add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_(x[</a:t>
            </a:r>
            <a:r>
              <a:rPr lang="en" altLang="zh-CN" sz="120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0x7331fa0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], y[</a:t>
            </a:r>
            <a:r>
              <a:rPr lang="en" altLang="zh-CN" sz="120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0x731d830</a:t>
            </a:r>
            <a:r>
              <a:rPr lang="en" altLang="zh-CN" sz="1200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cxnSp>
        <p:nvCxnSpPr>
          <p:cNvPr id="6" name="曲线连接符 5">
            <a:extLst>
              <a:ext uri="{FF2B5EF4-FFF2-40B4-BE49-F238E27FC236}">
                <a16:creationId xmlns:a16="http://schemas.microsoft.com/office/drawing/2014/main" id="{2F1C9805-D807-67E5-769C-C5B35ADA024A}"/>
              </a:ext>
            </a:extLst>
          </p:cNvPr>
          <p:cNvCxnSpPr>
            <a:cxnSpLocks/>
          </p:cNvCxnSpPr>
          <p:nvPr/>
        </p:nvCxnSpPr>
        <p:spPr>
          <a:xfrm rot="10800000">
            <a:off x="7158183" y="3749967"/>
            <a:ext cx="1972353" cy="1720938"/>
          </a:xfrm>
          <a:prstGeom prst="curved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曲线连接符 7">
            <a:extLst>
              <a:ext uri="{FF2B5EF4-FFF2-40B4-BE49-F238E27FC236}">
                <a16:creationId xmlns:a16="http://schemas.microsoft.com/office/drawing/2014/main" id="{B13846D3-0973-6228-78AD-DFB93A2651BD}"/>
              </a:ext>
            </a:extLst>
          </p:cNvPr>
          <p:cNvCxnSpPr>
            <a:cxnSpLocks/>
          </p:cNvCxnSpPr>
          <p:nvPr/>
        </p:nvCxnSpPr>
        <p:spPr>
          <a:xfrm rot="10800000">
            <a:off x="7232074" y="4610436"/>
            <a:ext cx="3121891" cy="996040"/>
          </a:xfrm>
          <a:prstGeom prst="curvedConnector3">
            <a:avLst>
              <a:gd name="adj1" fmla="val -6509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圆角矩形 13">
            <a:extLst>
              <a:ext uri="{FF2B5EF4-FFF2-40B4-BE49-F238E27FC236}">
                <a16:creationId xmlns:a16="http://schemas.microsoft.com/office/drawing/2014/main" id="{60BB8F46-36B1-A7C3-2425-7DCCB7A47C17}"/>
              </a:ext>
            </a:extLst>
          </p:cNvPr>
          <p:cNvSpPr/>
          <p:nvPr/>
        </p:nvSpPr>
        <p:spPr>
          <a:xfrm>
            <a:off x="3750017" y="1207683"/>
            <a:ext cx="1365685" cy="42457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 err="1"/>
              <a:t>pd_op.full</a:t>
            </a:r>
            <a:endParaRPr kumimoji="1" lang="zh-CN" altLang="en-US" sz="1800" dirty="0"/>
          </a:p>
        </p:txBody>
      </p:sp>
      <p:sp>
        <p:nvSpPr>
          <p:cNvPr id="15" name="圆角矩形 14">
            <a:extLst>
              <a:ext uri="{FF2B5EF4-FFF2-40B4-BE49-F238E27FC236}">
                <a16:creationId xmlns:a16="http://schemas.microsoft.com/office/drawing/2014/main" id="{395FA3CC-7788-B2E9-A359-F4B90995129B}"/>
              </a:ext>
            </a:extLst>
          </p:cNvPr>
          <p:cNvSpPr/>
          <p:nvPr/>
        </p:nvSpPr>
        <p:spPr>
          <a:xfrm>
            <a:off x="5117608" y="1207683"/>
            <a:ext cx="1365685" cy="4245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16" name="圆角矩形 15">
            <a:extLst>
              <a:ext uri="{FF2B5EF4-FFF2-40B4-BE49-F238E27FC236}">
                <a16:creationId xmlns:a16="http://schemas.microsoft.com/office/drawing/2014/main" id="{F6B88903-1F3F-32E7-A904-1449668AFC55}"/>
              </a:ext>
            </a:extLst>
          </p:cNvPr>
          <p:cNvSpPr/>
          <p:nvPr/>
        </p:nvSpPr>
        <p:spPr>
          <a:xfrm>
            <a:off x="1672256" y="1207683"/>
            <a:ext cx="2070376" cy="4245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OpResultImp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3454351A-B385-EFCD-EDD2-FC3D08180B88}"/>
              </a:ext>
            </a:extLst>
          </p:cNvPr>
          <p:cNvSpPr/>
          <p:nvPr/>
        </p:nvSpPr>
        <p:spPr>
          <a:xfrm>
            <a:off x="3757402" y="1744848"/>
            <a:ext cx="1365685" cy="42457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 err="1"/>
              <a:t>pd_op.full</a:t>
            </a:r>
            <a:endParaRPr kumimoji="1" lang="zh-CN" altLang="en-US" sz="1800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5F41FB7B-D710-DB3F-1BA5-AF16ADE67320}"/>
              </a:ext>
            </a:extLst>
          </p:cNvPr>
          <p:cNvSpPr/>
          <p:nvPr/>
        </p:nvSpPr>
        <p:spPr>
          <a:xfrm>
            <a:off x="5124993" y="1744848"/>
            <a:ext cx="1365685" cy="4245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EECA3B35-0C15-68DB-C223-DFB4DD256B36}"/>
              </a:ext>
            </a:extLst>
          </p:cNvPr>
          <p:cNvSpPr/>
          <p:nvPr/>
        </p:nvSpPr>
        <p:spPr>
          <a:xfrm>
            <a:off x="1679641" y="1744848"/>
            <a:ext cx="2070376" cy="4245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OpResultImp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78F9D159-969F-9A7D-1956-4A96C4ABFC97}"/>
              </a:ext>
            </a:extLst>
          </p:cNvPr>
          <p:cNvSpPr/>
          <p:nvPr/>
        </p:nvSpPr>
        <p:spPr>
          <a:xfrm>
            <a:off x="3757402" y="2276346"/>
            <a:ext cx="1365685" cy="424572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sz="1800" dirty="0" err="1"/>
              <a:t>pd_op.add</a:t>
            </a:r>
            <a:endParaRPr kumimoji="1" lang="zh-CN" altLang="en-US" sz="1800" dirty="0"/>
          </a:p>
        </p:txBody>
      </p:sp>
      <p:sp>
        <p:nvSpPr>
          <p:cNvPr id="21" name="圆角矩形 20">
            <a:extLst>
              <a:ext uri="{FF2B5EF4-FFF2-40B4-BE49-F238E27FC236}">
                <a16:creationId xmlns:a16="http://schemas.microsoft.com/office/drawing/2014/main" id="{5A84A216-F1A6-5954-6687-312487B1552A}"/>
              </a:ext>
            </a:extLst>
          </p:cNvPr>
          <p:cNvSpPr/>
          <p:nvPr/>
        </p:nvSpPr>
        <p:spPr>
          <a:xfrm>
            <a:off x="9271224" y="2267860"/>
            <a:ext cx="1365685" cy="4245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……</a:t>
            </a:r>
            <a:endParaRPr kumimoji="1" lang="zh-CN" altLang="en-US" dirty="0"/>
          </a:p>
        </p:txBody>
      </p:sp>
      <p:sp>
        <p:nvSpPr>
          <p:cNvPr id="22" name="圆角矩形 21">
            <a:extLst>
              <a:ext uri="{FF2B5EF4-FFF2-40B4-BE49-F238E27FC236}">
                <a16:creationId xmlns:a16="http://schemas.microsoft.com/office/drawing/2014/main" id="{AD156F30-1714-F7D0-B54B-72B2837ED5C2}"/>
              </a:ext>
            </a:extLst>
          </p:cNvPr>
          <p:cNvSpPr/>
          <p:nvPr/>
        </p:nvSpPr>
        <p:spPr>
          <a:xfrm>
            <a:off x="1679641" y="2276346"/>
            <a:ext cx="2070376" cy="424572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OpResultImp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3" name="圆角矩形 22">
            <a:extLst>
              <a:ext uri="{FF2B5EF4-FFF2-40B4-BE49-F238E27FC236}">
                <a16:creationId xmlns:a16="http://schemas.microsoft.com/office/drawing/2014/main" id="{952429CD-880A-9685-4289-BD420E1E4943}"/>
              </a:ext>
            </a:extLst>
          </p:cNvPr>
          <p:cNvSpPr/>
          <p:nvPr/>
        </p:nvSpPr>
        <p:spPr>
          <a:xfrm>
            <a:off x="5130472" y="2276346"/>
            <a:ext cx="2070376" cy="4245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Op</a:t>
            </a:r>
            <a:r>
              <a:rPr lang="en" altLang="zh-CN" dirty="0">
                <a:effectLst/>
              </a:rPr>
              <a:t>Operand</a:t>
            </a:r>
            <a:r>
              <a:rPr kumimoji="1" lang="en-US" altLang="zh-CN" dirty="0"/>
              <a:t>Imp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sp>
        <p:nvSpPr>
          <p:cNvPr id="24" name="圆角矩形 23">
            <a:extLst>
              <a:ext uri="{FF2B5EF4-FFF2-40B4-BE49-F238E27FC236}">
                <a16:creationId xmlns:a16="http://schemas.microsoft.com/office/drawing/2014/main" id="{31118F6F-E96E-F6FB-1E15-66104FA4FCF1}"/>
              </a:ext>
            </a:extLst>
          </p:cNvPr>
          <p:cNvSpPr/>
          <p:nvPr/>
        </p:nvSpPr>
        <p:spPr>
          <a:xfrm>
            <a:off x="7200848" y="2267860"/>
            <a:ext cx="2070376" cy="424572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Op</a:t>
            </a:r>
            <a:r>
              <a:rPr lang="en" altLang="zh-CN" dirty="0">
                <a:effectLst/>
              </a:rPr>
              <a:t>Operand</a:t>
            </a:r>
            <a:r>
              <a:rPr kumimoji="1" lang="en-US" altLang="zh-CN" dirty="0"/>
              <a:t>Imp</a:t>
            </a:r>
            <a:r>
              <a:rPr kumimoji="1" lang="zh-CN" altLang="en-US" dirty="0"/>
              <a:t> </a:t>
            </a:r>
            <a:r>
              <a:rPr kumimoji="1" lang="en-US" altLang="zh-CN" dirty="0"/>
              <a:t>0</a:t>
            </a:r>
            <a:endParaRPr kumimoji="1" lang="zh-CN" altLang="en-US" dirty="0"/>
          </a:p>
        </p:txBody>
      </p:sp>
      <p:cxnSp>
        <p:nvCxnSpPr>
          <p:cNvPr id="25" name="曲线连接符 24">
            <a:extLst>
              <a:ext uri="{FF2B5EF4-FFF2-40B4-BE49-F238E27FC236}">
                <a16:creationId xmlns:a16="http://schemas.microsoft.com/office/drawing/2014/main" id="{D4D341A9-503A-A222-2126-3504367C1DA6}"/>
              </a:ext>
            </a:extLst>
          </p:cNvPr>
          <p:cNvCxnSpPr>
            <a:stCxn id="23" idx="0"/>
            <a:endCxn id="16" idx="0"/>
          </p:cNvCxnSpPr>
          <p:nvPr/>
        </p:nvCxnSpPr>
        <p:spPr>
          <a:xfrm rot="16200000" flipV="1">
            <a:off x="3902221" y="12907"/>
            <a:ext cx="1068663" cy="3458216"/>
          </a:xfrm>
          <a:prstGeom prst="curvedConnector3">
            <a:avLst>
              <a:gd name="adj1" fmla="val 121391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曲线连接符 25">
            <a:extLst>
              <a:ext uri="{FF2B5EF4-FFF2-40B4-BE49-F238E27FC236}">
                <a16:creationId xmlns:a16="http://schemas.microsoft.com/office/drawing/2014/main" id="{7B5167B4-2860-DB9D-3E53-4FACE311D470}"/>
              </a:ext>
            </a:extLst>
          </p:cNvPr>
          <p:cNvCxnSpPr>
            <a:stCxn id="24" idx="0"/>
            <a:endCxn id="19" idx="0"/>
          </p:cNvCxnSpPr>
          <p:nvPr/>
        </p:nvCxnSpPr>
        <p:spPr>
          <a:xfrm rot="16200000" flipV="1">
            <a:off x="5213927" y="-754250"/>
            <a:ext cx="523012" cy="5521207"/>
          </a:xfrm>
          <a:prstGeom prst="curvedConnector3">
            <a:avLst>
              <a:gd name="adj1" fmla="val 143708"/>
            </a:avLst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78985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Dialect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D751178-B304-5276-04F7-098D9FDE6F9B}"/>
              </a:ext>
            </a:extLst>
          </p:cNvPr>
          <p:cNvSpPr txBox="1"/>
          <p:nvPr/>
        </p:nvSpPr>
        <p:spPr>
          <a:xfrm>
            <a:off x="-1325880" y="6464808"/>
            <a:ext cx="184731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none" rtlCol="0">
            <a:spAutoFit/>
          </a:bodyPr>
          <a:lstStyle/>
          <a:p>
            <a:pPr algn="l"/>
            <a:endParaRPr kumimoji="1"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EBC8EC81-8D05-1ABF-0EAF-A1939B38BBCF}"/>
              </a:ext>
            </a:extLst>
          </p:cNvPr>
          <p:cNvSpPr txBox="1"/>
          <p:nvPr/>
        </p:nvSpPr>
        <p:spPr>
          <a:xfrm>
            <a:off x="838200" y="914400"/>
            <a:ext cx="6024726" cy="18158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*Create(</a:t>
            </a:r>
          </a:p>
          <a:p>
            <a:pPr lvl="1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std::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&lt;pir::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&amp;</a:t>
            </a:r>
            <a:r>
              <a:rPr lang="en" altLang="zh-CN" sz="16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inputs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AttributeMap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&amp;</a:t>
            </a:r>
            <a:r>
              <a:rPr lang="en" altLang="zh-CN" sz="16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attributes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std::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&lt;pir::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&amp;</a:t>
            </a:r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output_types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pir::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OpInfo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op_info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num_regions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1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std::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vector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*&gt; &amp;</a:t>
            </a:r>
            <a:r>
              <a:rPr lang="en" altLang="zh-CN" sz="16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successors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{});</a:t>
            </a:r>
          </a:p>
        </p:txBody>
      </p:sp>
      <p:pic>
        <p:nvPicPr>
          <p:cNvPr id="111" name="图片 110">
            <a:extLst>
              <a:ext uri="{FF2B5EF4-FFF2-40B4-BE49-F238E27FC236}">
                <a16:creationId xmlns:a16="http://schemas.microsoft.com/office/drawing/2014/main" id="{00458F6B-F32D-DD31-556E-4CC42C3820A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958" r="-27"/>
          <a:stretch/>
        </p:blipFill>
        <p:spPr>
          <a:xfrm>
            <a:off x="838200" y="2930051"/>
            <a:ext cx="9937019" cy="371942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A0C539E-7C7A-58E2-FE8A-547280B3D801}"/>
              </a:ext>
            </a:extLst>
          </p:cNvPr>
          <p:cNvSpPr/>
          <p:nvPr/>
        </p:nvSpPr>
        <p:spPr>
          <a:xfrm>
            <a:off x="8536706" y="3108976"/>
            <a:ext cx="1902691" cy="452582"/>
          </a:xfrm>
          <a:prstGeom prst="rect">
            <a:avLst/>
          </a:prstGeom>
          <a:noFill/>
          <a:ln w="25400">
            <a:solidFill>
              <a:srgbClr val="2339D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8" name="直线箭头连接符 7">
            <a:extLst>
              <a:ext uri="{FF2B5EF4-FFF2-40B4-BE49-F238E27FC236}">
                <a16:creationId xmlns:a16="http://schemas.microsoft.com/office/drawing/2014/main" id="{F015905A-6FCF-36E1-7350-45F0F73C4E7A}"/>
              </a:ext>
            </a:extLst>
          </p:cNvPr>
          <p:cNvCxnSpPr>
            <a:cxnSpLocks/>
          </p:cNvCxnSpPr>
          <p:nvPr/>
        </p:nvCxnSpPr>
        <p:spPr>
          <a:xfrm flipH="1" flipV="1">
            <a:off x="3786909" y="2102333"/>
            <a:ext cx="5701142" cy="1006643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A72C21E-CB52-E9C2-8290-937B3CCF7984}"/>
              </a:ext>
            </a:extLst>
          </p:cNvPr>
          <p:cNvSpPr txBox="1"/>
          <p:nvPr/>
        </p:nvSpPr>
        <p:spPr>
          <a:xfrm>
            <a:off x="7729892" y="1786467"/>
            <a:ext cx="3623908" cy="646331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1.</a:t>
            </a:r>
            <a:r>
              <a:rPr kumimoji="1"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1" lang="en-US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IrContext</a:t>
            </a:r>
            <a:r>
              <a:rPr kumimoji="1"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如何注册</a:t>
            </a:r>
            <a:r>
              <a:rPr kumimoji="1" lang="en-US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opinfo</a:t>
            </a:r>
            <a:r>
              <a:rPr kumimoji="1"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？</a:t>
            </a:r>
            <a:endParaRPr kumimoji="1" lang="en-US" altLang="zh-CN" b="1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  <a:p>
            <a:r>
              <a:rPr kumimoji="1" lang="en-US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2.</a:t>
            </a:r>
            <a:r>
              <a:rPr kumimoji="1"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</a:t>
            </a:r>
            <a:r>
              <a:rPr kumimoji="1" lang="en-US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opinfo</a:t>
            </a:r>
            <a:r>
              <a:rPr kumimoji="1"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包含哪些信息？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5C106BD-FDAA-78FA-1F62-A0E68661126D}"/>
              </a:ext>
            </a:extLst>
          </p:cNvPr>
          <p:cNvSpPr txBox="1"/>
          <p:nvPr/>
        </p:nvSpPr>
        <p:spPr>
          <a:xfrm>
            <a:off x="6608939" y="1032822"/>
            <a:ext cx="5410777" cy="553998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pir::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OpInfo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op_info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-US" altLang="zh-CN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GetRegisteredOpInfo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op_name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p</a:t>
            </a:r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ir::I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rContext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op_info</a:t>
            </a:r>
            <a:endParaRPr lang="zh-CN" alt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112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A0E66-056A-0551-B7CC-8A5E42C8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Dialect</a:t>
            </a:r>
            <a:endParaRPr kumimoji="1"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D9C05B6-B4A1-198A-F4C8-A5631B8C0C9D}"/>
              </a:ext>
            </a:extLst>
          </p:cNvPr>
          <p:cNvSpPr txBox="1"/>
          <p:nvPr/>
        </p:nvSpPr>
        <p:spPr>
          <a:xfrm>
            <a:off x="736599" y="976986"/>
            <a:ext cx="11012056" cy="255454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BD63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IR_API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Dialect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RegisterOps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lvl="1"/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(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)std::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initializer_list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&gt;{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(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RegisterOp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Args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&gt;(), 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)...};</a:t>
            </a:r>
          </a:p>
          <a:p>
            <a:pPr lvl="1"/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b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template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en" altLang="zh-CN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ConcreteOp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1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RegisterOp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lvl="2"/>
            <a:r>
              <a:rPr lang="en" altLang="zh-CN" sz="1600" b="1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ir_context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()-&gt;</a:t>
            </a:r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RegisterOpInfo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this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lvl="4"/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TypeId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::get&lt;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ConcreteOp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&gt;(), 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ConcreteOp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::name(),</a:t>
            </a:r>
            <a:r>
              <a:rPr lang="zh-CN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ConcreteOp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attributes_num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sz="16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E9929B-7F69-9F48-554E-311298BED4BD}"/>
              </a:ext>
            </a:extLst>
          </p:cNvPr>
          <p:cNvSpPr txBox="1"/>
          <p:nvPr/>
        </p:nvSpPr>
        <p:spPr>
          <a:xfrm>
            <a:off x="736597" y="3948837"/>
            <a:ext cx="9755909" cy="181588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sz="1600" b="0" dirty="0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US" altLang="zh-CN" sz="1600" b="0" dirty="0" err="1">
                <a:solidFill>
                  <a:schemeClr val="accent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op_dialect.cc</a:t>
            </a:r>
            <a:endParaRPr lang="en-US" altLang="zh-CN" sz="1600" b="0" dirty="0">
              <a:solidFill>
                <a:schemeClr val="accent6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OperatorDialect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::initialize() {</a:t>
            </a:r>
            <a:endParaRPr lang="en" altLang="zh-CN" sz="1600" b="0" dirty="0">
              <a:solidFill>
                <a:schemeClr val="accent6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RegisterOps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</a:p>
          <a:p>
            <a:r>
              <a:rPr lang="en" altLang="zh-CN" sz="16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BD63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GET_OP_LIST</a:t>
            </a:r>
            <a:endParaRPr lang="en" altLang="zh-CN" sz="16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6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"paddle/fluid/pir/dialect/operator/</a:t>
            </a:r>
            <a:r>
              <a:rPr lang="en" altLang="zh-CN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</a:t>
            </a:r>
            <a:r>
              <a:rPr lang="en" altLang="zh-CN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" altLang="zh-CN" sz="1600" b="1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pd_op.h</a:t>
            </a:r>
            <a:r>
              <a:rPr lang="en" altLang="zh-CN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NOLINT</a:t>
            </a:r>
            <a:endParaRPr lang="en" altLang="zh-CN" sz="16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&gt;();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sz="16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7D7ED50-8FE5-2167-D293-5EE588DDF1FA}"/>
              </a:ext>
            </a:extLst>
          </p:cNvPr>
          <p:cNvSpPr txBox="1"/>
          <p:nvPr/>
        </p:nvSpPr>
        <p:spPr>
          <a:xfrm>
            <a:off x="736598" y="5923132"/>
            <a:ext cx="9755908" cy="58477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pir::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IrContext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pir::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IrContext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::Instance();</a:t>
            </a:r>
          </a:p>
          <a:p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ctx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GetOrRegisterDialect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&lt;paddle::dialect::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OperatorDialect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&gt;();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E183680-8225-5463-02AB-964BDA01B80A}"/>
              </a:ext>
            </a:extLst>
          </p:cNvPr>
          <p:cNvSpPr txBox="1"/>
          <p:nvPr/>
        </p:nvSpPr>
        <p:spPr>
          <a:xfrm>
            <a:off x="8579637" y="2262832"/>
            <a:ext cx="2624072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 rtlCol="0">
            <a:spAutoFit/>
          </a:bodyPr>
          <a:lstStyle/>
          <a:p>
            <a:r>
              <a:rPr kumimoji="1"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1.</a:t>
            </a:r>
            <a:r>
              <a:rPr kumimoji="1"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 通过</a:t>
            </a:r>
            <a:r>
              <a:rPr kumimoji="1"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dialect</a:t>
            </a:r>
            <a:r>
              <a:rPr kumimoji="1"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注册</a:t>
            </a:r>
            <a:endParaRPr kumimoji="1" lang="en-US" altLang="zh-CN" b="1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2CC73B-D126-56CC-DA4E-BC28A66BDFEF}"/>
              </a:ext>
            </a:extLst>
          </p:cNvPr>
          <p:cNvSpPr txBox="1"/>
          <p:nvPr/>
        </p:nvSpPr>
        <p:spPr>
          <a:xfrm>
            <a:off x="7509164" y="4140807"/>
            <a:ext cx="3694545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 rtlCol="0">
            <a:spAutoFit/>
          </a:bodyPr>
          <a:lstStyle/>
          <a:p>
            <a:r>
              <a:rPr lang="en" altLang="zh-CN" sz="18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OperatorDialect</a:t>
            </a:r>
            <a:r>
              <a:rPr lang="en-US" altLang="zh-CN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注册</a:t>
            </a:r>
            <a:r>
              <a:rPr kumimoji="1" lang="en-US" altLang="zh-CN" b="1" dirty="0" err="1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pd_op</a:t>
            </a:r>
            <a:endParaRPr kumimoji="1" lang="en-US" altLang="zh-CN" b="1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8346FF3-D417-DE98-98CE-F8C920E84FB3}"/>
              </a:ext>
            </a:extLst>
          </p:cNvPr>
          <p:cNvSpPr txBox="1"/>
          <p:nvPr/>
        </p:nvSpPr>
        <p:spPr>
          <a:xfrm>
            <a:off x="8497456" y="5814246"/>
            <a:ext cx="2706254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获取：构造</a:t>
            </a:r>
            <a:r>
              <a:rPr lang="en" altLang="zh-CN" sz="18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IrContext</a:t>
            </a:r>
            <a:r>
              <a:rPr lang="zh-CN" altLang="en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实例</a:t>
            </a:r>
            <a:r>
              <a:rPr lang="zh-CN" altLang="en-US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，从中获取指定</a:t>
            </a:r>
            <a:r>
              <a:rPr lang="en" altLang="zh-CN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Dialect</a:t>
            </a:r>
            <a:r>
              <a:rPr lang="zh-CN" altLang="en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r>
              <a:rPr lang="zh-CN" altLang="en-US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信息</a:t>
            </a:r>
            <a:endParaRPr kumimoji="1" lang="en-US" altLang="zh-CN" b="1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cxnSp>
        <p:nvCxnSpPr>
          <p:cNvPr id="17" name="直线箭头连接符 16">
            <a:extLst>
              <a:ext uri="{FF2B5EF4-FFF2-40B4-BE49-F238E27FC236}">
                <a16:creationId xmlns:a16="http://schemas.microsoft.com/office/drawing/2014/main" id="{E99BF80C-D533-2BB0-C117-072154520EAC}"/>
              </a:ext>
            </a:extLst>
          </p:cNvPr>
          <p:cNvCxnSpPr>
            <a:cxnSpLocks/>
          </p:cNvCxnSpPr>
          <p:nvPr/>
        </p:nvCxnSpPr>
        <p:spPr>
          <a:xfrm flipH="1">
            <a:off x="406800" y="3737494"/>
            <a:ext cx="11378400" cy="0"/>
          </a:xfrm>
          <a:prstGeom prst="straightConnector1">
            <a:avLst/>
          </a:prstGeom>
          <a:ln w="28575">
            <a:solidFill>
              <a:srgbClr val="2339DA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73944936-FDBD-87BF-A145-144F0E9CEBD1}"/>
              </a:ext>
            </a:extLst>
          </p:cNvPr>
          <p:cNvCxnSpPr>
            <a:cxnSpLocks/>
          </p:cNvCxnSpPr>
          <p:nvPr/>
        </p:nvCxnSpPr>
        <p:spPr>
          <a:xfrm flipH="1">
            <a:off x="370255" y="5764719"/>
            <a:ext cx="11378400" cy="0"/>
          </a:xfrm>
          <a:prstGeom prst="straightConnector1">
            <a:avLst/>
          </a:prstGeom>
          <a:ln w="28575">
            <a:solidFill>
              <a:srgbClr val="2339DA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67006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A0E66-056A-0551-B7CC-8A5E42C8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OP</a:t>
            </a:r>
            <a:r>
              <a:rPr kumimoji="1" lang="zh-CN" altLang="en-US" dirty="0"/>
              <a:t>注册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8E9929B-7F69-9F48-554E-311298BED4BD}"/>
              </a:ext>
            </a:extLst>
          </p:cNvPr>
          <p:cNvSpPr txBox="1"/>
          <p:nvPr/>
        </p:nvSpPr>
        <p:spPr>
          <a:xfrm>
            <a:off x="616524" y="965489"/>
            <a:ext cx="9755909" cy="10772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RegisterOps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</a:p>
          <a:p>
            <a:r>
              <a:rPr lang="en" altLang="zh-CN" sz="16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#define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BD63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GET_OP_LIST</a:t>
            </a:r>
            <a:endParaRPr lang="en" altLang="zh-CN" sz="16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6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#include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"paddle/fluid/pir/dialect/operator/</a:t>
            </a:r>
            <a:r>
              <a:rPr lang="en" altLang="zh-CN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</a:t>
            </a:r>
            <a:r>
              <a:rPr lang="en" altLang="zh-CN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" altLang="zh-CN" sz="1600" b="1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pd_op.h</a:t>
            </a:r>
            <a:r>
              <a:rPr lang="en" altLang="zh-CN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// NOLINT</a:t>
            </a:r>
            <a:endParaRPr lang="en" altLang="zh-CN" sz="16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&gt;();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8F4CB13-47CE-3EA0-5BCD-E184A57E2CE0}"/>
              </a:ext>
            </a:extLst>
          </p:cNvPr>
          <p:cNvSpPr txBox="1"/>
          <p:nvPr/>
        </p:nvSpPr>
        <p:spPr>
          <a:xfrm>
            <a:off x="5076264" y="965489"/>
            <a:ext cx="4602022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 rtlCol="0">
            <a:spAutoFit/>
          </a:bodyPr>
          <a:lstStyle/>
          <a:p>
            <a:r>
              <a:rPr lang="en" altLang="zh-CN" sz="18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pd_op.h</a:t>
            </a:r>
            <a:r>
              <a:rPr lang="en-US" altLang="zh-CN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" altLang="zh-CN" sz="18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</a:t>
            </a:r>
            <a:r>
              <a:rPr lang="en" altLang="zh-CN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zh-CN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cc:</a:t>
            </a:r>
            <a:r>
              <a:rPr lang="zh-CN" altLang="en-US" sz="1800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通过配置文件生成</a:t>
            </a:r>
            <a:endParaRPr kumimoji="1" lang="en-US" altLang="zh-CN" b="1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36E1468-0FCB-F2CF-606F-A60A7AB6B337}"/>
              </a:ext>
            </a:extLst>
          </p:cNvPr>
          <p:cNvSpPr txBox="1"/>
          <p:nvPr/>
        </p:nvSpPr>
        <p:spPr>
          <a:xfrm>
            <a:off x="210130" y="2288059"/>
            <a:ext cx="3779981" cy="2523768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en-US" altLang="zh-CN" sz="1600" b="1" dirty="0" err="1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ops.yaml</a:t>
            </a:r>
            <a:endParaRPr lang="en" altLang="zh-CN" sz="1600" b="1" dirty="0">
              <a:solidFill>
                <a:srgbClr val="2339DA"/>
              </a:solidFill>
              <a:effectLst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- </a:t>
            </a:r>
            <a:r>
              <a:rPr lang="en" altLang="zh-CN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op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abs</a:t>
            </a:r>
            <a:endParaRPr lang="en" altLang="zh-CN" sz="1400" dirty="0">
              <a:solidFill>
                <a:srgbClr val="000000"/>
              </a:solidFill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 lvl="1"/>
            <a:r>
              <a:rPr lang="en" altLang="zh-CN" sz="1400" b="0" dirty="0" err="1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args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(Tensor x)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output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Tensor(out)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 lvl="1"/>
            <a:r>
              <a:rPr lang="en" altLang="zh-CN" sz="1400" b="0" dirty="0" err="1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infer_meta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:</a:t>
            </a:r>
          </a:p>
          <a:p>
            <a:pPr lvl="1"/>
            <a:r>
              <a:rPr lang="en" altLang="zh-CN" sz="1400" b="0" dirty="0" err="1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func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: </a:t>
            </a:r>
            <a:r>
              <a:rPr lang="en" altLang="zh-CN" sz="14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RealAndImagInferMeta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kernel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:</a:t>
            </a:r>
          </a:p>
          <a:p>
            <a:pPr lvl="1"/>
            <a:r>
              <a:rPr lang="en" altLang="zh-CN" sz="1400" b="0" dirty="0" err="1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func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abs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 lvl="1"/>
            <a:r>
              <a:rPr lang="en" altLang="zh-CN" sz="1400" b="0" dirty="0" err="1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data_type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x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 lvl="1"/>
            <a:r>
              <a:rPr lang="en" altLang="zh-CN" sz="1400" b="0" dirty="0" err="1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inplace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(x -&gt; out)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backward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: </a:t>
            </a:r>
            <a:r>
              <a:rPr lang="en" altLang="zh-CN" sz="14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abs_grad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ea typeface="DengXian" panose="02010600030101010101" pitchFamily="2" charset="-122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B7FFB37-E141-7348-C2F3-51E465FCD5B6}"/>
              </a:ext>
            </a:extLst>
          </p:cNvPr>
          <p:cNvSpPr txBox="1"/>
          <p:nvPr/>
        </p:nvSpPr>
        <p:spPr>
          <a:xfrm>
            <a:off x="4100947" y="2288059"/>
            <a:ext cx="7906327" cy="249299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//</a:t>
            </a:r>
            <a:r>
              <a:rPr lang="en-US" altLang="zh-CN" sz="1600" b="1" dirty="0" err="1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ops.parsed.yaml</a:t>
            </a:r>
            <a:endParaRPr lang="en" altLang="zh-CN" sz="1600" b="1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" altLang="zh-CN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abs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inputs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 </a:t>
            </a:r>
            <a:r>
              <a:rPr lang="en" altLang="zh-CN" sz="1400" b="0" dirty="0" err="1"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Tensor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" altLang="zh-CN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" altLang="zh-CN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optional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" altLang="zh-CN" sz="1400" b="0" dirty="0" err="1"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no_need_buffer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" altLang="zh-CN" sz="1400" b="0" dirty="0" err="1"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data_transform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{}</a:t>
            </a:r>
          </a:p>
          <a:p>
            <a:pPr lvl="1"/>
            <a:r>
              <a:rPr lang="en" altLang="zh-CN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outputs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pPr lvl="1"/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 {</a:t>
            </a:r>
            <a:r>
              <a:rPr lang="en" altLang="zh-CN" sz="1400" b="0" dirty="0" err="1"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typename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Tensor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optional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sz="1400" b="0" dirty="0">
                <a:solidFill>
                  <a:srgbClr val="8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intermediate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sz="14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……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A142E9D-1B59-B8DD-1F0A-A74494A6BBFB}"/>
              </a:ext>
            </a:extLst>
          </p:cNvPr>
          <p:cNvSpPr txBox="1"/>
          <p:nvPr/>
        </p:nvSpPr>
        <p:spPr>
          <a:xfrm>
            <a:off x="210130" y="4903345"/>
            <a:ext cx="11797144" cy="181588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// </a:t>
            </a:r>
            <a:r>
              <a:rPr lang="en-US" altLang="zh-CN" sz="1600" b="1" dirty="0" err="1">
                <a:solidFill>
                  <a:srgbClr val="2339DA"/>
                </a:solidFill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pd_op.h</a:t>
            </a:r>
            <a:endParaRPr lang="en" altLang="zh-CN" sz="1600" b="1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AbsOp</a:t>
            </a:r>
            <a:r>
              <a:rPr lang="zh-CN" altLang="en-US" sz="12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pir::</a:t>
            </a:r>
            <a:r>
              <a:rPr lang="en" altLang="zh-CN" sz="12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sz="12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AbsOp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sz="12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r>
              <a:rPr lang="en-US" altLang="zh-CN" sz="1200" dirty="0">
                <a:solidFill>
                  <a:srgbClr val="2B91A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{</a:t>
            </a:r>
          </a:p>
          <a:p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public:</a:t>
            </a:r>
            <a:endParaRPr lang="en" altLang="zh-CN" sz="12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using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Op::Op;</a:t>
            </a:r>
          </a:p>
          <a:p>
            <a:pPr lvl="1"/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name() {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sz="12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pd_op.abs</a:t>
            </a:r>
            <a:r>
              <a:rPr lang="en" altLang="zh-CN" sz="12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}</a:t>
            </a:r>
          </a:p>
          <a:p>
            <a:pPr lvl="1"/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OpInfoTuple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GetOpInfo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Build(pir::</a:t>
            </a:r>
            <a:r>
              <a:rPr lang="en" altLang="zh-CN" sz="12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Builder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" altLang="zh-CN" sz="12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builder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pir::</a:t>
            </a:r>
            <a:r>
              <a:rPr lang="en" altLang="zh-CN" sz="12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OperationArgument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" altLang="zh-CN" sz="12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argument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pir::</a:t>
            </a:r>
            <a:r>
              <a:rPr lang="en" altLang="zh-CN" sz="12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2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x_</a:t>
            </a:r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-US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endParaRPr lang="en" altLang="zh-CN" sz="12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2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20" name="右箭头 19">
            <a:extLst>
              <a:ext uri="{FF2B5EF4-FFF2-40B4-BE49-F238E27FC236}">
                <a16:creationId xmlns:a16="http://schemas.microsoft.com/office/drawing/2014/main" id="{A1FDF13A-A862-78B6-B5C0-CF90702FD5B6}"/>
              </a:ext>
            </a:extLst>
          </p:cNvPr>
          <p:cNvSpPr/>
          <p:nvPr/>
        </p:nvSpPr>
        <p:spPr>
          <a:xfrm>
            <a:off x="3823855" y="3429000"/>
            <a:ext cx="461818" cy="173182"/>
          </a:xfrm>
          <a:prstGeom prst="rightArrow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右箭头 20">
            <a:extLst>
              <a:ext uri="{FF2B5EF4-FFF2-40B4-BE49-F238E27FC236}">
                <a16:creationId xmlns:a16="http://schemas.microsoft.com/office/drawing/2014/main" id="{06CDCB80-33E2-6328-BE8B-DD72C66C7D02}"/>
              </a:ext>
            </a:extLst>
          </p:cNvPr>
          <p:cNvSpPr/>
          <p:nvPr/>
        </p:nvSpPr>
        <p:spPr>
          <a:xfrm rot="5400000">
            <a:off x="7527637" y="4755606"/>
            <a:ext cx="461818" cy="173182"/>
          </a:xfrm>
          <a:prstGeom prst="rightArrow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865536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9A0E66-056A-0551-B7CC-8A5E42C86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OP</a:t>
            </a:r>
            <a:r>
              <a:rPr kumimoji="1" lang="zh-CN" altLang="en-US" dirty="0"/>
              <a:t>注册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A141159-EC4F-95A5-9E73-99CCE1391234}"/>
              </a:ext>
            </a:extLst>
          </p:cNvPr>
          <p:cNvSpPr txBox="1"/>
          <p:nvPr/>
        </p:nvSpPr>
        <p:spPr>
          <a:xfrm>
            <a:off x="40409" y="1997836"/>
            <a:ext cx="5224317" cy="3139321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-US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2.</a:t>
            </a:r>
            <a:r>
              <a:rPr lang="en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OpInfoImpl</a:t>
            </a:r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包含的信息：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属性：该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含有的属性</a:t>
            </a:r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name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attributes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等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en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HasInterface</a:t>
            </a:r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含有的接口</a:t>
            </a:r>
            <a:endParaRPr lang="en-US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Traits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HasTrait</a:t>
            </a:r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：该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含有的特征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函数指针：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该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的某些成员函数</a:t>
            </a:r>
            <a:endParaRPr lang="en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32DEC78-13D2-2997-B4D1-E9E4C7B4396B}"/>
              </a:ext>
            </a:extLst>
          </p:cNvPr>
          <p:cNvSpPr txBox="1"/>
          <p:nvPr/>
        </p:nvSpPr>
        <p:spPr>
          <a:xfrm>
            <a:off x="40409" y="889340"/>
            <a:ext cx="5224317" cy="830997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BD63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IR_API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alignas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" altLang="zh-CN" sz="1600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final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/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OpInfo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info_;</a:t>
            </a:r>
          </a:p>
          <a:p>
            <a:r>
              <a:rPr lang="en-US" altLang="zh-CN" sz="1600" b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sz="1600" b="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16540F5-8F16-AA11-2142-A0D6787D11B2}"/>
              </a:ext>
            </a:extLst>
          </p:cNvPr>
          <p:cNvSpPr txBox="1"/>
          <p:nvPr/>
        </p:nvSpPr>
        <p:spPr>
          <a:xfrm>
            <a:off x="5340928" y="889340"/>
            <a:ext cx="6810663" cy="830997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IR_API 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OpInfo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/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OpInfoImpl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impl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_{</a:t>
            </a:r>
            <a:r>
              <a:rPr lang="en" altLang="zh-CN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AA55954-B82E-14A3-768D-35224F1FAF52}"/>
              </a:ext>
            </a:extLst>
          </p:cNvPr>
          <p:cNvSpPr txBox="1"/>
          <p:nvPr/>
        </p:nvSpPr>
        <p:spPr>
          <a:xfrm>
            <a:off x="5340928" y="1997836"/>
            <a:ext cx="6096000" cy="3693319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OpInfoImpl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/>
            <a:r>
              <a:rPr lang="en" altLang="zh-CN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Dialect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*dialect_;</a:t>
            </a:r>
          </a:p>
          <a:p>
            <a:pPr lvl="1"/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TypeId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_;</a:t>
            </a:r>
          </a:p>
          <a:p>
            <a:pPr lvl="1"/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op_name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_;</a:t>
            </a:r>
          </a:p>
          <a:p>
            <a:pPr lvl="1"/>
            <a:r>
              <a:rPr lang="en" altLang="zh-CN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uint32_t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num_attributes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 = </a:t>
            </a:r>
            <a:r>
              <a:rPr lang="en" altLang="zh-CN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char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**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p_attributes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_{</a:t>
            </a:r>
            <a:r>
              <a:rPr lang="en" altLang="zh-CN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lvl="1"/>
            <a:endParaRPr lang="en" altLang="zh-CN" b="0" dirty="0">
              <a:solidFill>
                <a:srgbClr val="2B91A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uint32_t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num_interfaces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 = </a:t>
            </a:r>
            <a:r>
              <a:rPr lang="en" altLang="zh-CN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" altLang="zh-CN" b="0" dirty="0">
              <a:solidFill>
                <a:srgbClr val="2B91A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uint32_t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num_traits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 = </a:t>
            </a:r>
            <a:r>
              <a:rPr lang="en" altLang="zh-CN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b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VerifyPtr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verify_sig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_{</a:t>
            </a:r>
            <a:r>
              <a:rPr lang="en" altLang="zh-CN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  <a:b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VerifyPtr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verify_region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_{</a:t>
            </a:r>
            <a:r>
              <a:rPr lang="en" altLang="zh-CN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nullptr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右箭头 15">
            <a:extLst>
              <a:ext uri="{FF2B5EF4-FFF2-40B4-BE49-F238E27FC236}">
                <a16:creationId xmlns:a16="http://schemas.microsoft.com/office/drawing/2014/main" id="{07F071B1-D3C1-75B8-5DC8-E5727CFB8C2A}"/>
              </a:ext>
            </a:extLst>
          </p:cNvPr>
          <p:cNvSpPr/>
          <p:nvPr/>
        </p:nvSpPr>
        <p:spPr>
          <a:xfrm>
            <a:off x="5110019" y="2921000"/>
            <a:ext cx="461818" cy="173182"/>
          </a:xfrm>
          <a:prstGeom prst="rightArrow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右箭头 16">
            <a:extLst>
              <a:ext uri="{FF2B5EF4-FFF2-40B4-BE49-F238E27FC236}">
                <a16:creationId xmlns:a16="http://schemas.microsoft.com/office/drawing/2014/main" id="{4F8A58AB-1144-0FA0-0B13-E7850E24B9E1}"/>
              </a:ext>
            </a:extLst>
          </p:cNvPr>
          <p:cNvSpPr/>
          <p:nvPr/>
        </p:nvSpPr>
        <p:spPr>
          <a:xfrm>
            <a:off x="5110019" y="4219485"/>
            <a:ext cx="461818" cy="173182"/>
          </a:xfrm>
          <a:prstGeom prst="rightArrow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右箭头 17">
            <a:extLst>
              <a:ext uri="{FF2B5EF4-FFF2-40B4-BE49-F238E27FC236}">
                <a16:creationId xmlns:a16="http://schemas.microsoft.com/office/drawing/2014/main" id="{8321AE98-1C1F-5529-0087-6B5832AF6396}"/>
              </a:ext>
            </a:extLst>
          </p:cNvPr>
          <p:cNvSpPr/>
          <p:nvPr/>
        </p:nvSpPr>
        <p:spPr>
          <a:xfrm>
            <a:off x="5110019" y="4868729"/>
            <a:ext cx="461818" cy="173182"/>
          </a:xfrm>
          <a:prstGeom prst="rightArrow">
            <a:avLst/>
          </a:prstGeom>
          <a:solidFill>
            <a:srgbClr val="2339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CA014D-33FD-AFD2-6662-158CE135DBC5}"/>
              </a:ext>
            </a:extLst>
          </p:cNvPr>
          <p:cNvSpPr txBox="1"/>
          <p:nvPr/>
        </p:nvSpPr>
        <p:spPr>
          <a:xfrm>
            <a:off x="40409" y="5792141"/>
            <a:ext cx="6816436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属性、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函数指针：</a:t>
            </a:r>
            <a:r>
              <a:rPr lang="zh-CN" altLang="en-US" dirty="0">
                <a:effectLst/>
              </a:rPr>
              <a:t>对于同类型算子而言都存在的信息</a:t>
            </a:r>
            <a:endParaRPr lang="en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Traits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lang="zh-CN" altLang="en-US" dirty="0">
                <a:effectLst/>
              </a:rPr>
              <a:t>特征）：一种标志，用来标志如算子是否有副作用</a:t>
            </a:r>
          </a:p>
          <a:p>
            <a:pPr algn="l"/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Interfaces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（</a:t>
            </a:r>
            <a:r>
              <a:rPr lang="zh-CN" altLang="en-US" dirty="0">
                <a:effectLst/>
              </a:rPr>
              <a:t>接口）：</a:t>
            </a:r>
            <a:r>
              <a:rPr lang="zh-CN" altLang="en-US" dirty="0">
                <a:solidFill>
                  <a:srgbClr val="1C1D1F"/>
                </a:solidFill>
                <a:effectLst/>
              </a:rPr>
              <a:t>算子存在的特定成员函数</a:t>
            </a:r>
            <a:endParaRPr lang="zh-CN" altLang="en-US" dirty="0">
              <a:effectLst/>
            </a:endParaRPr>
          </a:p>
        </p:txBody>
      </p: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C9C47299-6B6A-CF5F-5EAD-3FB3444E284B}"/>
              </a:ext>
            </a:extLst>
          </p:cNvPr>
          <p:cNvCxnSpPr>
            <a:cxnSpLocks/>
          </p:cNvCxnSpPr>
          <p:nvPr/>
        </p:nvCxnSpPr>
        <p:spPr>
          <a:xfrm>
            <a:off x="6225309" y="6253806"/>
            <a:ext cx="1320800" cy="82339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线箭头连接符 26">
            <a:extLst>
              <a:ext uri="{FF2B5EF4-FFF2-40B4-BE49-F238E27FC236}">
                <a16:creationId xmlns:a16="http://schemas.microsoft.com/office/drawing/2014/main" id="{F90D2843-F3C6-34D1-80E9-F0A0BA13890D}"/>
              </a:ext>
            </a:extLst>
          </p:cNvPr>
          <p:cNvCxnSpPr>
            <a:cxnSpLocks/>
          </p:cNvCxnSpPr>
          <p:nvPr/>
        </p:nvCxnSpPr>
        <p:spPr>
          <a:xfrm flipV="1">
            <a:off x="5110019" y="6346139"/>
            <a:ext cx="2436090" cy="207774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0D7CB397-60E0-59DC-4DC7-6E94486BCB4C}"/>
              </a:ext>
            </a:extLst>
          </p:cNvPr>
          <p:cNvSpPr txBox="1"/>
          <p:nvPr/>
        </p:nvSpPr>
        <p:spPr>
          <a:xfrm>
            <a:off x="7591137" y="6161473"/>
            <a:ext cx="2436090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effectLst/>
              </a:rPr>
              <a:t>特定算子存在的信息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73033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94FE6-C1C0-36DF-F9FC-5A623D913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D47766D-D685-62ED-1B2B-EB709C1F0DE3}"/>
              </a:ext>
            </a:extLst>
          </p:cNvPr>
          <p:cNvSpPr txBox="1"/>
          <p:nvPr/>
        </p:nvSpPr>
        <p:spPr>
          <a:xfrm>
            <a:off x="975359" y="866635"/>
            <a:ext cx="10241280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(){</a:t>
            </a:r>
            <a:endParaRPr lang="en" altLang="zh-CN" b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 (</a:t>
            </a:r>
            <a:r>
              <a:rPr lang="en" altLang="zh-CN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FLAGS_enable_new_ir_in_executor</a:t>
            </a:r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/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base_program</a:t>
            </a:r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paddle::</a:t>
            </a:r>
            <a:r>
              <a:rPr lang="en" altLang="zh-CN" b="0" dirty="0" err="1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TranslateLegacyProgramToProgram</a:t>
            </a:r>
            <a:r>
              <a:rPr lang="en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(*program);</a:t>
            </a:r>
          </a:p>
          <a:p>
            <a:pPr lvl="1"/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auto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kernel_program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dialect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PdOpLowerToKernelPass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-US" altLang="zh-CN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b="0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8" name="内容占位符 6">
            <a:extLst>
              <a:ext uri="{FF2B5EF4-FFF2-40B4-BE49-F238E27FC236}">
                <a16:creationId xmlns:a16="http://schemas.microsoft.com/office/drawing/2014/main" id="{1A3FC3E8-23C8-4886-719F-40727F7000A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60946" y="2039606"/>
            <a:ext cx="4397936" cy="496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C82763CF-1930-5FD6-5D38-A0083616212B}"/>
              </a:ext>
            </a:extLst>
          </p:cNvPr>
          <p:cNvSpPr txBox="1"/>
          <p:nvPr/>
        </p:nvSpPr>
        <p:spPr>
          <a:xfrm>
            <a:off x="6390660" y="3429000"/>
            <a:ext cx="4394200" cy="1754326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输入：</a:t>
            </a:r>
            <a:r>
              <a:rPr lang="en" altLang="zh-CN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base_program</a:t>
            </a:r>
            <a:endParaRPr lang="en" altLang="zh-CN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输出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en-US" altLang="zh-CN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kernel_program</a:t>
            </a:r>
            <a:endParaRPr lang="en-US" altLang="zh-CN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对每个</a:t>
            </a:r>
            <a:r>
              <a:rPr lang="en-US" altLang="zh-CN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endParaRPr lang="en-US" altLang="zh-CN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输入：</a:t>
            </a:r>
            <a:r>
              <a:rPr lang="en" altLang="zh-CN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</a:p>
          <a:p>
            <a:pPr lvl="1"/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输出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en-US" altLang="zh-CN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kernel_op</a:t>
            </a:r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（除特殊情况）</a:t>
            </a:r>
            <a:endParaRPr lang="en-US" altLang="zh-CN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050707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92BCA-78F9-53C9-974F-3D1BCF00E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</a:t>
            </a:r>
            <a:endParaRPr kumimoji="1"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F4FA600-BC1F-5831-0502-2A8399A6E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9592" y="461358"/>
            <a:ext cx="7909308" cy="639664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24F46A76-345C-8876-4607-0CA2BD5241AE}"/>
              </a:ext>
            </a:extLst>
          </p:cNvPr>
          <p:cNvSpPr txBox="1"/>
          <p:nvPr/>
        </p:nvSpPr>
        <p:spPr>
          <a:xfrm>
            <a:off x="1117128" y="2967335"/>
            <a:ext cx="2213536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前页注</a:t>
            </a:r>
            <a:r>
              <a:rPr lang="en-US" altLang="zh-CN" dirty="0"/>
              <a:t>2</a:t>
            </a:r>
            <a:r>
              <a:rPr lang="zh-CN" altLang="en-US" dirty="0"/>
              <a:t>、注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特殊</a:t>
            </a:r>
            <a:r>
              <a:rPr lang="en-US" altLang="zh-CN" dirty="0"/>
              <a:t>op</a:t>
            </a:r>
            <a:r>
              <a:rPr lang="zh-CN" altLang="en-US" dirty="0"/>
              <a:t>的处理逻辑</a:t>
            </a:r>
            <a:endParaRPr lang="zh-CN" altLang="en-US" dirty="0">
              <a:effectLst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CC0DEF2-1ECA-9538-330B-FC69256EC292}"/>
              </a:ext>
            </a:extLst>
          </p:cNvPr>
          <p:cNvSpPr txBox="1"/>
          <p:nvPr/>
        </p:nvSpPr>
        <p:spPr>
          <a:xfrm>
            <a:off x="838200" y="903020"/>
            <a:ext cx="3114964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PdOpLowerToKernelPass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7215432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</a:t>
            </a:r>
            <a:endParaRPr kumimoji="1"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9976B34-AF32-3301-5253-28D713385EB5}"/>
              </a:ext>
            </a:extLst>
          </p:cNvPr>
          <p:cNvSpPr txBox="1"/>
          <p:nvPr/>
        </p:nvSpPr>
        <p:spPr>
          <a:xfrm>
            <a:off x="682064" y="953610"/>
            <a:ext cx="4394200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PdOpLowerToKernelPass</a:t>
            </a:r>
            <a:r>
              <a:rPr lang="zh-CN" alt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主逻辑</a:t>
            </a:r>
            <a:endParaRPr lang="en-US" altLang="zh-CN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输入：</a:t>
            </a:r>
            <a:r>
              <a:rPr lang="en" altLang="zh-CN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base_program</a:t>
            </a:r>
            <a:endParaRPr lang="en" altLang="zh-CN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输出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en-US" altLang="zh-CN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kernel_program</a:t>
            </a:r>
            <a:endParaRPr lang="en-US" altLang="zh-CN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EBAA5E0-E121-EEA2-C13C-9B253AFCDBF4}"/>
              </a:ext>
            </a:extLst>
          </p:cNvPr>
          <p:cNvSpPr txBox="1"/>
          <p:nvPr/>
        </p:nvSpPr>
        <p:spPr>
          <a:xfrm>
            <a:off x="682064" y="2211972"/>
            <a:ext cx="10671736" cy="397031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主要函数</a:t>
            </a:r>
            <a:r>
              <a:rPr lang="en" altLang="zh-CN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ProcessBlock</a:t>
            </a:r>
            <a:r>
              <a:rPr lang="zh-CN" altLang="en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逻辑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（对每个</a:t>
            </a:r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中的每个</a:t>
            </a:r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）</a:t>
            </a:r>
            <a:r>
              <a:rPr lang="zh-CN" altLang="en-US" b="1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endParaRPr lang="en" altLang="zh-CN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1.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特判：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SkipFeedOp</a:t>
            </a:r>
            <a:r>
              <a:rPr lang="zh-CN" altLang="e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HandleSpecialOp</a:t>
            </a:r>
            <a:endParaRPr lang="zh-CN" altLang="en-US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US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2.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BuildOpOutputType</a:t>
            </a:r>
            <a:r>
              <a:rPr lang="zh-CN" altLang="e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推断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的输出类型。返回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op_output_types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向量，这个向量包含了操作的所有输出类型。</a:t>
            </a:r>
          </a:p>
          <a:p>
            <a:pPr algn="l"/>
            <a:endParaRPr lang="en" altLang="zh-CN" dirty="0">
              <a:solidFill>
                <a:srgbClr val="1C1D1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altLang="zh-CN" dirty="0">
                <a:solidFill>
                  <a:srgbClr val="1C1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3.</a:t>
            </a:r>
            <a:r>
              <a:rPr lang="zh-CN" altLang="en-US" dirty="0">
                <a:solidFill>
                  <a:srgbClr val="1C1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BuildOpInputList</a:t>
            </a:r>
            <a:r>
              <a:rPr lang="zh-CN" altLang="e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构建</a:t>
            </a:r>
            <a:r>
              <a:rPr lang="en-US" altLang="zh-C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的输入列表，还包括</a:t>
            </a:r>
            <a:r>
              <a:rPr lang="en-US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place_transfer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data_transfer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等逻辑</a:t>
            </a:r>
            <a:endParaRPr lang="en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-US" altLang="zh-CN" dirty="0">
              <a:solidFill>
                <a:srgbClr val="1C1D1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zh-CN" dirty="0">
                <a:solidFill>
                  <a:srgbClr val="1C1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4.</a:t>
            </a:r>
            <a:r>
              <a:rPr lang="zh-CN" altLang="en-US" dirty="0">
                <a:solidFill>
                  <a:srgbClr val="1C1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BuildPhiKernelOp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根据给定的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vec_inputs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op_attribute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op_output_types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和上下文创建新的</a:t>
            </a:r>
            <a:r>
              <a:rPr lang="en" altLang="zh-C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kernel op</a:t>
            </a:r>
            <a:r>
              <a:rPr lang="zh-CN" altLang="e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并进行映射</a:t>
            </a:r>
            <a:r>
              <a:rPr lang="zh-CN" altLang="en-US" dirty="0">
                <a:solidFill>
                  <a:srgbClr val="1C1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pir::Operation::Create</a:t>
            </a:r>
            <a:r>
              <a:rPr lang="zh-CN" altLang="en-US" dirty="0">
                <a:solidFill>
                  <a:srgbClr val="1F232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方法根据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输入、输出个数，申请一段连续内存，并在该内存上一次构造</a:t>
            </a:r>
            <a:r>
              <a:rPr lang="en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OpOutlineResultImpl</a:t>
            </a:r>
            <a:r>
              <a:rPr lang="zh-CN" altLang="e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OpInlineResultImpl</a:t>
            </a:r>
            <a:r>
              <a:rPr lang="zh-CN" altLang="e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" altLang="zh-C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Operation</a:t>
            </a:r>
            <a:r>
              <a:rPr lang="zh-CN" altLang="e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OpOperandImpl</a:t>
            </a:r>
            <a:r>
              <a:rPr lang="zh-CN" altLang="e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BlockOperandImpl</a:t>
            </a:r>
            <a:r>
              <a:rPr lang="zh-CN" altLang="e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" altLang="zh-C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Region</a:t>
            </a:r>
            <a:r>
              <a:rPr lang="zh-CN" altLang="e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。</a:t>
            </a:r>
            <a:endParaRPr lang="en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endParaRPr lang="en" altLang="zh-CN" dirty="0">
              <a:solidFill>
                <a:srgbClr val="1C1D1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altLang="zh-CN" dirty="0">
                <a:solidFill>
                  <a:srgbClr val="1C1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5.</a:t>
            </a:r>
            <a:r>
              <a:rPr lang="zh-CN" altLang="en-US" dirty="0">
                <a:solidFill>
                  <a:srgbClr val="1C1D1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AddShadowFeed</a:t>
            </a:r>
            <a:r>
              <a:rPr lang="zh-CN" altLang="e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对每个在</a:t>
            </a:r>
            <a:r>
              <a:rPr lang="en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gpu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上的</a:t>
            </a:r>
            <a:r>
              <a:rPr lang="en" altLang="zh-C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feed/data op</a:t>
            </a:r>
            <a:r>
              <a:rPr lang="zh-CN" altLang="e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添加</a:t>
            </a:r>
            <a:r>
              <a:rPr lang="en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ShadowFeed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endParaRPr lang="en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12504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5.</a:t>
            </a:r>
            <a:r>
              <a:rPr kumimoji="1" lang="zh-CN" altLang="en-US" dirty="0"/>
              <a:t> </a:t>
            </a:r>
            <a:r>
              <a:rPr kumimoji="1" lang="en-US" altLang="zh-CN" dirty="0"/>
              <a:t>IR+PASS</a:t>
            </a:r>
            <a:r>
              <a:rPr kumimoji="1" lang="zh-CN" altLang="en-US" dirty="0"/>
              <a:t>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-US" altLang="zh-CN" dirty="0"/>
              <a:t>PASS</a:t>
            </a:r>
            <a:endParaRPr kumimoji="1" lang="zh-CN" altLang="en-US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2D751178-B304-5276-04F7-098D9FDE6F9B}"/>
              </a:ext>
            </a:extLst>
          </p:cNvPr>
          <p:cNvSpPr txBox="1"/>
          <p:nvPr/>
        </p:nvSpPr>
        <p:spPr>
          <a:xfrm>
            <a:off x="-1325880" y="6464808"/>
            <a:ext cx="184731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none" rtlCol="0">
            <a:spAutoFit/>
          </a:bodyPr>
          <a:lstStyle/>
          <a:p>
            <a:pPr algn="l"/>
            <a:endParaRPr kumimoji="1"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6C27BD8C-28B8-603B-3585-445A088CA1B7}"/>
              </a:ext>
            </a:extLst>
          </p:cNvPr>
          <p:cNvGrpSpPr/>
          <p:nvPr/>
        </p:nvGrpSpPr>
        <p:grpSpPr>
          <a:xfrm>
            <a:off x="6340769" y="1696864"/>
            <a:ext cx="3929736" cy="2993938"/>
            <a:chOff x="1903207" y="3989107"/>
            <a:chExt cx="3929736" cy="2391485"/>
          </a:xfrm>
        </p:grpSpPr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DB7B27F6-E079-08E1-3A1C-B1F2BEFB01E6}"/>
                </a:ext>
              </a:extLst>
            </p:cNvPr>
            <p:cNvSpPr/>
            <p:nvPr/>
          </p:nvSpPr>
          <p:spPr>
            <a:xfrm>
              <a:off x="1903207" y="3989107"/>
              <a:ext cx="3929736" cy="23914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B44BB6A7-DDA1-FDA8-24F9-A1CAA187661E}"/>
                </a:ext>
              </a:extLst>
            </p:cNvPr>
            <p:cNvSpPr txBox="1"/>
            <p:nvPr/>
          </p:nvSpPr>
          <p:spPr>
            <a:xfrm>
              <a:off x="2058188" y="4013822"/>
              <a:ext cx="2842054" cy="29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 err="1"/>
                <a:t>kernel_program</a:t>
              </a:r>
              <a:endParaRPr kumimoji="1" lang="zh-CN" altLang="en-US" b="1" dirty="0"/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3A0ABAC2-BEF0-6371-3484-099EA4E0EA26}"/>
                </a:ext>
              </a:extLst>
            </p:cNvPr>
            <p:cNvSpPr/>
            <p:nvPr/>
          </p:nvSpPr>
          <p:spPr>
            <a:xfrm>
              <a:off x="2119450" y="4439353"/>
              <a:ext cx="3497252" cy="1696504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id="{89263710-053D-A094-7160-AA04F0A2D5D1}"/>
                </a:ext>
              </a:extLst>
            </p:cNvPr>
            <p:cNvSpPr txBox="1"/>
            <p:nvPr/>
          </p:nvSpPr>
          <p:spPr>
            <a:xfrm>
              <a:off x="2188586" y="4468575"/>
              <a:ext cx="10688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/>
                <a:t>block</a:t>
              </a:r>
              <a:r>
                <a:rPr kumimoji="1" lang="zh-CN" altLang="en-US" b="1" dirty="0"/>
                <a:t> </a:t>
              </a:r>
              <a:r>
                <a:rPr kumimoji="1" lang="en-US" altLang="zh-CN" b="1" dirty="0"/>
                <a:t>0</a:t>
              </a:r>
              <a:endParaRPr kumimoji="1" lang="zh-CN" altLang="en-US" b="1" dirty="0"/>
            </a:p>
          </p:txBody>
        </p:sp>
        <p:sp>
          <p:nvSpPr>
            <p:cNvPr id="64" name="矩形 63">
              <a:extLst>
                <a:ext uri="{FF2B5EF4-FFF2-40B4-BE49-F238E27FC236}">
                  <a16:creationId xmlns:a16="http://schemas.microsoft.com/office/drawing/2014/main" id="{733041FD-2DD6-6B33-CC32-DAB322C8BE25}"/>
                </a:ext>
              </a:extLst>
            </p:cNvPr>
            <p:cNvSpPr/>
            <p:nvPr/>
          </p:nvSpPr>
          <p:spPr>
            <a:xfrm>
              <a:off x="2280089" y="4784003"/>
              <a:ext cx="1350231" cy="1268728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5" name="矩形 64">
              <a:extLst>
                <a:ext uri="{FF2B5EF4-FFF2-40B4-BE49-F238E27FC236}">
                  <a16:creationId xmlns:a16="http://schemas.microsoft.com/office/drawing/2014/main" id="{97603E27-1811-97C3-AE54-6CCB1914C3E2}"/>
                </a:ext>
              </a:extLst>
            </p:cNvPr>
            <p:cNvSpPr/>
            <p:nvPr/>
          </p:nvSpPr>
          <p:spPr>
            <a:xfrm>
              <a:off x="3714986" y="4784003"/>
              <a:ext cx="1772203" cy="1268728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/>
            </a:p>
          </p:txBody>
        </p: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A0A4DDE1-32D3-39F1-0419-6DA5893E8017}"/>
                </a:ext>
              </a:extLst>
            </p:cNvPr>
            <p:cNvSpPr txBox="1"/>
            <p:nvPr/>
          </p:nvSpPr>
          <p:spPr>
            <a:xfrm>
              <a:off x="2549400" y="4737823"/>
              <a:ext cx="799549" cy="29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Value</a:t>
              </a:r>
              <a:endParaRPr kumimoji="1" lang="zh-CN" altLang="en-US" b="1" dirty="0"/>
            </a:p>
          </p:txBody>
        </p:sp>
        <p:sp>
          <p:nvSpPr>
            <p:cNvPr id="67" name="文本框 66">
              <a:extLst>
                <a:ext uri="{FF2B5EF4-FFF2-40B4-BE49-F238E27FC236}">
                  <a16:creationId xmlns:a16="http://schemas.microsoft.com/office/drawing/2014/main" id="{A6D20AEE-7352-C795-AD50-66C65E65212B}"/>
                </a:ext>
              </a:extLst>
            </p:cNvPr>
            <p:cNvSpPr txBox="1"/>
            <p:nvPr/>
          </p:nvSpPr>
          <p:spPr>
            <a:xfrm>
              <a:off x="3790959" y="4737823"/>
              <a:ext cx="1432695" cy="29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/>
                <a:t>Operation</a:t>
              </a:r>
              <a:endParaRPr kumimoji="1" lang="zh-CN" altLang="en-US" b="1" dirty="0"/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B1703A3E-14B6-C781-1955-59E6B24C1AE6}"/>
              </a:ext>
            </a:extLst>
          </p:cNvPr>
          <p:cNvGrpSpPr/>
          <p:nvPr/>
        </p:nvGrpSpPr>
        <p:grpSpPr>
          <a:xfrm>
            <a:off x="1275301" y="1708353"/>
            <a:ext cx="3929736" cy="2993938"/>
            <a:chOff x="1903207" y="3989107"/>
            <a:chExt cx="3929736" cy="2391485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DDF9C53A-9B18-91DA-3E3A-CAF7A1832ED7}"/>
                </a:ext>
              </a:extLst>
            </p:cNvPr>
            <p:cNvSpPr/>
            <p:nvPr/>
          </p:nvSpPr>
          <p:spPr>
            <a:xfrm>
              <a:off x="1903207" y="3989107"/>
              <a:ext cx="3929736" cy="2391485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37D6EEB5-0EB2-D852-61A7-3C4CB22E6AB6}"/>
                </a:ext>
              </a:extLst>
            </p:cNvPr>
            <p:cNvSpPr txBox="1"/>
            <p:nvPr/>
          </p:nvSpPr>
          <p:spPr>
            <a:xfrm>
              <a:off x="2058188" y="4013822"/>
              <a:ext cx="2842054" cy="29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 err="1">
                  <a:solidFill>
                    <a:schemeClr val="bg1">
                      <a:lumMod val="65000"/>
                    </a:schemeClr>
                  </a:solidFill>
                </a:rPr>
                <a:t>base_program</a:t>
              </a:r>
              <a:endParaRPr kumimoji="1" lang="zh-CN" altLang="en-US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798FC299-CB3C-0F34-6BD9-375BD151EA1A}"/>
                </a:ext>
              </a:extLst>
            </p:cNvPr>
            <p:cNvSpPr/>
            <p:nvPr/>
          </p:nvSpPr>
          <p:spPr>
            <a:xfrm>
              <a:off x="2119450" y="4439353"/>
              <a:ext cx="3497252" cy="1696504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B32688EE-A531-9196-D4B6-3F736EF1177F}"/>
                </a:ext>
              </a:extLst>
            </p:cNvPr>
            <p:cNvSpPr txBox="1"/>
            <p:nvPr/>
          </p:nvSpPr>
          <p:spPr>
            <a:xfrm>
              <a:off x="2188586" y="4468575"/>
              <a:ext cx="1068861" cy="29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b="1" dirty="0">
                  <a:solidFill>
                    <a:schemeClr val="bg1">
                      <a:lumMod val="65000"/>
                    </a:schemeClr>
                  </a:solidFill>
                </a:rPr>
                <a:t>block</a:t>
              </a:r>
              <a:r>
                <a:rPr kumimoji="1" lang="zh-CN" altLang="en-US" b="1" dirty="0">
                  <a:solidFill>
                    <a:schemeClr val="bg1">
                      <a:lumMod val="65000"/>
                    </a:schemeClr>
                  </a:solidFill>
                </a:rPr>
                <a:t> </a:t>
              </a:r>
              <a:r>
                <a:rPr kumimoji="1" lang="en-US" altLang="zh-CN" b="1" dirty="0">
                  <a:solidFill>
                    <a:schemeClr val="bg1">
                      <a:lumMod val="65000"/>
                    </a:schemeClr>
                  </a:solidFill>
                </a:rPr>
                <a:t>0</a:t>
              </a:r>
              <a:endParaRPr kumimoji="1" lang="zh-CN" altLang="en-US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1FA2E435-0128-1171-5420-BDC92FB9801F}"/>
                </a:ext>
              </a:extLst>
            </p:cNvPr>
            <p:cNvSpPr/>
            <p:nvPr/>
          </p:nvSpPr>
          <p:spPr>
            <a:xfrm>
              <a:off x="2280089" y="4784003"/>
              <a:ext cx="1350231" cy="1268728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8E29DD6F-44CC-64BB-8F36-F757C1A4C2F6}"/>
                </a:ext>
              </a:extLst>
            </p:cNvPr>
            <p:cNvSpPr/>
            <p:nvPr/>
          </p:nvSpPr>
          <p:spPr>
            <a:xfrm>
              <a:off x="3714986" y="4784003"/>
              <a:ext cx="1772203" cy="1268728"/>
            </a:xfrm>
            <a:prstGeom prst="rect">
              <a:avLst/>
            </a:prstGeom>
            <a:noFill/>
            <a:ln w="28575">
              <a:solidFill>
                <a:srgbClr val="2339D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kumimoji="1" lang="zh-CN" altLang="en-US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0D519997-92CC-2E3E-A2B4-3EC1764CA793}"/>
                </a:ext>
              </a:extLst>
            </p:cNvPr>
            <p:cNvSpPr txBox="1"/>
            <p:nvPr/>
          </p:nvSpPr>
          <p:spPr>
            <a:xfrm>
              <a:off x="2549401" y="4784003"/>
              <a:ext cx="799549" cy="29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>
                  <a:solidFill>
                    <a:schemeClr val="bg1">
                      <a:lumMod val="65000"/>
                    </a:schemeClr>
                  </a:solidFill>
                </a:rPr>
                <a:t>Value</a:t>
              </a:r>
              <a:endParaRPr kumimoji="1" lang="zh-CN" altLang="en-US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60BD2465-CF9F-0D9D-3867-988C5133DF2F}"/>
                </a:ext>
              </a:extLst>
            </p:cNvPr>
            <p:cNvSpPr txBox="1"/>
            <p:nvPr/>
          </p:nvSpPr>
          <p:spPr>
            <a:xfrm>
              <a:off x="3846563" y="4784002"/>
              <a:ext cx="1432695" cy="29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b="1" dirty="0">
                  <a:solidFill>
                    <a:schemeClr val="bg1">
                      <a:lumMod val="65000"/>
                    </a:schemeClr>
                  </a:solidFill>
                </a:rPr>
                <a:t>Operation</a:t>
              </a:r>
              <a:endParaRPr kumimoji="1" lang="zh-CN" altLang="en-US" b="1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46" name="文本框 45">
            <a:extLst>
              <a:ext uri="{FF2B5EF4-FFF2-40B4-BE49-F238E27FC236}">
                <a16:creationId xmlns:a16="http://schemas.microsoft.com/office/drawing/2014/main" id="{97C19555-152B-0771-DBD6-FC288B9C06A2}"/>
              </a:ext>
            </a:extLst>
          </p:cNvPr>
          <p:cNvSpPr txBox="1"/>
          <p:nvPr/>
        </p:nvSpPr>
        <p:spPr>
          <a:xfrm>
            <a:off x="3392654" y="3057867"/>
            <a:ext cx="1155833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 err="1">
                <a:solidFill>
                  <a:schemeClr val="bg1">
                    <a:lumMod val="65000"/>
                  </a:schemeClr>
                </a:solidFill>
              </a:rPr>
              <a:t>pd_op.full</a:t>
            </a:r>
            <a:endParaRPr kumimoji="1" lang="zh-CN" altLang="en-US" sz="1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195F40F5-AABB-2704-BEDF-E68C4CA2DCAD}"/>
              </a:ext>
            </a:extLst>
          </p:cNvPr>
          <p:cNvSpPr txBox="1"/>
          <p:nvPr/>
        </p:nvSpPr>
        <p:spPr>
          <a:xfrm>
            <a:off x="3393761" y="3440794"/>
            <a:ext cx="1155833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 err="1">
                <a:solidFill>
                  <a:schemeClr val="bg1">
                    <a:lumMod val="65000"/>
                  </a:schemeClr>
                </a:solidFill>
              </a:rPr>
              <a:t>pd_op.full</a:t>
            </a:r>
            <a:endParaRPr kumimoji="1" lang="zh-CN" altLang="en-US" sz="1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C03D77F0-56CF-50E5-138E-8BBF2308E0E0}"/>
              </a:ext>
            </a:extLst>
          </p:cNvPr>
          <p:cNvSpPr txBox="1"/>
          <p:nvPr/>
        </p:nvSpPr>
        <p:spPr>
          <a:xfrm>
            <a:off x="3163053" y="3829123"/>
            <a:ext cx="1586642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 err="1">
                <a:solidFill>
                  <a:schemeClr val="bg1">
                    <a:lumMod val="65000"/>
                  </a:schemeClr>
                </a:solidFill>
              </a:rPr>
              <a:t>pd_op.add</a:t>
            </a:r>
            <a:endParaRPr kumimoji="1" lang="zh-CN" altLang="en-US" sz="1400" b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EBE50E73-6129-E6CA-1EB1-9A24B0A8D062}"/>
              </a:ext>
            </a:extLst>
          </p:cNvPr>
          <p:cNvSpPr txBox="1"/>
          <p:nvPr/>
        </p:nvSpPr>
        <p:spPr>
          <a:xfrm>
            <a:off x="1688812" y="3061509"/>
            <a:ext cx="128722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200" b="1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ValueImp</a:t>
            </a:r>
            <a:endParaRPr lang="en" altLang="zh-CN" sz="1200" b="1" dirty="0">
              <a:solidFill>
                <a:schemeClr val="bg1">
                  <a:lumMod val="6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D5CEED8E-3AA0-9B7B-FC09-D1B4C9F294CD}"/>
              </a:ext>
            </a:extLst>
          </p:cNvPr>
          <p:cNvSpPr txBox="1"/>
          <p:nvPr/>
        </p:nvSpPr>
        <p:spPr>
          <a:xfrm>
            <a:off x="1688812" y="3451543"/>
            <a:ext cx="128722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200" b="1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ValueImp</a:t>
            </a:r>
            <a:endParaRPr lang="en" altLang="zh-CN" sz="1200" b="1" dirty="0">
              <a:solidFill>
                <a:schemeClr val="bg1">
                  <a:lumMod val="6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D7442B0-3297-EF8C-752E-1FEC13585FC2}"/>
              </a:ext>
            </a:extLst>
          </p:cNvPr>
          <p:cNvSpPr txBox="1"/>
          <p:nvPr/>
        </p:nvSpPr>
        <p:spPr>
          <a:xfrm>
            <a:off x="1686128" y="3862037"/>
            <a:ext cx="128722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200" b="1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ValueImp</a:t>
            </a:r>
            <a:endParaRPr lang="en" altLang="zh-CN" sz="1200" b="1" dirty="0">
              <a:solidFill>
                <a:schemeClr val="bg1">
                  <a:lumMod val="65000"/>
                </a:schemeClr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4A32DD3-A1CB-31AA-77B6-A3BB1ED6BBEE}"/>
              </a:ext>
            </a:extLst>
          </p:cNvPr>
          <p:cNvSpPr txBox="1"/>
          <p:nvPr/>
        </p:nvSpPr>
        <p:spPr>
          <a:xfrm>
            <a:off x="6758541" y="3007001"/>
            <a:ext cx="128722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2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ValueImp</a:t>
            </a:r>
            <a:endParaRPr lang="en" altLang="zh-CN" sz="12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E438F2C5-EF53-5FC4-1980-BEC31A828BCE}"/>
              </a:ext>
            </a:extLst>
          </p:cNvPr>
          <p:cNvSpPr txBox="1"/>
          <p:nvPr/>
        </p:nvSpPr>
        <p:spPr>
          <a:xfrm>
            <a:off x="6758541" y="3397035"/>
            <a:ext cx="128722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2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ValueImp</a:t>
            </a:r>
            <a:endParaRPr lang="en" altLang="zh-CN" sz="12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54A6CF2D-5EA1-7FA9-A553-E2B8F8D68151}"/>
              </a:ext>
            </a:extLst>
          </p:cNvPr>
          <p:cNvSpPr txBox="1"/>
          <p:nvPr/>
        </p:nvSpPr>
        <p:spPr>
          <a:xfrm>
            <a:off x="6755857" y="3807529"/>
            <a:ext cx="1287228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" altLang="zh-CN" sz="1200" b="1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ValueImp</a:t>
            </a:r>
            <a:endParaRPr lang="en" altLang="zh-CN" sz="1200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D6893BD2-1483-21F4-1535-A7022102288C}"/>
              </a:ext>
            </a:extLst>
          </p:cNvPr>
          <p:cNvSpPr txBox="1"/>
          <p:nvPr/>
        </p:nvSpPr>
        <p:spPr>
          <a:xfrm>
            <a:off x="8228521" y="3009362"/>
            <a:ext cx="1608206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/>
              <a:t>full(</a:t>
            </a:r>
            <a:r>
              <a:rPr kumimoji="1" lang="en-US" altLang="zh-CN" sz="1400" b="1" dirty="0" err="1"/>
              <a:t>phi_kernel</a:t>
            </a:r>
            <a:r>
              <a:rPr kumimoji="1" lang="en-US" altLang="zh-CN" sz="1400" b="1" dirty="0"/>
              <a:t>)</a:t>
            </a:r>
            <a:endParaRPr kumimoji="1" lang="zh-CN" altLang="en-US" sz="1400" b="1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D82DE7CF-E75B-78B9-CD7F-25822C4EFD13}"/>
              </a:ext>
            </a:extLst>
          </p:cNvPr>
          <p:cNvSpPr txBox="1"/>
          <p:nvPr/>
        </p:nvSpPr>
        <p:spPr>
          <a:xfrm>
            <a:off x="8228521" y="3393699"/>
            <a:ext cx="1608206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/>
              <a:t>full(</a:t>
            </a:r>
            <a:r>
              <a:rPr kumimoji="1" lang="en-US" altLang="zh-CN" sz="1400" b="1" dirty="0" err="1"/>
              <a:t>phi_kernel</a:t>
            </a:r>
            <a:r>
              <a:rPr kumimoji="1" lang="en-US" altLang="zh-CN" sz="1400" b="1" dirty="0"/>
              <a:t>)</a:t>
            </a:r>
            <a:endParaRPr kumimoji="1" lang="zh-CN" altLang="en-US" sz="1400" b="1" dirty="0"/>
          </a:p>
        </p:txBody>
      </p:sp>
      <p:sp>
        <p:nvSpPr>
          <p:cNvPr id="72" name="文本框 71">
            <a:extLst>
              <a:ext uri="{FF2B5EF4-FFF2-40B4-BE49-F238E27FC236}">
                <a16:creationId xmlns:a16="http://schemas.microsoft.com/office/drawing/2014/main" id="{9FED22E3-A913-285A-C13B-82D2B32B0347}"/>
              </a:ext>
            </a:extLst>
          </p:cNvPr>
          <p:cNvSpPr txBox="1"/>
          <p:nvPr/>
        </p:nvSpPr>
        <p:spPr>
          <a:xfrm>
            <a:off x="8228521" y="3792139"/>
            <a:ext cx="1608206" cy="30777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 b="1" dirty="0"/>
              <a:t>add_(</a:t>
            </a:r>
            <a:r>
              <a:rPr kumimoji="1" lang="en-US" altLang="zh-CN" sz="1400" b="1" dirty="0" err="1"/>
              <a:t>phi_kernel</a:t>
            </a:r>
            <a:r>
              <a:rPr kumimoji="1" lang="en-US" altLang="zh-CN" sz="1400" b="1" dirty="0"/>
              <a:t>)</a:t>
            </a:r>
            <a:endParaRPr kumimoji="1" lang="zh-CN" altLang="en-US" sz="1400" b="1" dirty="0"/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2849546F-4BD0-636C-89B0-9D87855FC85C}"/>
              </a:ext>
            </a:extLst>
          </p:cNvPr>
          <p:cNvSpPr txBox="1"/>
          <p:nvPr/>
        </p:nvSpPr>
        <p:spPr>
          <a:xfrm>
            <a:off x="5577912" y="2996312"/>
            <a:ext cx="32266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  <a:sym typeface="Wingdings" pitchFamily="2" charset="2"/>
              </a:rPr>
              <a:t>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458638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10C91984-8AE4-F897-9603-AC3C609F6DD0}"/>
              </a:ext>
            </a:extLst>
          </p:cNvPr>
          <p:cNvSpPr txBox="1">
            <a:spLocks/>
          </p:cNvSpPr>
          <p:nvPr/>
        </p:nvSpPr>
        <p:spPr>
          <a:xfrm>
            <a:off x="11420158" y="7101432"/>
            <a:ext cx="4953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CC9FD4-7953-474F-BDDD-03B89B9227C0}" type="slidenum">
              <a:rPr lang="zh-CN" altLang="en-US" smtClean="0"/>
              <a:pPr/>
              <a:t>37</a:t>
            </a:fld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6217AB1-D1EA-8CF4-F177-3335290AED1A}"/>
              </a:ext>
            </a:extLst>
          </p:cNvPr>
          <p:cNvSpPr/>
          <p:nvPr/>
        </p:nvSpPr>
        <p:spPr>
          <a:xfrm>
            <a:off x="822601" y="844549"/>
            <a:ext cx="86441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out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.run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b="0" dirty="0" err="1">
                <a:solidFill>
                  <a:srgbClr val="1F377F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.name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EB503E-B343-5D33-266B-D779F507AF07}"/>
              </a:ext>
            </a:extLst>
          </p:cNvPr>
          <p:cNvSpPr txBox="1"/>
          <p:nvPr/>
        </p:nvSpPr>
        <p:spPr>
          <a:xfrm>
            <a:off x="1464492" y="2715552"/>
            <a:ext cx="1166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dirty="0">
                <a:latin typeface="Courier" pitchFamily="2" charset="0"/>
              </a:rPr>
              <a:t>run</a:t>
            </a:r>
            <a:endParaRPr kumimoji="1" lang="zh-CN" altLang="en-US" dirty="0">
              <a:latin typeface="Courier" pitchFamily="2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1296CE0-7397-01B6-69BF-F818E46D964E}"/>
              </a:ext>
            </a:extLst>
          </p:cNvPr>
          <p:cNvSpPr txBox="1"/>
          <p:nvPr/>
        </p:nvSpPr>
        <p:spPr>
          <a:xfrm>
            <a:off x="997968" y="3366717"/>
            <a:ext cx="2098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run_impl</a:t>
            </a:r>
            <a:r>
              <a:rPr lang="en-US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_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run_pir_impl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D073CDC-9BAA-EA3C-B88F-8B76858531AE}"/>
              </a:ext>
            </a:extLst>
          </p:cNvPr>
          <p:cNvSpPr txBox="1"/>
          <p:nvPr/>
        </p:nvSpPr>
        <p:spPr>
          <a:xfrm>
            <a:off x="801937" y="1421191"/>
            <a:ext cx="19152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/>
              <a:t>函数调用栈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764515A-B571-6540-A2D0-5DAB4ADD2B37}"/>
              </a:ext>
            </a:extLst>
          </p:cNvPr>
          <p:cNvSpPr txBox="1"/>
          <p:nvPr/>
        </p:nvSpPr>
        <p:spPr>
          <a:xfrm>
            <a:off x="352000" y="4316067"/>
            <a:ext cx="3390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CA8241A-CF1D-3826-F365-5B1F7E68BFB4}"/>
              </a:ext>
            </a:extLst>
          </p:cNvPr>
          <p:cNvSpPr txBox="1"/>
          <p:nvPr/>
        </p:nvSpPr>
        <p:spPr>
          <a:xfrm>
            <a:off x="4456360" y="3153911"/>
            <a:ext cx="2820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CN" dirty="0">
                <a:latin typeface="Courier" pitchFamily="2" charset="0"/>
              </a:rPr>
              <a:t>.def("run", [](</a:t>
            </a:r>
            <a:r>
              <a:rPr lang="en-US" altLang="zh-CN" dirty="0">
                <a:latin typeface="Courier" pitchFamily="2" charset="0"/>
              </a:rPr>
              <a:t>…</a:t>
            </a:r>
            <a:r>
              <a:rPr lang="en" altLang="zh-CN" dirty="0">
                <a:latin typeface="Courier" pitchFamily="2" charset="0"/>
              </a:rPr>
              <a:t>)</a:t>
            </a:r>
            <a:r>
              <a:rPr lang="en-US" altLang="zh-CN" dirty="0">
                <a:latin typeface="Courier" pitchFamily="2" charset="0"/>
              </a:rPr>
              <a:t>{</a:t>
            </a:r>
          </a:p>
          <a:p>
            <a:r>
              <a:rPr lang="zh-CN" altLang="en-US" dirty="0">
                <a:latin typeface="Courier" pitchFamily="2" charset="0"/>
              </a:rPr>
              <a:t>   </a:t>
            </a:r>
            <a:r>
              <a:rPr lang="en" altLang="zh-CN" dirty="0" err="1">
                <a:latin typeface="Courier" pitchFamily="2" charset="0"/>
              </a:rPr>
              <a:t>self.Run</a:t>
            </a:r>
            <a:r>
              <a:rPr lang="en-US" altLang="zh-CN" dirty="0">
                <a:latin typeface="Courier" pitchFamily="2" charset="0"/>
              </a:rPr>
              <a:t>(…)</a:t>
            </a:r>
          </a:p>
          <a:p>
            <a:r>
              <a:rPr lang="en-US" altLang="zh-CN" dirty="0">
                <a:latin typeface="Courier" pitchFamily="2" charset="0"/>
              </a:rPr>
              <a:t>})</a:t>
            </a:r>
            <a:r>
              <a:rPr lang="en" altLang="zh-CN" dirty="0">
                <a:latin typeface="Courier" pitchFamily="2" charset="0"/>
              </a:rPr>
              <a:t> 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C3600B-9CD9-1B1B-A42E-30C5221A3DA4}"/>
              </a:ext>
            </a:extLst>
          </p:cNvPr>
          <p:cNvSpPr/>
          <p:nvPr/>
        </p:nvSpPr>
        <p:spPr>
          <a:xfrm>
            <a:off x="8155782" y="2931073"/>
            <a:ext cx="402349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framework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FetchList</a:t>
            </a:r>
            <a:r>
              <a:rPr lang="zh-CN" altLang="en-US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-US" altLang="zh-CN" dirty="0">
                <a:solidFill>
                  <a:srgbClr val="795E2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(…)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zh-CN" alt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interpretercores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job_idx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]-&gt;Run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1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8" name="直线连接符 17">
            <a:extLst>
              <a:ext uri="{FF2B5EF4-FFF2-40B4-BE49-F238E27FC236}">
                <a16:creationId xmlns:a16="http://schemas.microsoft.com/office/drawing/2014/main" id="{42DA93F1-B1C6-E050-F9BF-EE5976F9F4CD}"/>
              </a:ext>
            </a:extLst>
          </p:cNvPr>
          <p:cNvCxnSpPr/>
          <p:nvPr/>
        </p:nvCxnSpPr>
        <p:spPr>
          <a:xfrm>
            <a:off x="3892378" y="2161297"/>
            <a:ext cx="0" cy="3757589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连接符 19">
            <a:extLst>
              <a:ext uri="{FF2B5EF4-FFF2-40B4-BE49-F238E27FC236}">
                <a16:creationId xmlns:a16="http://schemas.microsoft.com/office/drawing/2014/main" id="{1878E5AC-7563-4BBD-B8DA-048B0697C958}"/>
              </a:ext>
            </a:extLst>
          </p:cNvPr>
          <p:cNvCxnSpPr/>
          <p:nvPr/>
        </p:nvCxnSpPr>
        <p:spPr>
          <a:xfrm>
            <a:off x="8125901" y="2161297"/>
            <a:ext cx="0" cy="3757589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CB1E875F-A841-01D0-C913-E809EF96CADF}"/>
              </a:ext>
            </a:extLst>
          </p:cNvPr>
          <p:cNvCxnSpPr>
            <a:cxnSpLocks/>
            <a:stCxn id="9" idx="2"/>
            <a:endCxn id="12" idx="0"/>
          </p:cNvCxnSpPr>
          <p:nvPr/>
        </p:nvCxnSpPr>
        <p:spPr>
          <a:xfrm flipH="1">
            <a:off x="2047317" y="3084884"/>
            <a:ext cx="593" cy="281833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线箭头连接符 23">
            <a:extLst>
              <a:ext uri="{FF2B5EF4-FFF2-40B4-BE49-F238E27FC236}">
                <a16:creationId xmlns:a16="http://schemas.microsoft.com/office/drawing/2014/main" id="{07938859-8799-5A9A-33BD-77BA646F03C0}"/>
              </a:ext>
            </a:extLst>
          </p:cNvPr>
          <p:cNvCxnSpPr>
            <a:cxnSpLocks/>
            <a:stCxn id="12" idx="2"/>
            <a:endCxn id="15" idx="0"/>
          </p:cNvCxnSpPr>
          <p:nvPr/>
        </p:nvCxnSpPr>
        <p:spPr>
          <a:xfrm flipH="1">
            <a:off x="2047316" y="4013048"/>
            <a:ext cx="1" cy="303019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线箭头连接符 24">
            <a:extLst>
              <a:ext uri="{FF2B5EF4-FFF2-40B4-BE49-F238E27FC236}">
                <a16:creationId xmlns:a16="http://schemas.microsoft.com/office/drawing/2014/main" id="{00B82A26-115C-BBC6-559C-CCC90F2B2933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 flipV="1">
            <a:off x="3742632" y="3615576"/>
            <a:ext cx="713728" cy="885157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线箭头连接符 25">
            <a:extLst>
              <a:ext uri="{FF2B5EF4-FFF2-40B4-BE49-F238E27FC236}">
                <a16:creationId xmlns:a16="http://schemas.microsoft.com/office/drawing/2014/main" id="{25EF7007-2326-5D98-42A0-B5A1A561B781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>
            <a:off x="7277344" y="3615576"/>
            <a:ext cx="878438" cy="192660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矩形 26">
            <a:extLst>
              <a:ext uri="{FF2B5EF4-FFF2-40B4-BE49-F238E27FC236}">
                <a16:creationId xmlns:a16="http://schemas.microsoft.com/office/drawing/2014/main" id="{CED92D64-2DBB-242B-16E9-08ACC9CC8749}"/>
              </a:ext>
            </a:extLst>
          </p:cNvPr>
          <p:cNvSpPr/>
          <p:nvPr/>
        </p:nvSpPr>
        <p:spPr>
          <a:xfrm>
            <a:off x="838200" y="2183527"/>
            <a:ext cx="291468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CA87400-3316-F47F-CED7-5FC8F920CDFB}"/>
              </a:ext>
            </a:extLst>
          </p:cNvPr>
          <p:cNvSpPr/>
          <p:nvPr/>
        </p:nvSpPr>
        <p:spPr>
          <a:xfrm>
            <a:off x="4179327" y="2032451"/>
            <a:ext cx="376642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py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class_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framework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&gt;(m,</a:t>
            </a:r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BF196AB0-6667-C3D3-D5A5-233A94CF8F1B}"/>
              </a:ext>
            </a:extLst>
          </p:cNvPr>
          <p:cNvSpPr/>
          <p:nvPr/>
        </p:nvSpPr>
        <p:spPr>
          <a:xfrm>
            <a:off x="8279873" y="2183527"/>
            <a:ext cx="36311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51B387BD-D4FF-359A-6DA1-05F0B313E2C8}"/>
              </a:ext>
            </a:extLst>
          </p:cNvPr>
          <p:cNvSpPr txBox="1"/>
          <p:nvPr/>
        </p:nvSpPr>
        <p:spPr>
          <a:xfrm>
            <a:off x="1841580" y="5641227"/>
            <a:ext cx="5512967" cy="418576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en-US" altLang="zh-CN" dirty="0" err="1">
                <a:latin typeface="Courier" pitchFamily="2" charset="0"/>
              </a:rPr>
              <a:t>exe.run</a:t>
            </a:r>
            <a:r>
              <a:rPr kumimoji="1" lang="zh-CN" altLang="en-US" dirty="0">
                <a:latin typeface="Courier" pitchFamily="2" charset="0"/>
              </a:rPr>
              <a:t>从</a:t>
            </a:r>
            <a:r>
              <a:rPr kumimoji="1" lang="en-US" altLang="zh-CN" dirty="0">
                <a:latin typeface="Courier" pitchFamily="2" charset="0"/>
              </a:rPr>
              <a:t>Python</a:t>
            </a:r>
            <a:r>
              <a:rPr kumimoji="1" lang="zh-CN" altLang="en-US" dirty="0">
                <a:latin typeface="Courier" pitchFamily="2" charset="0"/>
              </a:rPr>
              <a:t>到</a:t>
            </a:r>
            <a:r>
              <a:rPr kumimoji="1" lang="en-US" altLang="zh-CN" dirty="0" err="1">
                <a:latin typeface="Courier" pitchFamily="2" charset="0"/>
              </a:rPr>
              <a:t>pybind</a:t>
            </a:r>
            <a:r>
              <a:rPr kumimoji="1" lang="zh-CN" altLang="en-US" dirty="0">
                <a:latin typeface="Courier" pitchFamily="2" charset="0"/>
              </a:rPr>
              <a:t>到</a:t>
            </a:r>
            <a:r>
              <a:rPr kumimoji="1" lang="en-US" altLang="zh-CN" dirty="0">
                <a:latin typeface="Courier" pitchFamily="2" charset="0"/>
              </a:rPr>
              <a:t>C++</a:t>
            </a:r>
            <a:r>
              <a:rPr kumimoji="1" lang="zh-CN" altLang="en-US" dirty="0">
                <a:latin typeface="Courier" pitchFamily="2" charset="0"/>
              </a:rPr>
              <a:t>的函数调用路径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BC49CE9B-41FD-6DC2-63BA-A0B75331F869}"/>
              </a:ext>
            </a:extLst>
          </p:cNvPr>
          <p:cNvSpPr txBox="1"/>
          <p:nvPr/>
        </p:nvSpPr>
        <p:spPr>
          <a:xfrm>
            <a:off x="8567149" y="5317279"/>
            <a:ext cx="3200760" cy="767518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dirty="0">
                <a:latin typeface="Courier" pitchFamily="2" charset="0"/>
              </a:rPr>
              <a:t>调用</a:t>
            </a:r>
            <a:r>
              <a:rPr lang="en" altLang="zh-CN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interpretercores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zh-CN" altLang="en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r>
              <a:rPr kumimoji="1" lang="en-US" altLang="zh-CN" dirty="0">
                <a:latin typeface="Courier" pitchFamily="2" charset="0"/>
              </a:rPr>
              <a:t>Run</a:t>
            </a:r>
            <a:r>
              <a:rPr kumimoji="1" lang="zh-CN" altLang="en-US" dirty="0">
                <a:latin typeface="Courier" pitchFamily="2" charset="0"/>
              </a:rPr>
              <a:t>方法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39020248-2FE4-F19D-4EA9-658805CFE126}"/>
              </a:ext>
            </a:extLst>
          </p:cNvPr>
          <p:cNvSpPr txBox="1"/>
          <p:nvPr/>
        </p:nvSpPr>
        <p:spPr>
          <a:xfrm>
            <a:off x="387180" y="4954554"/>
            <a:ext cx="33906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core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.StandaloneExecutor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0" name="直线箭头连接符 49">
            <a:extLst>
              <a:ext uri="{FF2B5EF4-FFF2-40B4-BE49-F238E27FC236}">
                <a16:creationId xmlns:a16="http://schemas.microsoft.com/office/drawing/2014/main" id="{2BA31741-3A82-A71A-CC28-BDBF23B71B38}"/>
              </a:ext>
            </a:extLst>
          </p:cNvPr>
          <p:cNvCxnSpPr>
            <a:cxnSpLocks/>
          </p:cNvCxnSpPr>
          <p:nvPr/>
        </p:nvCxnSpPr>
        <p:spPr>
          <a:xfrm flipH="1">
            <a:off x="2047315" y="4663661"/>
            <a:ext cx="1" cy="376818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ABA9DBE4-8B6D-9E67-7FE4-FFE8AB555F2D}"/>
              </a:ext>
            </a:extLst>
          </p:cNvPr>
          <p:cNvSpPr txBox="1"/>
          <p:nvPr/>
        </p:nvSpPr>
        <p:spPr>
          <a:xfrm>
            <a:off x="2304076" y="2903526"/>
            <a:ext cx="1998313" cy="421269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</a:pPr>
            <a:r>
              <a:rPr kumimoji="1" lang="zh-CN" altLang="en-US" dirty="0"/>
              <a:t>缓存：</a:t>
            </a:r>
            <a:r>
              <a:rPr kumimoji="1" lang="en-US" altLang="zh-CN" dirty="0" err="1">
                <a:latin typeface="Courier" pitchFamily="2" charset="0"/>
              </a:rPr>
              <a:t>LRUCache</a:t>
            </a:r>
            <a:endParaRPr kumimoji="1" lang="zh-CN" altLang="en-US" dirty="0">
              <a:latin typeface="Courier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24290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10C91984-8AE4-F897-9603-AC3C609F6DD0}"/>
              </a:ext>
            </a:extLst>
          </p:cNvPr>
          <p:cNvSpPr txBox="1">
            <a:spLocks/>
          </p:cNvSpPr>
          <p:nvPr/>
        </p:nvSpPr>
        <p:spPr>
          <a:xfrm>
            <a:off x="11420158" y="7101432"/>
            <a:ext cx="4953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CC9FD4-7953-474F-BDDD-03B89B9227C0}" type="slidenum">
              <a:rPr lang="zh-CN" altLang="en-US" smtClean="0"/>
              <a:pPr/>
              <a:t>38</a:t>
            </a:fld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179766-4FF2-4632-55EF-7EBB9D257FBB}"/>
              </a:ext>
            </a:extLst>
          </p:cNvPr>
          <p:cNvSpPr/>
          <p:nvPr/>
        </p:nvSpPr>
        <p:spPr>
          <a:xfrm>
            <a:off x="838200" y="1624393"/>
            <a:ext cx="10515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StandaloneExecutor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::Place&amp; place,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::Plan&amp; plan,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Scope* scope)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EB229277-EE30-F5D4-65E9-67BF331EDA16}"/>
              </a:ext>
            </a:extLst>
          </p:cNvPr>
          <p:cNvSpPr txBox="1"/>
          <p:nvPr/>
        </p:nvSpPr>
        <p:spPr>
          <a:xfrm>
            <a:off x="838200" y="2686348"/>
            <a:ext cx="50139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interpretercores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job_idx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]-&gt;Run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4F32CA99-CE9E-577F-8650-9FFC73F81F4A}"/>
              </a:ext>
            </a:extLst>
          </p:cNvPr>
          <p:cNvSpPr txBox="1"/>
          <p:nvPr/>
        </p:nvSpPr>
        <p:spPr>
          <a:xfrm>
            <a:off x="1040056" y="3429000"/>
            <a:ext cx="9109783" cy="2031325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新执行器的核心类：</a:t>
            </a:r>
            <a:r>
              <a:rPr lang="en" altLang="zh-CN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InterpreterCore</a:t>
            </a:r>
            <a:endParaRPr lang="en" altLang="zh-CN" dirty="0">
              <a:solidFill>
                <a:srgbClr val="2339DA"/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  <a:p>
            <a:pPr algn="l"/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interpretercores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_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类型：</a:t>
            </a:r>
            <a:r>
              <a:rPr lang="en" altLang="zh-CN" dirty="0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std::</a:t>
            </a:r>
            <a:r>
              <a:rPr lang="en" altLang="zh-CN" dirty="0" err="1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unordered_map</a:t>
            </a:r>
            <a:r>
              <a:rPr lang="en" altLang="zh-CN" dirty="0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&lt;std::string, std::</a:t>
            </a:r>
            <a:r>
              <a:rPr lang="en" altLang="zh-CN" dirty="0" err="1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shared_ptr</a:t>
            </a:r>
            <a:r>
              <a:rPr lang="en" altLang="zh-CN" dirty="0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&lt;</a:t>
            </a:r>
            <a:r>
              <a:rPr lang="en" altLang="zh-CN" dirty="0" err="1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InterpreterCore</a:t>
            </a:r>
            <a:r>
              <a:rPr lang="en" altLang="zh-CN" dirty="0">
                <a:solidFill>
                  <a:schemeClr val="accent4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&gt;&gt;</a:t>
            </a:r>
            <a:r>
              <a:rPr lang="zh-CN" altLang="en" dirty="0">
                <a:solidFill>
                  <a:schemeClr val="bg1">
                    <a:lumMod val="75000"/>
                  </a:schemeClr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，</a:t>
            </a:r>
            <a:endParaRPr lang="en-US" altLang="zh-CN" dirty="0">
              <a:solidFill>
                <a:schemeClr val="bg1">
                  <a:lumMod val="75000"/>
                </a:schemeClr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  <a:p>
            <a:pPr algn="l"/>
            <a:endParaRPr lang="en-US" altLang="zh-CN" dirty="0">
              <a:solidFill>
                <a:schemeClr val="bg1">
                  <a:lumMod val="75000"/>
                </a:schemeClr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  <a:p>
            <a:pPr algn="l"/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StandaloneExecutor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首先尝试从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interpretercores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_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中查询是否已经存在相应的核心，如果没有就新建一个，否则返回已存在的核心。并在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Run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方法中调用该核心执行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program</a:t>
            </a:r>
          </a:p>
        </p:txBody>
      </p: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28755BBC-560A-FD58-9530-FFFEFC955AE1}"/>
              </a:ext>
            </a:extLst>
          </p:cNvPr>
          <p:cNvCxnSpPr>
            <a:cxnSpLocks/>
            <a:stCxn id="30" idx="0"/>
          </p:cNvCxnSpPr>
          <p:nvPr/>
        </p:nvCxnSpPr>
        <p:spPr>
          <a:xfrm flipH="1" flipV="1">
            <a:off x="2692252" y="3068740"/>
            <a:ext cx="2902696" cy="360260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矩形 38">
            <a:extLst>
              <a:ext uri="{FF2B5EF4-FFF2-40B4-BE49-F238E27FC236}">
                <a16:creationId xmlns:a16="http://schemas.microsoft.com/office/drawing/2014/main" id="{FDF9DA84-8D20-440E-0094-1DFC13700468}"/>
              </a:ext>
            </a:extLst>
          </p:cNvPr>
          <p:cNvSpPr/>
          <p:nvPr/>
        </p:nvSpPr>
        <p:spPr>
          <a:xfrm>
            <a:off x="822601" y="844549"/>
            <a:ext cx="864412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out = </a:t>
            </a:r>
            <a:r>
              <a:rPr lang="en" altLang="zh-CN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exe.run</a:t>
            </a:r>
            <a:r>
              <a:rPr lang="en" altLang="zh-CN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z.name</a:t>
            </a:r>
            <a:r>
              <a:rPr lang="en" altLang="zh-CN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</p:spTree>
    <p:extLst>
      <p:ext uri="{BB962C8B-B14F-4D97-AF65-F5344CB8AC3E}">
        <p14:creationId xmlns:p14="http://schemas.microsoft.com/office/powerpoint/2010/main" val="347159166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4566489-522A-F09C-410E-AB0FEFCC469E}"/>
              </a:ext>
            </a:extLst>
          </p:cNvPr>
          <p:cNvSpPr txBox="1"/>
          <p:nvPr/>
        </p:nvSpPr>
        <p:spPr>
          <a:xfrm>
            <a:off x="838200" y="2985411"/>
            <a:ext cx="64339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InterpreterBaseImpl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virtual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framework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= </a:t>
            </a:r>
            <a:r>
              <a:rPr lang="en" altLang="zh-CN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2249FBA-F8C2-1A4A-8491-FF621707D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1"/>
            <a:ext cx="10515600" cy="369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out =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exe.run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z.name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10C91984-8AE4-F897-9603-AC3C609F6DD0}"/>
              </a:ext>
            </a:extLst>
          </p:cNvPr>
          <p:cNvSpPr txBox="1">
            <a:spLocks/>
          </p:cNvSpPr>
          <p:nvPr/>
        </p:nvSpPr>
        <p:spPr>
          <a:xfrm>
            <a:off x="11420158" y="7101432"/>
            <a:ext cx="4953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CC9FD4-7953-474F-BDDD-03B89B9227C0}" type="slidenum">
              <a:rPr lang="zh-CN" altLang="en-US" smtClean="0"/>
              <a:pPr/>
              <a:t>39</a:t>
            </a:fld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7179766-4FF2-4632-55EF-7EBB9D257FBB}"/>
              </a:ext>
            </a:extLst>
          </p:cNvPr>
          <p:cNvSpPr/>
          <p:nvPr/>
        </p:nvSpPr>
        <p:spPr>
          <a:xfrm>
            <a:off x="838200" y="1789493"/>
            <a:ext cx="10515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InterpreterCore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" altLang="zh-CN" b="0" dirty="0">
                <a:solidFill>
                  <a:srgbClr val="AF00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return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impl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feed_names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need_fetch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BE8FFF6-CE1B-4E7B-0DE9-AD6CF3743256}"/>
              </a:ext>
            </a:extLst>
          </p:cNvPr>
          <p:cNvSpPr txBox="1"/>
          <p:nvPr/>
        </p:nvSpPr>
        <p:spPr>
          <a:xfrm>
            <a:off x="7874598" y="2505669"/>
            <a:ext cx="4128021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InterpreterCore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调用</a:t>
            </a:r>
            <a:r>
              <a:rPr lang="en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InterpreterBaseImpl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r>
              <a:rPr lang="en" altLang="zh-C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zh-CN" altLang="en-US" dirty="0">
                <a:solidFill>
                  <a:srgbClr val="1C1D1F"/>
                </a:solidFill>
                <a:effectLst/>
              </a:rPr>
              <a:t>方法，该方法在派生的</a:t>
            </a:r>
            <a:r>
              <a:rPr lang="en" altLang="zh-CN" dirty="0">
                <a:solidFill>
                  <a:srgbClr val="1C1D1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</a:t>
            </a:r>
            <a:r>
              <a:rPr lang="zh-CN" altLang="en-US" dirty="0">
                <a:solidFill>
                  <a:srgbClr val="1C1D1F"/>
                </a:solidFill>
                <a:effectLst/>
              </a:rPr>
              <a:t>中实现</a:t>
            </a:r>
            <a:endParaRPr lang="zh-CN" altLang="en-US" dirty="0">
              <a:effectLst/>
            </a:endParaRPr>
          </a:p>
        </p:txBody>
      </p: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297669C8-AC02-89C7-70C1-F68A54830AFA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1486198" y="3859504"/>
            <a:ext cx="1827232" cy="773492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箭头连接符 34">
            <a:extLst>
              <a:ext uri="{FF2B5EF4-FFF2-40B4-BE49-F238E27FC236}">
                <a16:creationId xmlns:a16="http://schemas.microsoft.com/office/drawing/2014/main" id="{28755BBC-560A-FD58-9530-FFFEFC955AE1}"/>
              </a:ext>
            </a:extLst>
          </p:cNvPr>
          <p:cNvCxnSpPr>
            <a:cxnSpLocks/>
          </p:cNvCxnSpPr>
          <p:nvPr/>
        </p:nvCxnSpPr>
        <p:spPr>
          <a:xfrm flipH="1" flipV="1">
            <a:off x="3074222" y="2352563"/>
            <a:ext cx="335952" cy="764420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7D894ECA-3FD2-FAF6-F455-72DE8B49886D}"/>
              </a:ext>
            </a:extLst>
          </p:cNvPr>
          <p:cNvSpPr txBox="1"/>
          <p:nvPr/>
        </p:nvSpPr>
        <p:spPr>
          <a:xfrm>
            <a:off x="6388101" y="4632996"/>
            <a:ext cx="5257800" cy="369332"/>
          </a:xfrm>
          <a:prstGeom prst="rect">
            <a:avLst/>
          </a:prstGeom>
          <a:noFill/>
          <a:ln>
            <a:solidFill>
              <a:srgbClr val="2339DA"/>
            </a:solidFill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NewIRInterpreter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2A1E8B-3152-1D4A-F124-F10AAA2D3D21}"/>
              </a:ext>
            </a:extLst>
          </p:cNvPr>
          <p:cNvSpPr txBox="1"/>
          <p:nvPr/>
        </p:nvSpPr>
        <p:spPr>
          <a:xfrm>
            <a:off x="581659" y="4632996"/>
            <a:ext cx="5463541" cy="369332"/>
          </a:xfrm>
          <a:prstGeom prst="rect">
            <a:avLst/>
          </a:prstGeom>
          <a:noFill/>
          <a:ln>
            <a:solidFill>
              <a:srgbClr val="2339DA"/>
            </a:solidFill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5" name="直线箭头连接符 14">
            <a:extLst>
              <a:ext uri="{FF2B5EF4-FFF2-40B4-BE49-F238E27FC236}">
                <a16:creationId xmlns:a16="http://schemas.microsoft.com/office/drawing/2014/main" id="{C4D5819E-6603-D90D-EEF0-ED56B7F08502}"/>
              </a:ext>
            </a:extLst>
          </p:cNvPr>
          <p:cNvCxnSpPr>
            <a:cxnSpLocks/>
            <a:stCxn id="10" idx="0"/>
          </p:cNvCxnSpPr>
          <p:nvPr/>
        </p:nvCxnSpPr>
        <p:spPr>
          <a:xfrm flipH="1" flipV="1">
            <a:off x="2044250" y="3859503"/>
            <a:ext cx="6972751" cy="773493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18EF9FA2-9A67-2FD9-DE38-756DFC0BC178}"/>
              </a:ext>
            </a:extLst>
          </p:cNvPr>
          <p:cNvSpPr txBox="1"/>
          <p:nvPr/>
        </p:nvSpPr>
        <p:spPr>
          <a:xfrm>
            <a:off x="8647826" y="5406489"/>
            <a:ext cx="738349" cy="369332"/>
          </a:xfrm>
          <a:prstGeom prst="rect">
            <a:avLst/>
          </a:prstGeom>
          <a:noFill/>
          <a:ln>
            <a:solidFill>
              <a:srgbClr val="2339DA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新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IR</a:t>
            </a:r>
            <a:endParaRPr lang="zh-CN" altLang="en-US" b="1" dirty="0">
              <a:solidFill>
                <a:srgbClr val="2339DA"/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A565F9A-F513-2106-0D93-867D6DA5B47A}"/>
              </a:ext>
            </a:extLst>
          </p:cNvPr>
          <p:cNvSpPr txBox="1"/>
          <p:nvPr/>
        </p:nvSpPr>
        <p:spPr>
          <a:xfrm>
            <a:off x="3040999" y="5406489"/>
            <a:ext cx="738349" cy="369332"/>
          </a:xfrm>
          <a:prstGeom prst="rect">
            <a:avLst/>
          </a:prstGeom>
          <a:noFill/>
          <a:ln>
            <a:solidFill>
              <a:srgbClr val="2339DA"/>
            </a:solidFill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旧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IR</a:t>
            </a:r>
            <a:endParaRPr lang="zh-CN" altLang="en-US" b="1" dirty="0">
              <a:solidFill>
                <a:srgbClr val="2339DA"/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5352263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2249FBA-F8C2-1A4A-8491-FF621707D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1"/>
            <a:ext cx="10515600" cy="369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out =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exe.run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z.name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3" name="灯片编号占位符 4">
            <a:extLst>
              <a:ext uri="{FF2B5EF4-FFF2-40B4-BE49-F238E27FC236}">
                <a16:creationId xmlns:a16="http://schemas.microsoft.com/office/drawing/2014/main" id="{10C91984-8AE4-F897-9603-AC3C609F6DD0}"/>
              </a:ext>
            </a:extLst>
          </p:cNvPr>
          <p:cNvSpPr txBox="1">
            <a:spLocks/>
          </p:cNvSpPr>
          <p:nvPr/>
        </p:nvSpPr>
        <p:spPr>
          <a:xfrm>
            <a:off x="11420158" y="7101432"/>
            <a:ext cx="495300" cy="365125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11CC9FD4-7953-474F-BDDD-03B89B9227C0}" type="slidenum">
              <a:rPr lang="zh-CN" altLang="en-US" smtClean="0"/>
              <a:pPr/>
              <a:t>40</a:t>
            </a:fld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BE8FFF6-CE1B-4E7B-0DE9-AD6CF3743256}"/>
              </a:ext>
            </a:extLst>
          </p:cNvPr>
          <p:cNvSpPr txBox="1"/>
          <p:nvPr/>
        </p:nvSpPr>
        <p:spPr>
          <a:xfrm>
            <a:off x="754791" y="2221705"/>
            <a:ext cx="5341209" cy="1754326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第一次执行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的时候调用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BuildVariableScope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和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BuildOpFuncList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并按顺序执行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OP</a:t>
            </a:r>
            <a:r>
              <a:rPr lang="zh-CN" altLang="e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，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包括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op_func_nodes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构造、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Kernel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选择、数据变换、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InferShape</a:t>
            </a:r>
            <a:r>
              <a:rPr lang="zh-CN" altLang="e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、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Kernel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执行等步骤。执行完之后调用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Convert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进行优化。</a:t>
            </a:r>
            <a:endParaRPr lang="en-US" altLang="zh-CN" dirty="0"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  <a:p>
            <a:pPr algn="l"/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执行时创建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vec_instruction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_</a:t>
            </a:r>
            <a:r>
              <a:rPr lang="zh-CN" altLang="e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，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供下一次执行。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D894ECA-3FD2-FAF6-F455-72DE8B49886D}"/>
              </a:ext>
            </a:extLst>
          </p:cNvPr>
          <p:cNvSpPr txBox="1"/>
          <p:nvPr/>
        </p:nvSpPr>
        <p:spPr>
          <a:xfrm>
            <a:off x="6473395" y="1524728"/>
            <a:ext cx="5718605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NewIRInterpreter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2A1E8B-3152-1D4A-F124-F10AAA2D3D21}"/>
              </a:ext>
            </a:extLst>
          </p:cNvPr>
          <p:cNvSpPr txBox="1"/>
          <p:nvPr/>
        </p:nvSpPr>
        <p:spPr>
          <a:xfrm>
            <a:off x="666954" y="1524728"/>
            <a:ext cx="609958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D61158E-A12F-2B72-25F7-6A8FE0DC4BBA}"/>
              </a:ext>
            </a:extLst>
          </p:cNvPr>
          <p:cNvSpPr txBox="1"/>
          <p:nvPr/>
        </p:nvSpPr>
        <p:spPr>
          <a:xfrm>
            <a:off x="6522722" y="2221705"/>
            <a:ext cx="5392736" cy="1477328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zh-CN" altLang="en-US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第一次执行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的时候调用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BuildScope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和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Build</a:t>
            </a:r>
            <a:r>
              <a:rPr lang="en-US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Instruction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，并执行一遍创建好的</a:t>
            </a:r>
            <a:r>
              <a:rPr lang="en-US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Instruction 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。</a:t>
            </a:r>
            <a:endParaRPr lang="en-US" altLang="zh-CN" dirty="0"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  <a:p>
            <a:pPr algn="l"/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执行时创建的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vec_instruction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_</a:t>
            </a:r>
            <a:r>
              <a:rPr lang="en-US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base_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可供下一次执行。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8ACED80-1C5F-6CA5-4E50-E9ED9BDF88CC}"/>
              </a:ext>
            </a:extLst>
          </p:cNvPr>
          <p:cNvSpPr txBox="1"/>
          <p:nvPr/>
        </p:nvSpPr>
        <p:spPr>
          <a:xfrm>
            <a:off x="1148360" y="6063846"/>
            <a:ext cx="9895280" cy="646331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en" altLang="zh-CN" dirty="0">
                <a:effectLst/>
              </a:rPr>
              <a:t>Instruction</a:t>
            </a:r>
            <a:r>
              <a:rPr lang="zh-CN" altLang="en-US" dirty="0">
                <a:effectLst/>
              </a:rPr>
              <a:t>在</a:t>
            </a:r>
            <a:r>
              <a:rPr lang="en" altLang="zh-CN" dirty="0">
                <a:effectLst/>
              </a:rPr>
              <a:t>op</a:t>
            </a:r>
            <a:r>
              <a:rPr lang="zh-CN" altLang="en-US" dirty="0">
                <a:effectLst/>
              </a:rPr>
              <a:t>的基础上，绑定了输入输出信息、选择好的</a:t>
            </a:r>
            <a:r>
              <a:rPr lang="en" altLang="zh-CN" dirty="0">
                <a:effectLst/>
              </a:rPr>
              <a:t>kernel, </a:t>
            </a:r>
            <a:r>
              <a:rPr lang="zh-CN" altLang="en-US" dirty="0">
                <a:effectLst/>
              </a:rPr>
              <a:t>以及</a:t>
            </a:r>
            <a:r>
              <a:rPr lang="en" altLang="zh-CN" dirty="0">
                <a:effectLst/>
              </a:rPr>
              <a:t>op</a:t>
            </a:r>
            <a:r>
              <a:rPr lang="zh-CN" altLang="en-US" dirty="0">
                <a:effectLst/>
              </a:rPr>
              <a:t>之间的依赖关系。</a:t>
            </a:r>
            <a:r>
              <a:rPr lang="en" altLang="zh-CN" dirty="0">
                <a:effectLst/>
              </a:rPr>
              <a:t>Instruction(+ scope)</a:t>
            </a:r>
            <a:r>
              <a:rPr lang="zh-CN" altLang="en-US" dirty="0">
                <a:effectLst/>
              </a:rPr>
              <a:t>组成了可以</a:t>
            </a:r>
            <a:r>
              <a:rPr lang="zh-CN" altLang="en-US" b="1" dirty="0">
                <a:solidFill>
                  <a:srgbClr val="2339DA"/>
                </a:solidFill>
                <a:effectLst/>
              </a:rPr>
              <a:t>反复执行</a:t>
            </a:r>
            <a:r>
              <a:rPr lang="zh-CN" altLang="en-US" dirty="0">
                <a:effectLst/>
              </a:rPr>
              <a:t>的</a:t>
            </a:r>
            <a:r>
              <a:rPr lang="zh-CN" altLang="en-US" dirty="0"/>
              <a:t>单元</a:t>
            </a:r>
            <a:r>
              <a:rPr lang="zh-CN" altLang="en-US" dirty="0">
                <a:effectLst/>
              </a:rPr>
              <a:t>。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F1F7414-8079-9402-52EB-E0C74C732B2A}"/>
              </a:ext>
            </a:extLst>
          </p:cNvPr>
          <p:cNvSpPr txBox="1"/>
          <p:nvPr/>
        </p:nvSpPr>
        <p:spPr>
          <a:xfrm>
            <a:off x="666954" y="4886823"/>
            <a:ext cx="8373035" cy="11695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4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Instruction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/>
            <a:r>
              <a:rPr lang="en" altLang="zh-CN" sz="14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shared_ptr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RuntimeContext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runtime_ctx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_;</a:t>
            </a:r>
          </a:p>
          <a:p>
            <a:pPr lvl="1"/>
            <a:r>
              <a:rPr lang="en" altLang="zh-CN" sz="14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shared_ptr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RuntimeInferShapeContext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infershape_ctx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_;</a:t>
            </a:r>
          </a:p>
          <a:p>
            <a:pPr lvl="1"/>
            <a:r>
              <a:rPr lang="en" altLang="zh-CN" sz="14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shared_ptr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ExecutionContext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execution_ctx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59ECDC0-3A50-B6AA-AFBE-CFAF2AE3AADC}"/>
              </a:ext>
            </a:extLst>
          </p:cNvPr>
          <p:cNvSpPr txBox="1"/>
          <p:nvPr/>
        </p:nvSpPr>
        <p:spPr>
          <a:xfrm>
            <a:off x="4625788" y="3976031"/>
            <a:ext cx="7857116" cy="116955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400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InstructionBase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/>
            <a:r>
              <a:rPr lang="en" altLang="zh-CN" sz="14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DeviceContext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dev_ctx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_;</a:t>
            </a:r>
            <a:r>
              <a:rPr lang="en" altLang="zh-CN" sz="14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// not owned</a:t>
            </a:r>
            <a:b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sz="14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&lt;::</a:t>
            </a:r>
            <a:r>
              <a:rPr lang="en" altLang="zh-CN" sz="14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::Value, </a:t>
            </a:r>
            <a:r>
              <a:rPr lang="en" altLang="zh-CN" sz="14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::vector&lt;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&gt;&gt;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input_index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_;</a:t>
            </a:r>
            <a:b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sz="14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unordered_map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&lt;::</a:t>
            </a:r>
            <a:r>
              <a:rPr lang="en" altLang="zh-CN" sz="14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::Value, </a:t>
            </a:r>
            <a:r>
              <a:rPr lang="en" altLang="zh-CN" sz="1400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::vector&lt;</a:t>
            </a:r>
            <a:r>
              <a:rPr lang="en" altLang="zh-CN" sz="14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&gt;&gt; </a:t>
            </a:r>
            <a:r>
              <a:rPr lang="en" altLang="zh-CN" sz="14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output_index</a:t>
            </a:r>
            <a:r>
              <a:rPr lang="en" altLang="zh-CN" sz="14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sz="14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8D15B81-7DA3-CD24-8392-189D0CB815E3}"/>
              </a:ext>
            </a:extLst>
          </p:cNvPr>
          <p:cNvSpPr txBox="1"/>
          <p:nvPr/>
        </p:nvSpPr>
        <p:spPr>
          <a:xfrm>
            <a:off x="8114874" y="5153054"/>
            <a:ext cx="3800584" cy="646331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子类：</a:t>
            </a:r>
            <a:r>
              <a:rPr lang="en" altLang="zh-CN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PhiKernelInstruction</a:t>
            </a:r>
            <a:endParaRPr lang="en" altLang="zh-CN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  <a:cs typeface="Courier New" panose="02070309020205020404" pitchFamily="49" charset="0"/>
              </a:rPr>
              <a:t>、</a:t>
            </a:r>
            <a:r>
              <a:rPr lang="en" altLang="zh-CN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LegacyKernelInstruction</a:t>
            </a:r>
            <a:endParaRPr lang="en" altLang="zh-CN" b="0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8" name="直线箭头连接符 17">
            <a:extLst>
              <a:ext uri="{FF2B5EF4-FFF2-40B4-BE49-F238E27FC236}">
                <a16:creationId xmlns:a16="http://schemas.microsoft.com/office/drawing/2014/main" id="{CD8BCB3F-3FAD-7081-0F42-7EC64B7B0D12}"/>
              </a:ext>
            </a:extLst>
          </p:cNvPr>
          <p:cNvCxnSpPr>
            <a:cxnSpLocks/>
          </p:cNvCxnSpPr>
          <p:nvPr/>
        </p:nvCxnSpPr>
        <p:spPr>
          <a:xfrm flipH="1" flipV="1">
            <a:off x="6294113" y="4224935"/>
            <a:ext cx="1820761" cy="1228424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3358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2249FBA-F8C2-1A4A-8491-FF621707D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1"/>
            <a:ext cx="10515600" cy="369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out =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exe.run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z.name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2A1E8B-3152-1D4A-F124-F10AAA2D3D21}"/>
              </a:ext>
            </a:extLst>
          </p:cNvPr>
          <p:cNvSpPr txBox="1"/>
          <p:nvPr/>
        </p:nvSpPr>
        <p:spPr>
          <a:xfrm>
            <a:off x="838200" y="1493951"/>
            <a:ext cx="684276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" altLang="zh-CN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" altLang="zh-CN" b="1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feed_names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op_func_nodes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02471A-2CEF-04E0-99AE-A854F68696C4}"/>
              </a:ext>
            </a:extLst>
          </p:cNvPr>
          <p:cNvSpPr txBox="1"/>
          <p:nvPr/>
        </p:nvSpPr>
        <p:spPr>
          <a:xfrm>
            <a:off x="838199" y="2539366"/>
            <a:ext cx="8327315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b="0" dirty="0">
                <a:solidFill>
                  <a:srgbClr val="AF00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is_build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_) {</a:t>
            </a:r>
          </a:p>
          <a:p>
            <a:pPr lvl="2"/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framework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1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BuildVariableScope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b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framework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1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BuildOpFuncList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5351E38-19F1-3CE6-6E65-92A2895C0EC0}"/>
              </a:ext>
            </a:extLst>
          </p:cNvPr>
          <p:cNvSpPr txBox="1"/>
          <p:nvPr/>
        </p:nvSpPr>
        <p:spPr>
          <a:xfrm>
            <a:off x="6096000" y="2396953"/>
            <a:ext cx="5955253" cy="646331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Courier New" panose="02070309020205020404" pitchFamily="49" charset="0"/>
                <a:ea typeface="等线" panose="02010600030101010101" pitchFamily="2" charset="-122"/>
              </a:rPr>
              <a:t>遍历创建</a:t>
            </a:r>
            <a:r>
              <a:rPr lang="en" altLang="zh-CN" dirty="0">
                <a:latin typeface="Courier New" panose="02070309020205020404" pitchFamily="49" charset="0"/>
                <a:ea typeface="等线" panose="02010600030101010101" pitchFamily="2" charset="-122"/>
              </a:rPr>
              <a:t>block</a:t>
            </a:r>
            <a:r>
              <a:rPr lang="zh-CN" altLang="en-US" dirty="0">
                <a:latin typeface="Courier New" panose="02070309020205020404" pitchFamily="49" charset="0"/>
                <a:ea typeface="等线" panose="02010600030101010101" pitchFamily="2" charset="-122"/>
              </a:rPr>
              <a:t>的所有</a:t>
            </a:r>
            <a:r>
              <a:rPr lang="en" altLang="zh-CN" dirty="0" err="1">
                <a:latin typeface="Courier New" panose="02070309020205020404" pitchFamily="49" charset="0"/>
                <a:ea typeface="等线" panose="02010600030101010101" pitchFamily="2" charset="-122"/>
              </a:rPr>
              <a:t>VarDesc</a:t>
            </a:r>
            <a:r>
              <a:rPr lang="zh-CN" altLang="en-US" dirty="0">
                <a:latin typeface="Courier New" panose="02070309020205020404" pitchFamily="49" charset="0"/>
                <a:ea typeface="等线" panose="02010600030101010101" pitchFamily="2" charset="-122"/>
              </a:rPr>
              <a:t>并实例化为对应的</a:t>
            </a:r>
            <a:r>
              <a:rPr lang="en" altLang="zh-CN" dirty="0">
                <a:latin typeface="Courier New" panose="02070309020205020404" pitchFamily="49" charset="0"/>
                <a:ea typeface="等线" panose="02010600030101010101" pitchFamily="2" charset="-122"/>
              </a:rPr>
              <a:t>Variable</a:t>
            </a:r>
            <a:r>
              <a:rPr lang="zh-CN" altLang="en" dirty="0">
                <a:latin typeface="Courier New" panose="02070309020205020404" pitchFamily="49" charset="0"/>
                <a:ea typeface="等线" panose="02010600030101010101" pitchFamily="2" charset="-122"/>
              </a:rPr>
              <a:t>，</a:t>
            </a:r>
            <a:r>
              <a:rPr lang="zh-CN" altLang="en-US" dirty="0">
                <a:latin typeface="Courier New" panose="02070309020205020404" pitchFamily="49" charset="0"/>
                <a:ea typeface="等线" panose="02010600030101010101" pitchFamily="2" charset="-122"/>
              </a:rPr>
              <a:t>加入到</a:t>
            </a:r>
            <a:r>
              <a:rPr lang="en" altLang="zh-CN" dirty="0">
                <a:latin typeface="Courier New" panose="02070309020205020404" pitchFamily="49" charset="0"/>
                <a:ea typeface="等线" panose="02010600030101010101" pitchFamily="2" charset="-122"/>
              </a:rPr>
              <a:t>scope</a:t>
            </a:r>
            <a:r>
              <a:rPr lang="zh-CN" altLang="en-US" dirty="0">
                <a:latin typeface="Courier New" panose="02070309020205020404" pitchFamily="49" charset="0"/>
                <a:ea typeface="等线" panose="02010600030101010101" pitchFamily="2" charset="-122"/>
              </a:rPr>
              <a:t>中（但尚未持有真正的数据）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47DE4FE4-3A81-CAD3-AC3A-1F89E44A020D}"/>
              </a:ext>
            </a:extLst>
          </p:cNvPr>
          <p:cNvSpPr txBox="1"/>
          <p:nvPr/>
        </p:nvSpPr>
        <p:spPr>
          <a:xfrm>
            <a:off x="838199" y="4435104"/>
            <a:ext cx="10681446" cy="1477328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主要目标：确定运行时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Op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需要的一些信息，比如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kernel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选择。具体步骤：</a:t>
            </a:r>
            <a:endParaRPr lang="en-US" altLang="zh-CN" dirty="0"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CreatorOps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为每个</a:t>
            </a:r>
            <a:r>
              <a:rPr lang="en" altLang="zh-CN" dirty="0">
                <a:solidFill>
                  <a:srgbClr val="1C1D1F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Op</a:t>
            </a:r>
            <a:r>
              <a:rPr lang="zh-CN" altLang="en-US" dirty="0">
                <a:solidFill>
                  <a:srgbClr val="1C1D1F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实例化对应的</a:t>
            </a:r>
            <a:r>
              <a:rPr lang="en" altLang="zh-CN" dirty="0" err="1">
                <a:solidFill>
                  <a:srgbClr val="1C1D1F"/>
                </a:solidFill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OperatorBase</a:t>
            </a:r>
            <a:endParaRPr lang="en" altLang="zh-CN" dirty="0"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控制流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op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的内部变量的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gc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设置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确定每个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op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执行结束后可以释放的变量的列表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unused_var_map</a:t>
            </a:r>
            <a:endParaRPr lang="en" altLang="zh-CN" dirty="0"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为每个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op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创建对应的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OpFuncNode</a:t>
            </a:r>
            <a:r>
              <a:rPr lang="en-US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(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相关信息保存在数据结构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OpFuncNode</a:t>
            </a:r>
            <a:r>
              <a:rPr lang="zh-CN" altLang="en-US" dirty="0">
                <a:latin typeface="Courier New" panose="02070309020205020404" pitchFamily="49" charset="0"/>
                <a:ea typeface="等线" panose="02010600030101010101" pitchFamily="2" charset="-122"/>
              </a:rPr>
              <a:t>中</a:t>
            </a:r>
            <a:r>
              <a:rPr lang="en-US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)</a:t>
            </a:r>
            <a:endParaRPr lang="en" altLang="zh-CN" dirty="0"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  <p:cxnSp>
        <p:nvCxnSpPr>
          <p:cNvPr id="21" name="直线箭头连接符 20">
            <a:extLst>
              <a:ext uri="{FF2B5EF4-FFF2-40B4-BE49-F238E27FC236}">
                <a16:creationId xmlns:a16="http://schemas.microsoft.com/office/drawing/2014/main" id="{AF5272F7-73DC-812B-554F-C20E252A37AF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7877242" y="3043284"/>
            <a:ext cx="1196385" cy="122085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线箭头连接符 22">
            <a:extLst>
              <a:ext uri="{FF2B5EF4-FFF2-40B4-BE49-F238E27FC236}">
                <a16:creationId xmlns:a16="http://schemas.microsoft.com/office/drawing/2014/main" id="{25A01C2F-A6F4-FA7B-2A4F-ABB01DD715CF}"/>
              </a:ext>
            </a:extLst>
          </p:cNvPr>
          <p:cNvCxnSpPr>
            <a:cxnSpLocks/>
          </p:cNvCxnSpPr>
          <p:nvPr/>
        </p:nvCxnSpPr>
        <p:spPr>
          <a:xfrm flipV="1">
            <a:off x="7179788" y="3727553"/>
            <a:ext cx="0" cy="707551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B792E5EB-2AB4-8F7D-AB18-94B3A2BE90BF}"/>
              </a:ext>
            </a:extLst>
          </p:cNvPr>
          <p:cNvSpPr txBox="1"/>
          <p:nvPr/>
        </p:nvSpPr>
        <p:spPr>
          <a:xfrm>
            <a:off x="6927925" y="1474124"/>
            <a:ext cx="84308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旧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IR</a:t>
            </a:r>
            <a:endParaRPr lang="zh-CN" altLang="en-US" b="1" dirty="0">
              <a:solidFill>
                <a:srgbClr val="2339DA"/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39043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2249FBA-F8C2-1A4A-8491-FF621707D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1"/>
            <a:ext cx="10515600" cy="369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out =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exe.run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z.name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2A1E8B-3152-1D4A-F124-F10AAA2D3D21}"/>
              </a:ext>
            </a:extLst>
          </p:cNvPr>
          <p:cNvSpPr txBox="1"/>
          <p:nvPr/>
        </p:nvSpPr>
        <p:spPr>
          <a:xfrm>
            <a:off x="838200" y="1493951"/>
            <a:ext cx="7797800" cy="2585323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 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RunInstructionBaseAsync</a:t>
            </a:r>
            <a:r>
              <a:rPr lang="en-US" altLang="zh-CN" dirty="0">
                <a:solidFill>
                  <a:srgbClr val="795E2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lvl="1"/>
            <a:r>
              <a:rPr lang="en" altLang="zh-CN" b="0" dirty="0">
                <a:solidFill>
                  <a:srgbClr val="AF00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while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ready_ops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empty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pPr lvl="2"/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ready_ops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top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2"/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ready_ops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pop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2"/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&amp;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instr_node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vec_instruction_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2"/>
            <a:b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RunInstruction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instr_node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0BFB7B-6229-099D-3D27-2D7FB5711E03}"/>
              </a:ext>
            </a:extLst>
          </p:cNvPr>
          <p:cNvSpPr txBox="1"/>
          <p:nvPr/>
        </p:nvSpPr>
        <p:spPr>
          <a:xfrm>
            <a:off x="5664200" y="4717718"/>
            <a:ext cx="4356100" cy="646331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-apple-system"/>
              </a:rPr>
              <a:t>维护</a:t>
            </a:r>
            <a:r>
              <a:rPr lang="en" altLang="zh-CN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ready_ops</a:t>
            </a:r>
            <a:r>
              <a:rPr lang="zh-CN" altLang="en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队列</a:t>
            </a:r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，保证</a:t>
            </a:r>
            <a:r>
              <a:rPr lang="zh-CN" altLang="en-US" b="0" i="0" dirty="0">
                <a:effectLst/>
                <a:latin typeface="-apple-system"/>
              </a:rPr>
              <a:t>跨线程调度的优先级顺序</a:t>
            </a:r>
            <a:endParaRPr lang="zh-CN" altLang="en-US" dirty="0"/>
          </a:p>
        </p:txBody>
      </p: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A6705D0C-4069-A36A-DB79-D432133A35C1}"/>
              </a:ext>
            </a:extLst>
          </p:cNvPr>
          <p:cNvCxnSpPr>
            <a:cxnSpLocks/>
            <a:stCxn id="4" idx="1"/>
          </p:cNvCxnSpPr>
          <p:nvPr/>
        </p:nvCxnSpPr>
        <p:spPr>
          <a:xfrm flipH="1" flipV="1">
            <a:off x="3403600" y="2403822"/>
            <a:ext cx="2260600" cy="2637062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>
            <a:extLst>
              <a:ext uri="{FF2B5EF4-FFF2-40B4-BE49-F238E27FC236}">
                <a16:creationId xmlns:a16="http://schemas.microsoft.com/office/drawing/2014/main" id="{6F49F310-D637-26F3-C9B5-DE09165C82A7}"/>
              </a:ext>
            </a:extLst>
          </p:cNvPr>
          <p:cNvSpPr/>
          <p:nvPr/>
        </p:nvSpPr>
        <p:spPr>
          <a:xfrm>
            <a:off x="1689100" y="3429000"/>
            <a:ext cx="3975100" cy="393700"/>
          </a:xfrm>
          <a:prstGeom prst="rect">
            <a:avLst/>
          </a:prstGeom>
          <a:noFill/>
          <a:ln w="22225" cap="rnd">
            <a:solidFill>
              <a:srgbClr val="2339DA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B061B5-069A-A7D8-7532-054714A0C02D}"/>
              </a:ext>
            </a:extLst>
          </p:cNvPr>
          <p:cNvSpPr txBox="1"/>
          <p:nvPr/>
        </p:nvSpPr>
        <p:spPr>
          <a:xfrm>
            <a:off x="6927925" y="1474124"/>
            <a:ext cx="84308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旧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IR</a:t>
            </a:r>
            <a:endParaRPr lang="zh-CN" altLang="en-US" b="1" dirty="0">
              <a:solidFill>
                <a:srgbClr val="2339DA"/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482315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2249FBA-F8C2-1A4A-8491-FF621707D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1"/>
            <a:ext cx="10515600" cy="369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out =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exe.run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z.name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2A1E8B-3152-1D4A-F124-F10AAA2D3D21}"/>
              </a:ext>
            </a:extLst>
          </p:cNvPr>
          <p:cNvSpPr txBox="1"/>
          <p:nvPr/>
        </p:nvSpPr>
        <p:spPr>
          <a:xfrm>
            <a:off x="838200" y="1493951"/>
            <a:ext cx="684276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NewIRInterpreter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" altLang="zh-CN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feed_names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op_func_nodes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02471A-2CEF-04E0-99AE-A854F68696C4}"/>
              </a:ext>
            </a:extLst>
          </p:cNvPr>
          <p:cNvSpPr txBox="1"/>
          <p:nvPr/>
        </p:nvSpPr>
        <p:spPr>
          <a:xfrm>
            <a:off x="838199" y="2345722"/>
            <a:ext cx="8327315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NewIRInterpreter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b="0" dirty="0">
                <a:solidFill>
                  <a:srgbClr val="AF00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is_build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_) {</a:t>
            </a:r>
          </a:p>
          <a:p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BuildInstruction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7D054BD-A6FE-19C0-AB1D-095E42B8A6BE}"/>
              </a:ext>
            </a:extLst>
          </p:cNvPr>
          <p:cNvSpPr txBox="1"/>
          <p:nvPr/>
        </p:nvSpPr>
        <p:spPr>
          <a:xfrm>
            <a:off x="838199" y="4185503"/>
            <a:ext cx="9380667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BuildInstruction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vec_instruction_base_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emplace_back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lvl="3"/>
            <a:r>
              <a:rPr lang="en" altLang="zh-CN" b="0" dirty="0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make_unique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PhiKernelInstruction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&gt;(</a:t>
            </a:r>
          </a:p>
          <a:p>
            <a:pPr lvl="3"/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op_idx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++, place_, op, *(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value_exe_info_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())))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2BE0DDAC-09F7-E0BC-36CA-4B14F2BFB314}"/>
              </a:ext>
            </a:extLst>
          </p:cNvPr>
          <p:cNvSpPr txBox="1"/>
          <p:nvPr/>
        </p:nvSpPr>
        <p:spPr>
          <a:xfrm>
            <a:off x="8602517" y="3860109"/>
            <a:ext cx="3374913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pPr algn="l"/>
            <a:r>
              <a:rPr lang="zh-CN" altLang="en-US" dirty="0">
                <a:solidFill>
                  <a:srgbClr val="1C1D1F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直接向</a:t>
            </a:r>
            <a:r>
              <a:rPr lang="en" altLang="zh-CN" dirty="0" err="1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vec_instruction</a:t>
            </a:r>
            <a:r>
              <a:rPr lang="en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_</a:t>
            </a:r>
            <a:r>
              <a:rPr lang="en-US" altLang="zh-CN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base_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中插入子类</a:t>
            </a:r>
            <a:r>
              <a:rPr lang="en" altLang="zh-CN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Instruction</a:t>
            </a:r>
            <a:r>
              <a:rPr lang="zh-CN" altLang="en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实例</a:t>
            </a:r>
            <a:r>
              <a:rPr lang="zh-CN" altLang="en-US" dirty="0">
                <a:effectLst/>
                <a:latin typeface="Courier New" panose="02070309020205020404" pitchFamily="49" charset="0"/>
                <a:ea typeface="等线" panose="02010600030101010101" pitchFamily="2" charset="-122"/>
              </a:rPr>
              <a:t>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6FAD2D1-3221-41FB-4A7A-9FAE108D6B80}"/>
              </a:ext>
            </a:extLst>
          </p:cNvPr>
          <p:cNvSpPr txBox="1"/>
          <p:nvPr/>
        </p:nvSpPr>
        <p:spPr>
          <a:xfrm>
            <a:off x="7580151" y="1474421"/>
            <a:ext cx="84308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新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IR</a:t>
            </a:r>
            <a:endParaRPr lang="zh-CN" altLang="en-US" b="1" dirty="0">
              <a:solidFill>
                <a:srgbClr val="2339DA"/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54981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2249FBA-F8C2-1A4A-8491-FF621707D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1"/>
            <a:ext cx="10515600" cy="369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out =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exe.run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z.name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2A1E8B-3152-1D4A-F124-F10AAA2D3D21}"/>
              </a:ext>
            </a:extLst>
          </p:cNvPr>
          <p:cNvSpPr txBox="1"/>
          <p:nvPr/>
        </p:nvSpPr>
        <p:spPr>
          <a:xfrm>
            <a:off x="838200" y="1493951"/>
            <a:ext cx="6842760" cy="92333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FetchList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NewIRInterpreter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r>
              <a:rPr lang="en" altLang="zh-CN" b="0" dirty="0">
                <a:solidFill>
                  <a:srgbClr val="795E26"/>
                </a:solidFill>
                <a:effectLst/>
                <a:latin typeface="Menlo" panose="020B0609030804020204" pitchFamily="49" charset="0"/>
              </a:rPr>
              <a:t>	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feed_names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op_func_nodes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02471A-2CEF-04E0-99AE-A854F68696C4}"/>
              </a:ext>
            </a:extLst>
          </p:cNvPr>
          <p:cNvSpPr txBox="1"/>
          <p:nvPr/>
        </p:nvSpPr>
        <p:spPr>
          <a:xfrm>
            <a:off x="838199" y="2345722"/>
            <a:ext cx="8327315" cy="1477328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NewIRInterpreter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b="0" dirty="0">
                <a:solidFill>
                  <a:srgbClr val="AF00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(!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is_build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_) {</a:t>
            </a:r>
          </a:p>
          <a:p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BuildInstruction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pPr lvl="1"/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792E5EB-2AB4-8F7D-AB18-94B3A2BE90BF}"/>
              </a:ext>
            </a:extLst>
          </p:cNvPr>
          <p:cNvSpPr txBox="1"/>
          <p:nvPr/>
        </p:nvSpPr>
        <p:spPr>
          <a:xfrm>
            <a:off x="7580151" y="1474421"/>
            <a:ext cx="84308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新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IR</a:t>
            </a:r>
            <a:endParaRPr lang="zh-CN" altLang="en-US" b="1" dirty="0">
              <a:solidFill>
                <a:srgbClr val="2339DA"/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7D054BD-A6FE-19C0-AB1D-095E42B8A6BE}"/>
              </a:ext>
            </a:extLst>
          </p:cNvPr>
          <p:cNvSpPr txBox="1"/>
          <p:nvPr/>
        </p:nvSpPr>
        <p:spPr>
          <a:xfrm>
            <a:off x="838198" y="3790552"/>
            <a:ext cx="11074401" cy="230832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NewIRInterpreter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TraceRunInstructionList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b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exception_holder_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Clear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b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" altLang="zh-CN" b="0" dirty="0">
                <a:solidFill>
                  <a:srgbClr val="AF00DB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size_t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trace_execute_order_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size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</a:p>
          <a:p>
            <a:pPr lvl="2"/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trace_execute_order</a:t>
            </a:r>
            <a:r>
              <a:rPr lang="en" altLang="zh-CN" b="0" dirty="0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lvl="2"/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InstructionBase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instr_node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  <a:r>
              <a:rPr lang="zh-CN" altLang="en-US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vec_instruction_base_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).</a:t>
            </a:r>
            <a:r>
              <a:rPr lang="en" altLang="zh-CN" b="0" dirty="0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endParaRPr lang="en" altLang="zh-CN" b="0" dirty="0">
              <a:solidFill>
                <a:srgbClr val="795E26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" altLang="zh-CN" b="1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RunInstructionBase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instr_node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11AB507-AA05-49D9-D3D1-7FC4083BC0A2}"/>
              </a:ext>
            </a:extLst>
          </p:cNvPr>
          <p:cNvSpPr/>
          <p:nvPr/>
        </p:nvSpPr>
        <p:spPr>
          <a:xfrm>
            <a:off x="1689100" y="5208244"/>
            <a:ext cx="4572000" cy="348687"/>
          </a:xfrm>
          <a:prstGeom prst="rect">
            <a:avLst/>
          </a:prstGeom>
          <a:noFill/>
          <a:ln w="22225" cap="rnd">
            <a:solidFill>
              <a:srgbClr val="2339DA"/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648638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F0A5F9-7D42-B9FE-F3C6-692F787DE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E2249FBA-F8C2-1A4A-8491-FF621707D2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16001"/>
            <a:ext cx="10515600" cy="3693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out =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exe.run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(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main_program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, {}, 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fetch_list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=[</a:t>
            </a:r>
            <a:r>
              <a:rPr lang="en" altLang="zh-CN" sz="1800" b="0" dirty="0" err="1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z.name</a:t>
            </a:r>
            <a:r>
              <a:rPr lang="en" altLang="zh-CN" sz="1800" b="0" dirty="0">
                <a:solidFill>
                  <a:schemeClr val="bg1">
                    <a:lumMod val="65000"/>
                  </a:schemeClr>
                </a:solidFill>
                <a:effectLst/>
                <a:latin typeface="Courier New" panose="02070309020205020404" pitchFamily="49" charset="0"/>
                <a:ea typeface="DengXian" panose="02010600030101010101" pitchFamily="2" charset="-122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792E5EB-2AB4-8F7D-AB18-94B3A2BE90BF}"/>
              </a:ext>
            </a:extLst>
          </p:cNvPr>
          <p:cNvSpPr txBox="1"/>
          <p:nvPr/>
        </p:nvSpPr>
        <p:spPr>
          <a:xfrm>
            <a:off x="6375400" y="4379664"/>
            <a:ext cx="84308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新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IR</a:t>
            </a:r>
            <a:endParaRPr lang="zh-CN" altLang="en-US" b="1" dirty="0">
              <a:solidFill>
                <a:srgbClr val="2339DA"/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37D054BD-A6FE-19C0-AB1D-095E42B8A6BE}"/>
              </a:ext>
            </a:extLst>
          </p:cNvPr>
          <p:cNvSpPr txBox="1"/>
          <p:nvPr/>
        </p:nvSpPr>
        <p:spPr>
          <a:xfrm>
            <a:off x="838201" y="3753257"/>
            <a:ext cx="6380285" cy="1754326"/>
          </a:xfrm>
          <a:prstGeom prst="rect">
            <a:avLst/>
          </a:prstGeom>
          <a:noFill/>
          <a:ln w="12700"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NewIRInterpreter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RunInstructionBase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</a:t>
            </a:r>
          </a:p>
          <a:p>
            <a:pPr lvl="1"/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instr_node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WaitEvent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(place_); </a:t>
            </a:r>
          </a:p>
          <a:p>
            <a:pPr lvl="1"/>
            <a:r>
              <a:rPr lang="en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instr_node</a:t>
            </a:r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-&gt;Run();</a:t>
            </a:r>
          </a:p>
          <a:p>
            <a:pPr lvl="1"/>
            <a:r>
              <a:rPr lang="en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CheckGC</a:t>
            </a:r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instr_node</a:t>
            </a:r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lvl="1"/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instr_node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RecordEvent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(place_);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794ED6-B8ED-0751-174D-7820C1C373F5}"/>
              </a:ext>
            </a:extLst>
          </p:cNvPr>
          <p:cNvSpPr txBox="1"/>
          <p:nvPr/>
        </p:nvSpPr>
        <p:spPr>
          <a:xfrm>
            <a:off x="838201" y="1932841"/>
            <a:ext cx="6218382" cy="175432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67F99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ProgramInterpreter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RunInstruction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lvl="1"/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instr_node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WaitEvent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(place_); </a:t>
            </a:r>
          </a:p>
          <a:p>
            <a:pPr lvl="1"/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RunOperator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instr_node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CheckGC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instr_node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</a:p>
          <a:p>
            <a:pPr lvl="1"/>
            <a:r>
              <a:rPr lang="en" altLang="zh-CN" b="0" dirty="0" err="1">
                <a:solidFill>
                  <a:srgbClr val="001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instr_node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b="0" dirty="0" err="1">
                <a:solidFill>
                  <a:srgbClr val="795E2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RecordEvent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(place_);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" altLang="zh-CN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A2B5F2F-50CF-CD73-C815-EC4D1048B7BB}"/>
              </a:ext>
            </a:extLst>
          </p:cNvPr>
          <p:cNvSpPr txBox="1"/>
          <p:nvPr/>
        </p:nvSpPr>
        <p:spPr>
          <a:xfrm>
            <a:off x="6375400" y="2625338"/>
            <a:ext cx="843086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旧</a:t>
            </a:r>
            <a:r>
              <a:rPr lang="en-US" altLang="zh-CN" b="1" dirty="0">
                <a:solidFill>
                  <a:srgbClr val="2339DA"/>
                </a:solidFill>
                <a:latin typeface="Courier New" panose="02070309020205020404" pitchFamily="49" charset="0"/>
                <a:ea typeface="等线" panose="02010600030101010101" pitchFamily="2" charset="-122"/>
              </a:rPr>
              <a:t>IR</a:t>
            </a:r>
            <a:endParaRPr lang="zh-CN" altLang="en-US" b="1" dirty="0">
              <a:solidFill>
                <a:srgbClr val="2339DA"/>
              </a:solidFill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72A98A4-873D-0938-A46C-A1E054A4BD0B}"/>
              </a:ext>
            </a:extLst>
          </p:cNvPr>
          <p:cNvSpPr txBox="1"/>
          <p:nvPr/>
        </p:nvSpPr>
        <p:spPr>
          <a:xfrm>
            <a:off x="7327900" y="1568985"/>
            <a:ext cx="4483100" cy="923330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b="0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WaitEvent</a:t>
            </a:r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判断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的前置要求是否完成，与前面对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stream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的分析有关，执行</a:t>
            </a:r>
            <a:r>
              <a:rPr lang="en" altLang="zh-CN" dirty="0" err="1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cudaEventWait</a:t>
            </a:r>
            <a:endParaRPr lang="en" altLang="zh-CN" dirty="0"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9E795CC-7FBB-10C9-035C-6F42D6A1FF20}"/>
              </a:ext>
            </a:extLst>
          </p:cNvPr>
          <p:cNvSpPr txBox="1"/>
          <p:nvPr/>
        </p:nvSpPr>
        <p:spPr>
          <a:xfrm>
            <a:off x="7327900" y="3127693"/>
            <a:ext cx="4483100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zh-CN" altLang="en-US" b="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：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运行</a:t>
            </a:r>
            <a:r>
              <a:rPr lang="en" altLang="zh-CN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的主体部分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A2AE1E0-BF84-553D-6BF7-C8BD8A591198}"/>
              </a:ext>
            </a:extLst>
          </p:cNvPr>
          <p:cNvSpPr txBox="1"/>
          <p:nvPr/>
        </p:nvSpPr>
        <p:spPr>
          <a:xfrm>
            <a:off x="7327900" y="4161970"/>
            <a:ext cx="4483100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CheckGC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：回收变量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44F1E3A-8F3B-4703-903F-7EE0E11F706E}"/>
              </a:ext>
            </a:extLst>
          </p:cNvPr>
          <p:cNvSpPr txBox="1"/>
          <p:nvPr/>
        </p:nvSpPr>
        <p:spPr>
          <a:xfrm>
            <a:off x="7327900" y="5138251"/>
            <a:ext cx="4483100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RecordEvent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：记录表明</a:t>
            </a:r>
            <a:r>
              <a:rPr lang="en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已经完成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6D73878-1CB8-9365-1AB2-514830430A4C}"/>
              </a:ext>
            </a:extLst>
          </p:cNvPr>
          <p:cNvSpPr txBox="1"/>
          <p:nvPr/>
        </p:nvSpPr>
        <p:spPr>
          <a:xfrm>
            <a:off x="-1173018" y="3786909"/>
            <a:ext cx="184731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none" rtlCol="0">
            <a:spAutoFit/>
          </a:bodyPr>
          <a:lstStyle/>
          <a:p>
            <a:pPr algn="l"/>
            <a:endParaRPr kumimoji="1" lang="zh-CN" altLang="en-US" dirty="0">
              <a:solidFill>
                <a:srgbClr val="2339DA"/>
              </a:solidFill>
              <a:effectLst/>
              <a:latin typeface="Courier New" panose="02070309020205020404" pitchFamily="49" charset="0"/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5143178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987BA3-D139-AF08-2B8A-C85800749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7B2875C-4EAC-D891-F96F-7B79946104A8}"/>
              </a:ext>
            </a:extLst>
          </p:cNvPr>
          <p:cNvSpPr txBox="1"/>
          <p:nvPr/>
        </p:nvSpPr>
        <p:spPr>
          <a:xfrm>
            <a:off x="547798" y="1511586"/>
            <a:ext cx="10314166" cy="120032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PhiKernelInstruction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b="1" dirty="0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Run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 { </a:t>
            </a:r>
          </a:p>
          <a:p>
            <a:pPr lvl="1"/>
            <a:r>
              <a:rPr lang="en" altLang="zh-CN" b="0" dirty="0">
                <a:solidFill>
                  <a:srgbClr val="BD63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VLOG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"Run op "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phi_op_name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 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&lt;&lt;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 kernel."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1"/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(*(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phi_kernel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_))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&amp;(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kernel_context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_)</a:t>
            </a:r>
            <a:r>
              <a:rPr lang="en" altLang="zh-CN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4E05275-5373-0FEC-55BB-B4EFE17EEEE1}"/>
              </a:ext>
            </a:extLst>
          </p:cNvPr>
          <p:cNvSpPr txBox="1"/>
          <p:nvPr/>
        </p:nvSpPr>
        <p:spPr>
          <a:xfrm>
            <a:off x="547798" y="3148001"/>
            <a:ext cx="2047620" cy="369332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zh-CN" altLang="en-US" dirty="0"/>
              <a:t>选出的</a:t>
            </a:r>
            <a:r>
              <a:rPr lang="en-US" altLang="zh-CN" dirty="0"/>
              <a:t>kernel</a:t>
            </a:r>
            <a:r>
              <a:rPr lang="zh-CN" altLang="en-US" dirty="0"/>
              <a:t>函数</a:t>
            </a:r>
          </a:p>
        </p:txBody>
      </p:sp>
      <p:cxnSp>
        <p:nvCxnSpPr>
          <p:cNvPr id="7" name="直线箭头连接符 6">
            <a:extLst>
              <a:ext uri="{FF2B5EF4-FFF2-40B4-BE49-F238E27FC236}">
                <a16:creationId xmlns:a16="http://schemas.microsoft.com/office/drawing/2014/main" id="{81F5522E-E363-7D0B-BED2-30BF94DA49BB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1571608" y="2419925"/>
            <a:ext cx="90938" cy="728076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04A0A7BA-3D5B-E175-4AAA-7ED0F9A88DAE}"/>
              </a:ext>
            </a:extLst>
          </p:cNvPr>
          <p:cNvSpPr txBox="1"/>
          <p:nvPr/>
        </p:nvSpPr>
        <p:spPr>
          <a:xfrm>
            <a:off x="2900219" y="2849539"/>
            <a:ext cx="9134763" cy="2308324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其他执行所需信息</a:t>
            </a:r>
            <a:endParaRPr lang="en" altLang="zh-CN" b="0" dirty="0">
              <a:solidFill>
                <a:srgbClr val="0000FF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KernelContext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lvl="1"/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DeviceContext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dev_ctx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_;</a:t>
            </a:r>
          </a:p>
          <a:p>
            <a:pPr lvl="1"/>
            <a:b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paddle::</a:t>
            </a: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small_vector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TensorBase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*&gt; inputs_;</a:t>
            </a:r>
          </a:p>
          <a:p>
            <a:pPr lvl="1"/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paddle::</a:t>
            </a: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small_vector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TensorBase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*&gt; outputs_;</a:t>
            </a:r>
          </a:p>
          <a:p>
            <a:pPr lvl="1"/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paddle::</a:t>
            </a:r>
            <a:r>
              <a:rPr lang="en" altLang="zh-CN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small_vector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b="0" dirty="0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Attribute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kAttrSmallVectorSize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 </a:t>
            </a:r>
            <a:r>
              <a:rPr lang="en" altLang="zh-CN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attrs</a:t>
            </a:r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_;</a:t>
            </a:r>
          </a:p>
          <a:p>
            <a:r>
              <a:rPr lang="en" altLang="zh-CN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33AD8E37-31E9-9529-60AD-446FD4C427CE}"/>
              </a:ext>
            </a:extLst>
          </p:cNvPr>
          <p:cNvCxnSpPr>
            <a:cxnSpLocks/>
          </p:cNvCxnSpPr>
          <p:nvPr/>
        </p:nvCxnSpPr>
        <p:spPr>
          <a:xfrm flipH="1" flipV="1">
            <a:off x="4779819" y="2416689"/>
            <a:ext cx="170872" cy="538945"/>
          </a:xfrm>
          <a:prstGeom prst="straightConnector1">
            <a:avLst/>
          </a:prstGeom>
          <a:ln>
            <a:solidFill>
              <a:srgbClr val="2339DA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474108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987BA3-D139-AF08-2B8A-C85800749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4.</a:t>
            </a:r>
            <a:r>
              <a:rPr kumimoji="1" lang="zh-CN" altLang="en-US" dirty="0"/>
              <a:t> 执行 </a:t>
            </a:r>
            <a:r>
              <a:rPr kumimoji="1" lang="en-US" altLang="zh-CN" dirty="0"/>
              <a:t>|</a:t>
            </a:r>
            <a:r>
              <a:rPr kumimoji="1" lang="zh-CN" altLang="en-US" dirty="0"/>
              <a:t> </a:t>
            </a:r>
            <a:r>
              <a:rPr kumimoji="1" lang="en" altLang="zh-CN" dirty="0" err="1"/>
              <a:t>StandaloneExecutor</a:t>
            </a:r>
            <a:endParaRPr kumimoji="1"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E890C4-91C2-4557-05CF-643C1E5C7C55}"/>
              </a:ext>
            </a:extLst>
          </p:cNvPr>
          <p:cNvSpPr txBox="1"/>
          <p:nvPr/>
        </p:nvSpPr>
        <p:spPr>
          <a:xfrm>
            <a:off x="341745" y="1194919"/>
            <a:ext cx="11508509" cy="4770537"/>
          </a:xfrm>
          <a:prstGeom prst="rect">
            <a:avLst/>
          </a:prstGeom>
          <a:noFill/>
          <a:ln>
            <a:solidFill>
              <a:srgbClr val="203BD3"/>
            </a:solidFill>
          </a:ln>
        </p:spPr>
        <p:txBody>
          <a:bodyPr wrap="square">
            <a:spAutoFit/>
          </a:bodyPr>
          <a:lstStyle/>
          <a:p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void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PirInterpreter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600" b="1" dirty="0" err="1">
                <a:solidFill>
                  <a:srgbClr val="2339DA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CheckGC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InstructionBase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1"/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platform::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RecordEvent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record(</a:t>
            </a:r>
          </a:p>
          <a:p>
            <a:pPr lvl="1"/>
            <a:r>
              <a:rPr lang="en" altLang="zh-CN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sz="1600" b="0" dirty="0" err="1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CheckGC</a:t>
            </a:r>
            <a:r>
              <a:rPr lang="en" altLang="zh-CN" sz="1600" b="0" dirty="0">
                <a:solidFill>
                  <a:srgbClr val="A3151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platform::</a:t>
            </a:r>
            <a:r>
              <a:rPr lang="en" altLang="zh-CN" sz="1600" b="0" dirty="0" err="1">
                <a:solidFill>
                  <a:srgbClr val="2B91A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TracerEventType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::</a:t>
            </a:r>
            <a:r>
              <a:rPr lang="en" altLang="zh-CN" sz="1600" b="0" dirty="0" err="1">
                <a:solidFill>
                  <a:srgbClr val="2F4F4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UserDefined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" altLang="zh-CN" sz="1600" b="0" dirty="0">
                <a:solidFill>
                  <a:srgbClr val="09865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endParaRPr lang="en" altLang="zh-CN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" altLang="zh-CN" sz="16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#if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defined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>
                <a:solidFill>
                  <a:srgbClr val="BD63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PADDLE_WITH_CUDA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||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defined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>
                <a:solidFill>
                  <a:srgbClr val="BD63C5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PADDLE_WITH_HIP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" altLang="zh-CN" sz="16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RecordStreamForGC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r>
              <a:rPr lang="en" altLang="zh-CN" sz="1600" b="0" dirty="0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#endif</a:t>
            </a:r>
            <a:b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auto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var_id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: </a:t>
            </a:r>
            <a:r>
              <a:rPr lang="en" altLang="zh-CN" sz="1600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GCCheckVars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()) {</a:t>
            </a:r>
          </a:p>
          <a:p>
            <a:pPr lvl="2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bool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is_ready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refs_</a:t>
            </a:r>
            <a:r>
              <a:rPr lang="en" altLang="zh-CN" sz="1600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var_id</a:t>
            </a:r>
            <a:r>
              <a:rPr lang="en" altLang="zh-CN" sz="1600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]-&gt;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CheckAndDecrease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  <a:r>
              <a:rPr lang="zh-CN" altLang="en-US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更新引用计数</a:t>
            </a:r>
            <a:endParaRPr lang="en" altLang="zh-CN" sz="1600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endParaRPr lang="en" altLang="zh-CN" sz="16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parameter_var_names_.count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</a:p>
          <a:p>
            <a:pPr lvl="3"/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value_exe_info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sz="1600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GetNameById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" altLang="zh-CN" sz="1600" b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static_cast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&gt;(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var_id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)))) </a:t>
            </a:r>
            <a:r>
              <a:rPr lang="en-US" altLang="zh-CN" sz="16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" altLang="zh-CN" sz="16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zh-CN" altLang="en-US" sz="16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跳过</a:t>
            </a:r>
            <a:r>
              <a:rPr lang="en" altLang="zh-CN" sz="1600" dirty="0" err="1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persistable</a:t>
            </a:r>
            <a:r>
              <a:rPr lang="zh-CN" altLang="en" sz="16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</a:t>
            </a:r>
            <a:r>
              <a:rPr lang="zh-CN" altLang="en-US" sz="1600" b="0" dirty="0">
                <a:solidFill>
                  <a:srgbClr val="008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变量</a:t>
            </a:r>
            <a:endParaRPr lang="en" altLang="zh-CN" sz="1600" b="0" dirty="0"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3"/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continue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lvl="2"/>
            <a:b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" altLang="zh-CN" sz="1600" b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is_ready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lvl="3"/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gc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</a:t>
            </a:r>
            <a:r>
              <a:rPr lang="en" altLang="zh-CN" sz="1600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Add(refs_</a:t>
            </a:r>
            <a:r>
              <a:rPr lang="en" altLang="zh-CN" sz="1600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" altLang="zh-CN" sz="1600" b="0" dirty="0" err="1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var_id</a:t>
            </a:r>
            <a:r>
              <a:rPr lang="en" altLang="zh-CN" sz="1600" b="0" dirty="0">
                <a:solidFill>
                  <a:srgbClr val="0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]-&gt;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Var(), </a:t>
            </a:r>
            <a:r>
              <a:rPr lang="en" altLang="zh-CN" sz="1600" b="0" dirty="0" err="1">
                <a:solidFill>
                  <a:srgbClr val="80808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instr</a:t>
            </a:r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r>
              <a:rPr lang="en-US" altLang="zh-CN" sz="1600" dirty="0"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zh-CN" altLang="en-US" sz="16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回收引用计数为</a:t>
            </a:r>
            <a:r>
              <a:rPr lang="en-US" altLang="zh-CN" sz="16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zh-CN" altLang="en-US" sz="1600" dirty="0">
                <a:solidFill>
                  <a:srgbClr val="008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的变量</a:t>
            </a:r>
            <a:endParaRPr lang="en" altLang="zh-CN" sz="1600" dirty="0">
              <a:solidFill>
                <a:srgbClr val="008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lvl="1"/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" altLang="zh-CN" sz="1600" b="0" dirty="0"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45302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E82263-869B-3D94-D067-CAB7D99F38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个人工作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F7EB715-79B3-DD9B-BBEE-5728C9CD6B8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886" t="1053" r="1609" b="40193"/>
          <a:stretch/>
        </p:blipFill>
        <p:spPr bwMode="auto">
          <a:xfrm>
            <a:off x="188898" y="1737969"/>
            <a:ext cx="4015944" cy="3954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6154E51-6305-E4FA-A735-C7648F866ADA}"/>
              </a:ext>
            </a:extLst>
          </p:cNvPr>
          <p:cNvSpPr txBox="1"/>
          <p:nvPr/>
        </p:nvSpPr>
        <p:spPr>
          <a:xfrm>
            <a:off x="4975287" y="1731686"/>
            <a:ext cx="181787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存储结构</a:t>
            </a:r>
            <a:endParaRPr kumimoji="1"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数据结构</a:t>
            </a:r>
            <a:endParaRPr kumimoji="1"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组网过程</a:t>
            </a:r>
            <a:endParaRPr kumimoji="1"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8CAEE73-043B-EAAD-FBA8-64A20CACF4B3}"/>
              </a:ext>
            </a:extLst>
          </p:cNvPr>
          <p:cNvSpPr txBox="1"/>
          <p:nvPr/>
        </p:nvSpPr>
        <p:spPr>
          <a:xfrm>
            <a:off x="4975288" y="2866309"/>
            <a:ext cx="181788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pir</a:t>
            </a:r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数据结构</a:t>
            </a:r>
            <a:endParaRPr kumimoji="1"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注册</a:t>
            </a:r>
            <a:endParaRPr kumimoji="1"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dialect</a:t>
            </a:r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体系</a:t>
            </a:r>
            <a:endParaRPr kumimoji="1"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翻译过程</a:t>
            </a:r>
            <a:endParaRPr kumimoji="1"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lower</a:t>
            </a:r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过程</a:t>
            </a:r>
            <a:endParaRPr kumimoji="1"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kernelOp</a:t>
            </a:r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选择</a:t>
            </a:r>
            <a:endParaRPr kumimoji="1"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F6B4732-27A9-DDA6-16E8-051D1586CD30}"/>
              </a:ext>
            </a:extLst>
          </p:cNvPr>
          <p:cNvSpPr txBox="1"/>
          <p:nvPr/>
        </p:nvSpPr>
        <p:spPr>
          <a:xfrm>
            <a:off x="4975287" y="5027612"/>
            <a:ext cx="2096008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e</a:t>
            </a:r>
            <a:r>
              <a:rPr kumimoji="1" lang="EN-US" altLang="ZH-C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xecutor</a:t>
            </a:r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执行逻辑</a:t>
            </a:r>
            <a:endParaRPr kumimoji="1"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3BF8B54-D791-726C-35B7-3E7EC275C3CE}"/>
              </a:ext>
            </a:extLst>
          </p:cNvPr>
          <p:cNvSpPr txBox="1"/>
          <p:nvPr/>
        </p:nvSpPr>
        <p:spPr>
          <a:xfrm>
            <a:off x="1591389" y="813796"/>
            <a:ext cx="121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框架示意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731EE62-A896-0614-9848-F271A0BCEE75}"/>
              </a:ext>
            </a:extLst>
          </p:cNvPr>
          <p:cNvSpPr txBox="1"/>
          <p:nvPr/>
        </p:nvSpPr>
        <p:spPr>
          <a:xfrm>
            <a:off x="5321765" y="813796"/>
            <a:ext cx="121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重点知识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2E9644D-E583-F77A-F7E6-59CAD305FFBF}"/>
              </a:ext>
            </a:extLst>
          </p:cNvPr>
          <p:cNvSpPr txBox="1"/>
          <p:nvPr/>
        </p:nvSpPr>
        <p:spPr>
          <a:xfrm>
            <a:off x="8546318" y="813796"/>
            <a:ext cx="12109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相关工作</a:t>
            </a:r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2041442-D2A5-4E3B-CED5-41FF7F65C190}"/>
              </a:ext>
            </a:extLst>
          </p:cNvPr>
          <p:cNvCxnSpPr>
            <a:cxnSpLocks/>
            <a:endCxn id="6" idx="1"/>
          </p:cNvCxnSpPr>
          <p:nvPr/>
        </p:nvCxnSpPr>
        <p:spPr>
          <a:xfrm>
            <a:off x="4212928" y="3558807"/>
            <a:ext cx="762360" cy="0"/>
          </a:xfrm>
          <a:prstGeom prst="straightConnector1">
            <a:avLst/>
          </a:prstGeom>
          <a:ln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722C9473-2C01-6C8D-34F6-2834EF1F383D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238627" y="2101018"/>
            <a:ext cx="736660" cy="0"/>
          </a:xfrm>
          <a:prstGeom prst="straightConnector1">
            <a:avLst/>
          </a:prstGeom>
          <a:ln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>
            <a:extLst>
              <a:ext uri="{FF2B5EF4-FFF2-40B4-BE49-F238E27FC236}">
                <a16:creationId xmlns:a16="http://schemas.microsoft.com/office/drawing/2014/main" id="{3B77F017-2FEC-9B84-420F-C221F8D799E6}"/>
              </a:ext>
            </a:extLst>
          </p:cNvPr>
          <p:cNvCxnSpPr>
            <a:cxnSpLocks/>
          </p:cNvCxnSpPr>
          <p:nvPr/>
        </p:nvCxnSpPr>
        <p:spPr>
          <a:xfrm>
            <a:off x="4238627" y="5190946"/>
            <a:ext cx="656647" cy="0"/>
          </a:xfrm>
          <a:prstGeom prst="straightConnector1">
            <a:avLst/>
          </a:prstGeom>
          <a:ln>
            <a:solidFill>
              <a:schemeClr val="accent3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21D23587-FBDF-55E3-815A-DAE9E063FD03}"/>
              </a:ext>
            </a:extLst>
          </p:cNvPr>
          <p:cNvSpPr txBox="1"/>
          <p:nvPr/>
        </p:nvSpPr>
        <p:spPr>
          <a:xfrm>
            <a:off x="7681461" y="1737969"/>
            <a:ext cx="1800493" cy="307777"/>
          </a:xfrm>
          <a:prstGeom prst="rect">
            <a:avLst/>
          </a:prstGeom>
          <a:noFill/>
          <a:ln w="158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源码阅读、添加日志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56ACD7-46F8-75AB-5F84-B63D1AA114E4}"/>
              </a:ext>
            </a:extLst>
          </p:cNvPr>
          <p:cNvSpPr txBox="1"/>
          <p:nvPr/>
        </p:nvSpPr>
        <p:spPr>
          <a:xfrm>
            <a:off x="7532434" y="3232302"/>
            <a:ext cx="3198905" cy="430887"/>
          </a:xfrm>
          <a:prstGeom prst="rect">
            <a:avLst/>
          </a:prstGeom>
          <a:noFill/>
          <a:ln w="158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100" b="0" i="0" dirty="0">
                <a:solidFill>
                  <a:srgbClr val="1F232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修改生成脚本以匹配</a:t>
            </a:r>
            <a:r>
              <a:rPr lang="en" altLang="zh-CN" sz="1100" b="0" i="0" dirty="0" err="1">
                <a:solidFill>
                  <a:srgbClr val="1F232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pd_op</a:t>
            </a:r>
            <a:r>
              <a:rPr lang="zh-CN" altLang="en-US" sz="1100" b="0" i="0" dirty="0">
                <a:solidFill>
                  <a:srgbClr val="1F232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lang="en-US" altLang="zh-CN" sz="1100" b="0" i="0" dirty="0" err="1">
                <a:solidFill>
                  <a:srgbClr val="1F232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cinn</a:t>
            </a:r>
            <a:r>
              <a:rPr lang="en-US" altLang="zh-CN" sz="1100" dirty="0" err="1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_op</a:t>
            </a:r>
            <a:r>
              <a:rPr lang="zh-CN" altLang="en-US" sz="1100" b="0" i="0" dirty="0">
                <a:solidFill>
                  <a:srgbClr val="1F232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的生成逻辑</a:t>
            </a:r>
            <a:endParaRPr kumimoji="1" lang="zh-CN" alt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9A93472-EC36-C506-5959-191CD78AEF02}"/>
              </a:ext>
            </a:extLst>
          </p:cNvPr>
          <p:cNvSpPr txBox="1"/>
          <p:nvPr/>
        </p:nvSpPr>
        <p:spPr>
          <a:xfrm>
            <a:off x="7532434" y="3750584"/>
            <a:ext cx="3198905" cy="261610"/>
          </a:xfrm>
          <a:prstGeom prst="rect">
            <a:avLst/>
          </a:prstGeom>
          <a:noFill/>
          <a:ln w="158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100" dirty="0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注册</a:t>
            </a:r>
            <a:r>
              <a:rPr kumimoji="1" lang="en-US" altLang="zh-CN" sz="1100" dirty="0" err="1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CinnDialect</a:t>
            </a:r>
            <a:endParaRPr kumimoji="1" lang="zh-CN" alt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8A8158E2-A4AE-3668-D9B5-53D1CAD274ED}"/>
              </a:ext>
            </a:extLst>
          </p:cNvPr>
          <p:cNvSpPr txBox="1"/>
          <p:nvPr/>
        </p:nvSpPr>
        <p:spPr>
          <a:xfrm>
            <a:off x="7532434" y="4419321"/>
            <a:ext cx="3198905" cy="261610"/>
          </a:xfrm>
          <a:prstGeom prst="rect">
            <a:avLst/>
          </a:prstGeom>
          <a:noFill/>
          <a:ln w="158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100" dirty="0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定义并注册</a:t>
            </a:r>
            <a:r>
              <a:rPr kumimoji="1" lang="en-US" altLang="zh-CN" sz="1100" dirty="0" err="1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LegacyKernelOp</a:t>
            </a:r>
            <a:r>
              <a:rPr kumimoji="1" lang="zh-CN" altLang="en-US" sz="1100" dirty="0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类</a:t>
            </a:r>
            <a:endParaRPr kumimoji="1" lang="zh-CN" alt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5BD3A586-9382-C27A-FA77-B5C4685443A9}"/>
              </a:ext>
            </a:extLst>
          </p:cNvPr>
          <p:cNvSpPr txBox="1"/>
          <p:nvPr/>
        </p:nvSpPr>
        <p:spPr>
          <a:xfrm>
            <a:off x="7532434" y="4075544"/>
            <a:ext cx="3198905" cy="261610"/>
          </a:xfrm>
          <a:prstGeom prst="rect">
            <a:avLst/>
          </a:prstGeom>
          <a:noFill/>
          <a:ln w="158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100" dirty="0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修复</a:t>
            </a:r>
            <a:r>
              <a:rPr kumimoji="1" lang="en-US" altLang="zh-CN" sz="1100" dirty="0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bug</a:t>
            </a:r>
            <a:r>
              <a:rPr kumimoji="1" lang="zh-CN" altLang="en-US" sz="1100" dirty="0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、添加</a:t>
            </a:r>
            <a:r>
              <a:rPr kumimoji="1" lang="en-US" altLang="zh-CN" sz="1100" dirty="0" err="1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dtype_transfer</a:t>
            </a:r>
            <a:r>
              <a:rPr kumimoji="1" lang="zh-CN" altLang="en-US" sz="1100" dirty="0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模块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B541307-16AB-66F2-058D-50C5A9DFD99A}"/>
              </a:ext>
            </a:extLst>
          </p:cNvPr>
          <p:cNvSpPr txBox="1"/>
          <p:nvPr/>
        </p:nvSpPr>
        <p:spPr>
          <a:xfrm>
            <a:off x="10908145" y="813796"/>
            <a:ext cx="1108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文档</a:t>
            </a:r>
            <a:r>
              <a:rPr kumimoji="1"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/PR</a:t>
            </a:r>
            <a:endParaRPr kumimoji="1" lang="zh-CN" alt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99EE61A-CA33-8156-64B5-916B02E968F9}"/>
              </a:ext>
            </a:extLst>
          </p:cNvPr>
          <p:cNvSpPr txBox="1"/>
          <p:nvPr/>
        </p:nvSpPr>
        <p:spPr>
          <a:xfrm>
            <a:off x="7532434" y="2721900"/>
            <a:ext cx="3198905" cy="430887"/>
          </a:xfrm>
          <a:prstGeom prst="rect">
            <a:avLst/>
          </a:prstGeom>
          <a:noFill/>
          <a:ln w="158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kumimoji="1" lang="zh-CN" altLang="en-US" sz="1100" dirty="0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添加</a:t>
            </a:r>
            <a:r>
              <a:rPr kumimoji="1" lang="en-US" altLang="zh-CN" sz="1100" dirty="0" err="1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LegacyKernelOp</a:t>
            </a:r>
            <a:r>
              <a:rPr kumimoji="1" lang="zh-CN" altLang="en-US" sz="1100" dirty="0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相关测试、为</a:t>
            </a:r>
            <a:r>
              <a:rPr kumimoji="1" lang="en-US" altLang="zh-CN" sz="1100" dirty="0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op</a:t>
            </a:r>
            <a:r>
              <a:rPr kumimoji="1" lang="zh-CN" altLang="en-US" sz="1100" dirty="0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新增成员函数、添加</a:t>
            </a:r>
            <a:r>
              <a:rPr kumimoji="1" lang="en-US" altLang="zh-CN" sz="1100" dirty="0">
                <a:solidFill>
                  <a:srgbClr val="1F232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Interface</a:t>
            </a:r>
            <a:endParaRPr kumimoji="1" lang="zh-CN" altLang="en-US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28" name="直线箭头连接符 27">
            <a:extLst>
              <a:ext uri="{FF2B5EF4-FFF2-40B4-BE49-F238E27FC236}">
                <a16:creationId xmlns:a16="http://schemas.microsoft.com/office/drawing/2014/main" id="{5E447206-B8A6-2F91-9750-F4DD1F811557}"/>
              </a:ext>
            </a:extLst>
          </p:cNvPr>
          <p:cNvCxnSpPr>
            <a:cxnSpLocks/>
            <a:endCxn id="27" idx="1"/>
          </p:cNvCxnSpPr>
          <p:nvPr/>
        </p:nvCxnSpPr>
        <p:spPr>
          <a:xfrm flipV="1">
            <a:off x="5960544" y="2937344"/>
            <a:ext cx="1571890" cy="294958"/>
          </a:xfrm>
          <a:prstGeom prst="straightConnector1">
            <a:avLst/>
          </a:prstGeom>
          <a:ln>
            <a:solidFill>
              <a:srgbClr val="92D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>
            <a:extLst>
              <a:ext uri="{FF2B5EF4-FFF2-40B4-BE49-F238E27FC236}">
                <a16:creationId xmlns:a16="http://schemas.microsoft.com/office/drawing/2014/main" id="{C159C68C-77AA-1D36-D232-EB0B5905683E}"/>
              </a:ext>
            </a:extLst>
          </p:cNvPr>
          <p:cNvCxnSpPr>
            <a:cxnSpLocks/>
            <a:endCxn id="23" idx="1"/>
          </p:cNvCxnSpPr>
          <p:nvPr/>
        </p:nvCxnSpPr>
        <p:spPr>
          <a:xfrm>
            <a:off x="6480398" y="3493912"/>
            <a:ext cx="1052036" cy="387477"/>
          </a:xfrm>
          <a:prstGeom prst="straightConnector1">
            <a:avLst/>
          </a:prstGeom>
          <a:ln>
            <a:solidFill>
              <a:srgbClr val="92D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线箭头连接符 29">
            <a:extLst>
              <a:ext uri="{FF2B5EF4-FFF2-40B4-BE49-F238E27FC236}">
                <a16:creationId xmlns:a16="http://schemas.microsoft.com/office/drawing/2014/main" id="{91BC8854-64C3-FF76-17B7-C845E865BED9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5960544" y="3232302"/>
            <a:ext cx="1571890" cy="215444"/>
          </a:xfrm>
          <a:prstGeom prst="straightConnector1">
            <a:avLst/>
          </a:prstGeom>
          <a:ln>
            <a:solidFill>
              <a:srgbClr val="92D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线箭头连接符 30">
            <a:extLst>
              <a:ext uri="{FF2B5EF4-FFF2-40B4-BE49-F238E27FC236}">
                <a16:creationId xmlns:a16="http://schemas.microsoft.com/office/drawing/2014/main" id="{6D62A02B-3083-74E1-4C5C-CFBBF19E86B8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6274080" y="3881389"/>
            <a:ext cx="1258354" cy="324960"/>
          </a:xfrm>
          <a:prstGeom prst="straightConnector1">
            <a:avLst/>
          </a:prstGeom>
          <a:ln>
            <a:solidFill>
              <a:srgbClr val="92D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线箭头连接符 31">
            <a:extLst>
              <a:ext uri="{FF2B5EF4-FFF2-40B4-BE49-F238E27FC236}">
                <a16:creationId xmlns:a16="http://schemas.microsoft.com/office/drawing/2014/main" id="{DE274F15-3F90-891E-5D6C-50338714D9A2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6532727" y="4188490"/>
            <a:ext cx="999707" cy="361636"/>
          </a:xfrm>
          <a:prstGeom prst="straightConnector1">
            <a:avLst/>
          </a:prstGeom>
          <a:ln>
            <a:solidFill>
              <a:srgbClr val="92D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文本框 32">
            <a:extLst>
              <a:ext uri="{FF2B5EF4-FFF2-40B4-BE49-F238E27FC236}">
                <a16:creationId xmlns:a16="http://schemas.microsoft.com/office/drawing/2014/main" id="{7E02C041-93F8-BA47-31C0-4D937577A970}"/>
              </a:ext>
            </a:extLst>
          </p:cNvPr>
          <p:cNvSpPr txBox="1"/>
          <p:nvPr/>
        </p:nvSpPr>
        <p:spPr>
          <a:xfrm>
            <a:off x="8204796" y="1206694"/>
            <a:ext cx="1800493" cy="307777"/>
          </a:xfrm>
          <a:prstGeom prst="rect">
            <a:avLst/>
          </a:prstGeom>
          <a:noFill/>
          <a:ln w="158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响应需求，规范日志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5E7A5BA3-71E6-96AB-94F9-D138D75068C2}"/>
              </a:ext>
            </a:extLst>
          </p:cNvPr>
          <p:cNvSpPr txBox="1"/>
          <p:nvPr/>
        </p:nvSpPr>
        <p:spPr>
          <a:xfrm>
            <a:off x="7545282" y="5027612"/>
            <a:ext cx="1800493" cy="307777"/>
          </a:xfrm>
          <a:prstGeom prst="rect">
            <a:avLst/>
          </a:prstGeom>
          <a:noFill/>
          <a:ln w="158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kumimoji="1" lang="zh-CN" alt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源码阅读、添加日志</a:t>
            </a:r>
          </a:p>
        </p:txBody>
      </p:sp>
      <p:cxnSp>
        <p:nvCxnSpPr>
          <p:cNvPr id="40" name="直线箭头连接符 39">
            <a:extLst>
              <a:ext uri="{FF2B5EF4-FFF2-40B4-BE49-F238E27FC236}">
                <a16:creationId xmlns:a16="http://schemas.microsoft.com/office/drawing/2014/main" id="{68E98570-64E4-8082-5F20-B0333210AB40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7071295" y="5175428"/>
            <a:ext cx="431241" cy="6073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文本框 40">
            <a:hlinkClick r:id="rId3"/>
            <a:extLst>
              <a:ext uri="{FF2B5EF4-FFF2-40B4-BE49-F238E27FC236}">
                <a16:creationId xmlns:a16="http://schemas.microsoft.com/office/drawing/2014/main" id="{D5B2CE07-A003-39F2-5227-B2A4C9B1A5A0}"/>
              </a:ext>
            </a:extLst>
          </p:cNvPr>
          <p:cNvSpPr txBox="1"/>
          <p:nvPr/>
        </p:nvSpPr>
        <p:spPr>
          <a:xfrm>
            <a:off x="11126422" y="3568596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56357</a:t>
            </a:r>
            <a:endParaRPr kumimoji="1"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2" name="文本框 41">
            <a:hlinkClick r:id="rId4"/>
            <a:extLst>
              <a:ext uri="{FF2B5EF4-FFF2-40B4-BE49-F238E27FC236}">
                <a16:creationId xmlns:a16="http://schemas.microsoft.com/office/drawing/2014/main" id="{0CBC45C6-D2B5-42D3-8D0E-3BAAAB4BADCD}"/>
              </a:ext>
            </a:extLst>
          </p:cNvPr>
          <p:cNvSpPr txBox="1"/>
          <p:nvPr/>
        </p:nvSpPr>
        <p:spPr>
          <a:xfrm>
            <a:off x="11126422" y="4254387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56680</a:t>
            </a:r>
            <a:endParaRPr kumimoji="1"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3" name="文本框 42">
            <a:hlinkClick r:id="rId5"/>
            <a:extLst>
              <a:ext uri="{FF2B5EF4-FFF2-40B4-BE49-F238E27FC236}">
                <a16:creationId xmlns:a16="http://schemas.microsoft.com/office/drawing/2014/main" id="{CA5805FB-37AF-63BE-5BD1-64172B74E43C}"/>
              </a:ext>
            </a:extLst>
          </p:cNvPr>
          <p:cNvSpPr txBox="1"/>
          <p:nvPr/>
        </p:nvSpPr>
        <p:spPr>
          <a:xfrm>
            <a:off x="10902925" y="3216913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56588</a:t>
            </a:r>
            <a:r>
              <a:rPr kumimoji="1" lang="zh-CN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kumimoji="1"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56674</a:t>
            </a:r>
            <a:endParaRPr kumimoji="1"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4" name="文本框 43">
            <a:hlinkClick r:id="rId6"/>
            <a:extLst>
              <a:ext uri="{FF2B5EF4-FFF2-40B4-BE49-F238E27FC236}">
                <a16:creationId xmlns:a16="http://schemas.microsoft.com/office/drawing/2014/main" id="{5E14FE1F-C7F3-22D3-E648-9C8FF80A9138}"/>
              </a:ext>
            </a:extLst>
          </p:cNvPr>
          <p:cNvSpPr txBox="1"/>
          <p:nvPr/>
        </p:nvSpPr>
        <p:spPr>
          <a:xfrm>
            <a:off x="10934244" y="4059272"/>
            <a:ext cx="12682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56674</a:t>
            </a:r>
            <a:r>
              <a:rPr kumimoji="1" lang="zh-CN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、</a:t>
            </a:r>
            <a:r>
              <a:rPr kumimoji="1"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58397</a:t>
            </a:r>
            <a:endParaRPr kumimoji="1"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5" name="文本框 44">
            <a:hlinkClick r:id="rId7"/>
            <a:extLst>
              <a:ext uri="{FF2B5EF4-FFF2-40B4-BE49-F238E27FC236}">
                <a16:creationId xmlns:a16="http://schemas.microsoft.com/office/drawing/2014/main" id="{851D80BF-0BA1-1714-41BC-6C2E06F0F9AC}"/>
              </a:ext>
            </a:extLst>
          </p:cNvPr>
          <p:cNvSpPr txBox="1"/>
          <p:nvPr/>
        </p:nvSpPr>
        <p:spPr>
          <a:xfrm>
            <a:off x="11126422" y="2817552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56818</a:t>
            </a:r>
            <a:endParaRPr kumimoji="1"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6" name="文本框 45">
            <a:hlinkClick r:id="rId8"/>
            <a:extLst>
              <a:ext uri="{FF2B5EF4-FFF2-40B4-BE49-F238E27FC236}">
                <a16:creationId xmlns:a16="http://schemas.microsoft.com/office/drawing/2014/main" id="{A8070A35-796C-D5CB-42D6-D9BBF0FF1BBF}"/>
              </a:ext>
            </a:extLst>
          </p:cNvPr>
          <p:cNvSpPr txBox="1"/>
          <p:nvPr/>
        </p:nvSpPr>
        <p:spPr>
          <a:xfrm>
            <a:off x="10998896" y="1950199"/>
            <a:ext cx="9861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IR</a:t>
            </a:r>
            <a:r>
              <a:rPr kumimoji="1" lang="zh-CN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学习笔记</a:t>
            </a:r>
          </a:p>
        </p:txBody>
      </p:sp>
      <p:sp>
        <p:nvSpPr>
          <p:cNvPr id="47" name="文本框 46">
            <a:hlinkClick r:id="rId9"/>
            <a:extLst>
              <a:ext uri="{FF2B5EF4-FFF2-40B4-BE49-F238E27FC236}">
                <a16:creationId xmlns:a16="http://schemas.microsoft.com/office/drawing/2014/main" id="{21C32A7E-8669-38BC-64AB-BA5D52D894D9}"/>
              </a:ext>
            </a:extLst>
          </p:cNvPr>
          <p:cNvSpPr txBox="1"/>
          <p:nvPr/>
        </p:nvSpPr>
        <p:spPr>
          <a:xfrm>
            <a:off x="11022141" y="463180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VLOG</a:t>
            </a:r>
            <a:r>
              <a:rPr kumimoji="1" lang="zh-CN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信息</a:t>
            </a:r>
            <a:endParaRPr kumimoji="1" lang="en-US" altLang="zh-CN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9E283FB7-B2B6-8F6B-21ED-85C89090E6AA}"/>
              </a:ext>
            </a:extLst>
          </p:cNvPr>
          <p:cNvSpPr txBox="1"/>
          <p:nvPr/>
        </p:nvSpPr>
        <p:spPr>
          <a:xfrm>
            <a:off x="7681462" y="2086437"/>
            <a:ext cx="1823684" cy="430887"/>
          </a:xfrm>
          <a:prstGeom prst="rect">
            <a:avLst/>
          </a:prstGeom>
          <a:noFill/>
          <a:ln w="158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为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python</a:t>
            </a:r>
            <a:r>
              <a: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端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value</a:t>
            </a:r>
            <a:r>
              <a: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类型添加打印信息</a:t>
            </a:r>
          </a:p>
        </p:txBody>
      </p:sp>
      <p:sp>
        <p:nvSpPr>
          <p:cNvPr id="52" name="文本框 51">
            <a:hlinkClick r:id="rId3"/>
            <a:extLst>
              <a:ext uri="{FF2B5EF4-FFF2-40B4-BE49-F238E27FC236}">
                <a16:creationId xmlns:a16="http://schemas.microsoft.com/office/drawing/2014/main" id="{4AF1887F-1E50-0E45-DC40-A014C20C4ECD}"/>
              </a:ext>
            </a:extLst>
          </p:cNvPr>
          <p:cNvSpPr txBox="1"/>
          <p:nvPr/>
        </p:nvSpPr>
        <p:spPr>
          <a:xfrm>
            <a:off x="11126422" y="2163382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57471</a:t>
            </a:r>
            <a:endParaRPr kumimoji="1"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53" name="直线箭头连接符 52">
            <a:extLst>
              <a:ext uri="{FF2B5EF4-FFF2-40B4-BE49-F238E27FC236}">
                <a16:creationId xmlns:a16="http://schemas.microsoft.com/office/drawing/2014/main" id="{3386F681-4A22-85CA-96D8-2EBF520539B3}"/>
              </a:ext>
            </a:extLst>
          </p:cNvPr>
          <p:cNvCxnSpPr>
            <a:cxnSpLocks/>
          </p:cNvCxnSpPr>
          <p:nvPr/>
        </p:nvCxnSpPr>
        <p:spPr>
          <a:xfrm flipV="1">
            <a:off x="6937349" y="1885785"/>
            <a:ext cx="556790" cy="6072"/>
          </a:xfrm>
          <a:prstGeom prst="straightConnector1">
            <a:avLst/>
          </a:prstGeom>
          <a:ln>
            <a:solidFill>
              <a:srgbClr val="00B0F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线连接符 53">
            <a:extLst>
              <a:ext uri="{FF2B5EF4-FFF2-40B4-BE49-F238E27FC236}">
                <a16:creationId xmlns:a16="http://schemas.microsoft.com/office/drawing/2014/main" id="{0A93F5ED-A885-B372-13B9-DD80E1118EDE}"/>
              </a:ext>
            </a:extLst>
          </p:cNvPr>
          <p:cNvCxnSpPr>
            <a:cxnSpLocks/>
          </p:cNvCxnSpPr>
          <p:nvPr/>
        </p:nvCxnSpPr>
        <p:spPr>
          <a:xfrm>
            <a:off x="4562764" y="829221"/>
            <a:ext cx="0" cy="522059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线连接符 54">
            <a:extLst>
              <a:ext uri="{FF2B5EF4-FFF2-40B4-BE49-F238E27FC236}">
                <a16:creationId xmlns:a16="http://schemas.microsoft.com/office/drawing/2014/main" id="{EA964CEB-8A90-D4B0-C430-BFC9DF20C5CD}"/>
              </a:ext>
            </a:extLst>
          </p:cNvPr>
          <p:cNvCxnSpPr>
            <a:cxnSpLocks/>
          </p:cNvCxnSpPr>
          <p:nvPr/>
        </p:nvCxnSpPr>
        <p:spPr>
          <a:xfrm>
            <a:off x="7190510" y="829221"/>
            <a:ext cx="0" cy="5220598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线连接符 55">
            <a:extLst>
              <a:ext uri="{FF2B5EF4-FFF2-40B4-BE49-F238E27FC236}">
                <a16:creationId xmlns:a16="http://schemas.microsoft.com/office/drawing/2014/main" id="{331042D9-1C09-697F-02BF-04113C0A9D7E}"/>
              </a:ext>
            </a:extLst>
          </p:cNvPr>
          <p:cNvCxnSpPr>
            <a:cxnSpLocks/>
          </p:cNvCxnSpPr>
          <p:nvPr/>
        </p:nvCxnSpPr>
        <p:spPr>
          <a:xfrm>
            <a:off x="10902925" y="767772"/>
            <a:ext cx="0" cy="5282047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id="{FFBC59A7-B0E1-A5F2-2631-5816A88CD085}"/>
              </a:ext>
            </a:extLst>
          </p:cNvPr>
          <p:cNvSpPr txBox="1"/>
          <p:nvPr/>
        </p:nvSpPr>
        <p:spPr>
          <a:xfrm>
            <a:off x="7549135" y="5434610"/>
            <a:ext cx="1823684" cy="430887"/>
          </a:xfrm>
          <a:prstGeom prst="rect">
            <a:avLst/>
          </a:prstGeom>
          <a:noFill/>
          <a:ln w="15875">
            <a:solidFill>
              <a:srgbClr val="92D050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添加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Instruction</a:t>
            </a:r>
          </a:p>
          <a:p>
            <a:r>
              <a:rPr lang="zh-CN" altLang="en-US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执行日志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0" name="文本框 59">
            <a:hlinkClick r:id="rId4"/>
            <a:extLst>
              <a:ext uri="{FF2B5EF4-FFF2-40B4-BE49-F238E27FC236}">
                <a16:creationId xmlns:a16="http://schemas.microsoft.com/office/drawing/2014/main" id="{E86D280E-8F29-9431-9212-C28F60943B4C}"/>
              </a:ext>
            </a:extLst>
          </p:cNvPr>
          <p:cNvSpPr txBox="1"/>
          <p:nvPr/>
        </p:nvSpPr>
        <p:spPr>
          <a:xfrm>
            <a:off x="11178329" y="5511553"/>
            <a:ext cx="64953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57791</a:t>
            </a:r>
            <a:endParaRPr kumimoji="1" lang="zh-CN" alt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5" name="文本框 64">
            <a:hlinkClick r:id="rId9"/>
            <a:extLst>
              <a:ext uri="{FF2B5EF4-FFF2-40B4-BE49-F238E27FC236}">
                <a16:creationId xmlns:a16="http://schemas.microsoft.com/office/drawing/2014/main" id="{7318BC29-098A-F618-43EC-99A8787081EB}"/>
              </a:ext>
            </a:extLst>
          </p:cNvPr>
          <p:cNvSpPr txBox="1"/>
          <p:nvPr/>
        </p:nvSpPr>
        <p:spPr>
          <a:xfrm>
            <a:off x="10869140" y="490880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latinLnBrk="1"/>
            <a:r>
              <a:rPr kumimoji="1" lang="en" altLang="zh-CN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kernel key</a:t>
            </a:r>
          </a:p>
          <a:p>
            <a:pPr algn="ctr" latinLnBrk="1"/>
            <a:r>
              <a:rPr kumimoji="1" lang="zh-CN" altLang="en-U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推理逻辑流程</a:t>
            </a: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17F01BC6-E5BF-1D53-1B75-318D747AF5E8}"/>
              </a:ext>
            </a:extLst>
          </p:cNvPr>
          <p:cNvSpPr txBox="1"/>
          <p:nvPr/>
        </p:nvSpPr>
        <p:spPr>
          <a:xfrm>
            <a:off x="188898" y="6053368"/>
            <a:ext cx="114309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基本熟悉两套数据结构；了解从声明语句到执行的全过程（前向）；对</a:t>
            </a:r>
            <a:r>
              <a:rPr kumimoji="1" lang="en-US" altLang="zh-CN" sz="20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PIR</a:t>
            </a:r>
            <a:r>
              <a:rPr kumimoji="1" lang="zh-CN" altLang="en-US" sz="2000" b="1" dirty="0">
                <a:solidFill>
                  <a:srgbClr val="2339DA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体系有了基础的全面了解</a:t>
            </a:r>
          </a:p>
        </p:txBody>
      </p:sp>
    </p:spTree>
    <p:extLst>
      <p:ext uri="{BB962C8B-B14F-4D97-AF65-F5344CB8AC3E}">
        <p14:creationId xmlns:p14="http://schemas.microsoft.com/office/powerpoint/2010/main" val="40057988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433E3-E5F1-6D2C-9DB7-F279A158B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参考文献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AEA155-2DFA-E1E4-13D9-378B629B0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2770909"/>
          </a:xfrm>
        </p:spPr>
        <p:txBody>
          <a:bodyPr/>
          <a:lstStyle/>
          <a:p>
            <a:pPr marL="0" indent="0">
              <a:buNone/>
            </a:pPr>
            <a:r>
              <a:rPr kumimoji="1" lang="zh-CN" altLang="en-US" dirty="0">
                <a:cs typeface="Courier New" panose="02070309020205020404" pitchFamily="49" charset="0"/>
              </a:rPr>
              <a:t>威行：</a:t>
            </a:r>
            <a:r>
              <a:rPr kumimoji="1" lang="en-US" altLang="zh-CN" dirty="0">
                <a:cs typeface="Courier New" panose="02070309020205020404" pitchFamily="49" charset="0"/>
              </a:rPr>
              <a:t>《</a:t>
            </a:r>
            <a:r>
              <a:rPr kumimoji="1" lang="en-US" altLang="zh-CN" sz="2000" dirty="0">
                <a:cs typeface="Courier New" panose="02070309020205020404" pitchFamily="49" charset="0"/>
              </a:rPr>
              <a:t>Paddle</a:t>
            </a:r>
            <a:r>
              <a:rPr kumimoji="1" lang="zh-CN" altLang="en-US" sz="2000" dirty="0">
                <a:cs typeface="Courier New" panose="02070309020205020404" pitchFamily="49" charset="0"/>
              </a:rPr>
              <a:t> </a:t>
            </a:r>
            <a:r>
              <a:rPr kumimoji="1" lang="en-US" altLang="zh-CN" sz="2000" dirty="0">
                <a:cs typeface="Courier New" panose="02070309020205020404" pitchFamily="49" charset="0"/>
              </a:rPr>
              <a:t>Fluid</a:t>
            </a:r>
            <a:r>
              <a:rPr kumimoji="1" lang="zh-CN" altLang="en-US" sz="2000" dirty="0">
                <a:cs typeface="Courier New" panose="02070309020205020404" pitchFamily="49" charset="0"/>
              </a:rPr>
              <a:t>框架执行逻辑梳理</a:t>
            </a:r>
            <a:r>
              <a:rPr kumimoji="1" lang="en-US" altLang="zh-CN" dirty="0">
                <a:cs typeface="Courier New" panose="02070309020205020404" pitchFamily="49" charset="0"/>
              </a:rPr>
              <a:t>》</a:t>
            </a:r>
          </a:p>
          <a:p>
            <a:pPr marL="0" indent="0">
              <a:buNone/>
            </a:pPr>
            <a:r>
              <a:rPr kumimoji="1" lang="zh-CN" altLang="en-US" dirty="0">
                <a:cs typeface="Courier New" panose="02070309020205020404" pitchFamily="49" charset="0"/>
              </a:rPr>
              <a:t>张博：</a:t>
            </a:r>
            <a:r>
              <a:rPr kumimoji="1" lang="en-US" altLang="zh-CN" dirty="0">
                <a:cs typeface="Courier New" panose="02070309020205020404" pitchFamily="49" charset="0"/>
              </a:rPr>
              <a:t>《</a:t>
            </a:r>
            <a:r>
              <a:rPr lang="en" altLang="zh-CN" i="0" dirty="0">
                <a:solidFill>
                  <a:srgbClr val="1C1D1F"/>
                </a:solidFill>
                <a:effectLst/>
                <a:ea typeface="PingFang SC" panose="020B0400000000000000" pitchFamily="34" charset="-122"/>
                <a:cs typeface="Courier New" panose="02070309020205020404" pitchFamily="49" charset="0"/>
              </a:rPr>
              <a:t>Paddle</a:t>
            </a:r>
            <a:r>
              <a:rPr lang="zh-CN" altLang="en-US" i="0" dirty="0">
                <a:solidFill>
                  <a:srgbClr val="1C1D1F"/>
                </a:solidFill>
                <a:effectLst/>
                <a:ea typeface="PingFang SC" panose="020B0400000000000000" pitchFamily="34" charset="-122"/>
                <a:cs typeface="Courier New" panose="02070309020205020404" pitchFamily="49" charset="0"/>
              </a:rPr>
              <a:t>模型结构设计</a:t>
            </a:r>
            <a:r>
              <a:rPr lang="en-US" altLang="zh-CN" i="0" dirty="0">
                <a:solidFill>
                  <a:srgbClr val="1C1D1F"/>
                </a:solidFill>
                <a:effectLst/>
                <a:ea typeface="PingFang SC" panose="020B0400000000000000" pitchFamily="34" charset="-122"/>
                <a:cs typeface="Courier New" panose="02070309020205020404" pitchFamily="49" charset="0"/>
              </a:rPr>
              <a:t>》</a:t>
            </a:r>
            <a:endParaRPr kumimoji="1" lang="en-US" altLang="zh-CN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dirty="0">
                <a:cs typeface="Courier New" panose="02070309020205020404" pitchFamily="49" charset="0"/>
              </a:rPr>
              <a:t>永康：</a:t>
            </a:r>
            <a:r>
              <a:rPr kumimoji="1" lang="en-US" altLang="zh-CN" dirty="0">
                <a:cs typeface="Courier New" panose="02070309020205020404" pitchFamily="49" charset="0"/>
              </a:rPr>
              <a:t>《</a:t>
            </a:r>
            <a:r>
              <a:rPr lang="zh-CN" altLang="en-US" i="0" dirty="0">
                <a:solidFill>
                  <a:srgbClr val="11141A"/>
                </a:solidFill>
                <a:effectLst/>
                <a:ea typeface="PingFang SC" panose="020B0400000000000000" pitchFamily="34" charset="-122"/>
                <a:cs typeface="Courier New" panose="02070309020205020404" pitchFamily="49" charset="0"/>
              </a:rPr>
              <a:t>静态图执行过程代码串讲</a:t>
            </a:r>
            <a:r>
              <a:rPr lang="en-US" altLang="zh-CN" i="0" dirty="0">
                <a:solidFill>
                  <a:srgbClr val="11141A"/>
                </a:solidFill>
                <a:effectLst/>
                <a:ea typeface="PingFang SC" panose="020B0400000000000000" pitchFamily="34" charset="-122"/>
                <a:cs typeface="Courier New" panose="02070309020205020404" pitchFamily="49" charset="0"/>
              </a:rPr>
              <a:t>》</a:t>
            </a:r>
            <a:endParaRPr kumimoji="1" lang="en-US" altLang="zh-CN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702775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F433E3-E5F1-6D2C-9DB7-F279A158B6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参考文献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0AEA155-2DFA-E1E4-13D9-378B629B0E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0"/>
            <a:ext cx="10515600" cy="2770909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cs typeface="Courier New" panose="02070309020205020404" pitchFamily="49" charset="0"/>
              </a:rPr>
              <a:t>Q&amp;A</a:t>
            </a:r>
            <a:r>
              <a:rPr kumimoji="1" lang="zh-CN" altLang="en-US" dirty="0">
                <a:cs typeface="Courier New" panose="02070309020205020404" pitchFamily="49" charset="0"/>
              </a:rPr>
              <a:t>：</a:t>
            </a:r>
            <a:endParaRPr kumimoji="1" lang="en-US" altLang="zh-CN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dirty="0">
                <a:cs typeface="Courier New" panose="02070309020205020404" pitchFamily="49" charset="0"/>
              </a:rPr>
              <a:t>建议进一步了解</a:t>
            </a:r>
            <a:r>
              <a:rPr kumimoji="1" lang="en-US" altLang="zh-CN" dirty="0" err="1">
                <a:cs typeface="Courier New" panose="02070309020205020404" pitchFamily="49" charset="0"/>
              </a:rPr>
              <a:t>inplace</a:t>
            </a:r>
            <a:r>
              <a:rPr kumimoji="1" lang="zh-CN" altLang="en-US" dirty="0">
                <a:cs typeface="Courier New" panose="02070309020205020404" pitchFamily="49" charset="0"/>
              </a:rPr>
              <a:t> </a:t>
            </a:r>
            <a:r>
              <a:rPr kumimoji="1" lang="en-US" altLang="zh-CN" dirty="0">
                <a:cs typeface="Courier New" panose="02070309020205020404" pitchFamily="49" charset="0"/>
              </a:rPr>
              <a:t>pass</a:t>
            </a:r>
          </a:p>
          <a:p>
            <a:pPr marL="0" indent="0">
              <a:buNone/>
            </a:pPr>
            <a:r>
              <a:rPr kumimoji="1" lang="en-US" altLang="zh-CN" dirty="0" err="1">
                <a:cs typeface="Courier New" panose="02070309020205020404" pitchFamily="49" charset="0"/>
              </a:rPr>
              <a:t>inplace</a:t>
            </a:r>
            <a:r>
              <a:rPr kumimoji="1" lang="zh-CN" altLang="en-US" dirty="0">
                <a:cs typeface="Courier New" panose="02070309020205020404" pitchFamily="49" charset="0"/>
              </a:rPr>
              <a:t> </a:t>
            </a:r>
            <a:r>
              <a:rPr kumimoji="1" lang="en-US" altLang="zh-CN" dirty="0">
                <a:cs typeface="Courier New" panose="02070309020205020404" pitchFamily="49" charset="0"/>
              </a:rPr>
              <a:t>pass</a:t>
            </a:r>
            <a:r>
              <a:rPr kumimoji="1" lang="zh-CN" altLang="en-US" dirty="0">
                <a:cs typeface="Courier New" panose="02070309020205020404" pitchFamily="49" charset="0"/>
              </a:rPr>
              <a:t> 在</a:t>
            </a:r>
            <a:r>
              <a:rPr kumimoji="1" lang="en-US" altLang="zh-CN" dirty="0">
                <a:cs typeface="Courier New" panose="02070309020205020404" pitchFamily="49" charset="0"/>
              </a:rPr>
              <a:t>lower</a:t>
            </a:r>
            <a:r>
              <a:rPr kumimoji="1" lang="zh-CN" altLang="en-US" dirty="0">
                <a:cs typeface="Courier New" panose="02070309020205020404" pitchFamily="49" charset="0"/>
              </a:rPr>
              <a:t>之前？</a:t>
            </a:r>
            <a:r>
              <a:rPr kumimoji="1" lang="en-US" altLang="zh-CN" dirty="0">
                <a:cs typeface="Courier New" panose="02070309020205020404" pitchFamily="49" charset="0"/>
              </a:rPr>
              <a:t>-&gt;</a:t>
            </a:r>
            <a:r>
              <a:rPr kumimoji="1" lang="zh-CN" altLang="en-US" dirty="0">
                <a:cs typeface="Courier New" panose="02070309020205020404" pitchFamily="49" charset="0"/>
              </a:rPr>
              <a:t> 不安全</a:t>
            </a:r>
            <a:endParaRPr kumimoji="1" lang="en-US" altLang="zh-CN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kumimoji="1" lang="zh-CN" altLang="en-US" dirty="0">
                <a:cs typeface="Courier New" panose="02070309020205020404" pitchFamily="49" charset="0"/>
              </a:rPr>
              <a:t>新旧</a:t>
            </a:r>
            <a:r>
              <a:rPr kumimoji="1" lang="en-US" altLang="zh-CN" dirty="0" err="1">
                <a:cs typeface="Courier New" panose="02070309020205020404" pitchFamily="49" charset="0"/>
              </a:rPr>
              <a:t>inplace</a:t>
            </a:r>
            <a:r>
              <a:rPr kumimoji="1" lang="zh-CN" altLang="en-US" dirty="0">
                <a:cs typeface="Courier New" panose="02070309020205020404" pitchFamily="49" charset="0"/>
              </a:rPr>
              <a:t> </a:t>
            </a:r>
            <a:r>
              <a:rPr kumimoji="1" lang="en-US" altLang="zh-CN" dirty="0">
                <a:cs typeface="Courier New" panose="02070309020205020404" pitchFamily="49" charset="0"/>
              </a:rPr>
              <a:t>pass</a:t>
            </a:r>
            <a:r>
              <a:rPr kumimoji="1" lang="zh-CN" altLang="en-US" dirty="0">
                <a:cs typeface="Courier New" panose="02070309020205020404" pitchFamily="49" charset="0"/>
              </a:rPr>
              <a:t>冲突？</a:t>
            </a:r>
            <a:r>
              <a:rPr kumimoji="1" lang="en-US" altLang="zh-CN" dirty="0">
                <a:cs typeface="Courier New" panose="02070309020205020404" pitchFamily="49" charset="0"/>
              </a:rPr>
              <a:t>-&gt;</a:t>
            </a:r>
            <a:r>
              <a:rPr kumimoji="1" lang="zh-CN" altLang="en-US" dirty="0">
                <a:cs typeface="Courier New" panose="02070309020205020404" pitchFamily="49" charset="0"/>
              </a:rPr>
              <a:t> </a:t>
            </a:r>
            <a:r>
              <a:rPr kumimoji="1" lang="en-US" altLang="zh-CN" dirty="0">
                <a:cs typeface="Courier New" panose="02070309020205020404" pitchFamily="49" charset="0"/>
              </a:rPr>
              <a:t>Python</a:t>
            </a:r>
            <a:r>
              <a:rPr kumimoji="1" lang="zh-CN" altLang="en-US" dirty="0">
                <a:cs typeface="Courier New" panose="02070309020205020404" pitchFamily="49" charset="0"/>
              </a:rPr>
              <a:t>侧关闭</a:t>
            </a:r>
            <a:endParaRPr kumimoji="1" lang="en-US" altLang="zh-CN" dirty="0"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kumimoji="1" lang="en-US" altLang="zh-CN" dirty="0"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5279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31F03FC7-B144-5EA6-F96D-999C2D2541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27318" b="29133"/>
          <a:stretch/>
        </p:blipFill>
        <p:spPr>
          <a:xfrm>
            <a:off x="4811326" y="2310092"/>
            <a:ext cx="2569349" cy="111890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BBF4D09-77C0-7F21-9467-4EF7136D028C}"/>
              </a:ext>
            </a:extLst>
          </p:cNvPr>
          <p:cNvSpPr txBox="1"/>
          <p:nvPr/>
        </p:nvSpPr>
        <p:spPr>
          <a:xfrm>
            <a:off x="3053256" y="3594593"/>
            <a:ext cx="60854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sz="4000" b="1" dirty="0"/>
              <a:t>谢  谢</a:t>
            </a:r>
          </a:p>
        </p:txBody>
      </p:sp>
    </p:spTree>
    <p:extLst>
      <p:ext uri="{BB962C8B-B14F-4D97-AF65-F5344CB8AC3E}">
        <p14:creationId xmlns:p14="http://schemas.microsoft.com/office/powerpoint/2010/main" val="2802030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rgbClr val="2339DA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>
          <a:solidFill>
            <a:srgbClr val="203BD3"/>
          </a:solidFill>
        </a:ln>
      </a:spPr>
      <a:bodyPr wrap="square">
        <a:spAutoFit/>
      </a:bodyPr>
      <a:lstStyle>
        <a:defPPr algn="l">
          <a:defRPr dirty="0" smtClean="0">
            <a:solidFill>
              <a:srgbClr val="2339DA"/>
            </a:solidFill>
            <a:effectLst/>
            <a:latin typeface="Courier New" panose="02070309020205020404" pitchFamily="49" charset="0"/>
            <a:ea typeface="等线" panose="02010600030101010101" pitchFamily="2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19687</TotalTime>
  <Words>7596</Words>
  <Application>Microsoft Macintosh PowerPoint</Application>
  <PresentationFormat>宽屏</PresentationFormat>
  <Paragraphs>960</Paragraphs>
  <Slides>51</Slides>
  <Notes>34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63" baseType="lpstr">
      <vt:lpstr>-apple-system</vt:lpstr>
      <vt:lpstr>DengXian</vt:lpstr>
      <vt:lpstr>DengXian</vt:lpstr>
      <vt:lpstr>等线 Light</vt:lpstr>
      <vt:lpstr>inpin heiti</vt:lpstr>
      <vt:lpstr>PingFang SC</vt:lpstr>
      <vt:lpstr>Arial</vt:lpstr>
      <vt:lpstr>Courier</vt:lpstr>
      <vt:lpstr>Courier New</vt:lpstr>
      <vt:lpstr>Menlo</vt:lpstr>
      <vt:lpstr>Wingdings</vt:lpstr>
      <vt:lpstr>Office 主题​​</vt:lpstr>
      <vt:lpstr>PowerPoint 演示文稿</vt:lpstr>
      <vt:lpstr>目录 | 静态图PIR执行过程代码串讲</vt:lpstr>
      <vt:lpstr>1. 概述 | 总览</vt:lpstr>
      <vt:lpstr>1. 概述 | 代码样例简述</vt:lpstr>
      <vt:lpstr>1. 概述 | 代码样例简述</vt:lpstr>
      <vt:lpstr>1. 概述 | 代码样例简述</vt:lpstr>
      <vt:lpstr>1. 概述 | 代码样例简述</vt:lpstr>
      <vt:lpstr>1. 概述 | 问题</vt:lpstr>
      <vt:lpstr>2. 数据存储 | Python侧</vt:lpstr>
      <vt:lpstr>2. 数据存储 | C++侧数据结构</vt:lpstr>
      <vt:lpstr>2. 数据存储 | 总体数据结构</vt:lpstr>
      <vt:lpstr>2. 数据存储</vt:lpstr>
      <vt:lpstr>3. 组网 | 前向</vt:lpstr>
      <vt:lpstr>3. 组网 | 前向</vt:lpstr>
      <vt:lpstr>3. 组网 | 前向</vt:lpstr>
      <vt:lpstr>4. 执行 | StandaloneExecutor</vt:lpstr>
      <vt:lpstr>4. 执行 | StandaloneExecutor</vt:lpstr>
      <vt:lpstr>4. 执行 | StandaloneExecutor</vt:lpstr>
      <vt:lpstr>5. IR+PASS</vt:lpstr>
      <vt:lpstr>5. IR+PASS | Translate</vt:lpstr>
      <vt:lpstr>5. IR+PASS | Translate</vt:lpstr>
      <vt:lpstr>5. IR+PASS | Translate</vt:lpstr>
      <vt:lpstr>5. IR+PASS | Translate</vt:lpstr>
      <vt:lpstr>5. IR+PASS | PIR数据结构</vt:lpstr>
      <vt:lpstr>5. IR+PASS | PIR数据结构</vt:lpstr>
      <vt:lpstr>5. IR+PASS | PIR数据结构</vt:lpstr>
      <vt:lpstr>5. IR+PASS | PIR数据结构</vt:lpstr>
      <vt:lpstr>5. IR+PASS | PIR数据结构</vt:lpstr>
      <vt:lpstr>5. IR+PASS | Dialect</vt:lpstr>
      <vt:lpstr>5. IR+PASS | Dialect</vt:lpstr>
      <vt:lpstr>5. IR+PASS | OP注册</vt:lpstr>
      <vt:lpstr>5. IR+PASS | OP注册</vt:lpstr>
      <vt:lpstr>5. IR+PASS | PASS</vt:lpstr>
      <vt:lpstr>5. IR+PASS | PASS</vt:lpstr>
      <vt:lpstr>5. IR+PASS | PASS</vt:lpstr>
      <vt:lpstr>5. IR+PASS | PASS</vt:lpstr>
      <vt:lpstr>4. 执行 | StandaloneExecutor</vt:lpstr>
      <vt:lpstr>4. 执行 | StandaloneExecutor</vt:lpstr>
      <vt:lpstr>4. 执行 | StandaloneExecutor</vt:lpstr>
      <vt:lpstr>4. 执行 | StandaloneExecutor</vt:lpstr>
      <vt:lpstr>4. 执行 | StandaloneExecutor</vt:lpstr>
      <vt:lpstr>4. 执行 | StandaloneExecutor</vt:lpstr>
      <vt:lpstr>4. 执行 | StandaloneExecutor</vt:lpstr>
      <vt:lpstr>4. 执行 | StandaloneExecutor</vt:lpstr>
      <vt:lpstr>4. 执行 | StandaloneExecutor</vt:lpstr>
      <vt:lpstr>4. 执行 | StandaloneExecutor</vt:lpstr>
      <vt:lpstr>4. 执行 | StandaloneExecutor</vt:lpstr>
      <vt:lpstr>个人工作</vt:lpstr>
      <vt:lpstr>参考文献</vt:lpstr>
      <vt:lpstr>参考文献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Microsoft Office User</cp:lastModifiedBy>
  <cp:revision>422</cp:revision>
  <dcterms:created xsi:type="dcterms:W3CDTF">2023-10-09T07:00:32Z</dcterms:created>
  <dcterms:modified xsi:type="dcterms:W3CDTF">2023-11-03T07:54:45Z</dcterms:modified>
</cp:coreProperties>
</file>